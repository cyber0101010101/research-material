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анилцуулга" id="{65e56e32-b2f9-4720-70bf-5adbe206b981}">
          <p14:sldIdLst>
            <p14:sldId id="256"/>
            <p14:sldId id="257"/>
            <p14:sldId id="258"/>
          </p14:sldIdLst>
        </p14:section>
        <p14:section name="Баатрууд" id="{583735eb-35f6-5f6c-13a2-9e1a95056e7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Дүгнэлт" id="{be31e365-7583-3fd4-4548-58fd75446569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сурвалж: mn.wikipedia.org (БНМАУ-ын баатар цол, баатруудын нийтлэл), baabar.mn, montsame.mn, mndu.gov.mn (Түүхэн товчоо).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сурвалж: mndu.gov.mn «Түүхэн товчоо»; mongoltoli.mn «Ардын цэргийн даргын сургууль». Нэр солигдсон он жилүүд эх сурвалжуудад бага зэрэг зөрүүтэй байдаг.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Огноонууд: mn.wikipedia.org «БНМАУ-ын баатар цол» ба «Монгол Улсын баатар цол» жагсаалт, baabar.mn.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Цэндийн Олзвой (1914 – 1941). Эх сурвалж: mn.wikipedia.org/wiki/Цэндийн_Олзвой;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Лувсандоржийн Гэлэгбаатар (1914 – 1939). Эх сурвалж: mn.wikipedia.org/wiki/БНМАУ-ын_баатар_цол;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Мазимын Экей (1911 – 1939). Эх сурвалж: mn.wikipedia.org/wiki/Мазимын_Экей;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Дамчаагийн Дэмбэрэл (1903 – 1939). Эх сурвалж: mn.wikipedia.org/wiki/Дамчаагийн_Дэмбэрэл;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Жамъянгийн Лхагвасүрэн (1912 – 1982). Эх сурвалж: mn.wikipedia.org/wiki/Жамъянгийн_Лхагвасүрэн;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Ванчинжавын Шарав (1906 – 1939). Эх сурвалж: mn.wikipedia.org/wiki/Ванчинжавын_Шарав;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Дашийн Данзанваанчиг (1918 – 1981). Эх сурвалж: montsame.mn/mn/read/219547;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Сангийн Дампил (1922 – 1991). Эх сурвалж: medee.mn/p/176089;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Даржаагийн Хаянхярваа (1915 – 1975). Эх сурвалж: mn.wikipedia.org/wiki/Даржаагийн_Хаянхярваа;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Дүгэрийн Нянтайсүрэн (1910 – 1984). Эх сурвалж: mn.wikipedia.org/wiki/Дүгэрийн_Нянтайсүрэн;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Пунцагийн Шагдарсүрэн (1918 – 2019). Эх сурвалж: mn.wikipedia.org/wiki/Пунцагийн_Шагдарсүрэн; mn.wikipedia.org «БНМАУ-ын баатар цол»; baabar.mn «БНМАУ-ын баатрууд». Зураг: дээрх эх сурвалжийн нийтлэл дэх гэрэл зургийг «Зураг» хүрээний оронд оруулна.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Огноонууд: mn.wikipedia.org «БНМАУ-ын баатар цол», «Монгол Улсын баатар цол»; baabar.mn. Д.Хаянхярваагийн огноог зарим эх сурвалж 1939.10.21 гэж бичдэг; энд Википедиа болон baabar.mn-ийн 1969.08.18-ыг ашиглав.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ҮБХИС-иас төрсөн 11 баатар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ҮБХИС-иас төрсөн 11 баатар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ҮБХИС-иас төрсөн 11 баатар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Үндэсний батлан хамгаалахын их сургуулийн төгсөгч, Халхын голын дайн ба 1945 оны Чөлөөлөх дайны баатруудын товч танилцуулга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Зураг • байгуулсан гавьяа • баатар цол хүртсэн огноо</a:t>
            </a:r>
            <a:endParaRPr lang="en-US" sz="1800" dirty="0"/>
          </a:p>
        </p:txBody>
      </p:sp>
      <p:sp>
        <p:nvSpPr>
          <p:cNvPr id="4" name="emblem circle"/>
          <p:cNvSpPr/>
          <p:nvPr/>
        </p:nvSpPr>
        <p:spPr>
          <a:xfrm>
            <a:off x="8778240" y="1417320"/>
            <a:ext cx="2834640" cy="2834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emblem ring"/>
          <p:cNvSpPr/>
          <p:nvPr/>
        </p:nvSpPr>
        <p:spPr>
          <a:xfrm>
            <a:off x="8503920" y="1143000"/>
            <a:ext cx="3383280" cy="338328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pic>
        <p:nvPicPr>
          <p:cNvPr id="6" name="emblem sta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103120"/>
            <a:ext cx="1463040" cy="1463040"/>
          </a:xfrm>
          <a:prstGeom prst="rect">
            <a:avLst/>
          </a:prstGeom>
        </p:spPr>
      </p:pic>
      <p:sp>
        <p:nvSpPr>
          <p:cNvPr id="7" name="footer line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1921 оноос хойш • Ардын цэргийн даргын сургуулиас ҮБХИС хүртэл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Сургуулийн түүхэн замнал</a:t>
            </a:r>
            <a:endParaRPr lang="en-US" sz="32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1921 онд жанжин Д.Сүхбаатарын санаачилгаар байгуулагдсан «Ардын цэргийн даргын сургууль» өнөөдрийн ҮБХИС болтлоо өргөжсөн. Энэ танилцуулгын 11 баатар уг сургуулийн түүхэн үеүдэд хүмүүжиж, төгссөн офицер, дайчид юм.</a:t>
            </a:r>
            <a:endParaRPr lang="en-US" sz="1400" dirty="0"/>
          </a:p>
        </p:txBody>
      </p:sp>
      <p:sp>
        <p:nvSpPr>
          <p:cNvPr id="4" name="timeline line"/>
          <p:cNvSpPr/>
          <p:nvPr/>
        </p:nvSpPr>
        <p:spPr>
          <a:xfrm>
            <a:off x="1470660" y="2743200"/>
            <a:ext cx="922020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5" name="step 1921 dot"/>
          <p:cNvSpPr/>
          <p:nvPr/>
        </p:nvSpPr>
        <p:spPr>
          <a:xfrm>
            <a:off x="1059180" y="2331720"/>
            <a:ext cx="822960" cy="822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step 1921 year"/>
          <p:cNvSpPr txBox="1"/>
          <p:nvPr/>
        </p:nvSpPr>
        <p:spPr>
          <a:xfrm>
            <a:off x="10591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1921</a:t>
            </a:r>
            <a:endParaRPr lang="en-US" sz="1300" dirty="0"/>
          </a:p>
        </p:txBody>
      </p:sp>
      <p:sp>
        <p:nvSpPr>
          <p:cNvPr id="7" name="step 1921 name"/>
          <p:cNvSpPr txBox="1"/>
          <p:nvPr/>
        </p:nvSpPr>
        <p:spPr>
          <a:xfrm>
            <a:off x="621792" y="3337560"/>
            <a:ext cx="1697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Ардын цэргийн даргын сургууль</a:t>
            </a:r>
            <a:endParaRPr lang="en-US" sz="1300" dirty="0"/>
          </a:p>
        </p:txBody>
      </p:sp>
      <p:sp>
        <p:nvSpPr>
          <p:cNvPr id="8" name="step 1921 desc"/>
          <p:cNvSpPr txBox="1"/>
          <p:nvPr/>
        </p:nvSpPr>
        <p:spPr>
          <a:xfrm>
            <a:off x="621792" y="4114800"/>
            <a:ext cx="1697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10-р сарын 15-нд анхны хичээл; 12-р сарын 25-нд анхны төгсөлт (салааны дарга 15, хагас салааны дарга 6)</a:t>
            </a:r>
            <a:endParaRPr lang="en-US" sz="1050" dirty="0"/>
          </a:p>
        </p:txBody>
      </p:sp>
      <p:sp>
        <p:nvSpPr>
          <p:cNvPr id="9" name="step 1932 dot"/>
          <p:cNvSpPr/>
          <p:nvPr/>
        </p:nvSpPr>
        <p:spPr>
          <a:xfrm>
            <a:off x="2903220" y="2331720"/>
            <a:ext cx="822960" cy="822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step 1932 year"/>
          <p:cNvSpPr txBox="1"/>
          <p:nvPr/>
        </p:nvSpPr>
        <p:spPr>
          <a:xfrm>
            <a:off x="290322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1932</a:t>
            </a:r>
            <a:endParaRPr lang="en-US" sz="1300" dirty="0"/>
          </a:p>
        </p:txBody>
      </p:sp>
      <p:sp>
        <p:nvSpPr>
          <p:cNvPr id="11" name="step 1932 name"/>
          <p:cNvSpPr txBox="1"/>
          <p:nvPr/>
        </p:nvSpPr>
        <p:spPr>
          <a:xfrm>
            <a:off x="2465832" y="3337560"/>
            <a:ext cx="1697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Цэргийн ерөнхий сургууль</a:t>
            </a:r>
            <a:endParaRPr lang="en-US" sz="1300" dirty="0"/>
          </a:p>
        </p:txBody>
      </p:sp>
      <p:sp>
        <p:nvSpPr>
          <p:cNvPr id="12" name="step 1932 desc"/>
          <p:cNvSpPr txBox="1"/>
          <p:nvPr/>
        </p:nvSpPr>
        <p:spPr>
          <a:xfrm>
            <a:off x="2465832" y="4114800"/>
            <a:ext cx="1697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3 жилийн сургалттай бүх цэргийн сургууль. Гэлэгбаатар (1938), Шагдарсүрэн (1939) энд төгссөн</a:t>
            </a:r>
            <a:endParaRPr lang="en-US" sz="1050" dirty="0"/>
          </a:p>
        </p:txBody>
      </p:sp>
      <p:sp>
        <p:nvSpPr>
          <p:cNvPr id="13" name="step 1966 dot"/>
          <p:cNvSpPr/>
          <p:nvPr/>
        </p:nvSpPr>
        <p:spPr>
          <a:xfrm>
            <a:off x="4747260" y="2331720"/>
            <a:ext cx="822960" cy="822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step 1966 year"/>
          <p:cNvSpPr txBox="1"/>
          <p:nvPr/>
        </p:nvSpPr>
        <p:spPr>
          <a:xfrm>
            <a:off x="474726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1966</a:t>
            </a:r>
            <a:endParaRPr lang="en-US" sz="1300" dirty="0"/>
          </a:p>
        </p:txBody>
      </p:sp>
      <p:sp>
        <p:nvSpPr>
          <p:cNvPr id="15" name="step 1966 name"/>
          <p:cNvSpPr txBox="1"/>
          <p:nvPr/>
        </p:nvSpPr>
        <p:spPr>
          <a:xfrm>
            <a:off x="4309872" y="3337560"/>
            <a:ext cx="1697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Цэргийн ерөнхий дээд сургууль</a:t>
            </a:r>
            <a:endParaRPr lang="en-US" sz="1300" dirty="0"/>
          </a:p>
        </p:txBody>
      </p:sp>
      <p:sp>
        <p:nvSpPr>
          <p:cNvPr id="16" name="step 1966 desc"/>
          <p:cNvSpPr txBox="1"/>
          <p:nvPr/>
        </p:nvSpPr>
        <p:spPr>
          <a:xfrm>
            <a:off x="4309872" y="4114800"/>
            <a:ext cx="1697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Дээд боловсролын статустай болсон</a:t>
            </a:r>
            <a:endParaRPr lang="en-US" sz="1050" dirty="0"/>
          </a:p>
        </p:txBody>
      </p:sp>
      <p:sp>
        <p:nvSpPr>
          <p:cNvPr id="17" name="step 1981 dot"/>
          <p:cNvSpPr/>
          <p:nvPr/>
        </p:nvSpPr>
        <p:spPr>
          <a:xfrm>
            <a:off x="6591300" y="2331720"/>
            <a:ext cx="822960" cy="822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step 1981 year"/>
          <p:cNvSpPr txBox="1"/>
          <p:nvPr/>
        </p:nvSpPr>
        <p:spPr>
          <a:xfrm>
            <a:off x="65913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1981</a:t>
            </a:r>
            <a:endParaRPr lang="en-US" sz="1300" dirty="0"/>
          </a:p>
        </p:txBody>
      </p:sp>
      <p:sp>
        <p:nvSpPr>
          <p:cNvPr id="19" name="step 1981 name"/>
          <p:cNvSpPr txBox="1"/>
          <p:nvPr/>
        </p:nvSpPr>
        <p:spPr>
          <a:xfrm>
            <a:off x="6153912" y="3337560"/>
            <a:ext cx="1697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Цэргийн нэгдсэн дээд сургууль</a:t>
            </a:r>
            <a:endParaRPr lang="en-US" sz="1300" dirty="0"/>
          </a:p>
        </p:txBody>
      </p:sp>
      <p:sp>
        <p:nvSpPr>
          <p:cNvPr id="20" name="step 1981 desc"/>
          <p:cNvSpPr txBox="1"/>
          <p:nvPr/>
        </p:nvSpPr>
        <p:spPr>
          <a:xfrm>
            <a:off x="6153912" y="4114800"/>
            <a:ext cx="1697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Олон мэргэжлийн нэгдсэн сургалт</a:t>
            </a:r>
            <a:endParaRPr lang="en-US" sz="1050" dirty="0"/>
          </a:p>
        </p:txBody>
      </p:sp>
      <p:sp>
        <p:nvSpPr>
          <p:cNvPr id="21" name="step 1991 dot"/>
          <p:cNvSpPr/>
          <p:nvPr/>
        </p:nvSpPr>
        <p:spPr>
          <a:xfrm>
            <a:off x="8435340" y="2331720"/>
            <a:ext cx="822960" cy="8229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step 1991 year"/>
          <p:cNvSpPr txBox="1"/>
          <p:nvPr/>
        </p:nvSpPr>
        <p:spPr>
          <a:xfrm>
            <a:off x="84353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1991</a:t>
            </a:r>
            <a:endParaRPr lang="en-US" sz="1300" dirty="0"/>
          </a:p>
        </p:txBody>
      </p:sp>
      <p:sp>
        <p:nvSpPr>
          <p:cNvPr id="23" name="step 1991 name"/>
          <p:cNvSpPr txBox="1"/>
          <p:nvPr/>
        </p:nvSpPr>
        <p:spPr>
          <a:xfrm>
            <a:off x="7997952" y="3337560"/>
            <a:ext cx="1697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Цэргийн их сургууль</a:t>
            </a:r>
            <a:endParaRPr lang="en-US" sz="1300" dirty="0"/>
          </a:p>
        </p:txBody>
      </p:sp>
      <p:sp>
        <p:nvSpPr>
          <p:cNvPr id="24" name="step 1991 desc"/>
          <p:cNvSpPr txBox="1"/>
          <p:nvPr/>
        </p:nvSpPr>
        <p:spPr>
          <a:xfrm>
            <a:off x="7997952" y="4114800"/>
            <a:ext cx="1697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Ардчилсан шилжилтийн үеийн шинэчлэл</a:t>
            </a:r>
            <a:endParaRPr lang="en-US" sz="1050" dirty="0"/>
          </a:p>
        </p:txBody>
      </p:sp>
      <p:sp>
        <p:nvSpPr>
          <p:cNvPr id="25" name="step 1999 dot"/>
          <p:cNvSpPr/>
          <p:nvPr/>
        </p:nvSpPr>
        <p:spPr>
          <a:xfrm>
            <a:off x="10279380" y="2331720"/>
            <a:ext cx="822960" cy="8229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step 1999 year"/>
          <p:cNvSpPr txBox="1"/>
          <p:nvPr/>
        </p:nvSpPr>
        <p:spPr>
          <a:xfrm>
            <a:off x="102793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1999</a:t>
            </a:r>
            <a:endParaRPr lang="en-US" sz="1300" dirty="0"/>
          </a:p>
        </p:txBody>
      </p:sp>
      <p:sp>
        <p:nvSpPr>
          <p:cNvPr id="27" name="step 1999 name"/>
          <p:cNvSpPr txBox="1"/>
          <p:nvPr/>
        </p:nvSpPr>
        <p:spPr>
          <a:xfrm>
            <a:off x="9841992" y="3337560"/>
            <a:ext cx="1697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Батлан хамгаалахын их сургууль</a:t>
            </a:r>
            <a:endParaRPr lang="en-US" sz="1300" dirty="0"/>
          </a:p>
        </p:txBody>
      </p:sp>
      <p:sp>
        <p:nvSpPr>
          <p:cNvPr id="28" name="step 1999 desc"/>
          <p:cNvSpPr txBox="1"/>
          <p:nvPr/>
        </p:nvSpPr>
        <p:spPr>
          <a:xfrm>
            <a:off x="9841992" y="4114800"/>
            <a:ext cx="1697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Өнөөдрийн ҮБХИС: офицер, мэргэжилтэн бэлтгэх үндэсний тэргүүлэх их сургууль</a:t>
            </a:r>
            <a:endParaRPr lang="en-US" sz="1050" dirty="0"/>
          </a:p>
        </p:txBody>
      </p:sp>
      <p:sp>
        <p:nvSpPr>
          <p:cNvPr id="29" name="stat 0 card"/>
          <p:cNvSpPr/>
          <p:nvPr/>
        </p:nvSpPr>
        <p:spPr>
          <a:xfrm>
            <a:off x="548640" y="55321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at 0 circle"/>
          <p:cNvSpPr/>
          <p:nvPr/>
        </p:nvSpPr>
        <p:spPr>
          <a:xfrm>
            <a:off x="685800" y="5687568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31" name="sta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806440"/>
            <a:ext cx="219456" cy="219456"/>
          </a:xfrm>
          <a:prstGeom prst="rect">
            <a:avLst/>
          </a:prstGeom>
        </p:spPr>
      </p:pic>
      <p:sp>
        <p:nvSpPr>
          <p:cNvPr id="32" name="stat 0 text"/>
          <p:cNvSpPr txBox="1"/>
          <p:nvPr/>
        </p:nvSpPr>
        <p:spPr>
          <a:xfrm>
            <a:off x="128016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11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энэ танилцуулгад</a:t>
            </a:r>
            <a:endParaRPr lang="en-US" sz="1800" dirty="0"/>
          </a:p>
        </p:txBody>
      </p:sp>
      <p:sp>
        <p:nvSpPr>
          <p:cNvPr id="33" name="stat 1 card"/>
          <p:cNvSpPr/>
          <p:nvPr/>
        </p:nvSpPr>
        <p:spPr>
          <a:xfrm>
            <a:off x="4297680" y="55321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tat 1 circle"/>
          <p:cNvSpPr/>
          <p:nvPr/>
        </p:nvSpPr>
        <p:spPr>
          <a:xfrm>
            <a:off x="4434840" y="5687568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35" name="sta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5806440"/>
            <a:ext cx="219456" cy="219456"/>
          </a:xfrm>
          <a:prstGeom prst="rect">
            <a:avLst/>
          </a:prstGeom>
        </p:spPr>
      </p:pic>
      <p:sp>
        <p:nvSpPr>
          <p:cNvPr id="36" name="stat 1 text"/>
          <p:cNvSpPr txBox="1"/>
          <p:nvPr/>
        </p:nvSpPr>
        <p:spPr>
          <a:xfrm>
            <a:off x="502920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1936–2014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 хүртсэн он жилүүд</a:t>
            </a:r>
            <a:endParaRPr lang="en-US" sz="1800" dirty="0"/>
          </a:p>
        </p:txBody>
      </p:sp>
      <p:sp>
        <p:nvSpPr>
          <p:cNvPr id="37" name="stat 2 card"/>
          <p:cNvSpPr/>
          <p:nvPr/>
        </p:nvSpPr>
        <p:spPr>
          <a:xfrm>
            <a:off x="8046720" y="55321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stat 2 circle"/>
          <p:cNvSpPr/>
          <p:nvPr/>
        </p:nvSpPr>
        <p:spPr>
          <a:xfrm>
            <a:off x="8183880" y="5687568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39" name="sta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806440"/>
            <a:ext cx="219456" cy="219456"/>
          </a:xfrm>
          <a:prstGeom prst="rect">
            <a:avLst/>
          </a:prstGeom>
        </p:spPr>
      </p:pic>
      <p:sp>
        <p:nvSpPr>
          <p:cNvPr id="40" name="stat 2 text"/>
          <p:cNvSpPr txBox="1"/>
          <p:nvPr/>
        </p:nvSpPr>
        <p:spPr>
          <a:xfrm>
            <a:off x="877824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17-р хороо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6-р морьт дивизийн 17-р морьт хороонд 4 баатар алба хаасан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11 баатар нэг дор</a:t>
            </a:r>
            <a:endParaRPr lang="en-US" sz="3200" dirty="0"/>
          </a:p>
        </p:txBody>
      </p:sp>
      <p:sp>
        <p:nvSpPr>
          <p:cNvPr id="3" name="card 01"/>
          <p:cNvSpPr/>
          <p:nvPr/>
        </p:nvSpPr>
        <p:spPr>
          <a:xfrm>
            <a:off x="548640" y="137160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01 badge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ard 01 num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card 01 name"/>
          <p:cNvSpPr txBox="1"/>
          <p:nvPr/>
        </p:nvSpPr>
        <p:spPr>
          <a:xfrm>
            <a:off x="123444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Цэндийн Олзвой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1914 – 1941</a:t>
            </a:r>
            <a:endParaRPr lang="en-US" sz="1250" dirty="0"/>
          </a:p>
        </p:txBody>
      </p:sp>
      <p:sp>
        <p:nvSpPr>
          <p:cNvPr id="7" name="card 01 date"/>
          <p:cNvSpPr txBox="1"/>
          <p:nvPr/>
        </p:nvSpPr>
        <p:spPr>
          <a:xfrm>
            <a:off x="68580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1939.10.21</a:t>
            </a:r>
            <a:endParaRPr lang="en-US" sz="1000" dirty="0"/>
          </a:p>
        </p:txBody>
      </p:sp>
      <p:sp>
        <p:nvSpPr>
          <p:cNvPr id="8" name="card 02"/>
          <p:cNvSpPr/>
          <p:nvPr/>
        </p:nvSpPr>
        <p:spPr>
          <a:xfrm>
            <a:off x="3337560" y="137160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02 badge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 02 num"/>
          <p:cNvSpPr txBox="1"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card 02 name"/>
          <p:cNvSpPr txBox="1"/>
          <p:nvPr/>
        </p:nvSpPr>
        <p:spPr>
          <a:xfrm>
            <a:off x="402336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Лувсандоржийн Гэлэгбаатар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1914 – 1939</a:t>
            </a:r>
            <a:endParaRPr lang="en-US" sz="1250" dirty="0"/>
          </a:p>
        </p:txBody>
      </p:sp>
      <p:sp>
        <p:nvSpPr>
          <p:cNvPr id="12" name="card 02 date"/>
          <p:cNvSpPr txBox="1"/>
          <p:nvPr/>
        </p:nvSpPr>
        <p:spPr>
          <a:xfrm>
            <a:off x="347472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1964.09.29</a:t>
            </a:r>
            <a:endParaRPr lang="en-US" sz="1000" dirty="0"/>
          </a:p>
        </p:txBody>
      </p:sp>
      <p:sp>
        <p:nvSpPr>
          <p:cNvPr id="13" name="card 03"/>
          <p:cNvSpPr/>
          <p:nvPr/>
        </p:nvSpPr>
        <p:spPr>
          <a:xfrm>
            <a:off x="6126480" y="137160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03 badge"/>
          <p:cNvSpPr/>
          <p:nvPr/>
        </p:nvSpPr>
        <p:spPr>
          <a:xfrm>
            <a:off x="62636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 03 num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card 03 name"/>
          <p:cNvSpPr txBox="1"/>
          <p:nvPr/>
        </p:nvSpPr>
        <p:spPr>
          <a:xfrm>
            <a:off x="681228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Мазимын Экей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1911 – 1939</a:t>
            </a:r>
            <a:endParaRPr lang="en-US" sz="1250" dirty="0"/>
          </a:p>
        </p:txBody>
      </p:sp>
      <p:sp>
        <p:nvSpPr>
          <p:cNvPr id="17" name="card 03 date"/>
          <p:cNvSpPr txBox="1"/>
          <p:nvPr/>
        </p:nvSpPr>
        <p:spPr>
          <a:xfrm>
            <a:off x="626364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1979.08.19</a:t>
            </a:r>
            <a:endParaRPr lang="en-US" sz="1000" dirty="0"/>
          </a:p>
        </p:txBody>
      </p:sp>
      <p:sp>
        <p:nvSpPr>
          <p:cNvPr id="18" name="card 04"/>
          <p:cNvSpPr/>
          <p:nvPr/>
        </p:nvSpPr>
        <p:spPr>
          <a:xfrm>
            <a:off x="8915400" y="137160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04 badge"/>
          <p:cNvSpPr/>
          <p:nvPr/>
        </p:nvSpPr>
        <p:spPr>
          <a:xfrm>
            <a:off x="905256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ard 04 num"/>
          <p:cNvSpPr txBox="1"/>
          <p:nvPr/>
        </p:nvSpPr>
        <p:spPr>
          <a:xfrm>
            <a:off x="90525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card 04 name"/>
          <p:cNvSpPr txBox="1"/>
          <p:nvPr/>
        </p:nvSpPr>
        <p:spPr>
          <a:xfrm>
            <a:off x="960120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Дамчаагийн Дэмбэрэл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1903 – 1939</a:t>
            </a:r>
            <a:endParaRPr lang="en-US" sz="1250" dirty="0"/>
          </a:p>
        </p:txBody>
      </p:sp>
      <p:sp>
        <p:nvSpPr>
          <p:cNvPr id="22" name="card 04 date"/>
          <p:cNvSpPr txBox="1"/>
          <p:nvPr/>
        </p:nvSpPr>
        <p:spPr>
          <a:xfrm>
            <a:off x="9052560" y="22402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1936.04.07</a:t>
            </a:r>
            <a:endParaRPr lang="en-US" sz="1000" dirty="0"/>
          </a:p>
        </p:txBody>
      </p:sp>
      <p:sp>
        <p:nvSpPr>
          <p:cNvPr id="23" name="card 05"/>
          <p:cNvSpPr/>
          <p:nvPr/>
        </p:nvSpPr>
        <p:spPr>
          <a:xfrm>
            <a:off x="548640" y="292608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ard 05 badge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card 05 num"/>
          <p:cNvSpPr txBox="1"/>
          <p:nvPr/>
        </p:nvSpPr>
        <p:spPr>
          <a:xfrm>
            <a:off x="685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card 05 name"/>
          <p:cNvSpPr txBox="1"/>
          <p:nvPr/>
        </p:nvSpPr>
        <p:spPr>
          <a:xfrm>
            <a:off x="123444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Жамъянгийн Лхагвасүрэн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1912 – 1982</a:t>
            </a:r>
            <a:endParaRPr lang="en-US" sz="1250" dirty="0"/>
          </a:p>
        </p:txBody>
      </p:sp>
      <p:sp>
        <p:nvSpPr>
          <p:cNvPr id="27" name="card 05 date"/>
          <p:cNvSpPr txBox="1"/>
          <p:nvPr/>
        </p:nvSpPr>
        <p:spPr>
          <a:xfrm>
            <a:off x="685800" y="3794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1989.07.19</a:t>
            </a:r>
            <a:endParaRPr lang="en-US" sz="1000" dirty="0"/>
          </a:p>
        </p:txBody>
      </p:sp>
      <p:sp>
        <p:nvSpPr>
          <p:cNvPr id="28" name="card 06"/>
          <p:cNvSpPr/>
          <p:nvPr/>
        </p:nvSpPr>
        <p:spPr>
          <a:xfrm>
            <a:off x="3337560" y="292608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ard 06 badg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card 06 num"/>
          <p:cNvSpPr txBox="1"/>
          <p:nvPr/>
        </p:nvSpPr>
        <p:spPr>
          <a:xfrm>
            <a:off x="34747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card 06 name"/>
          <p:cNvSpPr txBox="1"/>
          <p:nvPr/>
        </p:nvSpPr>
        <p:spPr>
          <a:xfrm>
            <a:off x="402336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Ванчинжавын Шарав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1906 – 1939</a:t>
            </a:r>
            <a:endParaRPr lang="en-US" sz="1250" dirty="0"/>
          </a:p>
        </p:txBody>
      </p:sp>
      <p:sp>
        <p:nvSpPr>
          <p:cNvPr id="32" name="card 06 date"/>
          <p:cNvSpPr txBox="1"/>
          <p:nvPr/>
        </p:nvSpPr>
        <p:spPr>
          <a:xfrm>
            <a:off x="3474720" y="3794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1984.08.15</a:t>
            </a:r>
            <a:endParaRPr lang="en-US" sz="1000" dirty="0"/>
          </a:p>
        </p:txBody>
      </p:sp>
      <p:sp>
        <p:nvSpPr>
          <p:cNvPr id="33" name="card 07"/>
          <p:cNvSpPr/>
          <p:nvPr/>
        </p:nvSpPr>
        <p:spPr>
          <a:xfrm>
            <a:off x="6126480" y="292608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card 07 badge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card 07 num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07</a:t>
            </a:r>
            <a:endParaRPr lang="en-US" sz="1100" dirty="0"/>
          </a:p>
        </p:txBody>
      </p:sp>
      <p:sp>
        <p:nvSpPr>
          <p:cNvPr id="36" name="card 07 name"/>
          <p:cNvSpPr txBox="1"/>
          <p:nvPr/>
        </p:nvSpPr>
        <p:spPr>
          <a:xfrm>
            <a:off x="681228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Дашийн Данзанваанчиг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1918 – 1981</a:t>
            </a:r>
            <a:endParaRPr lang="en-US" sz="1250" dirty="0"/>
          </a:p>
        </p:txBody>
      </p:sp>
      <p:sp>
        <p:nvSpPr>
          <p:cNvPr id="37" name="card 07 date"/>
          <p:cNvSpPr txBox="1"/>
          <p:nvPr/>
        </p:nvSpPr>
        <p:spPr>
          <a:xfrm>
            <a:off x="6263640" y="3794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1945.09.26</a:t>
            </a:r>
            <a:endParaRPr lang="en-US" sz="1000" dirty="0"/>
          </a:p>
        </p:txBody>
      </p:sp>
      <p:sp>
        <p:nvSpPr>
          <p:cNvPr id="38" name="card 08"/>
          <p:cNvSpPr/>
          <p:nvPr/>
        </p:nvSpPr>
        <p:spPr>
          <a:xfrm>
            <a:off x="8915400" y="292608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 08 badge"/>
          <p:cNvSpPr/>
          <p:nvPr/>
        </p:nvSpPr>
        <p:spPr>
          <a:xfrm>
            <a:off x="905256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card 08 num"/>
          <p:cNvSpPr txBox="1"/>
          <p:nvPr/>
        </p:nvSpPr>
        <p:spPr>
          <a:xfrm>
            <a:off x="90525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08</a:t>
            </a:r>
            <a:endParaRPr lang="en-US" sz="1100" dirty="0"/>
          </a:p>
        </p:txBody>
      </p:sp>
      <p:sp>
        <p:nvSpPr>
          <p:cNvPr id="41" name="card 08 name"/>
          <p:cNvSpPr txBox="1"/>
          <p:nvPr/>
        </p:nvSpPr>
        <p:spPr>
          <a:xfrm>
            <a:off x="9601200" y="30175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Сангийн Дампил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1922 – 1991</a:t>
            </a:r>
            <a:endParaRPr lang="en-US" sz="1250" dirty="0"/>
          </a:p>
        </p:txBody>
      </p:sp>
      <p:sp>
        <p:nvSpPr>
          <p:cNvPr id="42" name="card 08 date"/>
          <p:cNvSpPr txBox="1"/>
          <p:nvPr/>
        </p:nvSpPr>
        <p:spPr>
          <a:xfrm>
            <a:off x="9052560" y="3794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1945.09.26</a:t>
            </a:r>
            <a:endParaRPr lang="en-US" sz="1000" dirty="0"/>
          </a:p>
        </p:txBody>
      </p:sp>
      <p:sp>
        <p:nvSpPr>
          <p:cNvPr id="43" name="card 09"/>
          <p:cNvSpPr/>
          <p:nvPr/>
        </p:nvSpPr>
        <p:spPr>
          <a:xfrm>
            <a:off x="548640" y="44805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card 09 badge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card 09 num"/>
          <p:cNvSpPr txBox="1"/>
          <p:nvPr/>
        </p:nvSpPr>
        <p:spPr>
          <a:xfrm>
            <a:off x="685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09</a:t>
            </a:r>
            <a:endParaRPr lang="en-US" sz="1100" dirty="0"/>
          </a:p>
        </p:txBody>
      </p:sp>
      <p:sp>
        <p:nvSpPr>
          <p:cNvPr id="46" name="card 09 name"/>
          <p:cNvSpPr txBox="1"/>
          <p:nvPr/>
        </p:nvSpPr>
        <p:spPr>
          <a:xfrm>
            <a:off x="123444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Даржаагийн Хаянхярваа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1915 – 1975</a:t>
            </a:r>
            <a:endParaRPr lang="en-US" sz="1250" dirty="0"/>
          </a:p>
        </p:txBody>
      </p:sp>
      <p:sp>
        <p:nvSpPr>
          <p:cNvPr id="47" name="card 09 date"/>
          <p:cNvSpPr txBox="1"/>
          <p:nvPr/>
        </p:nvSpPr>
        <p:spPr>
          <a:xfrm>
            <a:off x="685800" y="5349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1969.08.18</a:t>
            </a:r>
            <a:endParaRPr lang="en-US" sz="1000" dirty="0"/>
          </a:p>
        </p:txBody>
      </p:sp>
      <p:sp>
        <p:nvSpPr>
          <p:cNvPr id="48" name="card 10"/>
          <p:cNvSpPr/>
          <p:nvPr/>
        </p:nvSpPr>
        <p:spPr>
          <a:xfrm>
            <a:off x="3337560" y="44805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card 10 badge"/>
          <p:cNvSpPr/>
          <p:nvPr/>
        </p:nvSpPr>
        <p:spPr>
          <a:xfrm>
            <a:off x="347472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card 10 num"/>
          <p:cNvSpPr txBox="1"/>
          <p:nvPr/>
        </p:nvSpPr>
        <p:spPr>
          <a:xfrm>
            <a:off x="34747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</a:t>
            </a:r>
            <a:endParaRPr lang="en-US" sz="1100" dirty="0"/>
          </a:p>
        </p:txBody>
      </p:sp>
      <p:sp>
        <p:nvSpPr>
          <p:cNvPr id="51" name="card 10 name"/>
          <p:cNvSpPr txBox="1"/>
          <p:nvPr/>
        </p:nvSpPr>
        <p:spPr>
          <a:xfrm>
            <a:off x="402336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Дүгэрийн Нянтайсүрэн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1910 – 1984</a:t>
            </a:r>
            <a:endParaRPr lang="en-US" sz="1250" dirty="0"/>
          </a:p>
        </p:txBody>
      </p:sp>
      <p:sp>
        <p:nvSpPr>
          <p:cNvPr id="52" name="card 10 date"/>
          <p:cNvSpPr txBox="1"/>
          <p:nvPr/>
        </p:nvSpPr>
        <p:spPr>
          <a:xfrm>
            <a:off x="3474720" y="5349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1971.03.12</a:t>
            </a:r>
            <a:endParaRPr lang="en-US" sz="1000" dirty="0"/>
          </a:p>
        </p:txBody>
      </p:sp>
      <p:sp>
        <p:nvSpPr>
          <p:cNvPr id="53" name="card 11"/>
          <p:cNvSpPr/>
          <p:nvPr/>
        </p:nvSpPr>
        <p:spPr>
          <a:xfrm>
            <a:off x="6126480" y="44805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card 11 badge"/>
          <p:cNvSpPr/>
          <p:nvPr/>
        </p:nvSpPr>
        <p:spPr>
          <a:xfrm>
            <a:off x="6263640" y="4617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card 11 num"/>
          <p:cNvSpPr txBox="1"/>
          <p:nvPr/>
        </p:nvSpPr>
        <p:spPr>
          <a:xfrm>
            <a:off x="6263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</a:t>
            </a:r>
            <a:endParaRPr lang="en-US" sz="1100" dirty="0"/>
          </a:p>
        </p:txBody>
      </p:sp>
      <p:sp>
        <p:nvSpPr>
          <p:cNvPr id="56" name="card 11 name"/>
          <p:cNvSpPr txBox="1"/>
          <p:nvPr/>
        </p:nvSpPr>
        <p:spPr>
          <a:xfrm>
            <a:off x="6812280" y="4572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Пунцагийн Шагдарсүрэн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1918 – 2019</a:t>
            </a:r>
            <a:endParaRPr lang="en-US" sz="1250" dirty="0"/>
          </a:p>
        </p:txBody>
      </p:sp>
      <p:sp>
        <p:nvSpPr>
          <p:cNvPr id="57" name="card 11 date"/>
          <p:cNvSpPr txBox="1"/>
          <p:nvPr/>
        </p:nvSpPr>
        <p:spPr>
          <a:xfrm>
            <a:off x="6263640" y="5349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цол: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2014.09.03</a:t>
            </a:r>
            <a:endParaRPr lang="en-US" sz="1000" dirty="0"/>
          </a:p>
        </p:txBody>
      </p:sp>
      <p:sp>
        <p:nvSpPr>
          <p:cNvPr id="58" name="legend card"/>
          <p:cNvSpPr/>
          <p:nvPr/>
        </p:nvSpPr>
        <p:spPr>
          <a:xfrm>
            <a:off x="8915400" y="44805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9" name="legend text"/>
          <p:cNvSpPr txBox="1"/>
          <p:nvPr/>
        </p:nvSpPr>
        <p:spPr>
          <a:xfrm>
            <a:off x="9098280" y="457200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8 баатар — Халхын голын дайн (1939)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2 баатар — Чөлөөлөх дайн (1945)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1 баатар — 1936 оны хилийн тулаан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Баатар бүрийн товч намтар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Төрсөн нутаг • цол, алба • байгуулсан гавьяа • баатар цол хүртсэн огноо • дурсгал</a:t>
            </a:r>
            <a:endParaRPr lang="en-US" sz="1800" dirty="0"/>
          </a:p>
        </p:txBody>
      </p:sp>
      <p:sp>
        <p:nvSpPr>
          <p:cNvPr id="4" name="section emblem"/>
          <p:cNvSpPr/>
          <p:nvPr/>
        </p:nvSpPr>
        <p:spPr>
          <a:xfrm>
            <a:off x="731520" y="11887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Цэндийн Олзвой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1914 – 1941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Ховд аймгийн Манхан сум (Засагт хан аймгийн Маньбадар гүнгийн хошуу), 1914.12.21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Цэндийн Олзвой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mn.wikipedia.org/wiki/Цэндийн_Олзвой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1939.10.21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Цэрэг (цирик), пулемётчин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6-р морьт дивизийн 17-р морьт хороо, Тамсагбулаг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1939.05.17-нд Хайлаастайн голын тулалдаанд хөнгөн пулемётоороо дайсны хүнд пулемётыг устгаж, хорооныхоо довтолгоог хангасан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1939.08.21-нд тагнуулын бүлгийг ахлан дайсны байрлалыг илрүүлж, байлдааны удирдлагад чухал мэдээ хүргэсэн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Халхын голын дайны үеэр цол хүртсэн анхны баатруудын нэг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Малчин айлын ууган хүү. 1937 онд цэргийн албанд татагдаж, Тамсагбулагийн явган хороонд, дараа нь морьт цэрэгт алба хаасан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дайнд гавьяа байгуулсны төлөө.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1941.07.23-нд Улаанбаатарт нас барсан. Манхан сумын төвд хөшөө, бунхан нь бий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Лувсандоржийн Гэлэгбаатар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1914 – 1939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Хөвсгөл аймгийн Ханх сум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Лувсандоржийн Гэлэгбаатар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mn.wikipedia.org/wiki/БНМАУ-ын_баатар_цол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1964.09.29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Их бууны сумангийн дарга (офицер)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Монгол-Зөвлөлтийн цэргийн их бууны анги, Халхын гол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1939.05.28-нд Халхын голын анхны томоохон тулалдаанд их бууны сумангаа удирдан, дайсны давуу хүчний эсрэг зоригтой байлдсан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Ангиудынхаа байлдааны ялалтыг хангахад онцгой гавьяа байгуулж, тулалдааны талбарт амь үрэгдсэн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Халхын голоос эргэж ирээгүй дайчдын нэг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1935 онд сайн дураараа цэрэгт орж, Цэргийн ерөнхий сургуулийг 1938 онд их бууны мэргэжлээр онц төгссөн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ялалтын 25 жилийн ойгоор нэхэн олгосон (цол №171).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Ханх сумын нутагт дурсгалыг нь хүндэтгэн тэмдэглэдэг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Мазимын Экей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1911 – 1939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Баян-Өлгий аймаг (казах угсаатан, Ікей Мәзімұлы)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Мазимын Экей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mn.wikipedia.org/wiki/Мазимын_Экей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1979.08.19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Дэслэгч, сумангийн дарга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6-р морьт дивизийн 17-р морьт хорооны 4-р суман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Баянцагааны тулалдаанд эр зоригоороо шалгарч, «Уул Алтайн догшин бүргэд» хэмээн алдаршсан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1939.07.24-нд Гөлөгт манханы тулалдаанд сумангаа чадамгай удирдан хориглолтыг эзлэн авч, баатарлагаар тулалдан амь эрсэдсэн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Л.Дандар баатар: «Халхын голын байлдаанд тодорсон жинхэнэ баатар гэвэл Экей»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1934 онд Цэргийн сургуулиа төгсөж, Улаанхуаран, Улиастайн морьт цэргийн ангиудад багшаар ажилласан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ялалтын 40 жилийн ойгоор АИХ-ын Тэргүүлэгчдийн тогтоолоор нэхэн олгосон.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Өлгий хотын төв талбайд морьт хөшөө, Халхын голын баруун эрэгт дурсгалын багана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Дамчаагийн Дэмбэрэл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1903 – 1939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Сэлэнгэ аймгийн Зүүнбүрэн сум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04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Дамчаагийн Дэмбэрэл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mn.wikipedia.org/wiki/Дамчаагийн_Дэмбэрэл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1936.04.07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Нисгэгч, Ардын армийн нисэх хүчний удирдагч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МАА-ийн нисэх хүчин, Р-5 онгоц, Тамсагбулаг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Монголын анхны цэргийн нисгэгчдийн нэг — «Агаарын зоригт баатар»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1936 оны хавар Адаг дулааны чиглэлд Японы довтолгоог няцаах тулалдаанд Ардын армийн нисэх хүчнийг амжилттай удирдсан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Японы 3 онгоцтой агаарын тулаан хийж, агаараас илрүүлсэн 92 автомашины цувааг бөмбөгдөн устгасан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1921 онд Ардын армид орж Хиагт, нийслэлийг чөлөөлөхөд оролцсон. Хуягт машины жолооч. 1929–1932 онд ЗХУ-ын Пермийн техникумыг нисэхийн техникчээр төгссөн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БНМАУ-ын баатар цолыг анх хүртэгсдийн нэг. Мөн Байлдааны гавьяаны улаан тугийн II зэргийн одон.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Ардын армийн нисэх хүчний анхдагчдын нэг хэмээн дурсагддаг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Жамъянгийн Лхагвасүрэн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1912 – 1982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Булган аймгийн Сайхан сум, 1912.03.16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05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Жамъянгийн Лхагвасүрэн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mn.wikipedia.org/wiki/Жамъянгийн_Лхагвасүрэн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1989.07.19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Хурандаа генерал (Монголын анхны, 1961 он)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Монголын морьт цэргийн командлагч, корпусын комиссар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 онд Халхын голд Г.К.Жуковын орлогчоор Монголын морьт цэргийг удирдан, 57-р тусгай корпустай хамтран байлдсан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1945 оны Чөлөөлөх дайн болон Зэвсэгт хүчний бүтээн байгуулалтад олон жил удирдах албан тушаалд ажилласан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Сүхбаатарын одон 4 удаа, Байлдааны гавьяаны улаан тугийн одон 4 удаа хүртсэн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БНМАУ-ын цэрэг, төрийн нэрт зүтгэлтэн. 1959–1969 онд Батлан хамгаалахын сайд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ялалтын 50 жилийн ойгоор нэхэн олгосон.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1982.05.13-нд нас барсан. 2000 онд хүрэл хөшөө (уран барималч Л.Ганхуяг) босгосон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Ванчинжавын Шарав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1906 – 1939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Говь-Алтай аймгийн Эрдэнэ сум (Засагт хан аймгийн Ёст засаг Мишигдоржийн хошуу)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06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Ванчинжавын Шарав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mn.wikipedia.org/wiki/Ванчинжавын_Шарав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1984.08.15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Танк эсэргүүцэх бууны салааны захирагч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8-р морьт дивизийн 23-р морьт хороо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1939.08.03-нд Халхын голын тулалдаанд амь үрэгдсэн наводчикийнхоо оронд өөрөө буугаа чиглүүлэн байлдсан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Мэргэн галаар дайсны хэд хэдэн галын цэгийг тоотынх нь хамт устгаж, тулалдааны талбарт амь үрэгдсэн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1939.09.07-нд Байлдааны гавьяаны улаан тугийн I зэргийн одонгоор нэхэн шагнагдсан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Ардын армийн офицер; их бууны (танк эсэргүүцэх) мэргэжилтэй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ялалтын 45 жилийн ойгоор нэхэн олгосон (цол №54).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Говь-Алтай аймагт дурсгалыг нь хүндэтгэн тэмдэглэдэг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Дашийн Данзанваанчиг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1918 – 1981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Дорноговь аймаг (Дэлгэрэх / Их-Хэт сумын нутаг), Дашийн арав дахь хүү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07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Дашийн Данзанваанчиг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montsame.mn/mn/read/219547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1945.09.26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Миномёт-пулемётын наводчик, дараа нь бага дэслэгч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МАА-ийн хуягт бригад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 онд алба хааж байсан застав нь Халхын голын фронтын гол чиглэлд байсан тул 60 гаруй байлдааны ихэнхэд нь оролцсон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1945 оны Чөлөөлөх дайнд хуягт бригадын наводчикаар Жанчхүүгийн давааны их бэхлэлтийг цөмлөн Японы цэргийг бут цохиход баатарлаг байлдсан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«Эр зоригийн дууль» хэмээн алдаршсан Чөлөөлөх дайны баатар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Хилийн заставын цэрэг. Дайны дараа Бүх цэргийн жанжны тушаалаар бага дэслэгч цол хүртэж, 1962 онд дахин цэргийн албанд татагдсан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Чөлөөлөх дайнд Жанчхүүгийн давааны төлөө тулалдаанд гавьяа байгуулсны төлөө (цол №79).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Дорноговь аймагт Чөлөөлөх дайны ойгоор дурсгалыг нь хүндэтгэдэг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Сангийн Дампил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1922 – 1991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Архангай аймгийн Цэнхэр сум, Урд Тамирын голын хөвөө (анчин Жамьянгаравын хүү)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08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Сангийн Дампил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medee.mn/p/176089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1945.09.26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Хөнгөн пулемётын наводчик; хожим хошууч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МАА-ийн ангиуд, Жанчхүүгийн даваа (1945)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1945.08.19–21-нд Жанчхүүгийн давааны тулалдаанд пулемётын мэргэн галаар дайсны хүнд, хөнгөн пулемётын галын цэгүүдийг ээлж дараалан устгасан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Ангийнхаа довтолгоог хангаж, Японы бэхлэлтийг цөмлөхөд шийдвэрлэх үүрэг гүйцэтгэсэн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Сүхбаатарын одонгоор шагнагдсан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Дайны дараа хүний их эмч мэргэжил эзэмшиж, «дайны талбарт дайчин, энх цагт эмч» хэмээн алдаршсан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23 насандаа Чөлөөлөх дайны гавьяагаар БНМАУ-ын баатар болсон.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1991.02.06-нд нас барсан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Даржаагийн Хаянхярваа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1915 – 1975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Говь-Алтай аймгийн Тайшир сум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09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Даржаагийн Хаянхярваа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mn.wikipedia.org/wiki/Даржаагийн_Хаянхярваа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1969.08.18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Хуягт машины жолооч; хожим хуягт салааны захирагч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МАА-ийн хуягт анги, Баянцагаан (1939)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 онд Халхын голын Баянцагааны тулалдаанд хуягт машины жолоочоор байлдаж, дайсны их хэмжээний хүч, техникийг устгасан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1945 оны Чөлөөлөх дайнд хуягт салааны захирагчаар шалгарсан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1948 оны Байтаг богдын тулаанд хилийн цэргийг удирдсан («Байтагийн 10 баатар»)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Хуягт цэргийн мэргэжилтэн; 1948 онд хилийн харуулын дарга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ялалтын 30 жилийн ойгоор олгосон.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Нэрийн бичлэг эх сурвалжид «Хаянхирваа / Хаянхярваа» гэж хоёр янзаар тэмдэглэгддэг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Дүгэрийн Нянтайсүрэн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1910 – 1984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Булган аймгийн Бүрэгхангай сум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Дүгэрийн Нянтайсүрэн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mn.wikipedia.org/wiki/Дүгэрийн_Нянтайсүрэн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1971.03.12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Хурандаа, дивизийн захирагч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17-р морьт хороо → Матадын 8-р морьт дивиз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1932 онд эсэргүү бослогыг дарахад оролцсон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1939 онд Халхын голд 17-р морьт хорооны дарга, дараа нь Матадын 8-р морьт дивизийн захирагчаар томилогдон байлдааныг удирдсан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1945 оны Чөлөөлөх дайнд мотомеханикжсан бригад командалсан. Нийт 50 орчим жил төрийн албанд ажилласан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1934 оноос Ардын армид; ЗХУ-ын Тамбовын морьт цэргийн сургууль төгсөж салаа, анги, нэгтгэлийн захирагчаар ажилласан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БНМАУ-ын баатар (цол №26).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Бүрэгхангай сум болон Офицеруудын ордны өмнө хөшөө; МАА-ийн 132-р анги түүний нэрэмжит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Пунцагийн Шагдарсүрэн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43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1918 – 2019   • 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Төв аймгийн Баян-Өнжүүл (хуучин Баянбараат) сум, 1918.10.29</a:t>
            </a:r>
            <a:endParaRPr lang="en-US" sz="1300" dirty="0"/>
          </a:p>
        </p:txBody>
      </p:sp>
      <p:sp>
        <p:nvSpPr>
          <p:cNvPr id="4" name="badge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"/>
          <p:cNvSpPr txBox="1"/>
          <p:nvPr/>
        </p:nvSpPr>
        <p:spPr>
          <a:xfrm>
            <a:off x="1092708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</a:t>
            </a:r>
            <a:endParaRPr lang="en-US" sz="1600" dirty="0"/>
          </a:p>
        </p:txBody>
      </p:sp>
      <p:sp>
        <p:nvSpPr>
          <p:cNvPr id="6" name="photo frame"/>
          <p:cNvSpPr/>
          <p:nvPr/>
        </p:nvSpPr>
        <p:spPr>
          <a:xfrm>
            <a:off x="548640" y="1783080"/>
            <a:ext cx="2834640" cy="324612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pic>
        <p:nvPicPr>
          <p:cNvPr id="7" name="photo silhouet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23160"/>
            <a:ext cx="1097280" cy="1097280"/>
          </a:xfrm>
          <a:prstGeom prst="rect">
            <a:avLst/>
          </a:prstGeom>
        </p:spPr>
      </p:pic>
      <p:sp>
        <p:nvSpPr>
          <p:cNvPr id="8" name="photo label"/>
          <p:cNvSpPr txBox="1"/>
          <p:nvPr/>
        </p:nvSpPr>
        <p:spPr>
          <a:xfrm>
            <a:off x="68580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Зураг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Пунцагийн Шагдарсүрэн</a:t>
            </a:r>
            <a:endParaRPr lang="en-US" sz="1300" dirty="0"/>
          </a:p>
        </p:txBody>
      </p:sp>
      <p:sp>
        <p:nvSpPr>
          <p:cNvPr id="9" name="photo source"/>
          <p:cNvSpPr txBox="1"/>
          <p:nvPr/>
        </p:nvSpPr>
        <p:spPr>
          <a:xfrm>
            <a:off x="54864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Эх сурвалж: mn.wikipedia.org/wiki/Пунцагийн_Шагдарсүрэн</a:t>
            </a:r>
            <a:endParaRPr lang="en-US" sz="850" dirty="0"/>
          </a:p>
        </p:txBody>
      </p:sp>
      <p:sp>
        <p:nvSpPr>
          <p:cNvPr id="10" name="hero date card"/>
          <p:cNvSpPr/>
          <p:nvPr/>
        </p:nvSpPr>
        <p:spPr>
          <a:xfrm>
            <a:off x="548640" y="553212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hero date st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760720"/>
            <a:ext cx="365760" cy="365760"/>
          </a:xfrm>
          <a:prstGeom prst="rect">
            <a:avLst/>
          </a:prstGeom>
        </p:spPr>
      </p:pic>
      <p:sp>
        <p:nvSpPr>
          <p:cNvPr id="12" name="hero date text"/>
          <p:cNvSpPr txBox="1"/>
          <p:nvPr/>
        </p:nvSpPr>
        <p:spPr>
          <a:xfrm>
            <a:off x="1188720" y="5577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БААТАР ЦОЛ ХҮРТСЭН</a:t>
            </a:r>
            <a:endParaRPr lang="en-US" sz="85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2014.09.03</a:t>
            </a:r>
            <a:endParaRPr lang="en-US" sz="850" dirty="0"/>
          </a:p>
        </p:txBody>
      </p:sp>
      <p:sp>
        <p:nvSpPr>
          <p:cNvPr id="13" name="row 0 circle"/>
          <p:cNvSpPr/>
          <p:nvPr/>
        </p:nvSpPr>
        <p:spPr>
          <a:xfrm>
            <a:off x="3749040" y="180136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4" name="row 0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402" y="1910730"/>
            <a:ext cx="201900" cy="201900"/>
          </a:xfrm>
          <a:prstGeom prst="rect">
            <a:avLst/>
          </a:prstGeom>
        </p:spPr>
      </p:pic>
      <p:sp>
        <p:nvSpPr>
          <p:cNvPr id="15" name="row 0 text"/>
          <p:cNvSpPr txBox="1"/>
          <p:nvPr/>
        </p:nvSpPr>
        <p:spPr>
          <a:xfrm>
            <a:off x="4297680" y="1783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ЦОЛ, АЛБА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Ахмад, хорооны штабын дарга; хожим хороон дарга</a:t>
            </a:r>
            <a:endParaRPr lang="en-US" sz="850" dirty="0"/>
          </a:p>
        </p:txBody>
      </p:sp>
      <p:sp>
        <p:nvSpPr>
          <p:cNvPr id="16" name="row 1 circle"/>
          <p:cNvSpPr/>
          <p:nvPr/>
        </p:nvSpPr>
        <p:spPr>
          <a:xfrm>
            <a:off x="3749040" y="2350008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17" name="row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402" y="2459370"/>
            <a:ext cx="201900" cy="201900"/>
          </a:xfrm>
          <a:prstGeom prst="rect">
            <a:avLst/>
          </a:prstGeom>
        </p:spPr>
      </p:pic>
      <p:sp>
        <p:nvSpPr>
          <p:cNvPr id="18" name="row 1 text"/>
          <p:cNvSpPr txBox="1"/>
          <p:nvPr/>
        </p:nvSpPr>
        <p:spPr>
          <a:xfrm>
            <a:off x="42976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АНГИ, НЭГТГЭЛ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6-р морьт дивизийн 17-р морьт хороо, Тамсагбулаг</a:t>
            </a:r>
            <a:endParaRPr lang="en-US" sz="850" dirty="0"/>
          </a:p>
        </p:txBody>
      </p:sp>
      <p:sp>
        <p:nvSpPr>
          <p:cNvPr id="19" name="feats header"/>
          <p:cNvSpPr txBox="1"/>
          <p:nvPr/>
        </p:nvSpPr>
        <p:spPr>
          <a:xfrm>
            <a:off x="374904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Байгуулсан гавьяа</a:t>
            </a:r>
            <a:endParaRPr lang="en-US" sz="1500" dirty="0"/>
          </a:p>
        </p:txBody>
      </p:sp>
      <p:sp>
        <p:nvSpPr>
          <p:cNvPr id="20" name="feats"/>
          <p:cNvSpPr txBox="1"/>
          <p:nvPr/>
        </p:nvSpPr>
        <p:spPr>
          <a:xfrm>
            <a:off x="3749040" y="329184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21 настайдаа ахмад цолтойгоор 17-р морьт хорооны штабын даргаар томилогдон 1939 оны Халхын голын дайнд байлдсан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1945 оны Чөлөөлөх дайнд оролцсон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Дайны дараа ахмад дипломатч, төрийн зүтгэлтэн болж, 101 нас хүртлээ ахмад дайчдыг төлөөлсөн</a:t>
            </a:r>
            <a:endParaRPr lang="en-US" sz="1300" dirty="0"/>
          </a:p>
        </p:txBody>
      </p:sp>
      <p:sp>
        <p:nvSpPr>
          <p:cNvPr id="21" name="school circle"/>
          <p:cNvSpPr/>
          <p:nvPr/>
        </p:nvSpPr>
        <p:spPr>
          <a:xfrm>
            <a:off x="3749040" y="5138928"/>
            <a:ext cx="420624" cy="42062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school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402" y="5248290"/>
            <a:ext cx="201900" cy="201900"/>
          </a:xfrm>
          <a:prstGeom prst="rect">
            <a:avLst/>
          </a:prstGeom>
        </p:spPr>
      </p:pic>
      <p:sp>
        <p:nvSpPr>
          <p:cNvPr id="23" name="school text"/>
          <p:cNvSpPr txBox="1"/>
          <p:nvPr/>
        </p:nvSpPr>
        <p:spPr>
          <a:xfrm>
            <a:off x="4297680" y="50749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1937–1939 онд Цэргийн ерөнхий сургууль төгссөн. Хожим ГЯЯ-ны сайд (1958–1963), БНАСАУ, Энэтхэгт Элчин сайд, АИХ-ын депутат</a:t>
            </a:r>
            <a:endParaRPr lang="en-US" sz="1100" dirty="0"/>
          </a:p>
        </p:txBody>
      </p:sp>
      <p:sp>
        <p:nvSpPr>
          <p:cNvPr id="24" name="memory circle"/>
          <p:cNvSpPr/>
          <p:nvPr/>
        </p:nvSpPr>
        <p:spPr>
          <a:xfrm>
            <a:off x="3749040" y="5760720"/>
            <a:ext cx="420624" cy="420624"/>
          </a:xfrm>
          <a:prstGeom prst="ellipse">
            <a:avLst/>
          </a:prstGeom>
          <a:solidFill>
            <a:srgbClr val="2E4A7D"/>
          </a:solidFill>
          <a:ln w="12700">
            <a:solidFill>
              <a:srgbClr val="2E4A7D"/>
            </a:solidFill>
            <a:prstDash val="solid"/>
          </a:ln>
        </p:spPr>
      </p:sp>
      <p:pic>
        <p:nvPicPr>
          <p:cNvPr id="25" name="memory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402" y="5870082"/>
            <a:ext cx="201900" cy="201900"/>
          </a:xfrm>
          <a:prstGeom prst="rect">
            <a:avLst/>
          </a:prstGeom>
        </p:spPr>
      </p:pic>
      <p:sp>
        <p:nvSpPr>
          <p:cNvPr id="26" name="memory text"/>
          <p:cNvSpPr txBox="1"/>
          <p:nvPr/>
        </p:nvSpPr>
        <p:spPr>
          <a:xfrm>
            <a:off x="4297680" y="56875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Үндэслэл: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Халхын голын ялалтын 75 жилийн ойгоор Монгол Улсын баатар цол хүртсэн.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Дурсгал: </a:t>
            </a:r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2019.07.03-нд Улаанбаатарт 101 насандаа нас барсан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Баатар цол хүртсэн он дараалал</a:t>
            </a:r>
            <a:endParaRPr lang="en-US" sz="32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Гурван баатар дайны жилүүдэд шууд, бусад нь Халхын голын ялалтын ойн жилүүдэд нэхэн (хойноос нь) цол хүртжээ.</a:t>
            </a:r>
            <a:endParaRPr lang="en-US" sz="1400" dirty="0"/>
          </a:p>
        </p:txBody>
      </p:sp>
      <p:sp>
        <p:nvSpPr>
          <p:cNvPr id="4" name="axis"/>
          <p:cNvSpPr/>
          <p:nvPr/>
        </p:nvSpPr>
        <p:spPr>
          <a:xfrm>
            <a:off x="914400" y="3611880"/>
            <a:ext cx="10332720" cy="0"/>
          </a:xfrm>
          <a:prstGeom prst="line">
            <a:avLst/>
          </a:prstGeom>
          <a:noFill/>
          <a:ln w="25400">
            <a:solidFill>
              <a:srgbClr val="1B2A41"/>
            </a:solidFill>
            <a:prstDash val="solid"/>
          </a:ln>
        </p:spPr>
      </p:sp>
      <p:sp>
        <p:nvSpPr>
          <p:cNvPr id="5" name="tick 1940"/>
          <p:cNvSpPr/>
          <p:nvPr/>
        </p:nvSpPr>
        <p:spPr>
          <a:xfrm>
            <a:off x="1670453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6" name="tick 1940 label"/>
          <p:cNvSpPr txBox="1"/>
          <p:nvPr/>
        </p:nvSpPr>
        <p:spPr>
          <a:xfrm>
            <a:off x="1304693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1940</a:t>
            </a:r>
            <a:endParaRPr lang="en-US" sz="900" dirty="0"/>
          </a:p>
        </p:txBody>
      </p:sp>
      <p:sp>
        <p:nvSpPr>
          <p:cNvPr id="7" name="tick 1950"/>
          <p:cNvSpPr/>
          <p:nvPr/>
        </p:nvSpPr>
        <p:spPr>
          <a:xfrm>
            <a:off x="2930540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8" name="tick 1950 label"/>
          <p:cNvSpPr txBox="1"/>
          <p:nvPr/>
        </p:nvSpPr>
        <p:spPr>
          <a:xfrm>
            <a:off x="2564780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1950</a:t>
            </a:r>
            <a:endParaRPr lang="en-US" sz="900" dirty="0"/>
          </a:p>
        </p:txBody>
      </p:sp>
      <p:sp>
        <p:nvSpPr>
          <p:cNvPr id="9" name="tick 1960"/>
          <p:cNvSpPr/>
          <p:nvPr/>
        </p:nvSpPr>
        <p:spPr>
          <a:xfrm>
            <a:off x="4190628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10" name="tick 1960 label"/>
          <p:cNvSpPr txBox="1"/>
          <p:nvPr/>
        </p:nvSpPr>
        <p:spPr>
          <a:xfrm>
            <a:off x="3824868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1960</a:t>
            </a:r>
            <a:endParaRPr lang="en-US" sz="900" dirty="0"/>
          </a:p>
        </p:txBody>
      </p:sp>
      <p:sp>
        <p:nvSpPr>
          <p:cNvPr id="11" name="tick 1970"/>
          <p:cNvSpPr/>
          <p:nvPr/>
        </p:nvSpPr>
        <p:spPr>
          <a:xfrm>
            <a:off x="5450716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12" name="tick 1970 label"/>
          <p:cNvSpPr txBox="1"/>
          <p:nvPr/>
        </p:nvSpPr>
        <p:spPr>
          <a:xfrm>
            <a:off x="5084956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1970</a:t>
            </a:r>
            <a:endParaRPr lang="en-US" sz="900" dirty="0"/>
          </a:p>
        </p:txBody>
      </p:sp>
      <p:sp>
        <p:nvSpPr>
          <p:cNvPr id="13" name="tick 1980"/>
          <p:cNvSpPr/>
          <p:nvPr/>
        </p:nvSpPr>
        <p:spPr>
          <a:xfrm>
            <a:off x="6710804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14" name="tick 1980 label"/>
          <p:cNvSpPr txBox="1"/>
          <p:nvPr/>
        </p:nvSpPr>
        <p:spPr>
          <a:xfrm>
            <a:off x="6345044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1980</a:t>
            </a:r>
            <a:endParaRPr lang="en-US" sz="900" dirty="0"/>
          </a:p>
        </p:txBody>
      </p:sp>
      <p:sp>
        <p:nvSpPr>
          <p:cNvPr id="15" name="tick 1990"/>
          <p:cNvSpPr/>
          <p:nvPr/>
        </p:nvSpPr>
        <p:spPr>
          <a:xfrm>
            <a:off x="7970892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16" name="tick 1990 label"/>
          <p:cNvSpPr txBox="1"/>
          <p:nvPr/>
        </p:nvSpPr>
        <p:spPr>
          <a:xfrm>
            <a:off x="7605132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1990</a:t>
            </a:r>
            <a:endParaRPr lang="en-US" sz="900" dirty="0"/>
          </a:p>
        </p:txBody>
      </p:sp>
      <p:sp>
        <p:nvSpPr>
          <p:cNvPr id="17" name="tick 2000"/>
          <p:cNvSpPr/>
          <p:nvPr/>
        </p:nvSpPr>
        <p:spPr>
          <a:xfrm>
            <a:off x="9230980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18" name="tick 2000 label"/>
          <p:cNvSpPr txBox="1"/>
          <p:nvPr/>
        </p:nvSpPr>
        <p:spPr>
          <a:xfrm>
            <a:off x="8865220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2000</a:t>
            </a:r>
            <a:endParaRPr lang="en-US" sz="900" dirty="0"/>
          </a:p>
        </p:txBody>
      </p:sp>
      <p:sp>
        <p:nvSpPr>
          <p:cNvPr id="19" name="tick 2010"/>
          <p:cNvSpPr/>
          <p:nvPr/>
        </p:nvSpPr>
        <p:spPr>
          <a:xfrm>
            <a:off x="10491067" y="3538728"/>
            <a:ext cx="0" cy="146304"/>
          </a:xfrm>
          <a:prstGeom prst="line">
            <a:avLst/>
          </a:prstGeom>
          <a:noFill/>
          <a:ln w="12700">
            <a:solidFill>
              <a:srgbClr val="1B2A41"/>
            </a:solidFill>
            <a:prstDash val="solid"/>
          </a:ln>
        </p:spPr>
      </p:sp>
      <p:sp>
        <p:nvSpPr>
          <p:cNvPr id="20" name="tick 2010 label"/>
          <p:cNvSpPr txBox="1"/>
          <p:nvPr/>
        </p:nvSpPr>
        <p:spPr>
          <a:xfrm>
            <a:off x="10125307" y="3721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2010</a:t>
            </a:r>
            <a:endParaRPr lang="en-US" sz="900" dirty="0"/>
          </a:p>
        </p:txBody>
      </p:sp>
      <p:sp>
        <p:nvSpPr>
          <p:cNvPr id="21" name="pt 1936.04.07"/>
          <p:cNvSpPr/>
          <p:nvPr/>
        </p:nvSpPr>
        <p:spPr>
          <a:xfrm>
            <a:off x="1069904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stem 1936.04.07"/>
          <p:cNvSpPr/>
          <p:nvPr/>
        </p:nvSpPr>
        <p:spPr>
          <a:xfrm>
            <a:off x="1197920" y="3200400"/>
            <a:ext cx="0" cy="2834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23" name="label 1936.04.07"/>
          <p:cNvSpPr txBox="1"/>
          <p:nvPr/>
        </p:nvSpPr>
        <p:spPr>
          <a:xfrm>
            <a:off x="397820" y="262432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1936.04.07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Д.Дэмбэрэл</a:t>
            </a:r>
            <a:endParaRPr lang="en-US" sz="1100" dirty="0"/>
          </a:p>
        </p:txBody>
      </p:sp>
      <p:sp>
        <p:nvSpPr>
          <p:cNvPr id="24" name="pt 1939.10.21"/>
          <p:cNvSpPr/>
          <p:nvPr/>
        </p:nvSpPr>
        <p:spPr>
          <a:xfrm>
            <a:off x="1510934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stem 1939.10.21"/>
          <p:cNvSpPr/>
          <p:nvPr/>
        </p:nvSpPr>
        <p:spPr>
          <a:xfrm>
            <a:off x="1638950" y="3739896"/>
            <a:ext cx="0" cy="2834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26" name="label 1939.10.21"/>
          <p:cNvSpPr txBox="1"/>
          <p:nvPr/>
        </p:nvSpPr>
        <p:spPr>
          <a:xfrm>
            <a:off x="838850" y="40690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1939.10.21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Ц.Олзвой</a:t>
            </a:r>
            <a:endParaRPr lang="en-US" sz="1100" dirty="0"/>
          </a:p>
        </p:txBody>
      </p:sp>
      <p:sp>
        <p:nvSpPr>
          <p:cNvPr id="27" name="pt 1945.09.26"/>
          <p:cNvSpPr/>
          <p:nvPr/>
        </p:nvSpPr>
        <p:spPr>
          <a:xfrm>
            <a:off x="2256486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stem 1945.09.26"/>
          <p:cNvSpPr/>
          <p:nvPr/>
        </p:nvSpPr>
        <p:spPr>
          <a:xfrm>
            <a:off x="2384502" y="2514600"/>
            <a:ext cx="0" cy="9692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29" name="label 1945.09.26"/>
          <p:cNvSpPr txBox="1"/>
          <p:nvPr/>
        </p:nvSpPr>
        <p:spPr>
          <a:xfrm>
            <a:off x="1584402" y="1682496"/>
            <a:ext cx="1600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1945.09.26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Д.Данзанваанчиг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С.Дампил</a:t>
            </a:r>
            <a:endParaRPr lang="en-US" sz="1100" dirty="0"/>
          </a:p>
        </p:txBody>
      </p:sp>
      <p:sp>
        <p:nvSpPr>
          <p:cNvPr id="30" name="pt 1964.09.29"/>
          <p:cNvSpPr/>
          <p:nvPr/>
        </p:nvSpPr>
        <p:spPr>
          <a:xfrm>
            <a:off x="4650653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1" name="stem 1964.09.29"/>
          <p:cNvSpPr/>
          <p:nvPr/>
        </p:nvSpPr>
        <p:spPr>
          <a:xfrm>
            <a:off x="4778669" y="3739896"/>
            <a:ext cx="0" cy="9692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32" name="label 1964.09.29"/>
          <p:cNvSpPr txBox="1"/>
          <p:nvPr/>
        </p:nvSpPr>
        <p:spPr>
          <a:xfrm>
            <a:off x="3978569" y="47548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1964.09.29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Л.Гэлэгбаатар</a:t>
            </a:r>
            <a:endParaRPr lang="en-US" sz="1100" dirty="0"/>
          </a:p>
        </p:txBody>
      </p:sp>
      <p:sp>
        <p:nvSpPr>
          <p:cNvPr id="33" name="pt 1969.08.18"/>
          <p:cNvSpPr/>
          <p:nvPr/>
        </p:nvSpPr>
        <p:spPr>
          <a:xfrm>
            <a:off x="5270196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stem 1969.08.18"/>
          <p:cNvSpPr/>
          <p:nvPr/>
        </p:nvSpPr>
        <p:spPr>
          <a:xfrm>
            <a:off x="5398212" y="3200400"/>
            <a:ext cx="0" cy="2834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35" name="label 1969.08.18"/>
          <p:cNvSpPr txBox="1"/>
          <p:nvPr/>
        </p:nvSpPr>
        <p:spPr>
          <a:xfrm>
            <a:off x="4598112" y="262432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1969.08.18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Д.Хаянхярваа</a:t>
            </a:r>
            <a:endParaRPr lang="en-US" sz="1100" dirty="0"/>
          </a:p>
        </p:txBody>
      </p:sp>
      <p:sp>
        <p:nvSpPr>
          <p:cNvPr id="36" name="pt 1971.03.12"/>
          <p:cNvSpPr/>
          <p:nvPr/>
        </p:nvSpPr>
        <p:spPr>
          <a:xfrm>
            <a:off x="5469710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7" name="stem 1971.03.12"/>
          <p:cNvSpPr/>
          <p:nvPr/>
        </p:nvSpPr>
        <p:spPr>
          <a:xfrm>
            <a:off x="5597726" y="3739896"/>
            <a:ext cx="0" cy="2834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38" name="label 1971.03.12"/>
          <p:cNvSpPr txBox="1"/>
          <p:nvPr/>
        </p:nvSpPr>
        <p:spPr>
          <a:xfrm>
            <a:off x="4797626" y="40690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1971.03.12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Д.Нянтайсүрэн</a:t>
            </a:r>
            <a:endParaRPr lang="en-US" sz="1100" dirty="0"/>
          </a:p>
        </p:txBody>
      </p:sp>
      <p:sp>
        <p:nvSpPr>
          <p:cNvPr id="39" name="pt 1979.08.19"/>
          <p:cNvSpPr/>
          <p:nvPr/>
        </p:nvSpPr>
        <p:spPr>
          <a:xfrm>
            <a:off x="6530284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0" name="stem 1979.08.19"/>
          <p:cNvSpPr/>
          <p:nvPr/>
        </p:nvSpPr>
        <p:spPr>
          <a:xfrm>
            <a:off x="6658300" y="2514600"/>
            <a:ext cx="0" cy="9692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41" name="label 1979.08.19"/>
          <p:cNvSpPr txBox="1"/>
          <p:nvPr/>
        </p:nvSpPr>
        <p:spPr>
          <a:xfrm>
            <a:off x="5858200" y="193852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1979.08.19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М.Экей</a:t>
            </a:r>
            <a:endParaRPr lang="en-US" sz="1100" dirty="0"/>
          </a:p>
        </p:txBody>
      </p:sp>
      <p:sp>
        <p:nvSpPr>
          <p:cNvPr id="42" name="pt 1984.08.15"/>
          <p:cNvSpPr/>
          <p:nvPr/>
        </p:nvSpPr>
        <p:spPr>
          <a:xfrm>
            <a:off x="7160328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3" name="stem 1984.08.15"/>
          <p:cNvSpPr/>
          <p:nvPr/>
        </p:nvSpPr>
        <p:spPr>
          <a:xfrm>
            <a:off x="7288344" y="3739896"/>
            <a:ext cx="0" cy="9692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44" name="label 1984.08.15"/>
          <p:cNvSpPr txBox="1"/>
          <p:nvPr/>
        </p:nvSpPr>
        <p:spPr>
          <a:xfrm>
            <a:off x="6488244" y="47548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1984.08.15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В.Шарав</a:t>
            </a:r>
            <a:endParaRPr lang="en-US" sz="1100" dirty="0"/>
          </a:p>
        </p:txBody>
      </p:sp>
      <p:sp>
        <p:nvSpPr>
          <p:cNvPr id="45" name="pt 1989.07.19"/>
          <p:cNvSpPr/>
          <p:nvPr/>
        </p:nvSpPr>
        <p:spPr>
          <a:xfrm>
            <a:off x="7779871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6" name="stem 1989.07.19"/>
          <p:cNvSpPr/>
          <p:nvPr/>
        </p:nvSpPr>
        <p:spPr>
          <a:xfrm>
            <a:off x="7907887" y="3200400"/>
            <a:ext cx="0" cy="2834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47" name="label 1989.07.19"/>
          <p:cNvSpPr txBox="1"/>
          <p:nvPr/>
        </p:nvSpPr>
        <p:spPr>
          <a:xfrm>
            <a:off x="7107787" y="262432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1989.07.19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Ж.Лхагвасүрэн</a:t>
            </a:r>
            <a:endParaRPr lang="en-US" sz="1100" dirty="0"/>
          </a:p>
        </p:txBody>
      </p:sp>
      <p:sp>
        <p:nvSpPr>
          <p:cNvPr id="48" name="pt 2014.09.03"/>
          <p:cNvSpPr/>
          <p:nvPr/>
        </p:nvSpPr>
        <p:spPr>
          <a:xfrm>
            <a:off x="10951092" y="3483864"/>
            <a:ext cx="256032" cy="25603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9" name="stem 2014.09.03"/>
          <p:cNvSpPr/>
          <p:nvPr/>
        </p:nvSpPr>
        <p:spPr>
          <a:xfrm>
            <a:off x="11079108" y="3739896"/>
            <a:ext cx="0" cy="283464"/>
          </a:xfrm>
          <a:prstGeom prst="line">
            <a:avLst/>
          </a:prstGeom>
          <a:noFill/>
          <a:ln w="12700">
            <a:solidFill>
              <a:srgbClr val="9AA3B0"/>
            </a:solidFill>
            <a:prstDash val="solid"/>
          </a:ln>
        </p:spPr>
      </p:sp>
      <p:sp>
        <p:nvSpPr>
          <p:cNvPr id="50" name="label 2014.09.03"/>
          <p:cNvSpPr txBox="1"/>
          <p:nvPr/>
        </p:nvSpPr>
        <p:spPr>
          <a:xfrm>
            <a:off x="10279008" y="406908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2014.09.03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П.Шагдарсүрэн</a:t>
            </a:r>
            <a:endParaRPr lang="en-US" sz="1100" dirty="0"/>
          </a:p>
        </p:txBody>
      </p:sp>
      <p:sp>
        <p:nvSpPr>
          <p:cNvPr id="51" name="tstat 0 card"/>
          <p:cNvSpPr/>
          <p:nvPr/>
        </p:nvSpPr>
        <p:spPr>
          <a:xfrm>
            <a:off x="548640" y="55321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2" name="tstat 0 circle"/>
          <p:cNvSpPr/>
          <p:nvPr/>
        </p:nvSpPr>
        <p:spPr>
          <a:xfrm>
            <a:off x="685800" y="5687568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3" name="tsta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806440"/>
            <a:ext cx="219456" cy="219456"/>
          </a:xfrm>
          <a:prstGeom prst="rect">
            <a:avLst/>
          </a:prstGeom>
        </p:spPr>
      </p:pic>
      <p:sp>
        <p:nvSpPr>
          <p:cNvPr id="54" name="tstat 0 text"/>
          <p:cNvSpPr txBox="1"/>
          <p:nvPr/>
        </p:nvSpPr>
        <p:spPr>
          <a:xfrm>
            <a:off x="128016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дайны жилүүдэд шууд цол хүртсэн (1936, 1939, 1945)</a:t>
            </a:r>
            <a:endParaRPr lang="en-US" sz="1800" dirty="0"/>
          </a:p>
        </p:txBody>
      </p:sp>
      <p:sp>
        <p:nvSpPr>
          <p:cNvPr id="55" name="tstat 1 card"/>
          <p:cNvSpPr/>
          <p:nvPr/>
        </p:nvSpPr>
        <p:spPr>
          <a:xfrm>
            <a:off x="4297680" y="55321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tstat 1 circle"/>
          <p:cNvSpPr/>
          <p:nvPr/>
        </p:nvSpPr>
        <p:spPr>
          <a:xfrm>
            <a:off x="4434840" y="5687568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7" name="tsta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5806440"/>
            <a:ext cx="219456" cy="219456"/>
          </a:xfrm>
          <a:prstGeom prst="rect">
            <a:avLst/>
          </a:prstGeom>
        </p:spPr>
      </p:pic>
      <p:sp>
        <p:nvSpPr>
          <p:cNvPr id="58" name="tstat 1 text"/>
          <p:cNvSpPr txBox="1"/>
          <p:nvPr/>
        </p:nvSpPr>
        <p:spPr>
          <a:xfrm>
            <a:off x="502920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баатар Халхын голын ялалтын ойн жилүүдэд нэхэн цол хүртсэн</a:t>
            </a:r>
            <a:endParaRPr lang="en-US" sz="1800" dirty="0"/>
          </a:p>
        </p:txBody>
      </p:sp>
      <p:sp>
        <p:nvSpPr>
          <p:cNvPr id="59" name="tstat 2 card"/>
          <p:cNvSpPr/>
          <p:nvPr/>
        </p:nvSpPr>
        <p:spPr>
          <a:xfrm>
            <a:off x="8046720" y="55321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0" name="tstat 2 circle"/>
          <p:cNvSpPr/>
          <p:nvPr/>
        </p:nvSpPr>
        <p:spPr>
          <a:xfrm>
            <a:off x="8183880" y="5687568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1" name="tsta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5806440"/>
            <a:ext cx="219456" cy="219456"/>
          </a:xfrm>
          <a:prstGeom prst="rect">
            <a:avLst/>
          </a:prstGeom>
        </p:spPr>
      </p:pic>
      <p:sp>
        <p:nvSpPr>
          <p:cNvPr id="62" name="tstat 2 text"/>
          <p:cNvSpPr txBox="1"/>
          <p:nvPr/>
        </p:nvSpPr>
        <p:spPr>
          <a:xfrm>
            <a:off x="8778240" y="5577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78 жил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анхны (1936) ба сүүлийн (2014) цолны хоорондох хугацаа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Нийтлэг зүйл ба дүгнэлт</a:t>
            </a:r>
            <a:endParaRPr lang="en-US" sz="3200" dirty="0"/>
          </a:p>
        </p:txBody>
      </p:sp>
      <p:sp>
        <p:nvSpPr>
          <p:cNvPr id="3" name="pt 0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t 0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5" name="p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6" name="pt 0 head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Нэг хороо, нэг сургууль</a:t>
            </a:r>
            <a:endParaRPr lang="en-US" sz="1600" dirty="0"/>
          </a:p>
        </p:txBody>
      </p:sp>
      <p:sp>
        <p:nvSpPr>
          <p:cNvPr id="7" name="pt 0 body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Ц.Олзвой, М.Экей, Д.Нянтайсүрэн, П.Шагдарсүрэн нар бүгд 6-р морьт дивизийн 17-р морьт хороонд алба хааж, Халхын голд хамт байлдсан.</a:t>
            </a:r>
            <a:endParaRPr lang="en-US" sz="1200" dirty="0"/>
          </a:p>
        </p:txBody>
      </p:sp>
      <p:sp>
        <p:nvSpPr>
          <p:cNvPr id="8" name="pt 1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t 1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0" name="p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46" y="1742846"/>
            <a:ext cx="263347" cy="263347"/>
          </a:xfrm>
          <a:prstGeom prst="rect">
            <a:avLst/>
          </a:prstGeom>
        </p:spPr>
      </p:pic>
      <p:sp>
        <p:nvSpPr>
          <p:cNvPr id="11" name="pt 1 head"/>
          <p:cNvSpPr txBox="1"/>
          <p:nvPr/>
        </p:nvSpPr>
        <p:spPr>
          <a:xfrm>
            <a:off x="713232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Амиа өгсөн дөрвөн баатар</a:t>
            </a:r>
            <a:endParaRPr lang="en-US" sz="1600" dirty="0"/>
          </a:p>
        </p:txBody>
      </p:sp>
      <p:sp>
        <p:nvSpPr>
          <p:cNvPr id="12" name="pt 1 body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Л.Гэлэгбаатар (05.28), М.Экей (07.24), В.Шарав (08.03) нар 1939 онд Халхын голд, Д.Дэмбэрэл 1939 онд амь үрэгдсэн.</a:t>
            </a:r>
            <a:endParaRPr lang="en-US" sz="1200" dirty="0"/>
          </a:p>
        </p:txBody>
      </p:sp>
      <p:sp>
        <p:nvSpPr>
          <p:cNvPr id="13" name="pt 2 card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t 2 circle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5" name="p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028846"/>
            <a:ext cx="263347" cy="263347"/>
          </a:xfrm>
          <a:prstGeom prst="rect">
            <a:avLst/>
          </a:prstGeom>
        </p:spPr>
      </p:pic>
      <p:sp>
        <p:nvSpPr>
          <p:cNvPr id="16" name="pt 2 head"/>
          <p:cNvSpPr txBox="1"/>
          <p:nvPr/>
        </p:nvSpPr>
        <p:spPr>
          <a:xfrm>
            <a:off x="1508760" y="3886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Ойн жилүүдийн нэхэн цол</a:t>
            </a:r>
            <a:endParaRPr lang="en-US" sz="1600" dirty="0"/>
          </a:p>
        </p:txBody>
      </p:sp>
      <p:sp>
        <p:nvSpPr>
          <p:cNvPr id="17" name="pt 2 body"/>
          <p:cNvSpPr txBox="1"/>
          <p:nvPr/>
        </p:nvSpPr>
        <p:spPr>
          <a:xfrm>
            <a:off x="777240" y="4526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1964, 1969, 1979, 1984, 1989, 2014 онуудад Халхын голын ялалтын ойгоор цол нэхэн олгож, дайны гавьяаг төр дахин үнэлсэн.</a:t>
            </a:r>
            <a:endParaRPr lang="en-US" sz="1200" dirty="0"/>
          </a:p>
        </p:txBody>
      </p:sp>
      <p:sp>
        <p:nvSpPr>
          <p:cNvPr id="18" name="pt 3 card"/>
          <p:cNvSpPr/>
          <p:nvPr/>
        </p:nvSpPr>
        <p:spPr>
          <a:xfrm>
            <a:off x="6172200" y="3657600"/>
            <a:ext cx="544068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t 3 circle"/>
          <p:cNvSpPr/>
          <p:nvPr/>
        </p:nvSpPr>
        <p:spPr>
          <a:xfrm>
            <a:off x="6400800" y="3886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0" name="p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446" y="4028846"/>
            <a:ext cx="263347" cy="263347"/>
          </a:xfrm>
          <a:prstGeom prst="rect">
            <a:avLst/>
          </a:prstGeom>
        </p:spPr>
      </p:pic>
      <p:sp>
        <p:nvSpPr>
          <p:cNvPr id="21" name="pt 3 head"/>
          <p:cNvSpPr txBox="1"/>
          <p:nvPr/>
        </p:nvSpPr>
        <p:spPr>
          <a:xfrm>
            <a:off x="7132320" y="3886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Дурсгал мөнхөрсөн</a:t>
            </a:r>
            <a:endParaRPr lang="en-US" sz="1600" dirty="0"/>
          </a:p>
        </p:txBody>
      </p:sp>
      <p:sp>
        <p:nvSpPr>
          <p:cNvPr id="22" name="pt 3 body"/>
          <p:cNvSpPr txBox="1"/>
          <p:nvPr/>
        </p:nvSpPr>
        <p:spPr>
          <a:xfrm>
            <a:off x="6400800" y="4526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Манхан, Өлгий, Бүрэгхангай, Улаанбаатар хотод хөшөө; МАА-ийн 132-р анги Д.Нянтайсүрэнгийн нэрэмжит.</a:t>
            </a:r>
            <a:endParaRPr lang="en-US" sz="1200" dirty="0"/>
          </a:p>
        </p:txBody>
      </p:sp>
      <p:sp>
        <p:nvSpPr>
          <p:cNvPr id="23" name="sources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Эх сурвалж: mn.wikipedia.org (БНМАУ-ын баатар цол; баатруудын нийтлэл), baabar.mn, montsame.mn, medee.mn, 24tsag.mn, mndu.gov.mn. Төрсөн он, зарим огноо эх сурвалжуудад зөрүүтэй тул архивын баримтаар нягтлахыг зөвлөнө.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HIS Heroes">
  <a:themeElements>
    <a:clrScheme name="UBHIS Heroes">
      <a:dk1>
        <a:srgbClr val="1B2A41"/>
      </a:dk1>
      <a:lt1>
        <a:srgbClr val="FFFFFF"/>
      </a:lt1>
      <a:dk2>
        <a:srgbClr val="5B6472"/>
      </a:dk2>
      <a:lt2>
        <a:srgbClr val="EEF0F4"/>
      </a:lt2>
      <a:accent1>
        <a:srgbClr val="C8102E"/>
      </a:accent1>
      <a:accent2>
        <a:srgbClr val="D4A017"/>
      </a:accent2>
      <a:accent3>
        <a:srgbClr val="2E4A7D"/>
      </a:accent3>
      <a:accent4>
        <a:srgbClr val="8B1E2D"/>
      </a:accent4>
      <a:accent5>
        <a:srgbClr val="9AA3B0"/>
      </a:accent5>
      <a:accent6>
        <a:srgbClr val="F6E7B4"/>
      </a:accent6>
      <a:hlink>
        <a:srgbClr val="2E4A7D"/>
      </a:hlink>
      <a:folHlink>
        <a:srgbClr val="8B1E2D"/>
      </a:folHlink>
    </a:clrScheme>
    <a:fontScheme name="UBHIS Hero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ҮБХИС-иас төрсөн 11 баатар</dc:title>
  <dc:subject>PptxGenJS Presentation</dc:subject>
  <dc:creator>Research material</dc:creator>
  <cp:lastModifiedBy>Research material</cp:lastModifiedBy>
  <cp:revision>1</cp:revision>
  <dcterms:created xsi:type="dcterms:W3CDTF">2026-10-12T01:09:12Z</dcterms:created>
  <dcterms:modified xsi:type="dcterms:W3CDTF">2026-10-12T01:09:12Z</dcterms:modified>
</cp:coreProperties>
</file>