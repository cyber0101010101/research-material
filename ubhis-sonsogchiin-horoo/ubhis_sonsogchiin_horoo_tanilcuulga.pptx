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Удиртгал" id="{2a325f99-6b2f-10dc-2804-27e17851fd48}">
          <p14:sldIdLst>
            <p14:sldId id="256"/>
            <p14:sldId id="257"/>
            <p14:sldId id="258"/>
          </p14:sldIdLst>
        </p14:section>
        <p14:section name="Олон улсын туршлага" id="{6db61527-3e79-53d6-97ad-fa71dcf79d6d}">
          <p14:sldIdLst>
            <p14:sldId id="259"/>
            <p14:sldId id="260"/>
          </p14:sldIdLst>
        </p14:section>
        <p14:section name="Бүтэц, зохион байгуулалт" id="{c425e700-19f6-e24e-959a-c6c97e0c28a8}">
          <p14:sldIdLst>
            <p14:sldId id="261"/>
            <p14:sldId id="262"/>
            <p14:sldId id="263"/>
            <p14:sldId id="264"/>
          </p14:sldIdLst>
        </p14:section>
        <p14:section name="Ялгах ба шагналын тэмдэг" id="{ab787021-8546-bd66-8f5b-6c7c586af9bc}">
          <p14:sldIdLst>
            <p14:sldId id="265"/>
            <p14:sldId id="266"/>
            <p14:sldId id="267"/>
          </p14:sldIdLst>
        </p14:section>
        <p14:section name="Хэрэгжүүлэлт" id="{11dbd4d4-a488-d7d4-97ea-61f297b49efd}">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84B"/>
                </a:solidFill>
                <a:latin typeface="+mn-lt"/>
              </a:defRPr>
            </a:pPr>
            <a:r>
              <a:rPr sz="1400" b="0" i="0" u="none" strike="noStrike">
                <a:solidFill>
                  <a:srgbClr val="14284B"/>
                </a:solidFill>
                <a:latin typeface="+mn-lt"/>
              </a:rPr>
              <a:t>Сонгон шалгаруулалтын шалгуурын жин, %</a:t>
            </a:r>
          </a:p>
        </c:rich>
      </c:tx>
      <c:layout/>
      <c:overlay val="0"/>
    </c:title>
    <c:autoTitleDeleted val="0"/>
    <c:plotArea>
      <c:layout/>
      <c:barChart>
        <c:barDir val="bar"/>
        <c:grouping val="clustered"/>
        <c:varyColors val="0"/>
        <c:ser>
          <c:idx val="0"/>
          <c:order val="0"/>
          <c:tx>
            <c:strRef>
              <c:f>Sheet1!$B$1</c:f>
              <c:strCache>
                <c:ptCount val="1"/>
                <c:pt idx="0">
                  <c:v>Жин</c:v>
                </c:pt>
              </c:strCache>
            </c:strRef>
          </c:tx>
          <c:spPr>
            <a:solidFill>
              <a:srgbClr val="14284B"/>
            </a:solidFill>
            <a:effectLst/>
          </c:spPr>
          <c:invertIfNegative val="0"/>
          <c:dLbls>
            <c:numFmt formatCode="0&quot;%&quot;" sourceLinked="0"/>
            <c:txPr>
              <a:bodyPr/>
              <a:lstStyle/>
              <a:p>
                <a:pPr>
                  <a:defRPr b="0" i="0" strike="noStrike" sz="1300" u="none">
                    <a:solidFill>
                      <a:srgbClr val="1B2333"/>
                    </a:solidFill>
                    <a:latin typeface="+mn-lt"/>
                  </a:defRPr>
                </a:pPr>
              </a:p>
            </c:txPr>
            <c:showLegendKey val="0"/>
            <c:showVal val="1"/>
            <c:showCatName val="0"/>
            <c:showSerName val="0"/>
            <c:showPercent val="0"/>
            <c:showBubbleSize val="0"/>
            <c:showLeaderLines val="0"/>
          </c:dLbls>
          <c:cat>
            <c:multiLvlStrRef>
              <c:f>Sheet1!$A$2:$A$6</c:f>
              <c:multiLvlStrCache>
                <c:ptCount val="5"/>
                <c:lvl>
                  <c:pt idx="0">
                    <c:v>Сурлагын голч дүн</c:v>
                  </c:pt>
                  <c:pt idx="1">
                    <c:v>Цэргийн бэлтгэл, манлайлал</c:v>
                  </c:pt>
                  <c:pt idx="2">
                    <c:v>Бие бялдар</c:v>
                  </c:pt>
                  <c:pt idx="3">
                    <c:v>Сахилга, ёс зүй</c:v>
                  </c:pt>
                  <c:pt idx="4">
                    <c:v>Ярилцлага</c:v>
                  </c:pt>
                </c:lvl>
              </c:multiLvlStrCache>
            </c:multiLvlStrRef>
          </c:cat>
          <c:val>
            <c:numRef>
              <c:f>Sheet1!$B$2:$B$6</c:f>
              <c:numCache>
                <c:formatCode>General</c:formatCode>
                <c:ptCount val="5"/>
                <c:pt idx="0">
                  <c:v>30</c:v>
                </c:pt>
                <c:pt idx="1">
                  <c:v>30</c:v>
                </c:pt>
                <c:pt idx="2">
                  <c:v>15</c:v>
                </c:pt>
                <c:pt idx="3">
                  <c:v>15</c:v>
                </c:pt>
                <c:pt idx="4">
                  <c:v>10</c:v>
                </c:pt>
              </c:numCache>
            </c:numRef>
          </c:val>
        </c:ser>
        <c:dLbls>
          <c:numFmt formatCode="0&quot;%&quot;" sourceLinked="0"/>
          <c:txPr>
            <a:bodyPr/>
            <a:lstStyle/>
            <a:p>
              <a:pPr>
                <a:defRPr b="0" i="0" strike="noStrike" sz="1300" u="none">
                  <a:solidFill>
                    <a:srgbClr val="1B23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B2333"/>
                </a:solidFill>
                <a:latin typeface="+mn-lt"/>
              </a:defRPr>
            </a:pPr>
            <a:endParaRPr lang="en-US"/>
          </a:p>
        </c:txPr>
        <c:crossAx val="2094734552"/>
        <c:crosses val="autoZero"/>
        <c:auto val="1"/>
        <c:lblAlgn val="ctr"/>
        <c:noMultiLvlLbl val="1"/>
      </c:catAx>
      <c:valAx>
        <c:axId val="2094734552"/>
        <c:scaling>
          <c:orientation val="minMax"/>
          <c:max val="36"/>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Энэхүү танилцуулга нь ЦНС-ийн Кибер аюулгүй байдлын тэнхимийн боловсруулсан хоёр саналыг нэгтгэв: (1) Сонсогчийн хороог шинээр байгуулах бүтэц, зохион байгуулалтын санал, (2) Сонсогчийн хорооны ялгах тэмдэг, шагналын тэмдгийн загвар, журмын санал.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Гол санаа: сонсогчдын өөрсдөө удирддаг, цэргийн ангийн бүтэцтэй Сонсогчийн хороо байгуулж, түүний бүтцийг ялгах тэмдэг, шагналын тэмдгээр өдөр тутам харагдахуйц болгоно. Удирдлагаас хүсэх гурван шийдвэрийг доод хэсэгт харуулав.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Офицер төгссөн даруйдаа салаа, ротыг удирддаг ч сургуульд байхдаа удирдах дадлагыг голдуу онолоор авдаг. Баруун талд Сонсогчийн хорооны хүрэх зургаан үр дүнг харуулав.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Судалсан 9 сургуулиас 7 нь бүх курсийн холимог рот, сонсогч удирдагчийн загвартай. ОХУ-ын загварт офицер шууд удирддаг бөгөөд ҮБХИС-ийн одоогийн зохион байгуулалт түүнтэй ойр. Шинэ хороо нь хэвтээ загвараас босоо, сонсогч-удирдагчтай загвар руу шилжих алхам юм.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Олон улсын туршлагаас гаргасан 8 нийтлэг зарчим, тэдгээрийг ҮБХИС-д хэрхэн хэрэгжүүлэх саналыг харуулав.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Хорооны захирагч офицер бөгөөд түүний доор сонсогч удирдагчдын командын шугам ажиллана. Хаалтанд буй тоо нь тухайн албан тушаалыг хашихын курсийг заана. Ротыг ≈100 сонсогч (курс бүрээс ≈25) байлгах нь ротын дарга бүх бүрэлдэхүүнээ нэрээр нь мэдэж удирдах оновчтой хэмжээ юм.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Сонсогч 4 жилд өөрийгөө удирдахаас эхлээд байгууллага удирдах хүртэл хөгжинө. Семестр бүрийн ротацийн ачаар 4-р курсийн ≈62% офицерын түвшний албан тушаал (зөвлөл, менторын үүргийг нэмбэл 100%), 3-р курсийн бүх сонсогч түрүүчийн түвшний албан тушаалыг дор хаяж нэг удаа хашина.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Удирдах албан тушаалд 5 шалгуурын жинтэй оноогоор сонгоно; сурлагын доод босго (ж.нь 3.0)-оос доош эсвэл нэр төрийн зөрчилтэй бол нэр дэвшихгүй. Эрх хэмжээний матриц нь бие даан шийдвэр гаргах чадварыг хөгжүүлэхийн зэрэгцээ эрх мэдлийн хэтрүүлэлээс сэргийлнэ.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Нэр төрийн дүрмийг сонсогчид өөрсдөө хэрэгжүүлнэ. 12 ротын 11-д ҮБХИС-иас төрсөн Монгол Улсын баатруудын нэрийг олгож, 12 дахь ротын нэрийг Эрдмийн зөвлөлөөр тогтооно. Ёслол, түүхэн аялал, үндэсний спортын «Аваргын туг»-ийн өрсөлдөөн нь эх оронч хүмүүжлийн хэрэгсэл болно.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Ханцуйн тэмдэг нь 6×9 см, оройгоороо шовх таван өнцөгт, хар хөх суурьтай, нэг өнгийн улаан хөвөөтэй. Алтлаг ромб нь сонсогч офицерын шугам (4-р курс), мөнгөлөг шеврон нь сонсогч түрүүчийн шугам (2–3-р курс). Ромбын тоо нэгжийн түвшнийг, алтан хүрээ даргыг, шонхор шувуу хорооны ахлах сонсогчийг заана.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Одоогийн албан ёсны тэмдгүүд (Төрийн далбаа, курсийн тэмдэг, ханцуйн тэмдэг) байршлаа хадгална. Шинэ тэмдгийг баруун ханцуйнд, албан ёсны тэмдгээс 1.5 см доош зүүнэ. Тоо хэмжээ: нэг семестрт 593 албан тушаал; +20% нөөцтэй 719 албаны, 719 эрээн тэмдэг захиална. Тэмдгийг семестр бүр дахин ашиглах тул жил бүр зөвхөн элэгдсэн ≈15–20%-ийг нөхнө.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Дөрвөн тэмдэг нь одоо хэрэглэж буй «Шилдэг төгсөгч» медалийн хийцтэй нэгдмэл загвартай. Эхний гурвын оройн тоо нь шагнагдсан удааг заана; дахин шагнагдахад өмнөх тэмдгийг хураан авч, дараагийн тоотойг олгоно. Хөргийг одгүй, ногоон паалантай бүсэд дүрсэлж, Сүхбаатарын одонтой андуурахаас сэргийлсэн.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Хоёр саналын хэрэгжүүлэх төлөвлөгөөг нэг хуваарьт нэгтгэв. Сонсогчийн хорооны журам болон ялгах тэмдэг, шагналын тэмдгийн журмыг зэрэг боловсруулж батална. Туршилтыг 2027 оны хавар нэг батальонд хийж, 2027–2028 оны хичээлийн жилээс бүрэн нэвтрүүлнэ.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Хүний нөөцийг одоогийн курсын офицер, ахлагч нарын орон тоог дахин хуваарилах замаар бүрдүүлнэ. Хамгийн өндөр магадлалтай эрсдэл нь офицерууд хуучин хандлагаар «бүгдийг өөрсдөө хийх» явдал. Үр дүнг 2029 он гэхэд дараах шалгуураар үнэлнэ.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Хоёр саналын дүгнэлтийг нэгтгэсэн 8 санал. 1–5 нь Сонсогчийн хорооны бүтэц, хүмүүжлийн тогтолцоо, 6 нь ялгах ба шагналын тэмдэг, 7–8 нь эрх зүй, хэрэгжүүлэх хугацаа.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365760"/>
          </a:xfrm>
          <a:prstGeom prst="rect">
            <a:avLst/>
          </a:prstGeom>
          <a:noFill/>
          <a:ln/>
        </p:spPr>
        <p:txBody>
          <a:bodyPr wrap="square" rtlCol="0"/>
          <a:lstStyle>
            <a:lvl1pPr indent="0" marL="0">
              <a:buNone/>
              <a:defRPr lang="en-US" sz="1400" b="1" spc="200" kern="0" dirty="0">
                <a:solidFill>
                  <a:schemeClr val="accent3"/>
                </a:solidFill>
              </a:defRPr>
            </a:lvl1pPr>
          </a:lstStyle>
          <a:p>
            <a:pPr indent="0" marL="0">
              <a:buNone/>
            </a:pPr>
            <a:endParaRPr lang="en-US" sz="1400" dirty="0"/>
          </a:p>
        </p:txBody>
      </p:sp>
      <p:sp>
        <p:nvSpPr>
          <p:cNvPr id="3" name="Text 0"/>
          <p:cNvSpPr/>
          <p:nvPr>
            <p:ph idx="101" type="title" hasCustomPrompt="1"/>
          </p:nvPr>
        </p:nvSpPr>
        <p:spPr>
          <a:xfrm>
            <a:off x="548640" y="1874520"/>
            <a:ext cx="6583680" cy="19202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3886200"/>
            <a:ext cx="6400800" cy="914400"/>
          </a:xfrm>
          <a:prstGeom prst="rect">
            <a:avLst/>
          </a:prstGeom>
          <a:noFill/>
          <a:ln/>
        </p:spPr>
        <p:txBody>
          <a:bodyPr wrap="square" rtlCol="0"/>
          <a:lstStyle>
            <a:lvl1pPr indent="0" marL="0">
              <a:buNone/>
              <a:defRPr lang="en-US" sz="2000" dirty="0">
                <a:solidFill>
                  <a:srgbClr val="CADCFC"/>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292608"/>
          </a:xfrm>
          <a:prstGeom prst="rect">
            <a:avLst/>
          </a:prstGeom>
          <a:noFill/>
          <a:ln/>
        </p:spPr>
        <p:txBody>
          <a:bodyPr wrap="square" rtlCol="0"/>
          <a:lstStyle>
            <a:lvl1pPr indent="0" marL="0">
              <a:buNone/>
              <a:defRPr lang="en-US" sz="1200" b="1" spc="200" kern="0" dirty="0">
                <a:solidFill>
                  <a:schemeClr val="accent2"/>
                </a:solidFill>
              </a:defRPr>
            </a:lvl1pPr>
          </a:lstStyle>
          <a:p>
            <a:pPr indent="0" marL="0">
              <a:buNone/>
            </a:pPr>
            <a:endParaRPr lang="en-US" sz="1200" dirty="0"/>
          </a:p>
        </p:txBody>
      </p:sp>
      <p:sp>
        <p:nvSpPr>
          <p:cNvPr id="3" name="Text 0"/>
          <p:cNvSpPr/>
          <p:nvPr>
            <p:ph idx="101" type="title" hasCustomPrompt="1"/>
          </p:nvPr>
        </p:nvSpPr>
        <p:spPr>
          <a:xfrm>
            <a:off x="548640" y="621792"/>
            <a:ext cx="11094415" cy="731520"/>
          </a:xfrm>
          <a:prstGeom prst="rect">
            <a:avLst/>
          </a:prstGeom>
          <a:noFill/>
          <a:ln/>
        </p:spPr>
        <p:txBody>
          <a:bodyPr wrap="square" rtlCol="0"/>
          <a:lstStyle>
            <a:lvl1pPr algn="l" indent="0" marL="0">
              <a:buNone/>
              <a:defRPr lang="en-US" sz="3000" b="1" dirty="0">
                <a:solidFill>
                  <a:schemeClr val="accent1"/>
                </a:solidFill>
              </a:defRPr>
            </a:lvl1pPr>
          </a:lstStyle>
          <a:p>
            <a:pPr algn="l" indent="0" marL="0">
              <a:buNone/>
            </a:pPr>
            <a:endParaRPr lang="en-US" sz="30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ҮБХИС · Сонсогчийн хорооны нэгдсэн санал · 2026</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292608"/>
          </a:xfrm>
          <a:prstGeom prst="rect">
            <a:avLst/>
          </a:prstGeom>
          <a:noFill/>
          <a:ln/>
        </p:spPr>
        <p:txBody>
          <a:bodyPr wrap="square" rtlCol="0"/>
          <a:lstStyle>
            <a:lvl1pPr indent="0" marL="0">
              <a:buNone/>
              <a:defRPr lang="en-US" sz="1200" b="1" spc="200" kern="0" dirty="0">
                <a:solidFill>
                  <a:schemeClr val="accent3"/>
                </a:solidFill>
              </a:defRPr>
            </a:lvl1pPr>
          </a:lstStyle>
          <a:p>
            <a:pPr indent="0" marL="0">
              <a:buNone/>
            </a:pPr>
            <a:endParaRPr lang="en-US" sz="1200" dirty="0"/>
          </a:p>
        </p:txBody>
      </p:sp>
      <p:sp>
        <p:nvSpPr>
          <p:cNvPr id="3" name="Text 0"/>
          <p:cNvSpPr/>
          <p:nvPr>
            <p:ph idx="101" type="title" hasCustomPrompt="1"/>
          </p:nvPr>
        </p:nvSpPr>
        <p:spPr>
          <a:xfrm>
            <a:off x="548640" y="621792"/>
            <a:ext cx="11094415" cy="73152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8-1.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365760"/>
          </a:xfrm>
          <a:prstGeom prst="rect">
            <a:avLst/>
          </a:prstGeom>
          <a:noFill/>
          <a:ln/>
        </p:spPr>
        <p:txBody>
          <a:bodyPr wrap="square" lIns="0" tIns="0" rIns="0" bIns="0" rtlCol="0"/>
          <a:lstStyle/>
          <a:p>
            <a:pPr indent="0" marL="0">
              <a:buNone/>
            </a:pPr>
            <a:r>
              <a:rPr lang="en-US" sz="1400" b="1" spc="200" kern="0" dirty="0">
                <a:solidFill>
                  <a:schemeClr val="accent3"/>
                </a:solidFill>
              </a:rPr>
              <a:t>ҮНДЭСНИЙ БАТЛАН ХАМГААЛАХЫН ИХ СУРГУУЛЬ</a:t>
            </a:r>
            <a:endParaRPr lang="en-US" sz="1400" dirty="0"/>
          </a:p>
        </p:txBody>
      </p:sp>
      <p:sp>
        <p:nvSpPr>
          <p:cNvPr id="3" name="Text 0"/>
          <p:cNvSpPr/>
          <p:nvPr>
            <p:ph idx="101" type="title" hasCustomPrompt="1"/>
          </p:nvPr>
        </p:nvSpPr>
        <p:spPr>
          <a:xfrm>
            <a:off x="548640" y="1874520"/>
            <a:ext cx="6583680" cy="1920240"/>
          </a:xfrm>
          <a:prstGeom prst="rect">
            <a:avLst/>
          </a:prstGeom>
          <a:noFill/>
          <a:ln/>
        </p:spPr>
        <p:txBody>
          <a:bodyPr wrap="square" lIns="0" tIns="0" rIns="0" bIns="0" rtlCol="0" anchor="t"/>
          <a:lstStyle/>
          <a:p>
            <a:pPr algn="l" indent="0" marL="0">
              <a:buNone/>
            </a:pPr>
            <a:r>
              <a:rPr lang="en-US" sz="4000" b="1" dirty="0">
                <a:solidFill>
                  <a:schemeClr val="bg1"/>
                </a:solidFill>
              </a:rPr>
              <a:t>Сонсогчийн хороог шинээр байгуулах нь</a:t>
            </a:r>
            <a:endParaRPr lang="en-US" sz="4000" dirty="0"/>
          </a:p>
        </p:txBody>
      </p:sp>
      <p:sp>
        <p:nvSpPr>
          <p:cNvPr id="4" name="Text 0"/>
          <p:cNvSpPr/>
          <p:nvPr>
            <p:ph idx="102" type="body" hasCustomPrompt="1"/>
          </p:nvPr>
        </p:nvSpPr>
        <p:spPr>
          <a:xfrm>
            <a:off x="548640" y="3886200"/>
            <a:ext cx="6400800" cy="914400"/>
          </a:xfrm>
          <a:prstGeom prst="rect">
            <a:avLst/>
          </a:prstGeom>
          <a:noFill/>
          <a:ln/>
        </p:spPr>
        <p:txBody>
          <a:bodyPr wrap="square" lIns="0" tIns="0" rIns="0" bIns="0" rtlCol="0" anchor="t"/>
          <a:lstStyle/>
          <a:p>
            <a:pPr indent="0" marL="0">
              <a:buNone/>
            </a:pPr>
            <a:r>
              <a:rPr lang="en-US" sz="2000" dirty="0">
                <a:solidFill>
                  <a:srgbClr val="CADCFC"/>
                </a:solidFill>
              </a:rPr>
              <a:t>Бүтэц, зохион байгуулалт ба ялгах тэмдэг, шагналын тэмдгийн нэгдсэн санал</a:t>
            </a:r>
            <a:endParaRPr lang="en-US" sz="2000" dirty="0"/>
          </a:p>
        </p:txBody>
      </p:sp>
      <p:sp>
        <p:nvSpPr>
          <p:cNvPr id="5" name="Text 3"/>
          <p:cNvSpPr txBox="1"/>
          <p:nvPr/>
        </p:nvSpPr>
        <p:spPr>
          <a:xfrm>
            <a:off x="548640" y="5806440"/>
            <a:ext cx="6583680" cy="365760"/>
          </a:xfrm>
          <a:prstGeom prst="rect">
            <a:avLst/>
          </a:prstGeom>
          <a:noFill/>
          <a:ln/>
        </p:spPr>
        <p:txBody>
          <a:bodyPr wrap="square" lIns="0" tIns="0" rIns="0" bIns="0" rtlCol="0" anchor="ctr"/>
          <a:lstStyle/>
          <a:p>
            <a:pPr indent="0" marL="0">
              <a:buNone/>
            </a:pPr>
            <a:r>
              <a:rPr lang="en-US" sz="1400" dirty="0">
                <a:solidFill>
                  <a:schemeClr val="bg1"/>
                </a:solidFill>
              </a:rPr>
              <a:t>ЦНС-ийн Кибер аюулгүй байдлын тэнхим · Улаанбаатар, 2026</a:t>
            </a:r>
            <a:endParaRPr lang="en-US" sz="1400" dirty="0"/>
          </a:p>
        </p:txBody>
      </p:sp>
      <p:sp>
        <p:nvSpPr>
          <p:cNvPr id="6" name="Badge panel"/>
          <p:cNvSpPr/>
          <p:nvPr/>
        </p:nvSpPr>
        <p:spPr>
          <a:xfrm>
            <a:off x="7818120" y="0"/>
            <a:ext cx="4373575" cy="6858000"/>
          </a:xfrm>
          <a:prstGeom prst="rect">
            <a:avLst/>
          </a:prstGeom>
          <a:solidFill>
            <a:schemeClr val="bg1"/>
          </a:solidFill>
          <a:ln w="12700">
            <a:solidFill>
              <a:schemeClr val="bg1"/>
            </a:solidFill>
            <a:prstDash val="solid"/>
          </a:ln>
        </p:spPr>
      </p:sp>
      <p:pic>
        <p:nvPicPr>
          <p:cNvPr id="7" name="Senior cadet badge" descr="Хорооны ахлах сонсогчийн ханцуйн тэмдгийн загвар: шонхор шувуу, 4 алтлаг ромб, алтан хүрээ">    </p:cNvPr>
          <p:cNvPicPr>
            <a:picLocks noChangeAspect="1"/>
          </p:cNvPicPr>
          <p:nvPr/>
        </p:nvPicPr>
        <p:blipFill>
          <a:blip r:embed="rId1"/>
          <a:stretch>
            <a:fillRect/>
          </a:stretch>
        </p:blipFill>
        <p:spPr>
          <a:xfrm>
            <a:off x="8577072" y="1097280"/>
            <a:ext cx="2852928" cy="3950208"/>
          </a:xfrm>
          <a:prstGeom prst="rect">
            <a:avLst/>
          </a:prstGeom>
        </p:spPr>
      </p:pic>
      <p:sp>
        <p:nvSpPr>
          <p:cNvPr id="8" name="Text 5"/>
          <p:cNvSpPr txBox="1"/>
          <p:nvPr/>
        </p:nvSpPr>
        <p:spPr>
          <a:xfrm>
            <a:off x="8183880" y="5257800"/>
            <a:ext cx="3639312" cy="457200"/>
          </a:xfrm>
          <a:prstGeom prst="rect">
            <a:avLst/>
          </a:prstGeom>
          <a:noFill/>
          <a:ln/>
        </p:spPr>
        <p:txBody>
          <a:bodyPr wrap="square" lIns="0" tIns="0" rIns="0" bIns="0" rtlCol="0" anchor="ctr"/>
          <a:lstStyle/>
          <a:p>
            <a:pPr algn="ctr" indent="0" marL="0">
              <a:buNone/>
            </a:pPr>
            <a:r>
              <a:rPr lang="en-US" sz="1200" dirty="0">
                <a:solidFill>
                  <a:schemeClr val="accent4"/>
                </a:solidFill>
              </a:rPr>
              <a:t>Хорооны ахлах сонсогчийн ханцуйн тэмдэг (санал)</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292608"/>
          </a:xfrm>
          <a:prstGeom prst="rect">
            <a:avLst/>
          </a:prstGeom>
          <a:noFill/>
          <a:ln/>
        </p:spPr>
        <p:txBody>
          <a:bodyPr wrap="square" lIns="0" tIns="0" rIns="0" bIns="0" rtlCol="0"/>
          <a:lstStyle/>
          <a:p>
            <a:pPr indent="0" marL="0">
              <a:buNone/>
            </a:pPr>
            <a:r>
              <a:rPr lang="en-US" sz="1200" b="1" spc="200" kern="0" dirty="0">
                <a:solidFill>
                  <a:schemeClr val="accent2"/>
                </a:solidFill>
              </a:rPr>
              <a:t>ТОВЧ ХУРААНГУЙ</a:t>
            </a:r>
            <a:endParaRPr lang="en-US" sz="1200" dirty="0"/>
          </a:p>
        </p:txBody>
      </p:sp>
      <p:sp>
        <p:nvSpPr>
          <p:cNvPr id="3" name="Text 0"/>
          <p:cNvSpPr/>
          <p:nvPr>
            <p:ph idx="101" type="title" hasCustomPrompt="1"/>
          </p:nvPr>
        </p:nvSpPr>
        <p:spPr>
          <a:xfrm>
            <a:off x="548640" y="621792"/>
            <a:ext cx="11094415" cy="731520"/>
          </a:xfrm>
          <a:prstGeom prst="rect">
            <a:avLst/>
          </a:prstGeom>
          <a:noFill/>
          <a:ln/>
        </p:spPr>
        <p:txBody>
          <a:bodyPr wrap="square" lIns="0" tIns="0" rIns="0" bIns="0" rtlCol="0" anchor="t"/>
          <a:lstStyle/>
          <a:p>
            <a:pPr algn="l" indent="0" marL="0">
              <a:buNone/>
            </a:pPr>
            <a:r>
              <a:rPr lang="en-US" sz="3000" b="1" dirty="0">
                <a:solidFill>
                  <a:schemeClr val="accent1"/>
                </a:solidFill>
              </a:rPr>
              <a:t>Сонсогч удирдана, офицер зааварлаж хянана</a:t>
            </a:r>
            <a:endParaRPr lang="en-US" sz="3000" dirty="0"/>
          </a:p>
        </p:txBody>
      </p:sp>
      <p:sp>
        <p:nvSpPr>
          <p:cNvPr id="5" name="Text 2"/>
          <p:cNvSpPr txBox="1"/>
          <p:nvPr/>
        </p:nvSpPr>
        <p:spPr>
          <a:xfrm>
            <a:off x="548640" y="1554480"/>
            <a:ext cx="11094415" cy="1097280"/>
          </a:xfrm>
          <a:prstGeom prst="rect">
            <a:avLst/>
          </a:prstGeom>
          <a:noFill/>
          <a:ln/>
        </p:spPr>
        <p:txBody>
          <a:bodyPr wrap="square" lIns="0" tIns="0" rIns="0" bIns="0" rtlCol="0" anchor="t"/>
          <a:lstStyle/>
          <a:p>
            <a:pPr indent="0" marL="0">
              <a:buNone/>
            </a:pPr>
            <a:r>
              <a:rPr lang="en-US" sz="1800" dirty="0">
                <a:solidFill>
                  <a:schemeClr val="tx1"/>
                </a:solidFill>
              </a:rPr>
              <a:t>9 орны тэргүүлэх цэргийн академийн туршлагад тулгуурлан ҮБХИС-д сонсогчдын өөрсдөө удирддаг, цэргийн ангийн бүтэцтэй «Сонсогчийн хороо»-г байгуулж, түүний бүтэц, удирдагчдыг ялгах тэмдэг, шагналын тэмдгийн нэгдсэн тогтолцоогоор өдөр тутам харагдахуйц болгохыг санал болгож байна.</a:t>
            </a:r>
            <a:endParaRPr lang="en-US" sz="1800" dirty="0"/>
          </a:p>
        </p:txBody>
      </p:sp>
      <p:sp>
        <p:nvSpPr>
          <p:cNvPr id="6" name="Stat 1"/>
          <p:cNvSpPr/>
          <p:nvPr/>
        </p:nvSpPr>
        <p:spPr>
          <a:xfrm>
            <a:off x="548640" y="2880360"/>
            <a:ext cx="2588438" cy="1920240"/>
          </a:xfrm>
          <a:prstGeom prst="roundRect">
            <a:avLst>
              <a:gd name="adj" fmla="val 381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7" name="Text 4"/>
          <p:cNvSpPr txBox="1"/>
          <p:nvPr/>
        </p:nvSpPr>
        <p:spPr>
          <a:xfrm>
            <a:off x="777240" y="3063240"/>
            <a:ext cx="2131238" cy="731520"/>
          </a:xfrm>
          <a:prstGeom prst="rect">
            <a:avLst/>
          </a:prstGeom>
          <a:noFill/>
          <a:ln/>
        </p:spPr>
        <p:txBody>
          <a:bodyPr wrap="square" lIns="0" tIns="0" rIns="0" bIns="0" rtlCol="0" anchor="ctr"/>
          <a:lstStyle/>
          <a:p>
            <a:pPr indent="0" marL="0">
              <a:buNone/>
            </a:pPr>
            <a:r>
              <a:rPr lang="en-US" sz="3400" b="1" dirty="0">
                <a:solidFill>
                  <a:schemeClr val="accent1"/>
                </a:solidFill>
                <a:latin typeface="Arial" pitchFamily="34" charset="0"/>
                <a:ea typeface="Arial" pitchFamily="34" charset="-122"/>
                <a:cs typeface="Arial" pitchFamily="34" charset="-120"/>
              </a:rPr>
              <a:t>3·12·48</a:t>
            </a:r>
            <a:endParaRPr lang="en-US" sz="3400" dirty="0"/>
          </a:p>
        </p:txBody>
      </p:sp>
      <p:sp>
        <p:nvSpPr>
          <p:cNvPr id="8" name="Text 5"/>
          <p:cNvSpPr txBox="1"/>
          <p:nvPr/>
        </p:nvSpPr>
        <p:spPr>
          <a:xfrm>
            <a:off x="777240" y="3840480"/>
            <a:ext cx="2131238" cy="822960"/>
          </a:xfrm>
          <a:prstGeom prst="rect">
            <a:avLst/>
          </a:prstGeom>
          <a:noFill/>
          <a:ln/>
        </p:spPr>
        <p:txBody>
          <a:bodyPr wrap="square" lIns="0" tIns="0" rIns="0" bIns="0" rtlCol="0" anchor="t"/>
          <a:lstStyle/>
          <a:p>
            <a:pPr indent="0" marL="0">
              <a:buNone/>
            </a:pPr>
            <a:r>
              <a:rPr lang="en-US" sz="1400" dirty="0">
                <a:solidFill>
                  <a:schemeClr val="tx1"/>
                </a:solidFill>
              </a:rPr>
              <a:t>батальон · рот · салаа</a:t>
            </a:r>
            <a:endParaRPr lang="en-US" sz="1400" dirty="0"/>
          </a:p>
          <a:p>
            <a:pPr indent="0" marL="0">
              <a:buNone/>
            </a:pPr>
            <a:r>
              <a:rPr lang="en-US" sz="1400" dirty="0">
                <a:solidFill>
                  <a:schemeClr val="tx1"/>
                </a:solidFill>
              </a:rPr>
              <a:t>≈1,200 сонсогчийн жишиг тооцоо</a:t>
            </a:r>
            <a:endParaRPr lang="en-US" sz="1400" dirty="0"/>
          </a:p>
        </p:txBody>
      </p:sp>
      <p:sp>
        <p:nvSpPr>
          <p:cNvPr id="9" name="Stat 2"/>
          <p:cNvSpPr/>
          <p:nvPr/>
        </p:nvSpPr>
        <p:spPr>
          <a:xfrm>
            <a:off x="3383966" y="2880360"/>
            <a:ext cx="2588438" cy="1920240"/>
          </a:xfrm>
          <a:prstGeom prst="roundRect">
            <a:avLst>
              <a:gd name="adj" fmla="val 381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 name="Text 7"/>
          <p:cNvSpPr txBox="1"/>
          <p:nvPr/>
        </p:nvSpPr>
        <p:spPr>
          <a:xfrm>
            <a:off x="3612566" y="3063240"/>
            <a:ext cx="2131238" cy="731520"/>
          </a:xfrm>
          <a:prstGeom prst="rect">
            <a:avLst/>
          </a:prstGeom>
          <a:noFill/>
          <a:ln/>
        </p:spPr>
        <p:txBody>
          <a:bodyPr wrap="square" lIns="0" tIns="0" rIns="0" bIns="0" rtlCol="0" anchor="ctr"/>
          <a:lstStyle/>
          <a:p>
            <a:pPr indent="0" marL="0">
              <a:buNone/>
            </a:pPr>
            <a:r>
              <a:rPr lang="en-US" sz="3400" b="1" dirty="0">
                <a:solidFill>
                  <a:schemeClr val="accent2"/>
                </a:solidFill>
                <a:latin typeface="Arial" pitchFamily="34" charset="0"/>
                <a:ea typeface="Arial" pitchFamily="34" charset="-122"/>
                <a:cs typeface="Arial" pitchFamily="34" charset="-120"/>
              </a:rPr>
              <a:t>≥ 60%</a:t>
            </a:r>
            <a:endParaRPr lang="en-US" sz="3400" dirty="0"/>
          </a:p>
        </p:txBody>
      </p:sp>
      <p:sp>
        <p:nvSpPr>
          <p:cNvPr id="11" name="Text 8"/>
          <p:cNvSpPr txBox="1"/>
          <p:nvPr/>
        </p:nvSpPr>
        <p:spPr>
          <a:xfrm>
            <a:off x="3612566" y="3840480"/>
            <a:ext cx="2131238" cy="822960"/>
          </a:xfrm>
          <a:prstGeom prst="rect">
            <a:avLst/>
          </a:prstGeom>
          <a:noFill/>
          <a:ln/>
        </p:spPr>
        <p:txBody>
          <a:bodyPr wrap="square" lIns="0" tIns="0" rIns="0" bIns="0" rtlCol="0" anchor="t"/>
          <a:lstStyle/>
          <a:p>
            <a:pPr indent="0" marL="0">
              <a:buNone/>
            </a:pPr>
            <a:r>
              <a:rPr lang="en-US" sz="1400" dirty="0">
                <a:solidFill>
                  <a:schemeClr val="tx1"/>
                </a:solidFill>
              </a:rPr>
              <a:t>4-р курсийн сонсогч офицерын түвшний албан тушаал хашина</a:t>
            </a:r>
            <a:endParaRPr lang="en-US" sz="1400" dirty="0"/>
          </a:p>
        </p:txBody>
      </p:sp>
      <p:sp>
        <p:nvSpPr>
          <p:cNvPr id="12" name="Stat 3"/>
          <p:cNvSpPr/>
          <p:nvPr/>
        </p:nvSpPr>
        <p:spPr>
          <a:xfrm>
            <a:off x="6219292" y="2880360"/>
            <a:ext cx="2588438" cy="1920240"/>
          </a:xfrm>
          <a:prstGeom prst="roundRect">
            <a:avLst>
              <a:gd name="adj" fmla="val 381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3" name="Text 10"/>
          <p:cNvSpPr txBox="1"/>
          <p:nvPr/>
        </p:nvSpPr>
        <p:spPr>
          <a:xfrm>
            <a:off x="6447892" y="3063240"/>
            <a:ext cx="2131238" cy="731520"/>
          </a:xfrm>
          <a:prstGeom prst="rect">
            <a:avLst/>
          </a:prstGeom>
          <a:noFill/>
          <a:ln/>
        </p:spPr>
        <p:txBody>
          <a:bodyPr wrap="square" lIns="0" tIns="0" rIns="0" bIns="0" rtlCol="0" anchor="ctr"/>
          <a:lstStyle/>
          <a:p>
            <a:pPr indent="0" marL="0">
              <a:buNone/>
            </a:pPr>
            <a:r>
              <a:rPr lang="en-US" sz="3400" b="1" dirty="0">
                <a:solidFill>
                  <a:schemeClr val="accent1"/>
                </a:solidFill>
                <a:latin typeface="Arial" pitchFamily="34" charset="0"/>
                <a:ea typeface="Arial" pitchFamily="34" charset="-122"/>
                <a:cs typeface="Arial" pitchFamily="34" charset="-120"/>
              </a:rPr>
              <a:t>4</a:t>
            </a:r>
            <a:endParaRPr lang="en-US" sz="3400" dirty="0"/>
          </a:p>
        </p:txBody>
      </p:sp>
      <p:sp>
        <p:nvSpPr>
          <p:cNvPr id="14" name="Text 11"/>
          <p:cNvSpPr txBox="1"/>
          <p:nvPr/>
        </p:nvSpPr>
        <p:spPr>
          <a:xfrm>
            <a:off x="6447892" y="3840480"/>
            <a:ext cx="2131238" cy="822960"/>
          </a:xfrm>
          <a:prstGeom prst="rect">
            <a:avLst/>
          </a:prstGeom>
          <a:noFill/>
          <a:ln/>
        </p:spPr>
        <p:txBody>
          <a:bodyPr wrap="square" lIns="0" tIns="0" rIns="0" bIns="0" rtlCol="0" anchor="t"/>
          <a:lstStyle/>
          <a:p>
            <a:pPr indent="0" marL="0">
              <a:buNone/>
            </a:pPr>
            <a:r>
              <a:rPr lang="en-US" sz="1400" dirty="0">
                <a:solidFill>
                  <a:schemeClr val="tx1"/>
                </a:solidFill>
              </a:rPr>
              <a:t>шагналын тэмдэг — нэгдсэн загвар, ил тод шалгуур</a:t>
            </a:r>
            <a:endParaRPr lang="en-US" sz="1400" dirty="0"/>
          </a:p>
        </p:txBody>
      </p:sp>
      <p:sp>
        <p:nvSpPr>
          <p:cNvPr id="15" name="Stat 4"/>
          <p:cNvSpPr/>
          <p:nvPr/>
        </p:nvSpPr>
        <p:spPr>
          <a:xfrm>
            <a:off x="9054617" y="2880360"/>
            <a:ext cx="2588438" cy="1920240"/>
          </a:xfrm>
          <a:prstGeom prst="roundRect">
            <a:avLst>
              <a:gd name="adj" fmla="val 381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6" name="Text 13"/>
          <p:cNvSpPr txBox="1"/>
          <p:nvPr/>
        </p:nvSpPr>
        <p:spPr>
          <a:xfrm>
            <a:off x="9283217" y="3063240"/>
            <a:ext cx="2131238" cy="731520"/>
          </a:xfrm>
          <a:prstGeom prst="rect">
            <a:avLst/>
          </a:prstGeom>
          <a:noFill/>
          <a:ln/>
        </p:spPr>
        <p:txBody>
          <a:bodyPr wrap="square" lIns="0" tIns="0" rIns="0" bIns="0" rtlCol="0" anchor="ctr"/>
          <a:lstStyle/>
          <a:p>
            <a:pPr indent="0" marL="0">
              <a:buNone/>
            </a:pPr>
            <a:r>
              <a:rPr lang="en-US" sz="3400" b="1" dirty="0">
                <a:solidFill>
                  <a:schemeClr val="accent2"/>
                </a:solidFill>
                <a:latin typeface="Arial" pitchFamily="34" charset="0"/>
                <a:ea typeface="Arial" pitchFamily="34" charset="-122"/>
                <a:cs typeface="Arial" pitchFamily="34" charset="-120"/>
              </a:rPr>
              <a:t>2027</a:t>
            </a:r>
            <a:endParaRPr lang="en-US" sz="3400" dirty="0"/>
          </a:p>
        </p:txBody>
      </p:sp>
      <p:sp>
        <p:nvSpPr>
          <p:cNvPr id="17" name="Text 14"/>
          <p:cNvSpPr txBox="1"/>
          <p:nvPr/>
        </p:nvSpPr>
        <p:spPr>
          <a:xfrm>
            <a:off x="9283217" y="3840480"/>
            <a:ext cx="2131238" cy="822960"/>
          </a:xfrm>
          <a:prstGeom prst="rect">
            <a:avLst/>
          </a:prstGeom>
          <a:noFill/>
          <a:ln/>
        </p:spPr>
        <p:txBody>
          <a:bodyPr wrap="square" lIns="0" tIns="0" rIns="0" bIns="0" rtlCol="0" anchor="t"/>
          <a:lstStyle/>
          <a:p>
            <a:pPr indent="0" marL="0">
              <a:buNone/>
            </a:pPr>
            <a:r>
              <a:rPr lang="en-US" sz="1400" dirty="0">
                <a:solidFill>
                  <a:schemeClr val="tx1"/>
                </a:solidFill>
              </a:rPr>
              <a:t>хавар 1 батальонд туршиж, 2027–2028 оноос бүрэн нэвтрүүлэх</a:t>
            </a:r>
            <a:endParaRPr lang="en-US" sz="1400" dirty="0"/>
          </a:p>
        </p:txBody>
      </p:sp>
      <p:sp>
        <p:nvSpPr>
          <p:cNvPr id="18" name="Decision box"/>
          <p:cNvSpPr/>
          <p:nvPr/>
        </p:nvSpPr>
        <p:spPr>
          <a:xfrm>
            <a:off x="548640" y="5120640"/>
            <a:ext cx="11094415" cy="1005840"/>
          </a:xfrm>
          <a:prstGeom prst="roundRect">
            <a:avLst>
              <a:gd name="adj" fmla="val 7273"/>
            </a:avLst>
          </a:prstGeom>
          <a:solidFill>
            <a:schemeClr val="accent1"/>
          </a:solidFill>
          <a:ln w="12700">
            <a:solidFill>
              <a:schemeClr val="accent1"/>
            </a:solidFill>
            <a:prstDash val="solid"/>
          </a:ln>
          <a:effectLst>
            <a:outerShdw sx="100000" sy="100000" kx="0" ky="0" algn="bl" rotWithShape="0" blurRad="76200" dist="25400" dir="5400000">
              <a:srgbClr val="000000">
                <a:alpha val="12000"/>
              </a:srgbClr>
            </a:outerShdw>
          </a:effectLst>
        </p:spPr>
      </p:sp>
      <p:sp>
        <p:nvSpPr>
          <p:cNvPr id="19" name="Text 16"/>
          <p:cNvSpPr txBox="1"/>
          <p:nvPr/>
        </p:nvSpPr>
        <p:spPr>
          <a:xfrm>
            <a:off x="868680" y="5120640"/>
            <a:ext cx="10454335" cy="1005840"/>
          </a:xfrm>
          <a:prstGeom prst="rect">
            <a:avLst/>
          </a:prstGeom>
          <a:noFill/>
          <a:ln/>
        </p:spPr>
        <p:txBody>
          <a:bodyPr wrap="square" lIns="0" tIns="0" rIns="0" bIns="0" rtlCol="0" anchor="ctr"/>
          <a:lstStyle/>
          <a:p>
            <a:pPr indent="0" marL="0">
              <a:buNone/>
            </a:pPr>
            <a:r>
              <a:rPr lang="en-US" sz="1600" b="1" dirty="0">
                <a:solidFill>
                  <a:schemeClr val="accent3"/>
                </a:solidFill>
              </a:rPr>
              <a:t>Шийдвэрлүүлэх: </a:t>
            </a:r>
            <a:pPr indent="0" marL="0">
              <a:buNone/>
            </a:pPr>
            <a:r>
              <a:rPr lang="en-US" sz="1600" dirty="0">
                <a:solidFill>
                  <a:schemeClr val="bg1"/>
                </a:solidFill>
              </a:rPr>
              <a:t>ажлын хэсэг байгуулах · «Сонсогчийн хорооны журам» ба «Ялгах тэмдэг, шагналын тэмдгийн журам»-ыг батлах · 2027 оны хавар туршилт эхлүүлэх</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292608"/>
          </a:xfrm>
          <a:prstGeom prst="rect">
            <a:avLst/>
          </a:prstGeom>
          <a:noFill/>
          <a:ln/>
        </p:spPr>
        <p:txBody>
          <a:bodyPr wrap="square" lIns="0" tIns="0" rIns="0" bIns="0" rtlCol="0"/>
          <a:lstStyle/>
          <a:p>
            <a:pPr indent="0" marL="0">
              <a:buNone/>
            </a:pPr>
            <a:r>
              <a:rPr lang="en-US" sz="1200" b="1" spc="200" kern="0" dirty="0">
                <a:solidFill>
                  <a:schemeClr val="accent2"/>
                </a:solidFill>
              </a:rPr>
              <a:t>ҮНДЭСЛЭЛ, ЗОРИЛГО</a:t>
            </a:r>
            <a:endParaRPr lang="en-US" sz="1200" dirty="0"/>
          </a:p>
        </p:txBody>
      </p:sp>
      <p:sp>
        <p:nvSpPr>
          <p:cNvPr id="3" name="Text 0"/>
          <p:cNvSpPr/>
          <p:nvPr>
            <p:ph idx="101" type="title" hasCustomPrompt="1"/>
          </p:nvPr>
        </p:nvSpPr>
        <p:spPr>
          <a:xfrm>
            <a:off x="548640" y="621792"/>
            <a:ext cx="11094415" cy="731520"/>
          </a:xfrm>
          <a:prstGeom prst="rect">
            <a:avLst/>
          </a:prstGeom>
          <a:noFill/>
          <a:ln/>
        </p:spPr>
        <p:txBody>
          <a:bodyPr wrap="square" lIns="0" tIns="0" rIns="0" bIns="0" rtlCol="0" anchor="t"/>
          <a:lstStyle/>
          <a:p>
            <a:pPr algn="l" indent="0" marL="0">
              <a:buNone/>
            </a:pPr>
            <a:r>
              <a:rPr lang="en-US" sz="3000" b="1" dirty="0">
                <a:solidFill>
                  <a:schemeClr val="accent1"/>
                </a:solidFill>
              </a:rPr>
              <a:t>Төгсөгчид удирдах бодит туршлага дутмаг байна</a:t>
            </a:r>
            <a:endParaRPr lang="en-US" sz="3000" dirty="0"/>
          </a:p>
        </p:txBody>
      </p:sp>
      <p:sp>
        <p:nvSpPr>
          <p:cNvPr id="5" name="Text 2"/>
          <p:cNvSpPr txBox="1"/>
          <p:nvPr/>
        </p:nvSpPr>
        <p:spPr>
          <a:xfrm>
            <a:off x="548640" y="1600200"/>
            <a:ext cx="4480560" cy="320040"/>
          </a:xfrm>
          <a:prstGeom prst="rect">
            <a:avLst/>
          </a:prstGeom>
          <a:noFill/>
          <a:ln/>
        </p:spPr>
        <p:txBody>
          <a:bodyPr wrap="square" lIns="0" tIns="0" rIns="0" bIns="0" rtlCol="0" anchor="ctr"/>
          <a:lstStyle/>
          <a:p>
            <a:pPr indent="0" marL="0">
              <a:buNone/>
            </a:pPr>
            <a:r>
              <a:rPr lang="en-US" sz="1600" b="1" dirty="0">
                <a:solidFill>
                  <a:schemeClr val="accent2"/>
                </a:solidFill>
              </a:rPr>
              <a:t>Асуудал</a:t>
            </a:r>
            <a:endParaRPr lang="en-US" sz="1600" dirty="0"/>
          </a:p>
        </p:txBody>
      </p:sp>
      <p:sp>
        <p:nvSpPr>
          <p:cNvPr id="6" name="Text 3"/>
          <p:cNvSpPr txBox="1"/>
          <p:nvPr/>
        </p:nvSpPr>
        <p:spPr>
          <a:xfrm>
            <a:off x="548640" y="1947672"/>
            <a:ext cx="4480560" cy="1143000"/>
          </a:xfrm>
          <a:prstGeom prst="rect">
            <a:avLst/>
          </a:prstGeom>
          <a:noFill/>
          <a:ln/>
        </p:spPr>
        <p:txBody>
          <a:bodyPr wrap="square" lIns="0" tIns="0" rIns="0" bIns="0" rtlCol="0" anchor="t"/>
          <a:lstStyle/>
          <a:p>
            <a:pPr indent="0" marL="0">
              <a:buNone/>
            </a:pPr>
            <a:r>
              <a:rPr lang="en-US" sz="1400" dirty="0">
                <a:solidFill>
                  <a:schemeClr val="tx1"/>
                </a:solidFill>
              </a:rPr>
              <a:t>Төгсөгч офицер шууд салаа, ротыг удирдаж, дэг журам, сахилга, сургалт, ар талыг бие даан шийддэг. Гэвч 4 жилд удирдах ур чадварыг голдуу онолын хичээл, богино дадлагаар эзэмшдэг.</a:t>
            </a:r>
            <a:endParaRPr lang="en-US" sz="1400" dirty="0"/>
          </a:p>
        </p:txBody>
      </p:sp>
      <p:sp>
        <p:nvSpPr>
          <p:cNvPr id="7" name="Text 4"/>
          <p:cNvSpPr txBox="1"/>
          <p:nvPr/>
        </p:nvSpPr>
        <p:spPr>
          <a:xfrm>
            <a:off x="548640" y="3273552"/>
            <a:ext cx="4480560" cy="320040"/>
          </a:xfrm>
          <a:prstGeom prst="rect">
            <a:avLst/>
          </a:prstGeom>
          <a:noFill/>
          <a:ln/>
        </p:spPr>
        <p:txBody>
          <a:bodyPr wrap="square" lIns="0" tIns="0" rIns="0" bIns="0" rtlCol="0" anchor="ctr"/>
          <a:lstStyle/>
          <a:p>
            <a:pPr indent="0" marL="0">
              <a:buNone/>
            </a:pPr>
            <a:r>
              <a:rPr lang="en-US" sz="1600" b="1" dirty="0">
                <a:solidFill>
                  <a:schemeClr val="accent2"/>
                </a:solidFill>
              </a:rPr>
              <a:t>Олон улсын шийдэл</a:t>
            </a:r>
            <a:endParaRPr lang="en-US" sz="1600" dirty="0"/>
          </a:p>
        </p:txBody>
      </p:sp>
      <p:sp>
        <p:nvSpPr>
          <p:cNvPr id="8" name="Text 5"/>
          <p:cNvSpPr txBox="1"/>
          <p:nvPr/>
        </p:nvSpPr>
        <p:spPr>
          <a:xfrm>
            <a:off x="548640" y="3621024"/>
            <a:ext cx="4480560" cy="1143000"/>
          </a:xfrm>
          <a:prstGeom prst="rect">
            <a:avLst/>
          </a:prstGeom>
          <a:noFill/>
          <a:ln/>
        </p:spPr>
        <p:txBody>
          <a:bodyPr wrap="square" lIns="0" tIns="0" rIns="0" bIns="0" rtlCol="0" anchor="t"/>
          <a:lstStyle/>
          <a:p>
            <a:pPr indent="0" marL="0">
              <a:buNone/>
            </a:pPr>
            <a:r>
              <a:rPr lang="en-US" sz="1400" dirty="0">
                <a:solidFill>
                  <a:schemeClr val="tx1"/>
                </a:solidFill>
              </a:rPr>
              <a:t>Тэргүүлэх академиуд сонсогчдын өөрсдөө удирддаг байгууллагаар (Corps of Cadets, Brigade of Midshipmen, Cadet Wing, 学生隊) дагагчаас батальоны дарга хүртэл шат дараатай туршлага олгодог.</a:t>
            </a:r>
            <a:endParaRPr lang="en-US" sz="1400" dirty="0"/>
          </a:p>
        </p:txBody>
      </p:sp>
      <p:sp>
        <p:nvSpPr>
          <p:cNvPr id="9" name="Text 6"/>
          <p:cNvSpPr txBox="1"/>
          <p:nvPr/>
        </p:nvSpPr>
        <p:spPr>
          <a:xfrm>
            <a:off x="548640" y="4946904"/>
            <a:ext cx="4480560" cy="320040"/>
          </a:xfrm>
          <a:prstGeom prst="rect">
            <a:avLst/>
          </a:prstGeom>
          <a:noFill/>
          <a:ln/>
        </p:spPr>
        <p:txBody>
          <a:bodyPr wrap="square" lIns="0" tIns="0" rIns="0" bIns="0" rtlCol="0" anchor="ctr"/>
          <a:lstStyle/>
          <a:p>
            <a:pPr indent="0" marL="0">
              <a:buNone/>
            </a:pPr>
            <a:r>
              <a:rPr lang="en-US" sz="1600" b="1" dirty="0">
                <a:solidFill>
                  <a:schemeClr val="accent2"/>
                </a:solidFill>
              </a:rPr>
              <a:t>Зорилго</a:t>
            </a:r>
            <a:endParaRPr lang="en-US" sz="1600" dirty="0"/>
          </a:p>
        </p:txBody>
      </p:sp>
      <p:sp>
        <p:nvSpPr>
          <p:cNvPr id="10" name="Text 7"/>
          <p:cNvSpPr txBox="1"/>
          <p:nvPr/>
        </p:nvSpPr>
        <p:spPr>
          <a:xfrm>
            <a:off x="548640" y="5294376"/>
            <a:ext cx="4480560" cy="777240"/>
          </a:xfrm>
          <a:prstGeom prst="rect">
            <a:avLst/>
          </a:prstGeom>
          <a:noFill/>
          <a:ln/>
        </p:spPr>
        <p:txBody>
          <a:bodyPr wrap="square" lIns="0" tIns="0" rIns="0" bIns="0" rtlCol="0" anchor="t"/>
          <a:lstStyle/>
          <a:p>
            <a:pPr indent="0" marL="0">
              <a:buNone/>
            </a:pPr>
            <a:r>
              <a:rPr lang="en-US" sz="1400" dirty="0">
                <a:solidFill>
                  <a:schemeClr val="tx1"/>
                </a:solidFill>
              </a:rPr>
              <a:t>Сонсогчийн хороог «манлайллын лаборатори» болгож, ҮБХИС-ийн 4 жилийн сургалтад нийцүүлэх.</a:t>
            </a:r>
            <a:endParaRPr lang="en-US" sz="1400" dirty="0"/>
          </a:p>
        </p:txBody>
      </p:sp>
      <p:sp>
        <p:nvSpPr>
          <p:cNvPr id="11" name="Text 8"/>
          <p:cNvSpPr txBox="1"/>
          <p:nvPr/>
        </p:nvSpPr>
        <p:spPr>
          <a:xfrm>
            <a:off x="5394960" y="1600200"/>
            <a:ext cx="6245352" cy="320040"/>
          </a:xfrm>
          <a:prstGeom prst="rect">
            <a:avLst/>
          </a:prstGeom>
          <a:noFill/>
          <a:ln/>
        </p:spPr>
        <p:txBody>
          <a:bodyPr wrap="square" lIns="0" tIns="0" rIns="0" bIns="0" rtlCol="0" anchor="ctr"/>
          <a:lstStyle/>
          <a:p>
            <a:pPr indent="0" marL="0">
              <a:buNone/>
            </a:pPr>
            <a:r>
              <a:rPr lang="en-US" sz="1600" b="1" dirty="0">
                <a:solidFill>
                  <a:schemeClr val="accent1"/>
                </a:solidFill>
              </a:rPr>
              <a:t>Хүрэх үр дүн — сонсогчид бий болох чадвар</a:t>
            </a:r>
            <a:endParaRPr lang="en-US" sz="1600" dirty="0"/>
          </a:p>
        </p:txBody>
      </p:sp>
      <p:sp>
        <p:nvSpPr>
          <p:cNvPr id="12" name="Outcome 1"/>
          <p:cNvSpPr/>
          <p:nvPr/>
        </p:nvSpPr>
        <p:spPr>
          <a:xfrm>
            <a:off x="5394960" y="2011680"/>
            <a:ext cx="3017520" cy="1298448"/>
          </a:xfrm>
          <a:prstGeom prst="roundRect">
            <a:avLst>
              <a:gd name="adj" fmla="val 563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3" name="Өдөр тутмыг удирдах circle"/>
          <p:cNvSpPr/>
          <p:nvPr/>
        </p:nvSpPr>
        <p:spPr>
          <a:xfrm>
            <a:off x="5577840" y="2212848"/>
            <a:ext cx="548640" cy="548640"/>
          </a:xfrm>
          <a:prstGeom prst="ellipse">
            <a:avLst/>
          </a:prstGeom>
          <a:solidFill>
            <a:schemeClr val="accent1"/>
          </a:solidFill>
          <a:ln w="12700">
            <a:solidFill>
              <a:schemeClr val="accent1"/>
            </a:solidFill>
            <a:prstDash val="solid"/>
          </a:ln>
        </p:spPr>
      </p:sp>
      <p:pic>
        <p:nvPicPr>
          <p:cNvPr id="14" name="Өдөр тутмыг удирдах icon" descr="Өдөр тутмыг удирдах">    </p:cNvPr>
          <p:cNvPicPr>
            <a:picLocks noChangeAspect="1"/>
          </p:cNvPicPr>
          <p:nvPr/>
        </p:nvPicPr>
        <p:blipFill>
          <a:blip r:embed="rId1"/>
          <a:stretch>
            <a:fillRect/>
          </a:stretch>
        </p:blipFill>
        <p:spPr>
          <a:xfrm>
            <a:off x="5709514" y="2344522"/>
            <a:ext cx="285293" cy="285293"/>
          </a:xfrm>
          <a:prstGeom prst="rect">
            <a:avLst/>
          </a:prstGeom>
        </p:spPr>
      </p:pic>
      <p:sp>
        <p:nvSpPr>
          <p:cNvPr id="15" name="Text 11"/>
          <p:cNvSpPr txBox="1"/>
          <p:nvPr/>
        </p:nvSpPr>
        <p:spPr>
          <a:xfrm>
            <a:off x="6263640" y="2212848"/>
            <a:ext cx="2011680" cy="365760"/>
          </a:xfrm>
          <a:prstGeom prst="rect">
            <a:avLst/>
          </a:prstGeom>
          <a:noFill/>
          <a:ln/>
        </p:spPr>
        <p:txBody>
          <a:bodyPr wrap="square" lIns="0" tIns="0" rIns="0" bIns="0" rtlCol="0" anchor="ctr"/>
          <a:lstStyle/>
          <a:p>
            <a:pPr indent="0" marL="0">
              <a:buNone/>
            </a:pPr>
            <a:r>
              <a:rPr lang="en-US" sz="1600" b="1" dirty="0">
                <a:solidFill>
                  <a:schemeClr val="accent1"/>
                </a:solidFill>
              </a:rPr>
              <a:t>Өдөр тутмыг удирдах</a:t>
            </a:r>
            <a:endParaRPr lang="en-US" sz="1600" dirty="0"/>
          </a:p>
        </p:txBody>
      </p:sp>
      <p:sp>
        <p:nvSpPr>
          <p:cNvPr id="16" name="Text 12"/>
          <p:cNvSpPr txBox="1"/>
          <p:nvPr/>
        </p:nvSpPr>
        <p:spPr>
          <a:xfrm>
            <a:off x="6263640" y="2578608"/>
            <a:ext cx="2011680" cy="640080"/>
          </a:xfrm>
          <a:prstGeom prst="rect">
            <a:avLst/>
          </a:prstGeom>
          <a:noFill/>
          <a:ln/>
        </p:spPr>
        <p:txBody>
          <a:bodyPr wrap="square" lIns="0" tIns="0" rIns="0" bIns="0" rtlCol="0" anchor="t"/>
          <a:lstStyle/>
          <a:p>
            <a:pPr indent="0" marL="0">
              <a:buNone/>
            </a:pPr>
            <a:r>
              <a:rPr lang="en-US" sz="1300" dirty="0">
                <a:solidFill>
                  <a:schemeClr val="tx1"/>
                </a:solidFill>
              </a:rPr>
              <a:t>Дотоод алба, жижүүр, үзлэг, жагсаалыг зохион байгуулах</a:t>
            </a:r>
            <a:endParaRPr lang="en-US" sz="1300" dirty="0"/>
          </a:p>
        </p:txBody>
      </p:sp>
      <p:sp>
        <p:nvSpPr>
          <p:cNvPr id="17" name="Outcome 2"/>
          <p:cNvSpPr/>
          <p:nvPr/>
        </p:nvSpPr>
        <p:spPr>
          <a:xfrm>
            <a:off x="8622792" y="2011680"/>
            <a:ext cx="3017520" cy="1298448"/>
          </a:xfrm>
          <a:prstGeom prst="roundRect">
            <a:avLst>
              <a:gd name="adj" fmla="val 563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8" name="Бие даан ажиллах circle"/>
          <p:cNvSpPr/>
          <p:nvPr/>
        </p:nvSpPr>
        <p:spPr>
          <a:xfrm>
            <a:off x="8805672" y="2212848"/>
            <a:ext cx="548640" cy="548640"/>
          </a:xfrm>
          <a:prstGeom prst="ellipse">
            <a:avLst/>
          </a:prstGeom>
          <a:solidFill>
            <a:schemeClr val="accent2"/>
          </a:solidFill>
          <a:ln w="12700">
            <a:solidFill>
              <a:schemeClr val="accent2"/>
            </a:solidFill>
            <a:prstDash val="solid"/>
          </a:ln>
        </p:spPr>
      </p:sp>
      <p:pic>
        <p:nvPicPr>
          <p:cNvPr id="19" name="Бие даан ажиллах icon" descr="Бие даан ажиллах">    </p:cNvPr>
          <p:cNvPicPr>
            <a:picLocks noChangeAspect="1"/>
          </p:cNvPicPr>
          <p:nvPr/>
        </p:nvPicPr>
        <p:blipFill>
          <a:blip r:embed="rId2"/>
          <a:stretch>
            <a:fillRect/>
          </a:stretch>
        </p:blipFill>
        <p:spPr>
          <a:xfrm>
            <a:off x="8937346" y="2344522"/>
            <a:ext cx="285293" cy="285293"/>
          </a:xfrm>
          <a:prstGeom prst="rect">
            <a:avLst/>
          </a:prstGeom>
        </p:spPr>
      </p:pic>
      <p:sp>
        <p:nvSpPr>
          <p:cNvPr id="20" name="Text 15"/>
          <p:cNvSpPr txBox="1"/>
          <p:nvPr/>
        </p:nvSpPr>
        <p:spPr>
          <a:xfrm>
            <a:off x="9491472" y="2212848"/>
            <a:ext cx="2011680" cy="365760"/>
          </a:xfrm>
          <a:prstGeom prst="rect">
            <a:avLst/>
          </a:prstGeom>
          <a:noFill/>
          <a:ln/>
        </p:spPr>
        <p:txBody>
          <a:bodyPr wrap="square" lIns="0" tIns="0" rIns="0" bIns="0" rtlCol="0" anchor="ctr"/>
          <a:lstStyle/>
          <a:p>
            <a:pPr indent="0" marL="0">
              <a:buNone/>
            </a:pPr>
            <a:r>
              <a:rPr lang="en-US" sz="1600" b="1" dirty="0">
                <a:solidFill>
                  <a:schemeClr val="accent1"/>
                </a:solidFill>
              </a:rPr>
              <a:t>Бие даан ажиллах</a:t>
            </a:r>
            <a:endParaRPr lang="en-US" sz="1600" dirty="0"/>
          </a:p>
        </p:txBody>
      </p:sp>
      <p:sp>
        <p:nvSpPr>
          <p:cNvPr id="21" name="Text 16"/>
          <p:cNvSpPr txBox="1"/>
          <p:nvPr/>
        </p:nvSpPr>
        <p:spPr>
          <a:xfrm>
            <a:off x="9491472" y="2578608"/>
            <a:ext cx="2011680" cy="640080"/>
          </a:xfrm>
          <a:prstGeom prst="rect">
            <a:avLst/>
          </a:prstGeom>
          <a:noFill/>
          <a:ln/>
        </p:spPr>
        <p:txBody>
          <a:bodyPr wrap="square" lIns="0" tIns="0" rIns="0" bIns="0" rtlCol="0" anchor="t"/>
          <a:lstStyle/>
          <a:p>
            <a:pPr indent="0" marL="0">
              <a:buNone/>
            </a:pPr>
            <a:r>
              <a:rPr lang="en-US" sz="1300" dirty="0">
                <a:solidFill>
                  <a:schemeClr val="tx1"/>
                </a:solidFill>
              </a:rPr>
              <a:t>Даалгаврыг байнгын хяналтгүйгээр төлөвлөж, гүйцэтгэж, тайлагнах</a:t>
            </a:r>
            <a:endParaRPr lang="en-US" sz="1300" dirty="0"/>
          </a:p>
        </p:txBody>
      </p:sp>
      <p:sp>
        <p:nvSpPr>
          <p:cNvPr id="22" name="Outcome 3"/>
          <p:cNvSpPr/>
          <p:nvPr/>
        </p:nvSpPr>
        <p:spPr>
          <a:xfrm>
            <a:off x="5394960" y="3447288"/>
            <a:ext cx="3017520" cy="1298448"/>
          </a:xfrm>
          <a:prstGeom prst="roundRect">
            <a:avLst>
              <a:gd name="adj" fmla="val 563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3" name="Шийдвэр гаргах circle"/>
          <p:cNvSpPr/>
          <p:nvPr/>
        </p:nvSpPr>
        <p:spPr>
          <a:xfrm>
            <a:off x="5577840" y="3648456"/>
            <a:ext cx="548640" cy="548640"/>
          </a:xfrm>
          <a:prstGeom prst="ellipse">
            <a:avLst/>
          </a:prstGeom>
          <a:solidFill>
            <a:schemeClr val="accent1"/>
          </a:solidFill>
          <a:ln w="12700">
            <a:solidFill>
              <a:schemeClr val="accent1"/>
            </a:solidFill>
            <a:prstDash val="solid"/>
          </a:ln>
        </p:spPr>
      </p:sp>
      <p:pic>
        <p:nvPicPr>
          <p:cNvPr id="24" name="Шийдвэр гаргах icon" descr="Шийдвэр гаргах">    </p:cNvPr>
          <p:cNvPicPr>
            <a:picLocks noChangeAspect="1"/>
          </p:cNvPicPr>
          <p:nvPr/>
        </p:nvPicPr>
        <p:blipFill>
          <a:blip r:embed="rId3"/>
          <a:stretch>
            <a:fillRect/>
          </a:stretch>
        </p:blipFill>
        <p:spPr>
          <a:xfrm>
            <a:off x="5709514" y="3780130"/>
            <a:ext cx="285293" cy="285293"/>
          </a:xfrm>
          <a:prstGeom prst="rect">
            <a:avLst/>
          </a:prstGeom>
        </p:spPr>
      </p:pic>
      <p:sp>
        <p:nvSpPr>
          <p:cNvPr id="25" name="Text 19"/>
          <p:cNvSpPr txBox="1"/>
          <p:nvPr/>
        </p:nvSpPr>
        <p:spPr>
          <a:xfrm>
            <a:off x="6263640" y="3648456"/>
            <a:ext cx="2011680" cy="365760"/>
          </a:xfrm>
          <a:prstGeom prst="rect">
            <a:avLst/>
          </a:prstGeom>
          <a:noFill/>
          <a:ln/>
        </p:spPr>
        <p:txBody>
          <a:bodyPr wrap="square" lIns="0" tIns="0" rIns="0" bIns="0" rtlCol="0" anchor="ctr"/>
          <a:lstStyle/>
          <a:p>
            <a:pPr indent="0" marL="0">
              <a:buNone/>
            </a:pPr>
            <a:r>
              <a:rPr lang="en-US" sz="1600" b="1" dirty="0">
                <a:solidFill>
                  <a:schemeClr val="accent1"/>
                </a:solidFill>
              </a:rPr>
              <a:t>Шийдвэр гаргах</a:t>
            </a:r>
            <a:endParaRPr lang="en-US" sz="1600" dirty="0"/>
          </a:p>
        </p:txBody>
      </p:sp>
      <p:sp>
        <p:nvSpPr>
          <p:cNvPr id="26" name="Text 20"/>
          <p:cNvSpPr txBox="1"/>
          <p:nvPr/>
        </p:nvSpPr>
        <p:spPr>
          <a:xfrm>
            <a:off x="6263640" y="4014216"/>
            <a:ext cx="2011680" cy="640080"/>
          </a:xfrm>
          <a:prstGeom prst="rect">
            <a:avLst/>
          </a:prstGeom>
          <a:noFill/>
          <a:ln/>
        </p:spPr>
        <p:txBody>
          <a:bodyPr wrap="square" lIns="0" tIns="0" rIns="0" bIns="0" rtlCol="0" anchor="t"/>
          <a:lstStyle/>
          <a:p>
            <a:pPr indent="0" marL="0">
              <a:buNone/>
            </a:pPr>
            <a:r>
              <a:rPr lang="en-US" sz="1300" dirty="0">
                <a:solidFill>
                  <a:schemeClr val="tx1"/>
                </a:solidFill>
              </a:rPr>
              <a:t>Эрх хэмжээндээ цагтаа шийдвэр гаргаж, хариуцлага хүлээх</a:t>
            </a:r>
            <a:endParaRPr lang="en-US" sz="1300" dirty="0"/>
          </a:p>
        </p:txBody>
      </p:sp>
      <p:sp>
        <p:nvSpPr>
          <p:cNvPr id="27" name="Outcome 4"/>
          <p:cNvSpPr/>
          <p:nvPr/>
        </p:nvSpPr>
        <p:spPr>
          <a:xfrm>
            <a:off x="8622792" y="3447288"/>
            <a:ext cx="3017520" cy="1298448"/>
          </a:xfrm>
          <a:prstGeom prst="roundRect">
            <a:avLst>
              <a:gd name="adj" fmla="val 563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8" name="Сахилга circle"/>
          <p:cNvSpPr/>
          <p:nvPr/>
        </p:nvSpPr>
        <p:spPr>
          <a:xfrm>
            <a:off x="8805672" y="3648456"/>
            <a:ext cx="548640" cy="548640"/>
          </a:xfrm>
          <a:prstGeom prst="ellipse">
            <a:avLst/>
          </a:prstGeom>
          <a:solidFill>
            <a:schemeClr val="accent2"/>
          </a:solidFill>
          <a:ln w="12700">
            <a:solidFill>
              <a:schemeClr val="accent2"/>
            </a:solidFill>
            <a:prstDash val="solid"/>
          </a:ln>
        </p:spPr>
      </p:sp>
      <p:pic>
        <p:nvPicPr>
          <p:cNvPr id="29" name="Сахилга icon" descr="Сахилга">    </p:cNvPr>
          <p:cNvPicPr>
            <a:picLocks noChangeAspect="1"/>
          </p:cNvPicPr>
          <p:nvPr/>
        </p:nvPicPr>
        <p:blipFill>
          <a:blip r:embed="rId4"/>
          <a:stretch>
            <a:fillRect/>
          </a:stretch>
        </p:blipFill>
        <p:spPr>
          <a:xfrm>
            <a:off x="8937346" y="3780130"/>
            <a:ext cx="285293" cy="285293"/>
          </a:xfrm>
          <a:prstGeom prst="rect">
            <a:avLst/>
          </a:prstGeom>
        </p:spPr>
      </p:pic>
      <p:sp>
        <p:nvSpPr>
          <p:cNvPr id="30" name="Text 23"/>
          <p:cNvSpPr txBox="1"/>
          <p:nvPr/>
        </p:nvSpPr>
        <p:spPr>
          <a:xfrm>
            <a:off x="9491472" y="3648456"/>
            <a:ext cx="2011680" cy="365760"/>
          </a:xfrm>
          <a:prstGeom prst="rect">
            <a:avLst/>
          </a:prstGeom>
          <a:noFill/>
          <a:ln/>
        </p:spPr>
        <p:txBody>
          <a:bodyPr wrap="square" lIns="0" tIns="0" rIns="0" bIns="0" rtlCol="0" anchor="ctr"/>
          <a:lstStyle/>
          <a:p>
            <a:pPr indent="0" marL="0">
              <a:buNone/>
            </a:pPr>
            <a:r>
              <a:rPr lang="en-US" sz="1600" b="1" dirty="0">
                <a:solidFill>
                  <a:schemeClr val="accent1"/>
                </a:solidFill>
              </a:rPr>
              <a:t>Сахилга</a:t>
            </a:r>
            <a:endParaRPr lang="en-US" sz="1600" dirty="0"/>
          </a:p>
        </p:txBody>
      </p:sp>
      <p:sp>
        <p:nvSpPr>
          <p:cNvPr id="31" name="Text 24"/>
          <p:cNvSpPr txBox="1"/>
          <p:nvPr/>
        </p:nvSpPr>
        <p:spPr>
          <a:xfrm>
            <a:off x="9491472" y="4014216"/>
            <a:ext cx="2011680" cy="640080"/>
          </a:xfrm>
          <a:prstGeom prst="rect">
            <a:avLst/>
          </a:prstGeom>
          <a:noFill/>
          <a:ln/>
        </p:spPr>
        <p:txBody>
          <a:bodyPr wrap="square" lIns="0" tIns="0" rIns="0" bIns="0" rtlCol="0" anchor="t"/>
          <a:lstStyle/>
          <a:p>
            <a:pPr indent="0" marL="0">
              <a:buNone/>
            </a:pPr>
            <a:r>
              <a:rPr lang="en-US" sz="1300" dirty="0">
                <a:solidFill>
                  <a:schemeClr val="tx1"/>
                </a:solidFill>
              </a:rPr>
              <a:t>Дүрэм журмыг өөрөө сахиж, бусдад сахиулах</a:t>
            </a:r>
            <a:endParaRPr lang="en-US" sz="1300" dirty="0"/>
          </a:p>
        </p:txBody>
      </p:sp>
      <p:sp>
        <p:nvSpPr>
          <p:cNvPr id="32" name="Outcome 5"/>
          <p:cNvSpPr/>
          <p:nvPr/>
        </p:nvSpPr>
        <p:spPr>
          <a:xfrm>
            <a:off x="5394960" y="4882896"/>
            <a:ext cx="3017520" cy="1298448"/>
          </a:xfrm>
          <a:prstGeom prst="roundRect">
            <a:avLst>
              <a:gd name="adj" fmla="val 563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33" name="Ёс зүй circle"/>
          <p:cNvSpPr/>
          <p:nvPr/>
        </p:nvSpPr>
        <p:spPr>
          <a:xfrm>
            <a:off x="5577840" y="5084064"/>
            <a:ext cx="548640" cy="548640"/>
          </a:xfrm>
          <a:prstGeom prst="ellipse">
            <a:avLst/>
          </a:prstGeom>
          <a:solidFill>
            <a:schemeClr val="accent1"/>
          </a:solidFill>
          <a:ln w="12700">
            <a:solidFill>
              <a:schemeClr val="accent1"/>
            </a:solidFill>
            <a:prstDash val="solid"/>
          </a:ln>
        </p:spPr>
      </p:sp>
      <p:pic>
        <p:nvPicPr>
          <p:cNvPr id="34" name="Ёс зүй icon" descr="Ёс зүй">    </p:cNvPr>
          <p:cNvPicPr>
            <a:picLocks noChangeAspect="1"/>
          </p:cNvPicPr>
          <p:nvPr/>
        </p:nvPicPr>
        <p:blipFill>
          <a:blip r:embed="rId5"/>
          <a:stretch>
            <a:fillRect/>
          </a:stretch>
        </p:blipFill>
        <p:spPr>
          <a:xfrm>
            <a:off x="5709514" y="5215738"/>
            <a:ext cx="285293" cy="285293"/>
          </a:xfrm>
          <a:prstGeom prst="rect">
            <a:avLst/>
          </a:prstGeom>
        </p:spPr>
      </p:pic>
      <p:sp>
        <p:nvSpPr>
          <p:cNvPr id="35" name="Text 27"/>
          <p:cNvSpPr txBox="1"/>
          <p:nvPr/>
        </p:nvSpPr>
        <p:spPr>
          <a:xfrm>
            <a:off x="6263640" y="5084064"/>
            <a:ext cx="2011680" cy="365760"/>
          </a:xfrm>
          <a:prstGeom prst="rect">
            <a:avLst/>
          </a:prstGeom>
          <a:noFill/>
          <a:ln/>
        </p:spPr>
        <p:txBody>
          <a:bodyPr wrap="square" lIns="0" tIns="0" rIns="0" bIns="0" rtlCol="0" anchor="ctr"/>
          <a:lstStyle/>
          <a:p>
            <a:pPr indent="0" marL="0">
              <a:buNone/>
            </a:pPr>
            <a:r>
              <a:rPr lang="en-US" sz="1600" b="1" dirty="0">
                <a:solidFill>
                  <a:schemeClr val="accent1"/>
                </a:solidFill>
              </a:rPr>
              <a:t>Ёс зүй</a:t>
            </a:r>
            <a:endParaRPr lang="en-US" sz="1600" dirty="0"/>
          </a:p>
        </p:txBody>
      </p:sp>
      <p:sp>
        <p:nvSpPr>
          <p:cNvPr id="36" name="Text 28"/>
          <p:cNvSpPr txBox="1"/>
          <p:nvPr/>
        </p:nvSpPr>
        <p:spPr>
          <a:xfrm>
            <a:off x="6263640" y="5449824"/>
            <a:ext cx="2011680" cy="640080"/>
          </a:xfrm>
          <a:prstGeom prst="rect">
            <a:avLst/>
          </a:prstGeom>
          <a:noFill/>
          <a:ln/>
        </p:spPr>
        <p:txBody>
          <a:bodyPr wrap="square" lIns="0" tIns="0" rIns="0" bIns="0" rtlCol="0" anchor="t"/>
          <a:lstStyle/>
          <a:p>
            <a:pPr indent="0" marL="0">
              <a:buNone/>
            </a:pPr>
            <a:r>
              <a:rPr lang="en-US" sz="1300" dirty="0">
                <a:solidFill>
                  <a:schemeClr val="tx1"/>
                </a:solidFill>
              </a:rPr>
              <a:t>Үнэнч шударга, нэр төртэй, эрх мэдлээ зүй зохистой хэрэглэх</a:t>
            </a:r>
            <a:endParaRPr lang="en-US" sz="1300" dirty="0"/>
          </a:p>
        </p:txBody>
      </p:sp>
      <p:sp>
        <p:nvSpPr>
          <p:cNvPr id="37" name="Outcome 6"/>
          <p:cNvSpPr/>
          <p:nvPr/>
        </p:nvSpPr>
        <p:spPr>
          <a:xfrm>
            <a:off x="8622792" y="4882896"/>
            <a:ext cx="3017520" cy="1298448"/>
          </a:xfrm>
          <a:prstGeom prst="roundRect">
            <a:avLst>
              <a:gd name="adj" fmla="val 563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38" name="Эх оронч үзэл circle"/>
          <p:cNvSpPr/>
          <p:nvPr/>
        </p:nvSpPr>
        <p:spPr>
          <a:xfrm>
            <a:off x="8805672" y="5084064"/>
            <a:ext cx="548640" cy="548640"/>
          </a:xfrm>
          <a:prstGeom prst="ellipse">
            <a:avLst/>
          </a:prstGeom>
          <a:solidFill>
            <a:schemeClr val="accent2"/>
          </a:solidFill>
          <a:ln w="12700">
            <a:solidFill>
              <a:schemeClr val="accent2"/>
            </a:solidFill>
            <a:prstDash val="solid"/>
          </a:ln>
        </p:spPr>
      </p:sp>
      <p:pic>
        <p:nvPicPr>
          <p:cNvPr id="39" name="Эх оронч үзэл icon" descr="Эх оронч үзэл">    </p:cNvPr>
          <p:cNvPicPr>
            <a:picLocks noChangeAspect="1"/>
          </p:cNvPicPr>
          <p:nvPr/>
        </p:nvPicPr>
        <p:blipFill>
          <a:blip r:embed="rId6"/>
          <a:stretch>
            <a:fillRect/>
          </a:stretch>
        </p:blipFill>
        <p:spPr>
          <a:xfrm>
            <a:off x="8937346" y="5215738"/>
            <a:ext cx="285293" cy="285293"/>
          </a:xfrm>
          <a:prstGeom prst="rect">
            <a:avLst/>
          </a:prstGeom>
        </p:spPr>
      </p:pic>
      <p:sp>
        <p:nvSpPr>
          <p:cNvPr id="40" name="Text 31"/>
          <p:cNvSpPr txBox="1"/>
          <p:nvPr/>
        </p:nvSpPr>
        <p:spPr>
          <a:xfrm>
            <a:off x="9491472" y="5084064"/>
            <a:ext cx="2011680" cy="365760"/>
          </a:xfrm>
          <a:prstGeom prst="rect">
            <a:avLst/>
          </a:prstGeom>
          <a:noFill/>
          <a:ln/>
        </p:spPr>
        <p:txBody>
          <a:bodyPr wrap="square" lIns="0" tIns="0" rIns="0" bIns="0" rtlCol="0" anchor="ctr"/>
          <a:lstStyle/>
          <a:p>
            <a:pPr indent="0" marL="0">
              <a:buNone/>
            </a:pPr>
            <a:r>
              <a:rPr lang="en-US" sz="1600" b="1" dirty="0">
                <a:solidFill>
                  <a:schemeClr val="accent1"/>
                </a:solidFill>
              </a:rPr>
              <a:t>Эх оронч үзэл</a:t>
            </a:r>
            <a:endParaRPr lang="en-US" sz="1600" dirty="0"/>
          </a:p>
        </p:txBody>
      </p:sp>
      <p:sp>
        <p:nvSpPr>
          <p:cNvPr id="41" name="Text 32"/>
          <p:cNvSpPr txBox="1"/>
          <p:nvPr/>
        </p:nvSpPr>
        <p:spPr>
          <a:xfrm>
            <a:off x="9491472" y="5449824"/>
            <a:ext cx="2011680" cy="640080"/>
          </a:xfrm>
          <a:prstGeom prst="rect">
            <a:avLst/>
          </a:prstGeom>
          <a:noFill/>
          <a:ln/>
        </p:spPr>
        <p:txBody>
          <a:bodyPr wrap="square" lIns="0" tIns="0" rIns="0" bIns="0" rtlCol="0" anchor="t"/>
          <a:lstStyle/>
          <a:p>
            <a:pPr indent="0" marL="0">
              <a:buNone/>
            </a:pPr>
            <a:r>
              <a:rPr lang="en-US" sz="1300" dirty="0">
                <a:solidFill>
                  <a:schemeClr val="tx1"/>
                </a:solidFill>
              </a:rPr>
              <a:t>Монгол цэргийн түүх, баатруудын гавьяаг дээдлэх</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292608"/>
          </a:xfrm>
          <a:prstGeom prst="rect">
            <a:avLst/>
          </a:prstGeom>
          <a:noFill/>
          <a:ln/>
        </p:spPr>
        <p:txBody>
          <a:bodyPr wrap="square" lIns="0" tIns="0" rIns="0" bIns="0" rtlCol="0"/>
          <a:lstStyle/>
          <a:p>
            <a:pPr indent="0" marL="0">
              <a:buNone/>
            </a:pPr>
            <a:r>
              <a:rPr lang="en-US" sz="1200" b="1" spc="200" kern="0" dirty="0">
                <a:solidFill>
                  <a:schemeClr val="accent2"/>
                </a:solidFill>
              </a:rPr>
              <a:t>ОЛОН УЛСЫН ТУРШЛАГА</a:t>
            </a:r>
            <a:endParaRPr lang="en-US" sz="1200" dirty="0"/>
          </a:p>
        </p:txBody>
      </p:sp>
      <p:sp>
        <p:nvSpPr>
          <p:cNvPr id="3" name="Text 0"/>
          <p:cNvSpPr/>
          <p:nvPr>
            <p:ph idx="101" type="title" hasCustomPrompt="1"/>
          </p:nvPr>
        </p:nvSpPr>
        <p:spPr>
          <a:xfrm>
            <a:off x="548640" y="621792"/>
            <a:ext cx="11094415" cy="731520"/>
          </a:xfrm>
          <a:prstGeom prst="rect">
            <a:avLst/>
          </a:prstGeom>
          <a:noFill/>
          <a:ln/>
        </p:spPr>
        <p:txBody>
          <a:bodyPr wrap="square" lIns="0" tIns="0" rIns="0" bIns="0" rtlCol="0" anchor="t"/>
          <a:lstStyle/>
          <a:p>
            <a:pPr algn="l" indent="0" marL="0">
              <a:buNone/>
            </a:pPr>
            <a:r>
              <a:rPr lang="en-US" sz="3000" b="1" dirty="0">
                <a:solidFill>
                  <a:schemeClr val="accent1"/>
                </a:solidFill>
              </a:rPr>
              <a:t>9 академийн 7 нь сонсогч-удирдагчтай, холимог ротой</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2011680"/>
                <a:gridCol w="1325880"/>
                <a:gridCol w="4279392"/>
                <a:gridCol w="1828800"/>
                <a:gridCol w="1645920"/>
              </a:tblGrid>
              <a:tr h="365760">
                <a:tc>
                  <a:txBody>
                    <a:bodyPr/>
                    <a:lstStyle/>
                    <a:p>
                      <a:pPr indent="0" marL="0">
                        <a:buNone/>
                      </a:pPr>
                      <a:r>
                        <a:rPr lang="en-US" sz="1300" b="1" dirty="0">
                          <a:solidFill>
                            <a:schemeClr val="bg1"/>
                          </a:solidFill>
                        </a:rPr>
                        <a:t>Сургууль</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Сонсогч</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Бүтэц</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Рот</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Ротаци</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accent1"/>
                    </a:solidFill>
                  </a:tcPr>
                </a:tc>
              </a:tr>
              <a:tr h="365760">
                <a:tc>
                  <a:txBody>
                    <a:bodyPr/>
                    <a:lstStyle/>
                    <a:p>
                      <a:pPr indent="0" marL="0">
                        <a:buNone/>
                      </a:pPr>
                      <a:r>
                        <a:rPr lang="en-US" sz="1300" b="1" dirty="0">
                          <a:solidFill>
                            <a:schemeClr val="tx1"/>
                          </a:solidFill>
                        </a:rPr>
                        <a:t>USMA (АНУ)</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4,400</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Бригад → 4 хороо → 12 батальон → 36 рот</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Бүх курс холимог</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Жил / улирал</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2"/>
                    </a:solidFill>
                  </a:tcPr>
                </a:tc>
              </a:tr>
              <a:tr h="365760">
                <a:tc>
                  <a:txBody>
                    <a:bodyPr/>
                    <a:lstStyle/>
                    <a:p>
                      <a:pPr indent="0" marL="0">
                        <a:buNone/>
                      </a:pPr>
                      <a:r>
                        <a:rPr lang="en-US" sz="1300" b="1" dirty="0">
                          <a:solidFill>
                            <a:schemeClr val="tx1"/>
                          </a:solidFill>
                        </a:rPr>
                        <a:t>USNA (АНУ)</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4,400</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Бригад → 6 батальон → 30–36 рот</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Бүх курс холимог</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Семестр бүр</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1"/>
                    </a:solidFill>
                  </a:tcPr>
                </a:tc>
              </a:tr>
              <a:tr h="365760">
                <a:tc>
                  <a:txBody>
                    <a:bodyPr/>
                    <a:lstStyle/>
                    <a:p>
                      <a:pPr indent="0" marL="0">
                        <a:buNone/>
                      </a:pPr>
                      <a:r>
                        <a:rPr lang="en-US" sz="1300" b="1" dirty="0">
                          <a:solidFill>
                            <a:schemeClr val="tx1"/>
                          </a:solidFill>
                        </a:rPr>
                        <a:t>USAFA (АНУ)</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4,000</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Жигүүр → 4 бүлэг → 40 эскадриль</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Бүх курс холимог</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Семестр бүр</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2"/>
                    </a:solidFill>
                  </a:tcPr>
                </a:tc>
              </a:tr>
              <a:tr h="365760">
                <a:tc>
                  <a:txBody>
                    <a:bodyPr/>
                    <a:lstStyle/>
                    <a:p>
                      <a:pPr indent="0" marL="0">
                        <a:buNone/>
                      </a:pPr>
                      <a:r>
                        <a:rPr lang="en-US" sz="1300" b="1" dirty="0">
                          <a:solidFill>
                            <a:schemeClr val="tx1"/>
                          </a:solidFill>
                        </a:rPr>
                        <a:t>RMC (Канад)</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1,100</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Жигүүр → 4 дивиз → 12 эскадриль</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Бүх курс холимог</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Семестр бүр</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1"/>
                    </a:solidFill>
                  </a:tcPr>
                </a:tc>
              </a:tr>
              <a:tr h="365760">
                <a:tc>
                  <a:txBody>
                    <a:bodyPr/>
                    <a:lstStyle/>
                    <a:p>
                      <a:pPr indent="0" marL="0">
                        <a:buNone/>
                      </a:pPr>
                      <a:r>
                        <a:rPr lang="en-US" sz="1300" b="1" dirty="0">
                          <a:solidFill>
                            <a:schemeClr val="tx1"/>
                          </a:solidFill>
                        </a:rPr>
                        <a:t>RMAS (Британи)</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Элсэлтээр</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3 коллеж → рот → салаа</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Нэг элсэлт</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Улирал бүр</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2"/>
                    </a:solidFill>
                  </a:tcPr>
                </a:tc>
              </a:tr>
              <a:tr h="365760">
                <a:tc>
                  <a:txBody>
                    <a:bodyPr/>
                    <a:lstStyle/>
                    <a:p>
                      <a:pPr indent="0" marL="0">
                        <a:buNone/>
                      </a:pPr>
                      <a:r>
                        <a:rPr lang="en-US" sz="1300" b="1" dirty="0">
                          <a:solidFill>
                            <a:schemeClr val="tx1"/>
                          </a:solidFill>
                        </a:rPr>
                        <a:t>БХА (Япон)</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2,000</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Корпус → 4 батальон → рот → салаа</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Бүх курс холимог</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Жилд 3 удаа</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1"/>
                    </a:solidFill>
                  </a:tcPr>
                </a:tc>
              </a:tr>
              <a:tr h="365760">
                <a:tc>
                  <a:txBody>
                    <a:bodyPr/>
                    <a:lstStyle/>
                    <a:p>
                      <a:pPr indent="0" marL="0">
                        <a:buNone/>
                      </a:pPr>
                      <a:r>
                        <a:rPr lang="en-US" sz="1300" b="1" dirty="0">
                          <a:solidFill>
                            <a:schemeClr val="tx1"/>
                          </a:solidFill>
                        </a:rPr>
                        <a:t>KMA (БНСУ)</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1,000</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Хороо → 8 рот</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Холимог</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Семестр бүр</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2"/>
                    </a:solidFill>
                  </a:tcPr>
                </a:tc>
              </a:tr>
              <a:tr h="365760">
                <a:tc>
                  <a:txBody>
                    <a:bodyPr/>
                    <a:lstStyle/>
                    <a:p>
                      <a:pPr indent="0" marL="0">
                        <a:buNone/>
                      </a:pPr>
                      <a:r>
                        <a:rPr lang="en-US" sz="1300" b="1" dirty="0">
                          <a:solidFill>
                            <a:schemeClr val="tx1"/>
                          </a:solidFill>
                        </a:rPr>
                        <a:t>NDA (Энэтхэг)</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2,000</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5 батальон → 18 эскадриль</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Бүх курс холимог</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Улирал бүр</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1"/>
                    </a:solidFill>
                  </a:tcPr>
                </a:tc>
              </a:tr>
              <a:tr h="365760">
                <a:tc>
                  <a:txBody>
                    <a:bodyPr/>
                    <a:lstStyle/>
                    <a:p>
                      <a:pPr indent="0" marL="0">
                        <a:buNone/>
                      </a:pPr>
                      <a:r>
                        <a:rPr lang="en-US" sz="1300" b="1" dirty="0">
                          <a:solidFill>
                            <a:schemeClr val="tx1"/>
                          </a:solidFill>
                        </a:rPr>
                        <a:t>ОХУ</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BE8EB"/>
                    </a:solidFill>
                  </a:tcPr>
                </a:tc>
                <a:tc>
                  <a:txBody>
                    <a:bodyPr/>
                    <a:lstStyle/>
                    <a:p>
                      <a:pPr indent="0" marL="0">
                        <a:buNone/>
                      </a:pPr>
                      <a:r>
                        <a:rPr lang="en-US" sz="1300" dirty="0">
                          <a:solidFill>
                            <a:schemeClr val="tx1"/>
                          </a:solidFill>
                        </a:rPr>
                        <a:t>Сургуулиар</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BE8EB"/>
                    </a:solidFill>
                  </a:tcPr>
                </a:tc>
                <a:tc>
                  <a:txBody>
                    <a:bodyPr/>
                    <a:lstStyle/>
                    <a:p>
                      <a:pPr indent="0" marL="0">
                        <a:buNone/>
                      </a:pPr>
                      <a:r>
                        <a:rPr lang="en-US" sz="1300" dirty="0">
                          <a:solidFill>
                            <a:schemeClr val="tx1"/>
                          </a:solidFill>
                        </a:rPr>
                        <a:t>Курс (батальон) → рот → салаа → тасаг</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BE8EB"/>
                    </a:solidFill>
                  </a:tcPr>
                </a:tc>
                <a:tc>
                  <a:txBody>
                    <a:bodyPr/>
                    <a:lstStyle/>
                    <a:p>
                      <a:pPr indent="0" marL="0">
                        <a:buNone/>
                      </a:pPr>
                      <a:r>
                        <a:rPr lang="en-US" sz="1300" dirty="0">
                          <a:solidFill>
                            <a:schemeClr val="tx1"/>
                          </a:solidFill>
                        </a:rPr>
                        <a:t>Нэг курс</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BE8EB"/>
                    </a:solidFill>
                  </a:tcPr>
                </a:tc>
                <a:tc>
                  <a:txBody>
                    <a:bodyPr/>
                    <a:lstStyle/>
                    <a:p>
                      <a:pPr indent="0" marL="0">
                        <a:buNone/>
                      </a:pPr>
                      <a:r>
                        <a:rPr lang="en-US" sz="1300" dirty="0">
                          <a:solidFill>
                            <a:schemeClr val="tx1"/>
                          </a:solidFill>
                        </a:rPr>
                        <a:t>Офицер удирдана</a:t>
                      </a:r>
                      <a:endParaRPr lang="en-US" sz="1300" dirty="0"/>
                    </a:p>
                  </a:txBody>
                  <a:tcPr marL="73152" marR="73152"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FBE8EB"/>
                    </a:solidFill>
                  </a:tcPr>
                </a:tc>
              </a:tr>
            </a:tbl>
          </a:graphicData>
        </a:graphic>
      </p:graphicFrame>
      <p:sp>
        <p:nvSpPr>
          <p:cNvPr id="6" name="Takeaway"/>
          <p:cNvSpPr/>
          <p:nvPr/>
        </p:nvSpPr>
        <p:spPr>
          <a:xfrm>
            <a:off x="548640" y="5440680"/>
            <a:ext cx="11094415" cy="713232"/>
          </a:xfrm>
          <a:prstGeom prst="roundRect">
            <a:avLst>
              <a:gd name="adj" fmla="val 10256"/>
            </a:avLst>
          </a:prstGeom>
          <a:solidFill>
            <a:srgbClr val="F7EFD6"/>
          </a:solidFill>
          <a:ln w="12700">
            <a:solidFill>
              <a:srgbClr val="F7EFD6"/>
            </a:solidFill>
            <a:prstDash val="solid"/>
          </a:ln>
          <a:effectLst>
            <a:outerShdw sx="100000" sy="100000" kx="0" ky="0" algn="bl" rotWithShape="0" blurRad="76200" dist="25400" dir="5400000">
              <a:srgbClr val="000000">
                <a:alpha val="12000"/>
              </a:srgbClr>
            </a:outerShdw>
          </a:effectLst>
        </p:spPr>
      </p:sp>
      <p:sp>
        <p:nvSpPr>
          <p:cNvPr id="7" name="Text 3"/>
          <p:cNvSpPr txBox="1"/>
          <p:nvPr/>
        </p:nvSpPr>
        <p:spPr>
          <a:xfrm>
            <a:off x="822960" y="5440680"/>
            <a:ext cx="10545775" cy="713232"/>
          </a:xfrm>
          <a:prstGeom prst="rect">
            <a:avLst/>
          </a:prstGeom>
          <a:noFill/>
          <a:ln/>
        </p:spPr>
        <p:txBody>
          <a:bodyPr wrap="square" lIns="0" tIns="0" rIns="0" bIns="0" rtlCol="0" anchor="ctr"/>
          <a:lstStyle/>
          <a:p>
            <a:pPr indent="0" marL="0">
              <a:buNone/>
            </a:pPr>
            <a:r>
              <a:rPr lang="en-US" sz="1500" b="1" dirty="0">
                <a:solidFill>
                  <a:schemeClr val="accent1"/>
                </a:solidFill>
              </a:rPr>
              <a:t>Сургамж: </a:t>
            </a:r>
            <a:pPr indent="0" marL="0">
              <a:buNone/>
            </a:pPr>
            <a:r>
              <a:rPr lang="en-US" sz="1500" dirty="0">
                <a:solidFill>
                  <a:schemeClr val="tx1"/>
                </a:solidFill>
              </a:rPr>
              <a:t>ОХУ-ын хэвтээ загварт сонсогч офицерын түвшний удирдах туршлага олж авдаггүй. ҮБХИС-ийн одоогийн зохион байгуулалт энэ загвартай ойр.</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292608"/>
          </a:xfrm>
          <a:prstGeom prst="rect">
            <a:avLst/>
          </a:prstGeom>
          <a:noFill/>
          <a:ln/>
        </p:spPr>
        <p:txBody>
          <a:bodyPr wrap="square" lIns="0" tIns="0" rIns="0" bIns="0" rtlCol="0"/>
          <a:lstStyle/>
          <a:p>
            <a:pPr indent="0" marL="0">
              <a:buNone/>
            </a:pPr>
            <a:r>
              <a:rPr lang="en-US" sz="1200" b="1" spc="200" kern="0" dirty="0">
                <a:solidFill>
                  <a:schemeClr val="accent2"/>
                </a:solidFill>
              </a:rPr>
              <a:t>НИЙТЛЭГ ЗАРЧИМ</a:t>
            </a:r>
            <a:endParaRPr lang="en-US" sz="1200" dirty="0"/>
          </a:p>
        </p:txBody>
      </p:sp>
      <p:sp>
        <p:nvSpPr>
          <p:cNvPr id="3" name="Text 0"/>
          <p:cNvSpPr/>
          <p:nvPr>
            <p:ph idx="101" type="title" hasCustomPrompt="1"/>
          </p:nvPr>
        </p:nvSpPr>
        <p:spPr>
          <a:xfrm>
            <a:off x="548640" y="621792"/>
            <a:ext cx="11094415" cy="731520"/>
          </a:xfrm>
          <a:prstGeom prst="rect">
            <a:avLst/>
          </a:prstGeom>
          <a:noFill/>
          <a:ln/>
        </p:spPr>
        <p:txBody>
          <a:bodyPr wrap="square" lIns="0" tIns="0" rIns="0" bIns="0" rtlCol="0" anchor="t"/>
          <a:lstStyle/>
          <a:p>
            <a:pPr algn="l" indent="0" marL="0">
              <a:buNone/>
            </a:pPr>
            <a:r>
              <a:rPr lang="en-US" sz="3000" b="1" dirty="0">
                <a:solidFill>
                  <a:schemeClr val="accent1"/>
                </a:solidFill>
              </a:rPr>
              <a:t>8 нийтлэг зарчмыг ҮБХИС-д нутагшуулна</a:t>
            </a:r>
            <a:endParaRPr lang="en-US" sz="3000" dirty="0"/>
          </a:p>
        </p:txBody>
      </p:sp>
      <p:sp>
        <p:nvSpPr>
          <p:cNvPr id="5" name="Principle 1"/>
          <p:cNvSpPr/>
          <p:nvPr/>
        </p:nvSpPr>
        <p:spPr>
          <a:xfrm>
            <a:off x="548640" y="1600200"/>
            <a:ext cx="2602154" cy="2103120"/>
          </a:xfrm>
          <a:prstGeom prst="roundRect">
            <a:avLst>
              <a:gd name="adj" fmla="val 347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Number 1"/>
          <p:cNvSpPr/>
          <p:nvPr/>
        </p:nvSpPr>
        <p:spPr>
          <a:xfrm>
            <a:off x="731520" y="1828800"/>
            <a:ext cx="457200" cy="457200"/>
          </a:xfrm>
          <a:prstGeom prst="ellipse">
            <a:avLst/>
          </a:prstGeom>
          <a:solidFill>
            <a:schemeClr val="accent1"/>
          </a:solidFill>
          <a:ln w="12700">
            <a:solidFill>
              <a:schemeClr val="bg1"/>
            </a:solidFill>
            <a:prstDash val="solid"/>
          </a:ln>
        </p:spPr>
      </p:sp>
      <p:sp>
        <p:nvSpPr>
          <p:cNvPr id="7" name="Text 4"/>
          <p:cNvSpPr txBox="1"/>
          <p:nvPr/>
        </p:nvSpPr>
        <p:spPr>
          <a:xfrm>
            <a:off x="731520" y="1828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1325880" y="1737360"/>
            <a:ext cx="1687754" cy="640080"/>
          </a:xfrm>
          <a:prstGeom prst="rect">
            <a:avLst/>
          </a:prstGeom>
          <a:noFill/>
          <a:ln/>
        </p:spPr>
        <p:txBody>
          <a:bodyPr wrap="square" lIns="0" tIns="0" rIns="0" bIns="0" rtlCol="0" anchor="ctr"/>
          <a:lstStyle/>
          <a:p>
            <a:pPr indent="0" marL="0">
              <a:buNone/>
            </a:pPr>
            <a:r>
              <a:rPr lang="en-US" sz="1500" b="1" dirty="0">
                <a:solidFill>
                  <a:schemeClr val="accent1"/>
                </a:solidFill>
              </a:rPr>
              <a:t>Цэргийн ангийн бүтэц</a:t>
            </a:r>
            <a:endParaRPr lang="en-US" sz="1500" dirty="0"/>
          </a:p>
        </p:txBody>
      </p:sp>
      <p:sp>
        <p:nvSpPr>
          <p:cNvPr id="9" name="Text 6"/>
          <p:cNvSpPr txBox="1"/>
          <p:nvPr/>
        </p:nvSpPr>
        <p:spPr>
          <a:xfrm>
            <a:off x="731520" y="2514600"/>
            <a:ext cx="2236394" cy="1051560"/>
          </a:xfrm>
          <a:prstGeom prst="rect">
            <a:avLst/>
          </a:prstGeom>
          <a:noFill/>
          <a:ln/>
        </p:spPr>
        <p:txBody>
          <a:bodyPr wrap="square" lIns="0" tIns="0" rIns="0" bIns="0" rtlCol="0" anchor="t"/>
          <a:lstStyle/>
          <a:p>
            <a:pPr indent="0" marL="0">
              <a:buNone/>
            </a:pPr>
            <a:r>
              <a:rPr lang="en-US" sz="1500" b="1" dirty="0">
                <a:solidFill>
                  <a:schemeClr val="accent2"/>
                </a:solidFill>
              </a:rPr>
              <a:t>ҮБХИС-д: </a:t>
            </a:r>
            <a:pPr indent="0" marL="0">
              <a:buNone/>
            </a:pPr>
            <a:r>
              <a:rPr lang="en-US" sz="1500" dirty="0">
                <a:solidFill>
                  <a:schemeClr val="tx1"/>
                </a:solidFill>
              </a:rPr>
              <a:t>Хороо → батальон → рот → салаа → тасаг; Монгол цэргийн нэр томъёо</a:t>
            </a:r>
            <a:endParaRPr lang="en-US" sz="1500" dirty="0"/>
          </a:p>
        </p:txBody>
      </p:sp>
      <p:sp>
        <p:nvSpPr>
          <p:cNvPr id="10" name="Principle 2"/>
          <p:cNvSpPr/>
          <p:nvPr/>
        </p:nvSpPr>
        <p:spPr>
          <a:xfrm>
            <a:off x="3379394" y="1600200"/>
            <a:ext cx="2602154" cy="2103120"/>
          </a:xfrm>
          <a:prstGeom prst="roundRect">
            <a:avLst>
              <a:gd name="adj" fmla="val 347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1" name="Number 2"/>
          <p:cNvSpPr/>
          <p:nvPr/>
        </p:nvSpPr>
        <p:spPr>
          <a:xfrm>
            <a:off x="3562274" y="1828800"/>
            <a:ext cx="457200" cy="457200"/>
          </a:xfrm>
          <a:prstGeom prst="ellipse">
            <a:avLst/>
          </a:prstGeom>
          <a:solidFill>
            <a:schemeClr val="accent1"/>
          </a:solidFill>
          <a:ln w="12700">
            <a:solidFill>
              <a:schemeClr val="bg1"/>
            </a:solidFill>
            <a:prstDash val="solid"/>
          </a:ln>
        </p:spPr>
      </p:sp>
      <p:sp>
        <p:nvSpPr>
          <p:cNvPr id="12" name="Text 9"/>
          <p:cNvSpPr txBox="1"/>
          <p:nvPr/>
        </p:nvSpPr>
        <p:spPr>
          <a:xfrm>
            <a:off x="3562274" y="1828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0"/>
          <p:cNvSpPr txBox="1"/>
          <p:nvPr/>
        </p:nvSpPr>
        <p:spPr>
          <a:xfrm>
            <a:off x="4156634" y="1737360"/>
            <a:ext cx="1687754" cy="640080"/>
          </a:xfrm>
          <a:prstGeom prst="rect">
            <a:avLst/>
          </a:prstGeom>
          <a:noFill/>
          <a:ln/>
        </p:spPr>
        <p:txBody>
          <a:bodyPr wrap="square" lIns="0" tIns="0" rIns="0" bIns="0" rtlCol="0" anchor="ctr"/>
          <a:lstStyle/>
          <a:p>
            <a:pPr indent="0" marL="0">
              <a:buNone/>
            </a:pPr>
            <a:r>
              <a:rPr lang="en-US" sz="1500" b="1" dirty="0">
                <a:solidFill>
                  <a:schemeClr val="accent1"/>
                </a:solidFill>
              </a:rPr>
              <a:t>Босоо холимог рот</a:t>
            </a:r>
            <a:endParaRPr lang="en-US" sz="1500" dirty="0"/>
          </a:p>
        </p:txBody>
      </p:sp>
      <p:sp>
        <p:nvSpPr>
          <p:cNvPr id="14" name="Text 11"/>
          <p:cNvSpPr txBox="1"/>
          <p:nvPr/>
        </p:nvSpPr>
        <p:spPr>
          <a:xfrm>
            <a:off x="3562274" y="2514600"/>
            <a:ext cx="2236394" cy="1051560"/>
          </a:xfrm>
          <a:prstGeom prst="rect">
            <a:avLst/>
          </a:prstGeom>
          <a:noFill/>
          <a:ln/>
        </p:spPr>
        <p:txBody>
          <a:bodyPr wrap="square" lIns="0" tIns="0" rIns="0" bIns="0" rtlCol="0" anchor="t"/>
          <a:lstStyle/>
          <a:p>
            <a:pPr indent="0" marL="0">
              <a:buNone/>
            </a:pPr>
            <a:r>
              <a:rPr lang="en-US" sz="1500" b="1" dirty="0">
                <a:solidFill>
                  <a:schemeClr val="accent2"/>
                </a:solidFill>
              </a:rPr>
              <a:t>ҮБХИС-д: </a:t>
            </a:r>
            <a:pPr indent="0" marL="0">
              <a:buNone/>
            </a:pPr>
            <a:r>
              <a:rPr lang="en-US" sz="1500" dirty="0">
                <a:solidFill>
                  <a:schemeClr val="tx1"/>
                </a:solidFill>
              </a:rPr>
              <a:t>Ротыг 1–4-р курсээс бүрдүүлж, ахлах нь бага курсээ сургана</a:t>
            </a:r>
            <a:endParaRPr lang="en-US" sz="1500" dirty="0"/>
          </a:p>
        </p:txBody>
      </p:sp>
      <p:sp>
        <p:nvSpPr>
          <p:cNvPr id="15" name="Principle 3"/>
          <p:cNvSpPr/>
          <p:nvPr/>
        </p:nvSpPr>
        <p:spPr>
          <a:xfrm>
            <a:off x="6210148" y="1600200"/>
            <a:ext cx="2602154" cy="2103120"/>
          </a:xfrm>
          <a:prstGeom prst="roundRect">
            <a:avLst>
              <a:gd name="adj" fmla="val 347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6" name="Number 3"/>
          <p:cNvSpPr/>
          <p:nvPr/>
        </p:nvSpPr>
        <p:spPr>
          <a:xfrm>
            <a:off x="6393028" y="1828800"/>
            <a:ext cx="457200" cy="457200"/>
          </a:xfrm>
          <a:prstGeom prst="ellipse">
            <a:avLst/>
          </a:prstGeom>
          <a:solidFill>
            <a:schemeClr val="accent1"/>
          </a:solidFill>
          <a:ln w="12700">
            <a:solidFill>
              <a:schemeClr val="bg1"/>
            </a:solidFill>
            <a:prstDash val="solid"/>
          </a:ln>
        </p:spPr>
      </p:sp>
      <p:sp>
        <p:nvSpPr>
          <p:cNvPr id="17" name="Text 14"/>
          <p:cNvSpPr txBox="1"/>
          <p:nvPr/>
        </p:nvSpPr>
        <p:spPr>
          <a:xfrm>
            <a:off x="6393028" y="1828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5"/>
          <p:cNvSpPr txBox="1"/>
          <p:nvPr/>
        </p:nvSpPr>
        <p:spPr>
          <a:xfrm>
            <a:off x="6987388" y="1737360"/>
            <a:ext cx="1687754" cy="640080"/>
          </a:xfrm>
          <a:prstGeom prst="rect">
            <a:avLst/>
          </a:prstGeom>
          <a:noFill/>
          <a:ln/>
        </p:spPr>
        <p:txBody>
          <a:bodyPr wrap="square" lIns="0" tIns="0" rIns="0" bIns="0" rtlCol="0" anchor="ctr"/>
          <a:lstStyle/>
          <a:p>
            <a:pPr indent="0" marL="0">
              <a:buNone/>
            </a:pPr>
            <a:r>
              <a:rPr lang="en-US" sz="1500" b="1" dirty="0">
                <a:solidFill>
                  <a:schemeClr val="accent1"/>
                </a:solidFill>
              </a:rPr>
              <a:t>Шатласан хариуцлага</a:t>
            </a:r>
            <a:endParaRPr lang="en-US" sz="1500" dirty="0"/>
          </a:p>
        </p:txBody>
      </p:sp>
      <p:sp>
        <p:nvSpPr>
          <p:cNvPr id="19" name="Text 16"/>
          <p:cNvSpPr txBox="1"/>
          <p:nvPr/>
        </p:nvSpPr>
        <p:spPr>
          <a:xfrm>
            <a:off x="6393028" y="2514600"/>
            <a:ext cx="2236394" cy="1051560"/>
          </a:xfrm>
          <a:prstGeom prst="rect">
            <a:avLst/>
          </a:prstGeom>
          <a:noFill/>
          <a:ln/>
        </p:spPr>
        <p:txBody>
          <a:bodyPr wrap="square" lIns="0" tIns="0" rIns="0" bIns="0" rtlCol="0" anchor="t"/>
          <a:lstStyle/>
          <a:p>
            <a:pPr indent="0" marL="0">
              <a:buNone/>
            </a:pPr>
            <a:r>
              <a:rPr lang="en-US" sz="1500" b="1" dirty="0">
                <a:solidFill>
                  <a:schemeClr val="accent2"/>
                </a:solidFill>
              </a:rPr>
              <a:t>ҮБХИС-д: </a:t>
            </a:r>
            <a:pPr indent="0" marL="0">
              <a:buNone/>
            </a:pPr>
            <a:r>
              <a:rPr lang="en-US" sz="1500" dirty="0">
                <a:solidFill>
                  <a:schemeClr val="tx1"/>
                </a:solidFill>
              </a:rPr>
              <a:t>4 жилийн «Манлайллын хөгжлийн шат»: дагагч → офицер</a:t>
            </a:r>
            <a:endParaRPr lang="en-US" sz="1500" dirty="0"/>
          </a:p>
        </p:txBody>
      </p:sp>
      <p:sp>
        <p:nvSpPr>
          <p:cNvPr id="20" name="Principle 4"/>
          <p:cNvSpPr/>
          <p:nvPr/>
        </p:nvSpPr>
        <p:spPr>
          <a:xfrm>
            <a:off x="9040901" y="1600200"/>
            <a:ext cx="2602154" cy="2103120"/>
          </a:xfrm>
          <a:prstGeom prst="roundRect">
            <a:avLst>
              <a:gd name="adj" fmla="val 347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1" name="Number 4"/>
          <p:cNvSpPr/>
          <p:nvPr/>
        </p:nvSpPr>
        <p:spPr>
          <a:xfrm>
            <a:off x="9223781" y="1828800"/>
            <a:ext cx="457200" cy="457200"/>
          </a:xfrm>
          <a:prstGeom prst="ellipse">
            <a:avLst/>
          </a:prstGeom>
          <a:solidFill>
            <a:schemeClr val="accent1"/>
          </a:solidFill>
          <a:ln w="12700">
            <a:solidFill>
              <a:schemeClr val="bg1"/>
            </a:solidFill>
            <a:prstDash val="solid"/>
          </a:ln>
        </p:spPr>
      </p:sp>
      <p:sp>
        <p:nvSpPr>
          <p:cNvPr id="22" name="Text 19"/>
          <p:cNvSpPr txBox="1"/>
          <p:nvPr/>
        </p:nvSpPr>
        <p:spPr>
          <a:xfrm>
            <a:off x="9223781" y="1828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3" name="Text 20"/>
          <p:cNvSpPr txBox="1"/>
          <p:nvPr/>
        </p:nvSpPr>
        <p:spPr>
          <a:xfrm>
            <a:off x="9818141" y="1737360"/>
            <a:ext cx="1687754" cy="640080"/>
          </a:xfrm>
          <a:prstGeom prst="rect">
            <a:avLst/>
          </a:prstGeom>
          <a:noFill/>
          <a:ln/>
        </p:spPr>
        <p:txBody>
          <a:bodyPr wrap="square" lIns="0" tIns="0" rIns="0" bIns="0" rtlCol="0" anchor="ctr"/>
          <a:lstStyle/>
          <a:p>
            <a:pPr indent="0" marL="0">
              <a:buNone/>
            </a:pPr>
            <a:r>
              <a:rPr lang="en-US" sz="1500" b="1" dirty="0">
                <a:solidFill>
                  <a:schemeClr val="accent1"/>
                </a:solidFill>
              </a:rPr>
              <a:t>Сэлгэн томилох</a:t>
            </a:r>
            <a:endParaRPr lang="en-US" sz="1500" dirty="0"/>
          </a:p>
        </p:txBody>
      </p:sp>
      <p:sp>
        <p:nvSpPr>
          <p:cNvPr id="24" name="Text 21"/>
          <p:cNvSpPr txBox="1"/>
          <p:nvPr/>
        </p:nvSpPr>
        <p:spPr>
          <a:xfrm>
            <a:off x="9223781" y="2514600"/>
            <a:ext cx="2236394" cy="1051560"/>
          </a:xfrm>
          <a:prstGeom prst="rect">
            <a:avLst/>
          </a:prstGeom>
          <a:noFill/>
          <a:ln/>
        </p:spPr>
        <p:txBody>
          <a:bodyPr wrap="square" lIns="0" tIns="0" rIns="0" bIns="0" rtlCol="0" anchor="t"/>
          <a:lstStyle/>
          <a:p>
            <a:pPr indent="0" marL="0">
              <a:buNone/>
            </a:pPr>
            <a:r>
              <a:rPr lang="en-US" sz="1500" b="1" dirty="0">
                <a:solidFill>
                  <a:schemeClr val="accent2"/>
                </a:solidFill>
              </a:rPr>
              <a:t>ҮБХИС-д: </a:t>
            </a:r>
            <a:pPr indent="0" marL="0">
              <a:buNone/>
            </a:pPr>
            <a:r>
              <a:rPr lang="en-US" sz="1500" dirty="0">
                <a:solidFill>
                  <a:schemeClr val="tx1"/>
                </a:solidFill>
              </a:rPr>
              <a:t>Семестр бүр солих; 4-р курсийн ≥60% офицерын албан тушаал хашина</a:t>
            </a:r>
            <a:endParaRPr lang="en-US" sz="1500" dirty="0"/>
          </a:p>
        </p:txBody>
      </p:sp>
      <p:sp>
        <p:nvSpPr>
          <p:cNvPr id="25" name="Principle 5"/>
          <p:cNvSpPr/>
          <p:nvPr/>
        </p:nvSpPr>
        <p:spPr>
          <a:xfrm>
            <a:off x="548640" y="3931920"/>
            <a:ext cx="2602154" cy="2103120"/>
          </a:xfrm>
          <a:prstGeom prst="roundRect">
            <a:avLst>
              <a:gd name="adj" fmla="val 347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6" name="Number 5"/>
          <p:cNvSpPr/>
          <p:nvPr/>
        </p:nvSpPr>
        <p:spPr>
          <a:xfrm>
            <a:off x="731520" y="4160520"/>
            <a:ext cx="457200" cy="457200"/>
          </a:xfrm>
          <a:prstGeom prst="ellipse">
            <a:avLst/>
          </a:prstGeom>
          <a:solidFill>
            <a:schemeClr val="accent2"/>
          </a:solidFill>
          <a:ln w="12700">
            <a:solidFill>
              <a:schemeClr val="bg1"/>
            </a:solidFill>
            <a:prstDash val="solid"/>
          </a:ln>
        </p:spPr>
      </p:sp>
      <p:sp>
        <p:nvSpPr>
          <p:cNvPr id="27" name="Text 24"/>
          <p:cNvSpPr txBox="1"/>
          <p:nvPr/>
        </p:nvSpPr>
        <p:spPr>
          <a:xfrm>
            <a:off x="731520" y="41605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8" name="Text 25"/>
          <p:cNvSpPr txBox="1"/>
          <p:nvPr/>
        </p:nvSpPr>
        <p:spPr>
          <a:xfrm>
            <a:off x="1325880" y="4069080"/>
            <a:ext cx="1687754" cy="640080"/>
          </a:xfrm>
          <a:prstGeom prst="rect">
            <a:avLst/>
          </a:prstGeom>
          <a:noFill/>
          <a:ln/>
        </p:spPr>
        <p:txBody>
          <a:bodyPr wrap="square" lIns="0" tIns="0" rIns="0" bIns="0" rtlCol="0" anchor="ctr"/>
          <a:lstStyle/>
          <a:p>
            <a:pPr indent="0" marL="0">
              <a:buNone/>
            </a:pPr>
            <a:r>
              <a:rPr lang="en-US" sz="1500" b="1" dirty="0">
                <a:solidFill>
                  <a:schemeClr val="accent1"/>
                </a:solidFill>
              </a:rPr>
              <a:t>Сургагч хос</a:t>
            </a:r>
            <a:endParaRPr lang="en-US" sz="1500" dirty="0"/>
          </a:p>
        </p:txBody>
      </p:sp>
      <p:sp>
        <p:nvSpPr>
          <p:cNvPr id="29" name="Text 26"/>
          <p:cNvSpPr txBox="1"/>
          <p:nvPr/>
        </p:nvSpPr>
        <p:spPr>
          <a:xfrm>
            <a:off x="731520" y="4846320"/>
            <a:ext cx="2236394" cy="1051560"/>
          </a:xfrm>
          <a:prstGeom prst="rect">
            <a:avLst/>
          </a:prstGeom>
          <a:noFill/>
          <a:ln/>
        </p:spPr>
        <p:txBody>
          <a:bodyPr wrap="square" lIns="0" tIns="0" rIns="0" bIns="0" rtlCol="0" anchor="t"/>
          <a:lstStyle/>
          <a:p>
            <a:pPr indent="0" marL="0">
              <a:buNone/>
            </a:pPr>
            <a:r>
              <a:rPr lang="en-US" sz="1500" b="1" dirty="0">
                <a:solidFill>
                  <a:schemeClr val="accent2"/>
                </a:solidFill>
              </a:rPr>
              <a:t>ҮБХИС-д: </a:t>
            </a:r>
            <a:pPr indent="0" marL="0">
              <a:buNone/>
            </a:pPr>
            <a:r>
              <a:rPr lang="en-US" sz="1500" dirty="0">
                <a:solidFill>
                  <a:schemeClr val="tx1"/>
                </a:solidFill>
              </a:rPr>
              <a:t>Рот бүрт сургагч офицер + сургагч ахлагч — зөвлөх, хянагч</a:t>
            </a:r>
            <a:endParaRPr lang="en-US" sz="1500" dirty="0"/>
          </a:p>
        </p:txBody>
      </p:sp>
      <p:sp>
        <p:nvSpPr>
          <p:cNvPr id="30" name="Principle 6"/>
          <p:cNvSpPr/>
          <p:nvPr/>
        </p:nvSpPr>
        <p:spPr>
          <a:xfrm>
            <a:off x="3379394" y="3931920"/>
            <a:ext cx="2602154" cy="2103120"/>
          </a:xfrm>
          <a:prstGeom prst="roundRect">
            <a:avLst>
              <a:gd name="adj" fmla="val 347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31" name="Number 6"/>
          <p:cNvSpPr/>
          <p:nvPr/>
        </p:nvSpPr>
        <p:spPr>
          <a:xfrm>
            <a:off x="3562274" y="4160520"/>
            <a:ext cx="457200" cy="457200"/>
          </a:xfrm>
          <a:prstGeom prst="ellipse">
            <a:avLst/>
          </a:prstGeom>
          <a:solidFill>
            <a:schemeClr val="accent2"/>
          </a:solidFill>
          <a:ln w="12700">
            <a:solidFill>
              <a:schemeClr val="bg1"/>
            </a:solidFill>
            <a:prstDash val="solid"/>
          </a:ln>
        </p:spPr>
      </p:sp>
      <p:sp>
        <p:nvSpPr>
          <p:cNvPr id="32" name="Text 29"/>
          <p:cNvSpPr txBox="1"/>
          <p:nvPr/>
        </p:nvSpPr>
        <p:spPr>
          <a:xfrm>
            <a:off x="3562274" y="41605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3" name="Text 30"/>
          <p:cNvSpPr txBox="1"/>
          <p:nvPr/>
        </p:nvSpPr>
        <p:spPr>
          <a:xfrm>
            <a:off x="4156634" y="4069080"/>
            <a:ext cx="1687754" cy="640080"/>
          </a:xfrm>
          <a:prstGeom prst="rect">
            <a:avLst/>
          </a:prstGeom>
          <a:noFill/>
          <a:ln/>
        </p:spPr>
        <p:txBody>
          <a:bodyPr wrap="square" lIns="0" tIns="0" rIns="0" bIns="0" rtlCol="0" anchor="ctr"/>
          <a:lstStyle/>
          <a:p>
            <a:pPr indent="0" marL="0">
              <a:buNone/>
            </a:pPr>
            <a:r>
              <a:rPr lang="en-US" sz="1500" b="1" dirty="0">
                <a:solidFill>
                  <a:schemeClr val="accent1"/>
                </a:solidFill>
              </a:rPr>
              <a:t>Нэр төрийн тогтолцоо</a:t>
            </a:r>
            <a:endParaRPr lang="en-US" sz="1500" dirty="0"/>
          </a:p>
        </p:txBody>
      </p:sp>
      <p:sp>
        <p:nvSpPr>
          <p:cNvPr id="34" name="Text 31"/>
          <p:cNvSpPr txBox="1"/>
          <p:nvPr/>
        </p:nvSpPr>
        <p:spPr>
          <a:xfrm>
            <a:off x="3562274" y="4846320"/>
            <a:ext cx="2236394" cy="1051560"/>
          </a:xfrm>
          <a:prstGeom prst="rect">
            <a:avLst/>
          </a:prstGeom>
          <a:noFill/>
          <a:ln/>
        </p:spPr>
        <p:txBody>
          <a:bodyPr wrap="square" lIns="0" tIns="0" rIns="0" bIns="0" rtlCol="0" anchor="t"/>
          <a:lstStyle/>
          <a:p>
            <a:pPr indent="0" marL="0">
              <a:buNone/>
            </a:pPr>
            <a:r>
              <a:rPr lang="en-US" sz="1500" b="1" dirty="0">
                <a:solidFill>
                  <a:schemeClr val="accent2"/>
                </a:solidFill>
              </a:rPr>
              <a:t>ҮБХИС-д: </a:t>
            </a:r>
            <a:pPr indent="0" marL="0">
              <a:buNone/>
            </a:pPr>
            <a:r>
              <a:rPr lang="en-US" sz="1500" dirty="0">
                <a:solidFill>
                  <a:schemeClr val="tx1"/>
                </a:solidFill>
              </a:rPr>
              <a:t>Ёс зүйн (нэр төрийн) зөвлөл, «Нэр төрийн дүрэм» батлах</a:t>
            </a:r>
            <a:endParaRPr lang="en-US" sz="1500" dirty="0"/>
          </a:p>
        </p:txBody>
      </p:sp>
      <p:sp>
        <p:nvSpPr>
          <p:cNvPr id="35" name="Principle 7"/>
          <p:cNvSpPr/>
          <p:nvPr/>
        </p:nvSpPr>
        <p:spPr>
          <a:xfrm>
            <a:off x="6210148" y="3931920"/>
            <a:ext cx="2602154" cy="2103120"/>
          </a:xfrm>
          <a:prstGeom prst="roundRect">
            <a:avLst>
              <a:gd name="adj" fmla="val 347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36" name="Number 7"/>
          <p:cNvSpPr/>
          <p:nvPr/>
        </p:nvSpPr>
        <p:spPr>
          <a:xfrm>
            <a:off x="6393028" y="4160520"/>
            <a:ext cx="457200" cy="457200"/>
          </a:xfrm>
          <a:prstGeom prst="ellipse">
            <a:avLst/>
          </a:prstGeom>
          <a:solidFill>
            <a:schemeClr val="accent2"/>
          </a:solidFill>
          <a:ln w="12700">
            <a:solidFill>
              <a:schemeClr val="bg1"/>
            </a:solidFill>
            <a:prstDash val="solid"/>
          </a:ln>
        </p:spPr>
      </p:sp>
      <p:sp>
        <p:nvSpPr>
          <p:cNvPr id="37" name="Text 34"/>
          <p:cNvSpPr txBox="1"/>
          <p:nvPr/>
        </p:nvSpPr>
        <p:spPr>
          <a:xfrm>
            <a:off x="6393028" y="41605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38" name="Text 35"/>
          <p:cNvSpPr txBox="1"/>
          <p:nvPr/>
        </p:nvSpPr>
        <p:spPr>
          <a:xfrm>
            <a:off x="6987388" y="4069080"/>
            <a:ext cx="1687754" cy="640080"/>
          </a:xfrm>
          <a:prstGeom prst="rect">
            <a:avLst/>
          </a:prstGeom>
          <a:noFill/>
          <a:ln/>
        </p:spPr>
        <p:txBody>
          <a:bodyPr wrap="square" lIns="0" tIns="0" rIns="0" bIns="0" rtlCol="0" anchor="ctr"/>
          <a:lstStyle/>
          <a:p>
            <a:pPr indent="0" marL="0">
              <a:buNone/>
            </a:pPr>
            <a:r>
              <a:rPr lang="en-US" sz="1500" b="1" dirty="0">
                <a:solidFill>
                  <a:schemeClr val="accent1"/>
                </a:solidFill>
              </a:rPr>
              <a:t>Уламжлал, бэлгэдэл</a:t>
            </a:r>
            <a:endParaRPr lang="en-US" sz="1500" dirty="0"/>
          </a:p>
        </p:txBody>
      </p:sp>
      <p:sp>
        <p:nvSpPr>
          <p:cNvPr id="39" name="Text 36"/>
          <p:cNvSpPr txBox="1"/>
          <p:nvPr/>
        </p:nvSpPr>
        <p:spPr>
          <a:xfrm>
            <a:off x="6393028" y="4846320"/>
            <a:ext cx="2236394" cy="1051560"/>
          </a:xfrm>
          <a:prstGeom prst="rect">
            <a:avLst/>
          </a:prstGeom>
          <a:noFill/>
          <a:ln/>
        </p:spPr>
        <p:txBody>
          <a:bodyPr wrap="square" lIns="0" tIns="0" rIns="0" bIns="0" rtlCol="0" anchor="t"/>
          <a:lstStyle/>
          <a:p>
            <a:pPr indent="0" marL="0">
              <a:buNone/>
            </a:pPr>
            <a:r>
              <a:rPr lang="en-US" sz="1500" b="1" dirty="0">
                <a:solidFill>
                  <a:schemeClr val="accent2"/>
                </a:solidFill>
              </a:rPr>
              <a:t>ҮБХИС-д: </a:t>
            </a:r>
            <a:pPr indent="0" marL="0">
              <a:buNone/>
            </a:pPr>
            <a:r>
              <a:rPr lang="en-US" sz="1500" dirty="0">
                <a:solidFill>
                  <a:schemeClr val="tx1"/>
                </a:solidFill>
              </a:rPr>
              <a:t>Нэрэмжит рот, туг, ялгах ба шагналын тэмдэг</a:t>
            </a:r>
            <a:endParaRPr lang="en-US" sz="1500" dirty="0"/>
          </a:p>
        </p:txBody>
      </p:sp>
      <p:sp>
        <p:nvSpPr>
          <p:cNvPr id="40" name="Principle 8"/>
          <p:cNvSpPr/>
          <p:nvPr/>
        </p:nvSpPr>
        <p:spPr>
          <a:xfrm>
            <a:off x="9040901" y="3931920"/>
            <a:ext cx="2602154" cy="2103120"/>
          </a:xfrm>
          <a:prstGeom prst="roundRect">
            <a:avLst>
              <a:gd name="adj" fmla="val 347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1" name="Number 8"/>
          <p:cNvSpPr/>
          <p:nvPr/>
        </p:nvSpPr>
        <p:spPr>
          <a:xfrm>
            <a:off x="9223781" y="4160520"/>
            <a:ext cx="457200" cy="457200"/>
          </a:xfrm>
          <a:prstGeom prst="ellipse">
            <a:avLst/>
          </a:prstGeom>
          <a:solidFill>
            <a:schemeClr val="accent2"/>
          </a:solidFill>
          <a:ln w="12700">
            <a:solidFill>
              <a:schemeClr val="bg1"/>
            </a:solidFill>
            <a:prstDash val="solid"/>
          </a:ln>
        </p:spPr>
      </p:sp>
      <p:sp>
        <p:nvSpPr>
          <p:cNvPr id="42" name="Text 39"/>
          <p:cNvSpPr txBox="1"/>
          <p:nvPr/>
        </p:nvSpPr>
        <p:spPr>
          <a:xfrm>
            <a:off x="9223781" y="41605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8</a:t>
            </a:r>
            <a:endParaRPr lang="en-US" sz="1600" dirty="0"/>
          </a:p>
        </p:txBody>
      </p:sp>
      <p:sp>
        <p:nvSpPr>
          <p:cNvPr id="43" name="Text 40"/>
          <p:cNvSpPr txBox="1"/>
          <p:nvPr/>
        </p:nvSpPr>
        <p:spPr>
          <a:xfrm>
            <a:off x="9818141" y="4069080"/>
            <a:ext cx="1687754" cy="640080"/>
          </a:xfrm>
          <a:prstGeom prst="rect">
            <a:avLst/>
          </a:prstGeom>
          <a:noFill/>
          <a:ln/>
        </p:spPr>
        <p:txBody>
          <a:bodyPr wrap="square" lIns="0" tIns="0" rIns="0" bIns="0" rtlCol="0" anchor="ctr"/>
          <a:lstStyle/>
          <a:p>
            <a:pPr indent="0" marL="0">
              <a:buNone/>
            </a:pPr>
            <a:r>
              <a:rPr lang="en-US" sz="1500" b="1" dirty="0">
                <a:solidFill>
                  <a:schemeClr val="accent1"/>
                </a:solidFill>
              </a:rPr>
              <a:t>Тэнцвэр, хяналт</a:t>
            </a:r>
            <a:endParaRPr lang="en-US" sz="1500" dirty="0"/>
          </a:p>
        </p:txBody>
      </p:sp>
      <p:sp>
        <p:nvSpPr>
          <p:cNvPr id="44" name="Text 41"/>
          <p:cNvSpPr txBox="1"/>
          <p:nvPr/>
        </p:nvSpPr>
        <p:spPr>
          <a:xfrm>
            <a:off x="9223781" y="4846320"/>
            <a:ext cx="2236394" cy="1051560"/>
          </a:xfrm>
          <a:prstGeom prst="rect">
            <a:avLst/>
          </a:prstGeom>
          <a:noFill/>
          <a:ln/>
        </p:spPr>
        <p:txBody>
          <a:bodyPr wrap="square" lIns="0" tIns="0" rIns="0" bIns="0" rtlCol="0" anchor="t"/>
          <a:lstStyle/>
          <a:p>
            <a:pPr indent="0" marL="0">
              <a:buNone/>
            </a:pPr>
            <a:r>
              <a:rPr lang="en-US" sz="1500" b="1" dirty="0">
                <a:solidFill>
                  <a:schemeClr val="accent2"/>
                </a:solidFill>
              </a:rPr>
              <a:t>ҮБХИС-д: </a:t>
            </a:r>
            <a:pPr indent="0" marL="0">
              <a:buNone/>
            </a:pPr>
            <a:r>
              <a:rPr lang="en-US" sz="1500" dirty="0">
                <a:solidFill>
                  <a:schemeClr val="tx1"/>
                </a:solidFill>
              </a:rPr>
              <a:t>Эрх хэмжээний матриц, нууц гомдлын суваг</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292608"/>
          </a:xfrm>
          <a:prstGeom prst="rect">
            <a:avLst/>
          </a:prstGeom>
          <a:noFill/>
          <a:ln/>
        </p:spPr>
        <p:txBody>
          <a:bodyPr wrap="square" lIns="0" tIns="0" rIns="0" bIns="0" rtlCol="0"/>
          <a:lstStyle/>
          <a:p>
            <a:pPr indent="0" marL="0">
              <a:buNone/>
            </a:pPr>
            <a:r>
              <a:rPr lang="en-US" sz="1200" b="1" spc="200" kern="0" dirty="0">
                <a:solidFill>
                  <a:schemeClr val="accent2"/>
                </a:solidFill>
              </a:rPr>
              <a:t>БҮТЭЦ</a:t>
            </a:r>
            <a:endParaRPr lang="en-US" sz="1200" dirty="0"/>
          </a:p>
        </p:txBody>
      </p:sp>
      <p:sp>
        <p:nvSpPr>
          <p:cNvPr id="3" name="Text 0"/>
          <p:cNvSpPr/>
          <p:nvPr>
            <p:ph idx="101" type="title" hasCustomPrompt="1"/>
          </p:nvPr>
        </p:nvSpPr>
        <p:spPr>
          <a:xfrm>
            <a:off x="548640" y="621792"/>
            <a:ext cx="11094415" cy="731520"/>
          </a:xfrm>
          <a:prstGeom prst="rect">
            <a:avLst/>
          </a:prstGeom>
          <a:noFill/>
          <a:ln/>
        </p:spPr>
        <p:txBody>
          <a:bodyPr wrap="square" lIns="0" tIns="0" rIns="0" bIns="0" rtlCol="0" anchor="t"/>
          <a:lstStyle/>
          <a:p>
            <a:pPr algn="l" indent="0" marL="0">
              <a:buNone/>
            </a:pPr>
            <a:r>
              <a:rPr lang="en-US" sz="3000" b="1" dirty="0">
                <a:solidFill>
                  <a:schemeClr val="accent1"/>
                </a:solidFill>
              </a:rPr>
              <a:t>Цэргийн ангийн бүтэцтэй хороо: ≈1,200 сонсогч</a:t>
            </a:r>
            <a:endParaRPr lang="en-US" sz="3000" dirty="0"/>
          </a:p>
        </p:txBody>
      </p:sp>
      <p:sp>
        <p:nvSpPr>
          <p:cNvPr id="5" name="Rector"/>
          <p:cNvSpPr/>
          <p:nvPr/>
        </p:nvSpPr>
        <p:spPr>
          <a:xfrm>
            <a:off x="2804008" y="1508760"/>
            <a:ext cx="6583680" cy="457200"/>
          </a:xfrm>
          <a:prstGeom prst="roundRect">
            <a:avLst>
              <a:gd name="adj" fmla="val 12000"/>
            </a:avLst>
          </a:prstGeom>
          <a:solidFill>
            <a:schemeClr val="accent1"/>
          </a:solidFill>
          <a:ln w="12700">
            <a:solidFill>
              <a:srgbClr val="14284B"/>
            </a:solidFill>
            <a:prstDash val="solid"/>
          </a:ln>
        </p:spPr>
      </p:sp>
      <p:sp>
        <p:nvSpPr>
          <p:cNvPr id="6" name="Text 3"/>
          <p:cNvSpPr txBox="1"/>
          <p:nvPr/>
        </p:nvSpPr>
        <p:spPr>
          <a:xfrm>
            <a:off x="2895448" y="1508760"/>
            <a:ext cx="6400800" cy="457200"/>
          </a:xfrm>
          <a:prstGeom prst="rect">
            <a:avLst/>
          </a:prstGeom>
          <a:noFill/>
          <a:ln/>
        </p:spPr>
        <p:txBody>
          <a:bodyPr wrap="square" lIns="0" tIns="0" rIns="0" bIns="0" rtlCol="0" anchor="ctr"/>
          <a:lstStyle/>
          <a:p>
            <a:pPr algn="ctr" indent="0" marL="0">
              <a:buNone/>
            </a:pPr>
            <a:r>
              <a:rPr lang="en-US" sz="1400" b="1" dirty="0">
                <a:solidFill>
                  <a:schemeClr val="bg1"/>
                </a:solidFill>
              </a:rPr>
              <a:t>ҮБХИС-ийн захирал · Сургалт, цэргийн алба хариуцсан дэд захирал</a:t>
            </a:r>
            <a:endParaRPr lang="en-US" sz="1400" dirty="0"/>
          </a:p>
        </p:txBody>
      </p:sp>
      <p:sp>
        <p:nvSpPr>
          <p:cNvPr id="7" name="Connector"/>
          <p:cNvSpPr/>
          <p:nvPr/>
        </p:nvSpPr>
        <p:spPr>
          <a:xfrm>
            <a:off x="6095848" y="1965960"/>
            <a:ext cx="0" cy="182880"/>
          </a:xfrm>
          <a:prstGeom prst="line">
            <a:avLst/>
          </a:prstGeom>
          <a:noFill/>
          <a:ln w="15875">
            <a:solidFill>
              <a:srgbClr val="5B6B85"/>
            </a:solidFill>
            <a:prstDash val="solid"/>
          </a:ln>
        </p:spPr>
      </p:sp>
      <p:sp>
        <p:nvSpPr>
          <p:cNvPr id="8" name="Commandant"/>
          <p:cNvSpPr/>
          <p:nvPr/>
        </p:nvSpPr>
        <p:spPr>
          <a:xfrm>
            <a:off x="3444088" y="2148840"/>
            <a:ext cx="5303520" cy="640080"/>
          </a:xfrm>
          <a:prstGeom prst="roundRect">
            <a:avLst>
              <a:gd name="adj" fmla="val 8571"/>
            </a:avLst>
          </a:prstGeom>
          <a:solidFill>
            <a:schemeClr val="accent1"/>
          </a:solidFill>
          <a:ln w="12700">
            <a:solidFill>
              <a:srgbClr val="14284B"/>
            </a:solidFill>
            <a:prstDash val="solid"/>
          </a:ln>
        </p:spPr>
      </p:sp>
      <p:sp>
        <p:nvSpPr>
          <p:cNvPr id="9" name="Text 6"/>
          <p:cNvSpPr txBox="1"/>
          <p:nvPr/>
        </p:nvSpPr>
        <p:spPr>
          <a:xfrm>
            <a:off x="3535528" y="2148840"/>
            <a:ext cx="5120640" cy="640080"/>
          </a:xfrm>
          <a:prstGeom prst="rect">
            <a:avLst/>
          </a:prstGeom>
          <a:noFill/>
          <a:ln/>
        </p:spPr>
        <p:txBody>
          <a:bodyPr wrap="square" lIns="0" tIns="0" rIns="0" bIns="0" rtlCol="0" anchor="ctr"/>
          <a:lstStyle/>
          <a:p>
            <a:pPr algn="ctr" indent="0" marL="0">
              <a:buNone/>
            </a:pPr>
            <a:r>
              <a:rPr lang="en-US" sz="1400" b="1" dirty="0">
                <a:solidFill>
                  <a:schemeClr val="bg1"/>
                </a:solidFill>
              </a:rPr>
              <a:t>СОНСОГЧИЙН ХОРООНЫ ЗАХИРАГЧ (офицер)</a:t>
            </a:r>
            <a:endParaRPr lang="en-US" sz="1400" dirty="0"/>
          </a:p>
          <a:p>
            <a:pPr algn="ctr" indent="0" marL="0">
              <a:buNone/>
            </a:pPr>
            <a:r>
              <a:rPr lang="en-US" sz="1200" dirty="0">
                <a:solidFill>
                  <a:srgbClr val="CADCFC"/>
                </a:solidFill>
              </a:rPr>
              <a:t>Офицер, ахлагчийн баг · сэтгэл зүйч · хуулийн зөвлөх</a:t>
            </a:r>
            <a:endParaRPr lang="en-US" sz="1400" dirty="0"/>
          </a:p>
        </p:txBody>
      </p:sp>
      <p:sp>
        <p:nvSpPr>
          <p:cNvPr id="10" name="Connector"/>
          <p:cNvSpPr/>
          <p:nvPr/>
        </p:nvSpPr>
        <p:spPr>
          <a:xfrm>
            <a:off x="6095848" y="2788920"/>
            <a:ext cx="0" cy="182880"/>
          </a:xfrm>
          <a:prstGeom prst="line">
            <a:avLst/>
          </a:prstGeom>
          <a:noFill/>
          <a:ln w="15875">
            <a:solidFill>
              <a:srgbClr val="5B6B85"/>
            </a:solidFill>
            <a:prstDash val="solid"/>
          </a:ln>
        </p:spPr>
      </p:sp>
      <p:sp>
        <p:nvSpPr>
          <p:cNvPr id="11" name="Senior cadet"/>
          <p:cNvSpPr/>
          <p:nvPr/>
        </p:nvSpPr>
        <p:spPr>
          <a:xfrm>
            <a:off x="4038448" y="2971800"/>
            <a:ext cx="4114800" cy="685800"/>
          </a:xfrm>
          <a:prstGeom prst="roundRect">
            <a:avLst>
              <a:gd name="adj" fmla="val 8000"/>
            </a:avLst>
          </a:prstGeom>
          <a:solidFill>
            <a:srgbClr val="F7EFD6"/>
          </a:solidFill>
          <a:ln w="12700">
            <a:solidFill>
              <a:srgbClr val="C9A227"/>
            </a:solidFill>
            <a:prstDash val="solid"/>
          </a:ln>
        </p:spPr>
      </p:sp>
      <p:sp>
        <p:nvSpPr>
          <p:cNvPr id="12" name="Text 9"/>
          <p:cNvSpPr txBox="1"/>
          <p:nvPr/>
        </p:nvSpPr>
        <p:spPr>
          <a:xfrm>
            <a:off x="4129888" y="2971800"/>
            <a:ext cx="3931920" cy="685800"/>
          </a:xfrm>
          <a:prstGeom prst="rect">
            <a:avLst/>
          </a:prstGeom>
          <a:noFill/>
          <a:ln/>
        </p:spPr>
        <p:txBody>
          <a:bodyPr wrap="square" lIns="0" tIns="0" rIns="0" bIns="0" rtlCol="0" anchor="ctr"/>
          <a:lstStyle/>
          <a:p>
            <a:pPr algn="ctr" indent="0" marL="0">
              <a:buNone/>
            </a:pPr>
            <a:r>
              <a:rPr lang="en-US" sz="1400" b="1" dirty="0">
                <a:solidFill>
                  <a:schemeClr val="accent1"/>
                </a:solidFill>
              </a:rPr>
              <a:t>ХОРООНЫ АХЛАХ СОНСОГЧ (4)</a:t>
            </a:r>
            <a:endParaRPr lang="en-US" sz="1400" dirty="0"/>
          </a:p>
          <a:p>
            <a:pPr algn="ctr" indent="0" marL="0">
              <a:buNone/>
            </a:pPr>
            <a:r>
              <a:rPr lang="en-US" sz="1200" dirty="0">
                <a:solidFill>
                  <a:schemeClr val="tx1"/>
                </a:solidFill>
              </a:rPr>
              <a:t>Орлогч (4) · Хорооны ахлах түрүүч (3)</a:t>
            </a:r>
            <a:endParaRPr lang="en-US" sz="1400" dirty="0"/>
          </a:p>
        </p:txBody>
      </p:sp>
      <p:sp>
        <p:nvSpPr>
          <p:cNvPr id="13" name="Staff"/>
          <p:cNvSpPr/>
          <p:nvPr/>
        </p:nvSpPr>
        <p:spPr>
          <a:xfrm>
            <a:off x="548640" y="2971800"/>
            <a:ext cx="3291840" cy="685800"/>
          </a:xfrm>
          <a:prstGeom prst="roundRect">
            <a:avLst>
              <a:gd name="adj" fmla="val 8000"/>
            </a:avLst>
          </a:prstGeom>
          <a:solidFill>
            <a:srgbClr val="F7EFD6"/>
          </a:solidFill>
          <a:ln w="12700">
            <a:solidFill>
              <a:srgbClr val="C9A227"/>
            </a:solidFill>
            <a:prstDash val="solid"/>
          </a:ln>
        </p:spPr>
      </p:sp>
      <p:sp>
        <p:nvSpPr>
          <p:cNvPr id="14" name="Text 11"/>
          <p:cNvSpPr txBox="1"/>
          <p:nvPr/>
        </p:nvSpPr>
        <p:spPr>
          <a:xfrm>
            <a:off x="640080" y="2971800"/>
            <a:ext cx="3108960" cy="685800"/>
          </a:xfrm>
          <a:prstGeom prst="rect">
            <a:avLst/>
          </a:prstGeom>
          <a:noFill/>
          <a:ln/>
        </p:spPr>
        <p:txBody>
          <a:bodyPr wrap="square" lIns="0" tIns="0" rIns="0" bIns="0" rtlCol="0" anchor="ctr"/>
          <a:lstStyle/>
          <a:p>
            <a:pPr algn="ctr" indent="0" marL="0">
              <a:buNone/>
            </a:pPr>
            <a:r>
              <a:rPr lang="en-US" sz="1400" b="1" dirty="0">
                <a:solidFill>
                  <a:schemeClr val="accent1"/>
                </a:solidFill>
              </a:rPr>
              <a:t>Хорооны штаб (4)</a:t>
            </a:r>
            <a:endParaRPr lang="en-US" sz="1400" dirty="0"/>
          </a:p>
          <a:p>
            <a:pPr algn="ctr" indent="0" marL="0">
              <a:buNone/>
            </a:pPr>
            <a:r>
              <a:rPr lang="en-US" sz="1200" dirty="0">
                <a:solidFill>
                  <a:schemeClr val="tx1"/>
                </a:solidFill>
              </a:rPr>
              <a:t>Бие бүрэлдэхүүн · Ажиллагаа · Ар тал · Хүмүүжил</a:t>
            </a:r>
            <a:endParaRPr lang="en-US" sz="1400" dirty="0"/>
          </a:p>
        </p:txBody>
      </p:sp>
      <p:sp>
        <p:nvSpPr>
          <p:cNvPr id="15" name="Councils"/>
          <p:cNvSpPr/>
          <p:nvPr/>
        </p:nvSpPr>
        <p:spPr>
          <a:xfrm>
            <a:off x="8351215" y="2971800"/>
            <a:ext cx="3291840" cy="685800"/>
          </a:xfrm>
          <a:prstGeom prst="roundRect">
            <a:avLst>
              <a:gd name="adj" fmla="val 8000"/>
            </a:avLst>
          </a:prstGeom>
          <a:solidFill>
            <a:srgbClr val="E3F1E8"/>
          </a:solidFill>
          <a:ln w="12700">
            <a:solidFill>
              <a:srgbClr val="2E7D4F"/>
            </a:solidFill>
            <a:prstDash val="solid"/>
          </a:ln>
        </p:spPr>
      </p:sp>
      <p:sp>
        <p:nvSpPr>
          <p:cNvPr id="16" name="Text 13"/>
          <p:cNvSpPr txBox="1"/>
          <p:nvPr/>
        </p:nvSpPr>
        <p:spPr>
          <a:xfrm>
            <a:off x="8442655" y="2971800"/>
            <a:ext cx="3108960" cy="685800"/>
          </a:xfrm>
          <a:prstGeom prst="rect">
            <a:avLst/>
          </a:prstGeom>
          <a:noFill/>
          <a:ln/>
        </p:spPr>
        <p:txBody>
          <a:bodyPr wrap="square" lIns="0" tIns="0" rIns="0" bIns="0" rtlCol="0" anchor="ctr"/>
          <a:lstStyle/>
          <a:p>
            <a:pPr algn="ctr" indent="0" marL="0">
              <a:buNone/>
            </a:pPr>
            <a:r>
              <a:rPr lang="en-US" sz="1400" b="1" dirty="0">
                <a:solidFill>
                  <a:schemeClr val="accent1"/>
                </a:solidFill>
              </a:rPr>
              <a:t>Сонсогчийн 5 зөвлөл</a:t>
            </a:r>
            <a:endParaRPr lang="en-US" sz="1400" dirty="0"/>
          </a:p>
          <a:p>
            <a:pPr algn="ctr" indent="0" marL="0">
              <a:buNone/>
            </a:pPr>
            <a:r>
              <a:rPr lang="en-US" sz="1200" dirty="0">
                <a:solidFill>
                  <a:schemeClr val="tx1"/>
                </a:solidFill>
              </a:rPr>
              <a:t>Ёс зүй · Цэргийн алба · Сургалт · Спорт, соёл · Мэдээлэл</a:t>
            </a:r>
            <a:endParaRPr lang="en-US" sz="1400" dirty="0"/>
          </a:p>
        </p:txBody>
      </p:sp>
      <p:sp>
        <p:nvSpPr>
          <p:cNvPr id="17" name="Connector"/>
          <p:cNvSpPr/>
          <p:nvPr/>
        </p:nvSpPr>
        <p:spPr>
          <a:xfrm>
            <a:off x="3840480" y="3314700"/>
            <a:ext cx="197968" cy="0"/>
          </a:xfrm>
          <a:prstGeom prst="line">
            <a:avLst/>
          </a:prstGeom>
          <a:noFill/>
          <a:ln w="15875">
            <a:solidFill>
              <a:srgbClr val="5B6B85"/>
            </a:solidFill>
            <a:prstDash val="solid"/>
          </a:ln>
        </p:spPr>
      </p:sp>
      <p:sp>
        <p:nvSpPr>
          <p:cNvPr id="18" name="Connector"/>
          <p:cNvSpPr/>
          <p:nvPr/>
        </p:nvSpPr>
        <p:spPr>
          <a:xfrm>
            <a:off x="8153248" y="3314700"/>
            <a:ext cx="197968" cy="0"/>
          </a:xfrm>
          <a:prstGeom prst="line">
            <a:avLst/>
          </a:prstGeom>
          <a:noFill/>
          <a:ln w="15875">
            <a:solidFill>
              <a:srgbClr val="5B6B85"/>
            </a:solidFill>
            <a:prstDash val="solid"/>
          </a:ln>
        </p:spPr>
      </p:sp>
      <p:sp>
        <p:nvSpPr>
          <p:cNvPr id="19" name="Connector"/>
          <p:cNvSpPr/>
          <p:nvPr/>
        </p:nvSpPr>
        <p:spPr>
          <a:xfrm>
            <a:off x="6095848" y="3657600"/>
            <a:ext cx="0" cy="182880"/>
          </a:xfrm>
          <a:prstGeom prst="line">
            <a:avLst/>
          </a:prstGeom>
          <a:noFill/>
          <a:ln w="15875">
            <a:solidFill>
              <a:srgbClr val="5B6B85"/>
            </a:solidFill>
            <a:prstDash val="solid"/>
          </a:ln>
        </p:spPr>
      </p:sp>
      <p:sp>
        <p:nvSpPr>
          <p:cNvPr id="20" name="Connector"/>
          <p:cNvSpPr/>
          <p:nvPr/>
        </p:nvSpPr>
        <p:spPr>
          <a:xfrm>
            <a:off x="2438248" y="3840480"/>
            <a:ext cx="7315200" cy="0"/>
          </a:xfrm>
          <a:prstGeom prst="line">
            <a:avLst/>
          </a:prstGeom>
          <a:noFill/>
          <a:ln w="15875">
            <a:solidFill>
              <a:srgbClr val="5B6B85"/>
            </a:solidFill>
            <a:prstDash val="solid"/>
          </a:ln>
        </p:spPr>
      </p:sp>
      <p:sp>
        <p:nvSpPr>
          <p:cNvPr id="21" name="Connector"/>
          <p:cNvSpPr/>
          <p:nvPr/>
        </p:nvSpPr>
        <p:spPr>
          <a:xfrm>
            <a:off x="2438248" y="3840480"/>
            <a:ext cx="0" cy="137160"/>
          </a:xfrm>
          <a:prstGeom prst="line">
            <a:avLst/>
          </a:prstGeom>
          <a:noFill/>
          <a:ln w="15875">
            <a:solidFill>
              <a:srgbClr val="5B6B85"/>
            </a:solidFill>
            <a:prstDash val="solid"/>
          </a:ln>
        </p:spPr>
      </p:sp>
      <p:sp>
        <p:nvSpPr>
          <p:cNvPr id="22" name="Battalion 1"/>
          <p:cNvSpPr/>
          <p:nvPr/>
        </p:nvSpPr>
        <p:spPr>
          <a:xfrm>
            <a:off x="792328" y="3977640"/>
            <a:ext cx="3291840" cy="640080"/>
          </a:xfrm>
          <a:prstGeom prst="roundRect">
            <a:avLst>
              <a:gd name="adj" fmla="val 8571"/>
            </a:avLst>
          </a:prstGeom>
          <a:solidFill>
            <a:srgbClr val="F7EFD6"/>
          </a:solidFill>
          <a:ln w="12700">
            <a:solidFill>
              <a:srgbClr val="C9A227"/>
            </a:solidFill>
            <a:prstDash val="solid"/>
          </a:ln>
        </p:spPr>
      </p:sp>
      <p:sp>
        <p:nvSpPr>
          <p:cNvPr id="23" name="Text 20"/>
          <p:cNvSpPr txBox="1"/>
          <p:nvPr/>
        </p:nvSpPr>
        <p:spPr>
          <a:xfrm>
            <a:off x="883768" y="3977640"/>
            <a:ext cx="3108960" cy="640080"/>
          </a:xfrm>
          <a:prstGeom prst="rect">
            <a:avLst/>
          </a:prstGeom>
          <a:noFill/>
          <a:ln/>
        </p:spPr>
        <p:txBody>
          <a:bodyPr wrap="square" lIns="0" tIns="0" rIns="0" bIns="0" rtlCol="0" anchor="ctr"/>
          <a:lstStyle/>
          <a:p>
            <a:pPr algn="ctr" indent="0" marL="0">
              <a:buNone/>
            </a:pPr>
            <a:r>
              <a:rPr lang="en-US" sz="1400" b="1" dirty="0">
                <a:solidFill>
                  <a:schemeClr val="accent1"/>
                </a:solidFill>
              </a:rPr>
              <a:t>1-р батальон</a:t>
            </a:r>
            <a:endParaRPr lang="en-US" sz="1400" dirty="0"/>
          </a:p>
          <a:p>
            <a:pPr algn="ctr" indent="0" marL="0">
              <a:buNone/>
            </a:pPr>
            <a:r>
              <a:rPr lang="en-US" sz="1200" dirty="0">
                <a:solidFill>
                  <a:schemeClr val="tx1"/>
                </a:solidFill>
              </a:rPr>
              <a:t>1–4-р рот · ≈400 сонсогч</a:t>
            </a:r>
            <a:endParaRPr lang="en-US" sz="1400" dirty="0"/>
          </a:p>
        </p:txBody>
      </p:sp>
      <p:sp>
        <p:nvSpPr>
          <p:cNvPr id="24" name="Connector"/>
          <p:cNvSpPr/>
          <p:nvPr/>
        </p:nvSpPr>
        <p:spPr>
          <a:xfrm>
            <a:off x="6095848" y="3840480"/>
            <a:ext cx="0" cy="137160"/>
          </a:xfrm>
          <a:prstGeom prst="line">
            <a:avLst/>
          </a:prstGeom>
          <a:noFill/>
          <a:ln w="15875">
            <a:solidFill>
              <a:srgbClr val="5B6B85"/>
            </a:solidFill>
            <a:prstDash val="solid"/>
          </a:ln>
        </p:spPr>
      </p:sp>
      <p:sp>
        <p:nvSpPr>
          <p:cNvPr id="25" name="Battalion 2"/>
          <p:cNvSpPr/>
          <p:nvPr/>
        </p:nvSpPr>
        <p:spPr>
          <a:xfrm>
            <a:off x="4449928" y="3977640"/>
            <a:ext cx="3291840" cy="640080"/>
          </a:xfrm>
          <a:prstGeom prst="roundRect">
            <a:avLst>
              <a:gd name="adj" fmla="val 8571"/>
            </a:avLst>
          </a:prstGeom>
          <a:solidFill>
            <a:srgbClr val="F7EFD6"/>
          </a:solidFill>
          <a:ln w="12700">
            <a:solidFill>
              <a:srgbClr val="C9A227"/>
            </a:solidFill>
            <a:prstDash val="solid"/>
          </a:ln>
        </p:spPr>
      </p:sp>
      <p:sp>
        <p:nvSpPr>
          <p:cNvPr id="26" name="Text 23"/>
          <p:cNvSpPr txBox="1"/>
          <p:nvPr/>
        </p:nvSpPr>
        <p:spPr>
          <a:xfrm>
            <a:off x="4541368" y="3977640"/>
            <a:ext cx="3108960" cy="640080"/>
          </a:xfrm>
          <a:prstGeom prst="rect">
            <a:avLst/>
          </a:prstGeom>
          <a:noFill/>
          <a:ln/>
        </p:spPr>
        <p:txBody>
          <a:bodyPr wrap="square" lIns="0" tIns="0" rIns="0" bIns="0" rtlCol="0" anchor="ctr"/>
          <a:lstStyle/>
          <a:p>
            <a:pPr algn="ctr" indent="0" marL="0">
              <a:buNone/>
            </a:pPr>
            <a:r>
              <a:rPr lang="en-US" sz="1400" b="1" dirty="0">
                <a:solidFill>
                  <a:schemeClr val="accent1"/>
                </a:solidFill>
              </a:rPr>
              <a:t>2-р батальон</a:t>
            </a:r>
            <a:endParaRPr lang="en-US" sz="1400" dirty="0"/>
          </a:p>
          <a:p>
            <a:pPr algn="ctr" indent="0" marL="0">
              <a:buNone/>
            </a:pPr>
            <a:r>
              <a:rPr lang="en-US" sz="1200" dirty="0">
                <a:solidFill>
                  <a:schemeClr val="tx1"/>
                </a:solidFill>
              </a:rPr>
              <a:t>5–8-р рот · ≈400 сонсогч</a:t>
            </a:r>
            <a:endParaRPr lang="en-US" sz="1400" dirty="0"/>
          </a:p>
        </p:txBody>
      </p:sp>
      <p:sp>
        <p:nvSpPr>
          <p:cNvPr id="27" name="Connector"/>
          <p:cNvSpPr/>
          <p:nvPr/>
        </p:nvSpPr>
        <p:spPr>
          <a:xfrm>
            <a:off x="9753448" y="3840480"/>
            <a:ext cx="0" cy="137160"/>
          </a:xfrm>
          <a:prstGeom prst="line">
            <a:avLst/>
          </a:prstGeom>
          <a:noFill/>
          <a:ln w="15875">
            <a:solidFill>
              <a:srgbClr val="5B6B85"/>
            </a:solidFill>
            <a:prstDash val="solid"/>
          </a:ln>
        </p:spPr>
      </p:sp>
      <p:sp>
        <p:nvSpPr>
          <p:cNvPr id="28" name="Battalion 3"/>
          <p:cNvSpPr/>
          <p:nvPr/>
        </p:nvSpPr>
        <p:spPr>
          <a:xfrm>
            <a:off x="8107528" y="3977640"/>
            <a:ext cx="3291840" cy="640080"/>
          </a:xfrm>
          <a:prstGeom prst="roundRect">
            <a:avLst>
              <a:gd name="adj" fmla="val 8571"/>
            </a:avLst>
          </a:prstGeom>
          <a:solidFill>
            <a:srgbClr val="F7EFD6"/>
          </a:solidFill>
          <a:ln w="12700">
            <a:solidFill>
              <a:srgbClr val="C9A227"/>
            </a:solidFill>
            <a:prstDash val="solid"/>
          </a:ln>
        </p:spPr>
      </p:sp>
      <p:sp>
        <p:nvSpPr>
          <p:cNvPr id="29" name="Text 26"/>
          <p:cNvSpPr txBox="1"/>
          <p:nvPr/>
        </p:nvSpPr>
        <p:spPr>
          <a:xfrm>
            <a:off x="8198968" y="3977640"/>
            <a:ext cx="3108960" cy="640080"/>
          </a:xfrm>
          <a:prstGeom prst="rect">
            <a:avLst/>
          </a:prstGeom>
          <a:noFill/>
          <a:ln/>
        </p:spPr>
        <p:txBody>
          <a:bodyPr wrap="square" lIns="0" tIns="0" rIns="0" bIns="0" rtlCol="0" anchor="ctr"/>
          <a:lstStyle/>
          <a:p>
            <a:pPr algn="ctr" indent="0" marL="0">
              <a:buNone/>
            </a:pPr>
            <a:r>
              <a:rPr lang="en-US" sz="1400" b="1" dirty="0">
                <a:solidFill>
                  <a:schemeClr val="accent1"/>
                </a:solidFill>
              </a:rPr>
              <a:t>3-р батальон</a:t>
            </a:r>
            <a:endParaRPr lang="en-US" sz="1400" dirty="0"/>
          </a:p>
          <a:p>
            <a:pPr algn="ctr" indent="0" marL="0">
              <a:buNone/>
            </a:pPr>
            <a:r>
              <a:rPr lang="en-US" sz="1200" dirty="0">
                <a:solidFill>
                  <a:schemeClr val="tx1"/>
                </a:solidFill>
              </a:rPr>
              <a:t>9–12-р рот · ≈400 сонсогч</a:t>
            </a:r>
            <a:endParaRPr lang="en-US" sz="1400" dirty="0"/>
          </a:p>
        </p:txBody>
      </p:sp>
      <p:sp>
        <p:nvSpPr>
          <p:cNvPr id="30" name="Text 27"/>
          <p:cNvSpPr txBox="1"/>
          <p:nvPr/>
        </p:nvSpPr>
        <p:spPr>
          <a:xfrm>
            <a:off x="792328" y="4709160"/>
            <a:ext cx="5486400" cy="274320"/>
          </a:xfrm>
          <a:prstGeom prst="rect">
            <a:avLst/>
          </a:prstGeom>
          <a:noFill/>
          <a:ln/>
        </p:spPr>
        <p:txBody>
          <a:bodyPr wrap="square" lIns="0" tIns="0" rIns="0" bIns="0" rtlCol="0" anchor="ctr"/>
          <a:lstStyle/>
          <a:p>
            <a:pPr indent="0" marL="0">
              <a:buNone/>
            </a:pPr>
            <a:r>
              <a:rPr lang="en-US" sz="1200" i="1" dirty="0">
                <a:solidFill>
                  <a:schemeClr val="accent4"/>
                </a:solidFill>
              </a:rPr>
              <a:t>Батальон бүрийн доторх нэгж (хаалтанд — курс)</a:t>
            </a:r>
            <a:endParaRPr lang="en-US" sz="1200" dirty="0"/>
          </a:p>
        </p:txBody>
      </p:sp>
      <p:sp>
        <p:nvSpPr>
          <p:cNvPr id="31" name="Unit 1"/>
          <p:cNvSpPr/>
          <p:nvPr/>
        </p:nvSpPr>
        <p:spPr>
          <a:xfrm>
            <a:off x="792328" y="5029200"/>
            <a:ext cx="3291840" cy="731520"/>
          </a:xfrm>
          <a:prstGeom prst="roundRect">
            <a:avLst>
              <a:gd name="adj" fmla="val 7500"/>
            </a:avLst>
          </a:prstGeom>
          <a:solidFill>
            <a:srgbClr val="F7EFD6"/>
          </a:solidFill>
          <a:ln w="12700">
            <a:solidFill>
              <a:srgbClr val="C9A227"/>
            </a:solidFill>
            <a:prstDash val="solid"/>
          </a:ln>
        </p:spPr>
      </p:sp>
      <p:sp>
        <p:nvSpPr>
          <p:cNvPr id="32" name="Text 29"/>
          <p:cNvSpPr txBox="1"/>
          <p:nvPr/>
        </p:nvSpPr>
        <p:spPr>
          <a:xfrm>
            <a:off x="883768" y="5029200"/>
            <a:ext cx="3108960" cy="731520"/>
          </a:xfrm>
          <a:prstGeom prst="rect">
            <a:avLst/>
          </a:prstGeom>
          <a:noFill/>
          <a:ln/>
        </p:spPr>
        <p:txBody>
          <a:bodyPr wrap="square" lIns="0" tIns="0" rIns="0" bIns="0" rtlCol="0" anchor="ctr"/>
          <a:lstStyle/>
          <a:p>
            <a:pPr algn="ctr" indent="0" marL="0">
              <a:buNone/>
            </a:pPr>
            <a:r>
              <a:rPr lang="en-US" sz="1400" b="1" dirty="0">
                <a:solidFill>
                  <a:schemeClr val="accent1"/>
                </a:solidFill>
              </a:rPr>
              <a:t>Рот ≈100 сонсогч</a:t>
            </a:r>
            <a:endParaRPr lang="en-US" sz="1400" dirty="0"/>
          </a:p>
          <a:p>
            <a:pPr algn="ctr" indent="0" marL="0">
              <a:buNone/>
            </a:pPr>
            <a:r>
              <a:rPr lang="en-US" sz="1200" dirty="0">
                <a:solidFill>
                  <a:schemeClr val="tx1"/>
                </a:solidFill>
              </a:rPr>
              <a:t>Ротын дарга (4) · Орлогч (4) · Ахлах түрүүч (3)</a:t>
            </a:r>
            <a:endParaRPr lang="en-US" sz="1400" dirty="0"/>
          </a:p>
        </p:txBody>
      </p:sp>
      <p:sp>
        <p:nvSpPr>
          <p:cNvPr id="33" name="Arrow"/>
          <p:cNvSpPr/>
          <p:nvPr/>
        </p:nvSpPr>
        <p:spPr>
          <a:xfrm>
            <a:off x="4129888" y="5394960"/>
            <a:ext cx="274320" cy="0"/>
          </a:xfrm>
          <a:prstGeom prst="line">
            <a:avLst/>
          </a:prstGeom>
          <a:noFill/>
          <a:ln w="19050">
            <a:solidFill>
              <a:srgbClr val="5B6B85"/>
            </a:solidFill>
            <a:prstDash val="solid"/>
            <a:tailEnd type="triangle"/>
          </a:ln>
        </p:spPr>
      </p:sp>
      <p:sp>
        <p:nvSpPr>
          <p:cNvPr id="34" name="Unit 2"/>
          <p:cNvSpPr/>
          <p:nvPr/>
        </p:nvSpPr>
        <p:spPr>
          <a:xfrm>
            <a:off x="4449928" y="5029200"/>
            <a:ext cx="3291840" cy="731520"/>
          </a:xfrm>
          <a:prstGeom prst="roundRect">
            <a:avLst>
              <a:gd name="adj" fmla="val 7500"/>
            </a:avLst>
          </a:prstGeom>
          <a:solidFill>
            <a:srgbClr val="F7EFD6"/>
          </a:solidFill>
          <a:ln w="12700">
            <a:solidFill>
              <a:srgbClr val="C9A227"/>
            </a:solidFill>
            <a:prstDash val="solid"/>
          </a:ln>
        </p:spPr>
      </p:sp>
      <p:sp>
        <p:nvSpPr>
          <p:cNvPr id="35" name="Text 32"/>
          <p:cNvSpPr txBox="1"/>
          <p:nvPr/>
        </p:nvSpPr>
        <p:spPr>
          <a:xfrm>
            <a:off x="4541368" y="5029200"/>
            <a:ext cx="3108960" cy="731520"/>
          </a:xfrm>
          <a:prstGeom prst="rect">
            <a:avLst/>
          </a:prstGeom>
          <a:noFill/>
          <a:ln/>
        </p:spPr>
        <p:txBody>
          <a:bodyPr wrap="square" lIns="0" tIns="0" rIns="0" bIns="0" rtlCol="0" anchor="ctr"/>
          <a:lstStyle/>
          <a:p>
            <a:pPr algn="ctr" indent="0" marL="0">
              <a:buNone/>
            </a:pPr>
            <a:r>
              <a:rPr lang="en-US" sz="1400" b="1" dirty="0">
                <a:solidFill>
                  <a:schemeClr val="accent1"/>
                </a:solidFill>
              </a:rPr>
              <a:t>Салаа ≈25 · ротод 4</a:t>
            </a:r>
            <a:endParaRPr lang="en-US" sz="1400" dirty="0"/>
          </a:p>
          <a:p>
            <a:pPr algn="ctr" indent="0" marL="0">
              <a:buNone/>
            </a:pPr>
            <a:r>
              <a:rPr lang="en-US" sz="1200" dirty="0">
                <a:solidFill>
                  <a:schemeClr val="tx1"/>
                </a:solidFill>
              </a:rPr>
              <a:t>Салааны дарга (4) · Салааны ахлагч (3)</a:t>
            </a:r>
            <a:endParaRPr lang="en-US" sz="1400" dirty="0"/>
          </a:p>
        </p:txBody>
      </p:sp>
      <p:sp>
        <p:nvSpPr>
          <p:cNvPr id="36" name="Arrow"/>
          <p:cNvSpPr/>
          <p:nvPr/>
        </p:nvSpPr>
        <p:spPr>
          <a:xfrm>
            <a:off x="7787488" y="5394960"/>
            <a:ext cx="274320" cy="0"/>
          </a:xfrm>
          <a:prstGeom prst="line">
            <a:avLst/>
          </a:prstGeom>
          <a:noFill/>
          <a:ln w="19050">
            <a:solidFill>
              <a:srgbClr val="5B6B85"/>
            </a:solidFill>
            <a:prstDash val="solid"/>
            <a:tailEnd type="triangle"/>
          </a:ln>
        </p:spPr>
      </p:sp>
      <p:sp>
        <p:nvSpPr>
          <p:cNvPr id="37" name="Unit 3"/>
          <p:cNvSpPr/>
          <p:nvPr/>
        </p:nvSpPr>
        <p:spPr>
          <a:xfrm>
            <a:off x="8107528" y="5029200"/>
            <a:ext cx="3291840" cy="731520"/>
          </a:xfrm>
          <a:prstGeom prst="roundRect">
            <a:avLst>
              <a:gd name="adj" fmla="val 7500"/>
            </a:avLst>
          </a:prstGeom>
          <a:solidFill>
            <a:srgbClr val="F7EFD6"/>
          </a:solidFill>
          <a:ln w="12700">
            <a:solidFill>
              <a:srgbClr val="C9A227"/>
            </a:solidFill>
            <a:prstDash val="solid"/>
          </a:ln>
        </p:spPr>
      </p:sp>
      <p:sp>
        <p:nvSpPr>
          <p:cNvPr id="38" name="Text 35"/>
          <p:cNvSpPr txBox="1"/>
          <p:nvPr/>
        </p:nvSpPr>
        <p:spPr>
          <a:xfrm>
            <a:off x="8198968" y="5029200"/>
            <a:ext cx="3108960" cy="731520"/>
          </a:xfrm>
          <a:prstGeom prst="rect">
            <a:avLst/>
          </a:prstGeom>
          <a:noFill/>
          <a:ln/>
        </p:spPr>
        <p:txBody>
          <a:bodyPr wrap="square" lIns="0" tIns="0" rIns="0" bIns="0" rtlCol="0" anchor="ctr"/>
          <a:lstStyle/>
          <a:p>
            <a:pPr algn="ctr" indent="0" marL="0">
              <a:buNone/>
            </a:pPr>
            <a:r>
              <a:rPr lang="en-US" sz="1400" b="1" dirty="0">
                <a:solidFill>
                  <a:schemeClr val="accent1"/>
                </a:solidFill>
              </a:rPr>
              <a:t>Тасаг 6–8 · салаанд 3</a:t>
            </a:r>
            <a:endParaRPr lang="en-US" sz="1400" dirty="0"/>
          </a:p>
          <a:p>
            <a:pPr algn="ctr" indent="0" marL="0">
              <a:buNone/>
            </a:pPr>
            <a:r>
              <a:rPr lang="en-US" sz="1200" dirty="0">
                <a:solidFill>
                  <a:schemeClr val="tx1"/>
                </a:solidFill>
              </a:rPr>
              <a:t>Тасгийн дарга (3) · Багийн ахлагч (2) ×2</a:t>
            </a:r>
            <a:endParaRPr lang="en-US" sz="1400" dirty="0"/>
          </a:p>
        </p:txBody>
      </p:sp>
      <p:sp>
        <p:nvSpPr>
          <p:cNvPr id="39" name="Legend 1"/>
          <p:cNvSpPr/>
          <p:nvPr/>
        </p:nvSpPr>
        <p:spPr>
          <a:xfrm>
            <a:off x="792328" y="5943600"/>
            <a:ext cx="228600" cy="228600"/>
          </a:xfrm>
          <a:prstGeom prst="rect">
            <a:avLst/>
          </a:prstGeom>
          <a:solidFill>
            <a:schemeClr val="accent1"/>
          </a:solidFill>
          <a:ln w="12700">
            <a:solidFill>
              <a:srgbClr val="14284B"/>
            </a:solidFill>
            <a:prstDash val="solid"/>
          </a:ln>
        </p:spPr>
      </p:sp>
      <p:sp>
        <p:nvSpPr>
          <p:cNvPr id="40" name="Text 37"/>
          <p:cNvSpPr txBox="1"/>
          <p:nvPr/>
        </p:nvSpPr>
        <p:spPr>
          <a:xfrm>
            <a:off x="1112368" y="5925312"/>
            <a:ext cx="2926080" cy="274320"/>
          </a:xfrm>
          <a:prstGeom prst="rect">
            <a:avLst/>
          </a:prstGeom>
          <a:noFill/>
          <a:ln/>
        </p:spPr>
        <p:txBody>
          <a:bodyPr wrap="square" lIns="0" tIns="0" rIns="0" bIns="0" rtlCol="0" anchor="ctr"/>
          <a:lstStyle/>
          <a:p>
            <a:pPr indent="0" marL="0">
              <a:buNone/>
            </a:pPr>
            <a:r>
              <a:rPr lang="en-US" sz="1200" dirty="0">
                <a:solidFill>
                  <a:schemeClr val="tx1"/>
                </a:solidFill>
              </a:rPr>
              <a:t>Офицер (байнгын бие бүрэлдэхүүн)</a:t>
            </a:r>
            <a:endParaRPr lang="en-US" sz="1200" dirty="0"/>
          </a:p>
        </p:txBody>
      </p:sp>
      <p:sp>
        <p:nvSpPr>
          <p:cNvPr id="41" name="Legend 2"/>
          <p:cNvSpPr/>
          <p:nvPr/>
        </p:nvSpPr>
        <p:spPr>
          <a:xfrm>
            <a:off x="4221328" y="5943600"/>
            <a:ext cx="228600" cy="228600"/>
          </a:xfrm>
          <a:prstGeom prst="rect">
            <a:avLst/>
          </a:prstGeom>
          <a:solidFill>
            <a:srgbClr val="F7EFD6"/>
          </a:solidFill>
          <a:ln w="12700">
            <a:solidFill>
              <a:srgbClr val="C9A227"/>
            </a:solidFill>
            <a:prstDash val="solid"/>
          </a:ln>
        </p:spPr>
      </p:sp>
      <p:sp>
        <p:nvSpPr>
          <p:cNvPr id="42" name="Text 39"/>
          <p:cNvSpPr txBox="1"/>
          <p:nvPr/>
        </p:nvSpPr>
        <p:spPr>
          <a:xfrm>
            <a:off x="4541368" y="5925312"/>
            <a:ext cx="2926080" cy="274320"/>
          </a:xfrm>
          <a:prstGeom prst="rect">
            <a:avLst/>
          </a:prstGeom>
          <a:noFill/>
          <a:ln/>
        </p:spPr>
        <p:txBody>
          <a:bodyPr wrap="square" lIns="0" tIns="0" rIns="0" bIns="0" rtlCol="0" anchor="ctr"/>
          <a:lstStyle/>
          <a:p>
            <a:pPr indent="0" marL="0">
              <a:buNone/>
            </a:pPr>
            <a:r>
              <a:rPr lang="en-US" sz="1200" dirty="0">
                <a:solidFill>
                  <a:schemeClr val="tx1"/>
                </a:solidFill>
              </a:rPr>
              <a:t>Сонсогч удирдагч</a:t>
            </a:r>
            <a:endParaRPr lang="en-US" sz="1200" dirty="0"/>
          </a:p>
        </p:txBody>
      </p:sp>
      <p:sp>
        <p:nvSpPr>
          <p:cNvPr id="43" name="Legend 3"/>
          <p:cNvSpPr/>
          <p:nvPr/>
        </p:nvSpPr>
        <p:spPr>
          <a:xfrm>
            <a:off x="7650328" y="5943600"/>
            <a:ext cx="228600" cy="228600"/>
          </a:xfrm>
          <a:prstGeom prst="rect">
            <a:avLst/>
          </a:prstGeom>
          <a:solidFill>
            <a:srgbClr val="E3F1E8"/>
          </a:solidFill>
          <a:ln w="12700">
            <a:solidFill>
              <a:srgbClr val="2E7D4F"/>
            </a:solidFill>
            <a:prstDash val="solid"/>
          </a:ln>
        </p:spPr>
      </p:sp>
      <p:sp>
        <p:nvSpPr>
          <p:cNvPr id="44" name="Text 41"/>
          <p:cNvSpPr txBox="1"/>
          <p:nvPr/>
        </p:nvSpPr>
        <p:spPr>
          <a:xfrm>
            <a:off x="7970368" y="5925312"/>
            <a:ext cx="2926080" cy="274320"/>
          </a:xfrm>
          <a:prstGeom prst="rect">
            <a:avLst/>
          </a:prstGeom>
          <a:noFill/>
          <a:ln/>
        </p:spPr>
        <p:txBody>
          <a:bodyPr wrap="square" lIns="0" tIns="0" rIns="0" bIns="0" rtlCol="0" anchor="ctr"/>
          <a:lstStyle/>
          <a:p>
            <a:pPr indent="0" marL="0">
              <a:buNone/>
            </a:pPr>
            <a:r>
              <a:rPr lang="en-US" sz="1200" dirty="0">
                <a:solidFill>
                  <a:schemeClr val="tx1"/>
                </a:solidFill>
              </a:rPr>
              <a:t>Өөрөө удирдах зөвлөл</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292608"/>
          </a:xfrm>
          <a:prstGeom prst="rect">
            <a:avLst/>
          </a:prstGeom>
          <a:noFill/>
          <a:ln/>
        </p:spPr>
        <p:txBody>
          <a:bodyPr wrap="square" lIns="0" tIns="0" rIns="0" bIns="0" rtlCol="0"/>
          <a:lstStyle/>
          <a:p>
            <a:pPr indent="0" marL="0">
              <a:buNone/>
            </a:pPr>
            <a:r>
              <a:rPr lang="en-US" sz="1200" b="1" spc="200" kern="0" dirty="0">
                <a:solidFill>
                  <a:schemeClr val="accent2"/>
                </a:solidFill>
              </a:rPr>
              <a:t>МАНЛАЙЛЛЫН ХӨГЖЛИЙН ШАТ</a:t>
            </a:r>
            <a:endParaRPr lang="en-US" sz="1200" dirty="0"/>
          </a:p>
        </p:txBody>
      </p:sp>
      <p:sp>
        <p:nvSpPr>
          <p:cNvPr id="3" name="Text 0"/>
          <p:cNvSpPr/>
          <p:nvPr>
            <p:ph idx="101" type="title" hasCustomPrompt="1"/>
          </p:nvPr>
        </p:nvSpPr>
        <p:spPr>
          <a:xfrm>
            <a:off x="548640" y="621792"/>
            <a:ext cx="11094415" cy="731520"/>
          </a:xfrm>
          <a:prstGeom prst="rect">
            <a:avLst/>
          </a:prstGeom>
          <a:noFill/>
          <a:ln/>
        </p:spPr>
        <p:txBody>
          <a:bodyPr wrap="square" lIns="0" tIns="0" rIns="0" bIns="0" rtlCol="0" anchor="t"/>
          <a:lstStyle/>
          <a:p>
            <a:pPr algn="l" indent="0" marL="0">
              <a:buNone/>
            </a:pPr>
            <a:r>
              <a:rPr lang="en-US" sz="3000" b="1" dirty="0">
                <a:solidFill>
                  <a:schemeClr val="accent1"/>
                </a:solidFill>
              </a:rPr>
              <a:t>Курс ахих тусам хариуцлага шат дараатай нэмэгдэнэ</a:t>
            </a:r>
            <a:endParaRPr lang="en-US" sz="3000" dirty="0"/>
          </a:p>
        </p:txBody>
      </p:sp>
      <p:sp>
        <p:nvSpPr>
          <p:cNvPr id="5" name="Text 2"/>
          <p:cNvSpPr txBox="1"/>
          <p:nvPr/>
        </p:nvSpPr>
        <p:spPr>
          <a:xfrm>
            <a:off x="548640" y="1600200"/>
            <a:ext cx="7863840" cy="365760"/>
          </a:xfrm>
          <a:prstGeom prst="rect">
            <a:avLst/>
          </a:prstGeom>
          <a:noFill/>
          <a:ln/>
        </p:spPr>
        <p:txBody>
          <a:bodyPr wrap="square" lIns="0" tIns="0" rIns="0" bIns="0" rtlCol="0" anchor="ctr"/>
          <a:lstStyle/>
          <a:p>
            <a:pPr indent="0" marL="0">
              <a:buNone/>
            </a:pPr>
            <a:r>
              <a:rPr lang="en-US" sz="1800" i="1" dirty="0">
                <a:solidFill>
                  <a:schemeClr val="accent4"/>
                </a:solidFill>
              </a:rPr>
              <a:t>Өөрийгөө удирдах  →  бусдыг удирдах  →  байгууллагыг удирдах</a:t>
            </a:r>
            <a:endParaRPr lang="en-US" sz="1800" dirty="0"/>
          </a:p>
        </p:txBody>
      </p:sp>
      <p:sp>
        <p:nvSpPr>
          <p:cNvPr id="6" name="Step 1"/>
          <p:cNvSpPr/>
          <p:nvPr/>
        </p:nvSpPr>
        <p:spPr>
          <a:xfrm>
            <a:off x="548640" y="4023360"/>
            <a:ext cx="1874520" cy="2011680"/>
          </a:xfrm>
          <a:prstGeom prst="rect">
            <a:avLst/>
          </a:prstGeom>
          <a:solidFill>
            <a:srgbClr val="E4E9F1"/>
          </a:solidFill>
          <a:ln w="12700">
            <a:solidFill>
              <a:srgbClr val="E4E9F1"/>
            </a:solidFill>
            <a:prstDash val="solid"/>
          </a:ln>
        </p:spPr>
      </p:sp>
      <p:sp>
        <p:nvSpPr>
          <p:cNvPr id="7" name="Text 4"/>
          <p:cNvSpPr txBox="1"/>
          <p:nvPr/>
        </p:nvSpPr>
        <p:spPr>
          <a:xfrm>
            <a:off x="685800" y="4160520"/>
            <a:ext cx="1600200" cy="1737360"/>
          </a:xfrm>
          <a:prstGeom prst="rect">
            <a:avLst/>
          </a:prstGeom>
          <a:noFill/>
          <a:ln/>
        </p:spPr>
        <p:txBody>
          <a:bodyPr wrap="square" lIns="0" tIns="0" rIns="0" bIns="0" rtlCol="0" anchor="t"/>
          <a:lstStyle/>
          <a:p>
            <a:pPr indent="0" marL="0">
              <a:spcAft>
                <a:spcPts val="400"/>
              </a:spcAft>
              <a:buNone/>
            </a:pPr>
            <a:r>
              <a:rPr lang="en-US" sz="1300" b="1" dirty="0">
                <a:solidFill>
                  <a:schemeClr val="accent2"/>
                </a:solidFill>
              </a:rPr>
              <a:t>1-р курс</a:t>
            </a:r>
            <a:endParaRPr lang="en-US" sz="1300" dirty="0"/>
          </a:p>
          <a:p>
            <a:pPr indent="0" marL="0">
              <a:spcAft>
                <a:spcPts val="400"/>
              </a:spcAft>
              <a:buNone/>
            </a:pPr>
            <a:r>
              <a:rPr lang="en-US" sz="2000" b="1" dirty="0">
                <a:solidFill>
                  <a:schemeClr val="accent1"/>
                </a:solidFill>
              </a:rPr>
              <a:t>Дагагч</a:t>
            </a:r>
            <a:endParaRPr lang="en-US" sz="1300" dirty="0"/>
          </a:p>
          <a:p>
            <a:pPr indent="0" marL="0">
              <a:spcAft>
                <a:spcPts val="400"/>
              </a:spcAft>
              <a:buNone/>
            </a:pPr>
            <a:r>
              <a:rPr lang="en-US" sz="1400" dirty="0">
                <a:solidFill>
                  <a:schemeClr val="tx1"/>
                </a:solidFill>
              </a:rPr>
              <a:t>Дүрэм, жишиг эзэмших, цаг баримтлах, тушаал гүйцэтгэх</a:t>
            </a:r>
            <a:endParaRPr lang="en-US" sz="1300" dirty="0"/>
          </a:p>
        </p:txBody>
      </p:sp>
      <p:sp>
        <p:nvSpPr>
          <p:cNvPr id="8" name="Step 2"/>
          <p:cNvSpPr/>
          <p:nvPr/>
        </p:nvSpPr>
        <p:spPr>
          <a:xfrm>
            <a:off x="2560320" y="3566160"/>
            <a:ext cx="1874520" cy="2468880"/>
          </a:xfrm>
          <a:prstGeom prst="rect">
            <a:avLst/>
          </a:prstGeom>
          <a:solidFill>
            <a:srgbClr val="C9D3E3"/>
          </a:solidFill>
          <a:ln w="12700">
            <a:solidFill>
              <a:srgbClr val="C9D3E3"/>
            </a:solidFill>
            <a:prstDash val="solid"/>
          </a:ln>
        </p:spPr>
      </p:sp>
      <p:sp>
        <p:nvSpPr>
          <p:cNvPr id="9" name="Text 6"/>
          <p:cNvSpPr txBox="1"/>
          <p:nvPr/>
        </p:nvSpPr>
        <p:spPr>
          <a:xfrm>
            <a:off x="2697480" y="3703320"/>
            <a:ext cx="1600200" cy="2194560"/>
          </a:xfrm>
          <a:prstGeom prst="rect">
            <a:avLst/>
          </a:prstGeom>
          <a:noFill/>
          <a:ln/>
        </p:spPr>
        <p:txBody>
          <a:bodyPr wrap="square" lIns="0" tIns="0" rIns="0" bIns="0" rtlCol="0" anchor="t"/>
          <a:lstStyle/>
          <a:p>
            <a:pPr indent="0" marL="0">
              <a:spcAft>
                <a:spcPts val="400"/>
              </a:spcAft>
              <a:buNone/>
            </a:pPr>
            <a:r>
              <a:rPr lang="en-US" sz="1300" b="1" dirty="0">
                <a:solidFill>
                  <a:schemeClr val="accent2"/>
                </a:solidFill>
              </a:rPr>
              <a:t>2-р курс</a:t>
            </a:r>
            <a:endParaRPr lang="en-US" sz="1300" dirty="0"/>
          </a:p>
          <a:p>
            <a:pPr indent="0" marL="0">
              <a:spcAft>
                <a:spcPts val="400"/>
              </a:spcAft>
              <a:buNone/>
            </a:pPr>
            <a:r>
              <a:rPr lang="en-US" sz="2000" b="1" dirty="0">
                <a:solidFill>
                  <a:schemeClr val="accent1"/>
                </a:solidFill>
              </a:rPr>
              <a:t>Багийн ахлагч</a:t>
            </a:r>
            <a:endParaRPr lang="en-US" sz="1300" dirty="0"/>
          </a:p>
          <a:p>
            <a:pPr indent="0" marL="0">
              <a:spcAft>
                <a:spcPts val="400"/>
              </a:spcAft>
              <a:buNone/>
            </a:pPr>
            <a:r>
              <a:rPr lang="en-US" sz="1400" dirty="0">
                <a:solidFill>
                  <a:schemeClr val="tx1"/>
                </a:solidFill>
              </a:rPr>
              <a:t>1-р курсийн 2–3 сонсогчийг дагалдан сургах (ментор)</a:t>
            </a:r>
            <a:endParaRPr lang="en-US" sz="1300" dirty="0"/>
          </a:p>
        </p:txBody>
      </p:sp>
      <p:sp>
        <p:nvSpPr>
          <p:cNvPr id="10" name="Step 3"/>
          <p:cNvSpPr/>
          <p:nvPr/>
        </p:nvSpPr>
        <p:spPr>
          <a:xfrm>
            <a:off x="4572000" y="3108960"/>
            <a:ext cx="1874520" cy="2926080"/>
          </a:xfrm>
          <a:prstGeom prst="rect">
            <a:avLst/>
          </a:prstGeom>
          <a:solidFill>
            <a:schemeClr val="accent4"/>
          </a:solidFill>
          <a:ln w="12700">
            <a:solidFill>
              <a:schemeClr val="accent4"/>
            </a:solidFill>
            <a:prstDash val="solid"/>
          </a:ln>
        </p:spPr>
      </p:sp>
      <p:sp>
        <p:nvSpPr>
          <p:cNvPr id="11" name="Text 8"/>
          <p:cNvSpPr txBox="1"/>
          <p:nvPr/>
        </p:nvSpPr>
        <p:spPr>
          <a:xfrm>
            <a:off x="4709160" y="3246120"/>
            <a:ext cx="1600200" cy="2651760"/>
          </a:xfrm>
          <a:prstGeom prst="rect">
            <a:avLst/>
          </a:prstGeom>
          <a:noFill/>
          <a:ln/>
        </p:spPr>
        <p:txBody>
          <a:bodyPr wrap="square" lIns="0" tIns="0" rIns="0" bIns="0" rtlCol="0" anchor="t"/>
          <a:lstStyle/>
          <a:p>
            <a:pPr indent="0" marL="0">
              <a:spcAft>
                <a:spcPts val="400"/>
              </a:spcAft>
              <a:buNone/>
            </a:pPr>
            <a:r>
              <a:rPr lang="en-US" sz="1300" b="1" dirty="0">
                <a:solidFill>
                  <a:schemeClr val="accent3"/>
                </a:solidFill>
              </a:rPr>
              <a:t>3-р курс</a:t>
            </a:r>
            <a:endParaRPr lang="en-US" sz="1300" dirty="0"/>
          </a:p>
          <a:p>
            <a:pPr indent="0" marL="0">
              <a:spcAft>
                <a:spcPts val="400"/>
              </a:spcAft>
              <a:buNone/>
            </a:pPr>
            <a:r>
              <a:rPr lang="en-US" sz="2000" b="1" dirty="0">
                <a:solidFill>
                  <a:schemeClr val="bg1"/>
                </a:solidFill>
              </a:rPr>
              <a:t>Түрүүч</a:t>
            </a:r>
            <a:endParaRPr lang="en-US" sz="1300" dirty="0"/>
          </a:p>
          <a:p>
            <a:pPr indent="0" marL="0">
              <a:spcAft>
                <a:spcPts val="400"/>
              </a:spcAft>
              <a:buNone/>
            </a:pPr>
            <a:r>
              <a:rPr lang="en-US" sz="1400" dirty="0">
                <a:solidFill>
                  <a:schemeClr val="bg1"/>
                </a:solidFill>
              </a:rPr>
              <a:t>Тасгийн дарга, салааны ахлагч, ротын ахлах түрүүч, ротын жижүүр</a:t>
            </a:r>
            <a:endParaRPr lang="en-US" sz="1300" dirty="0"/>
          </a:p>
        </p:txBody>
      </p:sp>
      <p:sp>
        <p:nvSpPr>
          <p:cNvPr id="12" name="Step 4"/>
          <p:cNvSpPr/>
          <p:nvPr/>
        </p:nvSpPr>
        <p:spPr>
          <a:xfrm>
            <a:off x="6583680" y="2651760"/>
            <a:ext cx="1874520" cy="3383280"/>
          </a:xfrm>
          <a:prstGeom prst="rect">
            <a:avLst/>
          </a:prstGeom>
          <a:solidFill>
            <a:schemeClr val="accent1"/>
          </a:solidFill>
          <a:ln w="12700">
            <a:solidFill>
              <a:schemeClr val="accent1"/>
            </a:solidFill>
            <a:prstDash val="solid"/>
          </a:ln>
        </p:spPr>
      </p:sp>
      <p:sp>
        <p:nvSpPr>
          <p:cNvPr id="13" name="Text 10"/>
          <p:cNvSpPr txBox="1"/>
          <p:nvPr/>
        </p:nvSpPr>
        <p:spPr>
          <a:xfrm>
            <a:off x="6720840" y="2788920"/>
            <a:ext cx="1600200" cy="3108960"/>
          </a:xfrm>
          <a:prstGeom prst="rect">
            <a:avLst/>
          </a:prstGeom>
          <a:noFill/>
          <a:ln/>
        </p:spPr>
        <p:txBody>
          <a:bodyPr wrap="square" lIns="0" tIns="0" rIns="0" bIns="0" rtlCol="0" anchor="t"/>
          <a:lstStyle/>
          <a:p>
            <a:pPr indent="0" marL="0">
              <a:spcAft>
                <a:spcPts val="400"/>
              </a:spcAft>
              <a:buNone/>
            </a:pPr>
            <a:r>
              <a:rPr lang="en-US" sz="1300" b="1" dirty="0">
                <a:solidFill>
                  <a:schemeClr val="accent3"/>
                </a:solidFill>
              </a:rPr>
              <a:t>4-р курс</a:t>
            </a:r>
            <a:endParaRPr lang="en-US" sz="1300" dirty="0"/>
          </a:p>
          <a:p>
            <a:pPr indent="0" marL="0">
              <a:spcAft>
                <a:spcPts val="400"/>
              </a:spcAft>
              <a:buNone/>
            </a:pPr>
            <a:r>
              <a:rPr lang="en-US" sz="2000" b="1" dirty="0">
                <a:solidFill>
                  <a:schemeClr val="bg1"/>
                </a:solidFill>
              </a:rPr>
              <a:t>Офицер</a:t>
            </a:r>
            <a:endParaRPr lang="en-US" sz="1300" dirty="0"/>
          </a:p>
          <a:p>
            <a:pPr indent="0" marL="0">
              <a:spcAft>
                <a:spcPts val="400"/>
              </a:spcAft>
              <a:buNone/>
            </a:pPr>
            <a:r>
              <a:rPr lang="en-US" sz="1400" dirty="0">
                <a:solidFill>
                  <a:schemeClr val="bg1"/>
                </a:solidFill>
              </a:rPr>
              <a:t>Салаа, рот, батальоны дарга, хорооны ахлах сонсогч, штаб, зөвлөлийн дарга</a:t>
            </a:r>
            <a:endParaRPr lang="en-US" sz="1300" dirty="0"/>
          </a:p>
        </p:txBody>
      </p:sp>
      <p:sp>
        <p:nvSpPr>
          <p:cNvPr id="14" name="Rotation panel"/>
          <p:cNvSpPr/>
          <p:nvPr/>
        </p:nvSpPr>
        <p:spPr>
          <a:xfrm>
            <a:off x="8915400" y="1600200"/>
            <a:ext cx="2727655" cy="4434840"/>
          </a:xfrm>
          <a:prstGeom prst="roundRect">
            <a:avLst>
              <a:gd name="adj" fmla="val 2682"/>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5" name="Text 12"/>
          <p:cNvSpPr txBox="1"/>
          <p:nvPr/>
        </p:nvSpPr>
        <p:spPr>
          <a:xfrm>
            <a:off x="9144000" y="1737360"/>
            <a:ext cx="2270455" cy="365760"/>
          </a:xfrm>
          <a:prstGeom prst="rect">
            <a:avLst/>
          </a:prstGeom>
          <a:noFill/>
          <a:ln/>
        </p:spPr>
        <p:txBody>
          <a:bodyPr wrap="square" lIns="0" tIns="0" rIns="0" bIns="0" rtlCol="0" anchor="ctr"/>
          <a:lstStyle/>
          <a:p>
            <a:pPr indent="0" marL="0">
              <a:buNone/>
            </a:pPr>
            <a:r>
              <a:rPr lang="en-US" sz="1600" b="1" dirty="0">
                <a:solidFill>
                  <a:schemeClr val="accent1"/>
                </a:solidFill>
              </a:rPr>
              <a:t>Семестр бүр сэлгэн томилно</a:t>
            </a:r>
            <a:endParaRPr lang="en-US" sz="1600" dirty="0"/>
          </a:p>
        </p:txBody>
      </p:sp>
      <p:sp>
        <p:nvSpPr>
          <p:cNvPr id="16" name="Text 13"/>
          <p:cNvSpPr txBox="1"/>
          <p:nvPr/>
        </p:nvSpPr>
        <p:spPr>
          <a:xfrm>
            <a:off x="9144000" y="2194560"/>
            <a:ext cx="2270455" cy="457200"/>
          </a:xfrm>
          <a:prstGeom prst="rect">
            <a:avLst/>
          </a:prstGeom>
          <a:noFill/>
          <a:ln/>
        </p:spPr>
        <p:txBody>
          <a:bodyPr wrap="square" lIns="0" tIns="0" rIns="0" bIns="0" rtlCol="0" anchor="ctr"/>
          <a:lstStyle/>
          <a:p>
            <a:pPr indent="0" marL="0">
              <a:buNone/>
            </a:pPr>
            <a:r>
              <a:rPr lang="en-US" sz="2800" b="1" dirty="0">
                <a:solidFill>
                  <a:schemeClr val="accent2"/>
                </a:solidFill>
                <a:latin typeface="Arial" pitchFamily="34" charset="0"/>
                <a:ea typeface="Arial" pitchFamily="34" charset="-122"/>
                <a:cs typeface="Arial" pitchFamily="34" charset="-120"/>
              </a:rPr>
              <a:t>≈62%</a:t>
            </a:r>
            <a:endParaRPr lang="en-US" sz="2800" dirty="0"/>
          </a:p>
        </p:txBody>
      </p:sp>
      <p:sp>
        <p:nvSpPr>
          <p:cNvPr id="17" name="Text 14"/>
          <p:cNvSpPr txBox="1"/>
          <p:nvPr/>
        </p:nvSpPr>
        <p:spPr>
          <a:xfrm>
            <a:off x="9144000" y="2651760"/>
            <a:ext cx="2270455" cy="502920"/>
          </a:xfrm>
          <a:prstGeom prst="rect">
            <a:avLst/>
          </a:prstGeom>
          <a:noFill/>
          <a:ln/>
        </p:spPr>
        <p:txBody>
          <a:bodyPr wrap="square" lIns="0" tIns="0" rIns="0" bIns="0" rtlCol="0" anchor="t"/>
          <a:lstStyle/>
          <a:p>
            <a:pPr indent="0" marL="0">
              <a:buNone/>
            </a:pPr>
            <a:r>
              <a:rPr lang="en-US" sz="1300" dirty="0">
                <a:solidFill>
                  <a:schemeClr val="tx1"/>
                </a:solidFill>
              </a:rPr>
              <a:t>4-р курс — офицерын албан тушаал (93 / семестр)</a:t>
            </a:r>
            <a:endParaRPr lang="en-US" sz="1300" dirty="0"/>
          </a:p>
        </p:txBody>
      </p:sp>
      <p:sp>
        <p:nvSpPr>
          <p:cNvPr id="18" name="Text 15"/>
          <p:cNvSpPr txBox="1"/>
          <p:nvPr/>
        </p:nvSpPr>
        <p:spPr>
          <a:xfrm>
            <a:off x="9144000" y="3218688"/>
            <a:ext cx="2270455" cy="457200"/>
          </a:xfrm>
          <a:prstGeom prst="rect">
            <a:avLst/>
          </a:prstGeom>
          <a:noFill/>
          <a:ln/>
        </p:spPr>
        <p:txBody>
          <a:bodyPr wrap="square" lIns="0" tIns="0" rIns="0" bIns="0" rtlCol="0" anchor="ctr"/>
          <a:lstStyle/>
          <a:p>
            <a:pPr indent="0" marL="0">
              <a:buNone/>
            </a:pPr>
            <a:r>
              <a:rPr lang="en-US" sz="2800" b="1" dirty="0">
                <a:solidFill>
                  <a:schemeClr val="accent2"/>
                </a:solidFill>
                <a:latin typeface="Arial" pitchFamily="34" charset="0"/>
                <a:ea typeface="Arial" pitchFamily="34" charset="-122"/>
                <a:cs typeface="Arial" pitchFamily="34" charset="-120"/>
              </a:rPr>
              <a:t>≈100%</a:t>
            </a:r>
            <a:endParaRPr lang="en-US" sz="2800" dirty="0"/>
          </a:p>
        </p:txBody>
      </p:sp>
      <p:sp>
        <p:nvSpPr>
          <p:cNvPr id="19" name="Text 16"/>
          <p:cNvSpPr txBox="1"/>
          <p:nvPr/>
        </p:nvSpPr>
        <p:spPr>
          <a:xfrm>
            <a:off x="9144000" y="3675888"/>
            <a:ext cx="2270455" cy="502920"/>
          </a:xfrm>
          <a:prstGeom prst="rect">
            <a:avLst/>
          </a:prstGeom>
          <a:noFill/>
          <a:ln/>
        </p:spPr>
        <p:txBody>
          <a:bodyPr wrap="square" lIns="0" tIns="0" rIns="0" bIns="0" rtlCol="0" anchor="t"/>
          <a:lstStyle/>
          <a:p>
            <a:pPr indent="0" marL="0">
              <a:buNone/>
            </a:pPr>
            <a:r>
              <a:rPr lang="en-US" sz="1300" dirty="0">
                <a:solidFill>
                  <a:schemeClr val="tx1"/>
                </a:solidFill>
              </a:rPr>
              <a:t>3-р курс — түрүүчийн албан тушаал (212 / семестр)</a:t>
            </a:r>
            <a:endParaRPr lang="en-US" sz="1300" dirty="0"/>
          </a:p>
        </p:txBody>
      </p:sp>
      <p:sp>
        <p:nvSpPr>
          <p:cNvPr id="20" name="Text 17"/>
          <p:cNvSpPr txBox="1"/>
          <p:nvPr/>
        </p:nvSpPr>
        <p:spPr>
          <a:xfrm>
            <a:off x="9144000" y="4242816"/>
            <a:ext cx="2270455" cy="457200"/>
          </a:xfrm>
          <a:prstGeom prst="rect">
            <a:avLst/>
          </a:prstGeom>
          <a:noFill/>
          <a:ln/>
        </p:spPr>
        <p:txBody>
          <a:bodyPr wrap="square" lIns="0" tIns="0" rIns="0" bIns="0" rtlCol="0" anchor="ctr"/>
          <a:lstStyle/>
          <a:p>
            <a:pPr indent="0" marL="0">
              <a:buNone/>
            </a:pPr>
            <a:r>
              <a:rPr lang="en-US" sz="2800" b="1" dirty="0">
                <a:solidFill>
                  <a:schemeClr val="accent2"/>
                </a:solidFill>
                <a:latin typeface="Arial" pitchFamily="34" charset="0"/>
                <a:ea typeface="Arial" pitchFamily="34" charset="-122"/>
                <a:cs typeface="Arial" pitchFamily="34" charset="-120"/>
              </a:rPr>
              <a:t>≈100%</a:t>
            </a:r>
            <a:endParaRPr lang="en-US" sz="2800" dirty="0"/>
          </a:p>
        </p:txBody>
      </p:sp>
      <p:sp>
        <p:nvSpPr>
          <p:cNvPr id="21" name="Text 18"/>
          <p:cNvSpPr txBox="1"/>
          <p:nvPr/>
        </p:nvSpPr>
        <p:spPr>
          <a:xfrm>
            <a:off x="9144000" y="4700016"/>
            <a:ext cx="2270455" cy="502920"/>
          </a:xfrm>
          <a:prstGeom prst="rect">
            <a:avLst/>
          </a:prstGeom>
          <a:noFill/>
          <a:ln/>
        </p:spPr>
        <p:txBody>
          <a:bodyPr wrap="square" lIns="0" tIns="0" rIns="0" bIns="0" rtlCol="0" anchor="t"/>
          <a:lstStyle/>
          <a:p>
            <a:pPr indent="0" marL="0">
              <a:buNone/>
            </a:pPr>
            <a:r>
              <a:rPr lang="en-US" sz="1300" dirty="0">
                <a:solidFill>
                  <a:schemeClr val="tx1"/>
                </a:solidFill>
              </a:rPr>
              <a:t>2-р курс — багийн ахлагч (288 / семестр)</a:t>
            </a:r>
            <a:endParaRPr lang="en-US" sz="1300" dirty="0"/>
          </a:p>
        </p:txBody>
      </p:sp>
      <p:sp>
        <p:nvSpPr>
          <p:cNvPr id="22" name="Text 19"/>
          <p:cNvSpPr txBox="1"/>
          <p:nvPr/>
        </p:nvSpPr>
        <p:spPr>
          <a:xfrm>
            <a:off x="9144000" y="5257800"/>
            <a:ext cx="2270455" cy="685800"/>
          </a:xfrm>
          <a:prstGeom prst="rect">
            <a:avLst/>
          </a:prstGeom>
          <a:noFill/>
          <a:ln/>
        </p:spPr>
        <p:txBody>
          <a:bodyPr wrap="square" lIns="0" tIns="0" rIns="0" bIns="0" rtlCol="0" anchor="t"/>
          <a:lstStyle/>
          <a:p>
            <a:pPr indent="0" marL="0">
              <a:buNone/>
            </a:pPr>
            <a:r>
              <a:rPr lang="en-US" sz="1200" i="1" dirty="0">
                <a:solidFill>
                  <a:schemeClr val="accent4"/>
                </a:solidFill>
              </a:rPr>
              <a:t>Томилогдсон удирдагч ≈40 цагийн «Сонсогч удирдагчийн сургалт»-д заавал хамрагдана.</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292608"/>
          </a:xfrm>
          <a:prstGeom prst="rect">
            <a:avLst/>
          </a:prstGeom>
          <a:noFill/>
          <a:ln/>
        </p:spPr>
        <p:txBody>
          <a:bodyPr wrap="square" lIns="0" tIns="0" rIns="0" bIns="0" rtlCol="0"/>
          <a:lstStyle/>
          <a:p>
            <a:pPr indent="0" marL="0">
              <a:buNone/>
            </a:pPr>
            <a:r>
              <a:rPr lang="en-US" sz="1200" b="1" spc="200" kern="0" dirty="0">
                <a:solidFill>
                  <a:schemeClr val="accent2"/>
                </a:solidFill>
              </a:rPr>
              <a:t>ШАЛГАРУУЛАЛТ, ЭРХ ХЭМЖЭЭ</a:t>
            </a:r>
            <a:endParaRPr lang="en-US" sz="1200" dirty="0"/>
          </a:p>
        </p:txBody>
      </p:sp>
      <p:sp>
        <p:nvSpPr>
          <p:cNvPr id="3" name="Text 0"/>
          <p:cNvSpPr/>
          <p:nvPr>
            <p:ph idx="101" type="title" hasCustomPrompt="1"/>
          </p:nvPr>
        </p:nvSpPr>
        <p:spPr>
          <a:xfrm>
            <a:off x="548640" y="621792"/>
            <a:ext cx="11094415" cy="731520"/>
          </a:xfrm>
          <a:prstGeom prst="rect">
            <a:avLst/>
          </a:prstGeom>
          <a:noFill/>
          <a:ln/>
        </p:spPr>
        <p:txBody>
          <a:bodyPr wrap="square" lIns="0" tIns="0" rIns="0" bIns="0" rtlCol="0" anchor="t"/>
          <a:lstStyle/>
          <a:p>
            <a:pPr algn="l" indent="0" marL="0">
              <a:buNone/>
            </a:pPr>
            <a:r>
              <a:rPr lang="en-US" sz="3000" b="1" dirty="0">
                <a:solidFill>
                  <a:schemeClr val="accent1"/>
                </a:solidFill>
              </a:rPr>
              <a:t>Ил тод шалгаруулалт, тодорхой эрх хэмжээ</a:t>
            </a:r>
            <a:endParaRPr lang="en-US" sz="3000" dirty="0"/>
          </a:p>
        </p:txBody>
      </p:sp>
      <p:graphicFrame>
        <p:nvGraphicFramePr>
          <p:cNvPr id="5" name="Chart 0" descr=""/>
          <p:cNvGraphicFramePr/>
          <p:nvPr/>
        </p:nvGraphicFramePr>
        <p:xfrm>
          <a:off x="548640" y="1554480"/>
          <a:ext cx="5212080" cy="352044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212080"/>
            <a:ext cx="5212080" cy="914400"/>
          </a:xfrm>
          <a:prstGeom prst="rect">
            <a:avLst/>
          </a:prstGeom>
          <a:noFill/>
          <a:ln/>
        </p:spPr>
        <p:txBody>
          <a:bodyPr wrap="square" lIns="0" tIns="0" rIns="0" bIns="0" rtlCol="0" anchor="t"/>
          <a:lstStyle/>
          <a:p>
            <a:pPr indent="0" marL="0">
              <a:buNone/>
            </a:pPr>
            <a:r>
              <a:rPr lang="en-US" sz="1300" dirty="0">
                <a:solidFill>
                  <a:schemeClr val="tx1"/>
                </a:solidFill>
              </a:rPr>
              <a:t>Хорооны ба батальоны түвшний удирдагчийг Хорооны шалгаруулах зөвлөл, ротын болон түүнээс доош түвшнийхийг Ротын шалгаруулах зөвлөл сонгож, захирагчийн тушаалаар томилно.</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172200" y="1554480"/>
          <a:ext cx="5470855" cy="914400"/>
        </p:xfrm>
        <a:graphic>
          <a:graphicData uri="http://schemas.openxmlformats.org/drawingml/2006/table">
            <a:tbl>
              <a:tblPr/>
              <a:tblGrid>
                <a:gridCol w="2359152"/>
                <a:gridCol w="1051560"/>
                <a:gridCol w="1051560"/>
                <a:gridCol w="1005840"/>
              </a:tblGrid>
              <a:tr h="548640">
                <a:tc>
                  <a:txBody>
                    <a:bodyPr/>
                    <a:lstStyle/>
                    <a:p>
                      <a:pPr algn="l" indent="0" marL="0">
                        <a:buNone/>
                      </a:pPr>
                      <a:r>
                        <a:rPr lang="en-US" sz="1300" b="1" dirty="0">
                          <a:solidFill>
                            <a:schemeClr val="bg1"/>
                          </a:solidFill>
                        </a:rPr>
                        <a:t>Асуудал</a:t>
                      </a:r>
                      <a:endParaRPr lang="en-US" sz="1300" dirty="0"/>
                    </a:p>
                  </a:txBody>
                  <a:tcPr marL="73152" marR="54864"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rPr>
                        <a:t>Сонсогч удирдагч</a:t>
                      </a:r>
                      <a:endParaRPr lang="en-US" sz="1300" dirty="0"/>
                    </a:p>
                  </a:txBody>
                  <a:tcPr marL="73152" marR="54864"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rPr>
                        <a:t>Сургагч офицер</a:t>
                      </a:r>
                      <a:endParaRPr lang="en-US" sz="1300" dirty="0"/>
                    </a:p>
                  </a:txBody>
                  <a:tcPr marL="73152" marR="54864"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rPr>
                        <a:t>Хорооны захирагч</a:t>
                      </a:r>
                      <a:endParaRPr lang="en-US" sz="1300" dirty="0"/>
                    </a:p>
                  </a:txBody>
                  <a:tcPr marL="73152" marR="54864"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accent1"/>
                    </a:solidFill>
                  </a:tcPr>
                </a:tc>
              </a:tr>
              <a:tr h="457200">
                <a:tc>
                  <a:txBody>
                    <a:bodyPr/>
                    <a:lstStyle/>
                    <a:p>
                      <a:pPr indent="0" marL="0">
                        <a:buNone/>
                      </a:pPr>
                      <a:r>
                        <a:rPr lang="en-US" sz="1300" dirty="0">
                          <a:solidFill>
                            <a:schemeClr val="tx1"/>
                          </a:solidFill>
                        </a:rPr>
                        <a:t>Өдөр тутмын дэг журам, үзлэг</a:t>
                      </a:r>
                      <a:endParaRPr lang="en-US" sz="1300" dirty="0"/>
                    </a:p>
                  </a:txBody>
                  <a:tcPr marL="73152" marR="54864"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accent2"/>
                          </a:solidFill>
                        </a:rPr>
                        <a:t>Шийднэ</a:t>
                      </a:r>
                      <a:endParaRPr lang="en-US" sz="1300" dirty="0"/>
                    </a:p>
                  </a:txBody>
                  <a:tcPr marL="73152" marR="54864"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rPr>
                        <a:t>Мэдээлэл</a:t>
                      </a:r>
                      <a:endParaRPr lang="en-US" sz="1300" dirty="0"/>
                    </a:p>
                  </a:txBody>
                  <a:tcPr marL="73152" marR="54864"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rPr>
                        <a:t>—</a:t>
                      </a:r>
                      <a:endParaRPr lang="en-US" sz="1300" dirty="0"/>
                    </a:p>
                  </a:txBody>
                  <a:tcPr marL="73152" marR="54864"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2"/>
                    </a:solidFill>
                  </a:tcPr>
                </a:tc>
              </a:tr>
              <a:tr h="457200">
                <a:tc>
                  <a:txBody>
                    <a:bodyPr/>
                    <a:lstStyle/>
                    <a:p>
                      <a:pPr indent="0" marL="0">
                        <a:buNone/>
                      </a:pPr>
                      <a:r>
                        <a:rPr lang="en-US" sz="1300" dirty="0">
                          <a:solidFill>
                            <a:schemeClr val="tx1"/>
                          </a:solidFill>
                        </a:rPr>
                        <a:t>Жижүүр, үйлчилгээний хуваарь</a:t>
                      </a:r>
                      <a:endParaRPr lang="en-US" sz="1300" dirty="0"/>
                    </a:p>
                  </a:txBody>
                  <a:tcPr marL="73152" marR="54864"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2"/>
                          </a:solidFill>
                        </a:rPr>
                        <a:t>Шийднэ</a:t>
                      </a:r>
                      <a:endParaRPr lang="en-US" sz="1300" dirty="0"/>
                    </a:p>
                  </a:txBody>
                  <a:tcPr marL="73152" marR="54864"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Мэдээлэл</a:t>
                      </a:r>
                      <a:endParaRPr lang="en-US" sz="1300" dirty="0"/>
                    </a:p>
                  </a:txBody>
                  <a:tcPr marL="73152" marR="54864"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a:t>
                      </a:r>
                      <a:endParaRPr lang="en-US" sz="1300" dirty="0"/>
                    </a:p>
                  </a:txBody>
                  <a:tcPr marL="73152" marR="54864"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1"/>
                    </a:solidFill>
                  </a:tcPr>
                </a:tc>
              </a:tr>
              <a:tr h="457200">
                <a:tc>
                  <a:txBody>
                    <a:bodyPr/>
                    <a:lstStyle/>
                    <a:p>
                      <a:pPr indent="0" marL="0">
                        <a:buNone/>
                      </a:pPr>
                      <a:r>
                        <a:rPr lang="en-US" sz="1300" dirty="0">
                          <a:solidFill>
                            <a:schemeClr val="tx1"/>
                          </a:solidFill>
                        </a:rPr>
                        <a:t>Бага зөрчилд сахилгын оноо</a:t>
                      </a:r>
                      <a:endParaRPr lang="en-US" sz="1300" dirty="0"/>
                    </a:p>
                  </a:txBody>
                  <a:tcPr marL="73152" marR="54864"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accent2"/>
                          </a:solidFill>
                        </a:rPr>
                        <a:t>Шийднэ</a:t>
                      </a:r>
                      <a:endParaRPr lang="en-US" sz="1300" dirty="0"/>
                    </a:p>
                  </a:txBody>
                  <a:tcPr marL="73152" marR="54864"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rPr>
                        <a:t>Батална</a:t>
                      </a:r>
                      <a:endParaRPr lang="en-US" sz="1300" dirty="0"/>
                    </a:p>
                  </a:txBody>
                  <a:tcPr marL="73152" marR="54864"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rPr>
                        <a:t>—</a:t>
                      </a:r>
                      <a:endParaRPr lang="en-US" sz="1300" dirty="0"/>
                    </a:p>
                  </a:txBody>
                  <a:tcPr marL="73152" marR="54864"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2"/>
                    </a:solidFill>
                  </a:tcPr>
                </a:tc>
              </a:tr>
              <a:tr h="457200">
                <a:tc>
                  <a:txBody>
                    <a:bodyPr/>
                    <a:lstStyle/>
                    <a:p>
                      <a:pPr indent="0" marL="0">
                        <a:buNone/>
                      </a:pPr>
                      <a:r>
                        <a:rPr lang="en-US" sz="1300" dirty="0">
                          <a:solidFill>
                            <a:schemeClr val="tx1"/>
                          </a:solidFill>
                        </a:rPr>
                        <a:t>Амралтын өдрийн чөлөө</a:t>
                      </a:r>
                      <a:endParaRPr lang="en-US" sz="1300" dirty="0"/>
                    </a:p>
                  </a:txBody>
                  <a:tcPr marL="73152" marR="54864"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Санал</a:t>
                      </a:r>
                      <a:endParaRPr lang="en-US" sz="1300" dirty="0"/>
                    </a:p>
                  </a:txBody>
                  <a:tcPr marL="73152" marR="54864"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2"/>
                          </a:solidFill>
                        </a:rPr>
                        <a:t>Шийднэ</a:t>
                      </a:r>
                      <a:endParaRPr lang="en-US" sz="1300" dirty="0"/>
                    </a:p>
                  </a:txBody>
                  <a:tcPr marL="73152" marR="54864"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Мэдээлэл</a:t>
                      </a:r>
                      <a:endParaRPr lang="en-US" sz="1300" dirty="0"/>
                    </a:p>
                  </a:txBody>
                  <a:tcPr marL="73152" marR="54864"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1"/>
                    </a:solidFill>
                  </a:tcPr>
                </a:tc>
              </a:tr>
              <a:tr h="457200">
                <a:tc>
                  <a:txBody>
                    <a:bodyPr/>
                    <a:lstStyle/>
                    <a:p>
                      <a:pPr indent="0" marL="0">
                        <a:buNone/>
                      </a:pPr>
                      <a:r>
                        <a:rPr lang="en-US" sz="1300" dirty="0">
                          <a:solidFill>
                            <a:schemeClr val="tx1"/>
                          </a:solidFill>
                        </a:rPr>
                        <a:t>Ноцтой зөрчил, нэр төрийн хэрэг</a:t>
                      </a:r>
                      <a:endParaRPr lang="en-US" sz="1300" dirty="0"/>
                    </a:p>
                  </a:txBody>
                  <a:tcPr marL="73152" marR="54864"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rPr>
                        <a:t>Санал</a:t>
                      </a:r>
                      <a:endParaRPr lang="en-US" sz="1300" dirty="0"/>
                    </a:p>
                  </a:txBody>
                  <a:tcPr marL="73152" marR="54864"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rPr>
                        <a:t>Санал</a:t>
                      </a:r>
                      <a:endParaRPr lang="en-US" sz="1300" dirty="0"/>
                    </a:p>
                  </a:txBody>
                  <a:tcPr marL="73152" marR="54864"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accent2"/>
                          </a:solidFill>
                        </a:rPr>
                        <a:t>Шийднэ</a:t>
                      </a:r>
                      <a:endParaRPr lang="en-US" sz="1300" dirty="0"/>
                    </a:p>
                  </a:txBody>
                  <a:tcPr marL="73152" marR="54864"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2"/>
                    </a:solidFill>
                  </a:tcPr>
                </a:tc>
              </a:tr>
              <a:tr h="457200">
                <a:tc>
                  <a:txBody>
                    <a:bodyPr/>
                    <a:lstStyle/>
                    <a:p>
                      <a:pPr indent="0" marL="0">
                        <a:buNone/>
                      </a:pPr>
                      <a:r>
                        <a:rPr lang="en-US" sz="1300" dirty="0">
                          <a:solidFill>
                            <a:schemeClr val="tx1"/>
                          </a:solidFill>
                        </a:rPr>
                        <a:t>Удирдагчийг томилох, чөлөөлөх</a:t>
                      </a:r>
                      <a:endParaRPr lang="en-US" sz="1300" dirty="0"/>
                    </a:p>
                  </a:txBody>
                  <a:tcPr marL="73152" marR="54864"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Санал</a:t>
                      </a:r>
                      <a:endParaRPr lang="en-US" sz="1300" dirty="0"/>
                    </a:p>
                  </a:txBody>
                  <a:tcPr marL="73152" marR="54864"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Санал</a:t>
                      </a:r>
                      <a:endParaRPr lang="en-US" sz="1300" dirty="0"/>
                    </a:p>
                  </a:txBody>
                  <a:tcPr marL="73152" marR="54864"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2"/>
                          </a:solidFill>
                        </a:rPr>
                        <a:t>Шийднэ</a:t>
                      </a:r>
                      <a:endParaRPr lang="en-US" sz="1300" dirty="0"/>
                    </a:p>
                  </a:txBody>
                  <a:tcPr marL="73152" marR="54864" marT="0" marB="0"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chemeClr val="bg1"/>
                    </a:solidFill>
                  </a:tcPr>
                </a:tc>
              </a:tr>
            </a:tbl>
          </a:graphicData>
        </a:graphic>
      </p:graphicFrame>
      <p:sp>
        <p:nvSpPr>
          <p:cNvPr id="8" name="Prohibition"/>
          <p:cNvSpPr/>
          <p:nvPr/>
        </p:nvSpPr>
        <p:spPr>
          <a:xfrm>
            <a:off x="6172200" y="5074920"/>
            <a:ext cx="5470855" cy="1051560"/>
          </a:xfrm>
          <a:prstGeom prst="roundRect">
            <a:avLst>
              <a:gd name="adj" fmla="val 6957"/>
            </a:avLst>
          </a:prstGeom>
          <a:solidFill>
            <a:srgbClr val="FBE8EB"/>
          </a:solidFill>
          <a:ln w="12700">
            <a:solidFill>
              <a:srgbClr val="FBE8EB"/>
            </a:solidFill>
            <a:prstDash val="solid"/>
          </a:ln>
          <a:effectLst>
            <a:outerShdw sx="100000" sy="100000" kx="0" ky="0" algn="bl" rotWithShape="0" blurRad="76200" dist="25400" dir="5400000">
              <a:srgbClr val="000000">
                <a:alpha val="12000"/>
              </a:srgbClr>
            </a:outerShdw>
          </a:effectLst>
        </p:spPr>
      </p:sp>
      <p:sp>
        <p:nvSpPr>
          <p:cNvPr id="9" name="Prohibited circle"/>
          <p:cNvSpPr/>
          <p:nvPr/>
        </p:nvSpPr>
        <p:spPr>
          <a:xfrm>
            <a:off x="6355080" y="5303520"/>
            <a:ext cx="594360" cy="594360"/>
          </a:xfrm>
          <a:prstGeom prst="ellipse">
            <a:avLst/>
          </a:prstGeom>
          <a:solidFill>
            <a:schemeClr val="accent2"/>
          </a:solidFill>
          <a:ln w="12700">
            <a:solidFill>
              <a:schemeClr val="accent2"/>
            </a:solidFill>
            <a:prstDash val="solid"/>
          </a:ln>
        </p:spPr>
      </p:sp>
      <p:pic>
        <p:nvPicPr>
          <p:cNvPr id="10" name="Prohibited icon" descr="Prohibited">    </p:cNvPr>
          <p:cNvPicPr>
            <a:picLocks noChangeAspect="1"/>
          </p:cNvPicPr>
          <p:nvPr/>
        </p:nvPicPr>
        <p:blipFill>
          <a:blip r:embed="rId2"/>
          <a:stretch>
            <a:fillRect/>
          </a:stretch>
        </p:blipFill>
        <p:spPr>
          <a:xfrm>
            <a:off x="6497726" y="5446166"/>
            <a:ext cx="309067" cy="309067"/>
          </a:xfrm>
          <a:prstGeom prst="rect">
            <a:avLst/>
          </a:prstGeom>
        </p:spPr>
      </p:pic>
      <p:sp>
        <p:nvSpPr>
          <p:cNvPr id="11" name="Text 5"/>
          <p:cNvSpPr txBox="1"/>
          <p:nvPr/>
        </p:nvSpPr>
        <p:spPr>
          <a:xfrm>
            <a:off x="7132320" y="5074920"/>
            <a:ext cx="4327855" cy="1051560"/>
          </a:xfrm>
          <a:prstGeom prst="rect">
            <a:avLst/>
          </a:prstGeom>
          <a:noFill/>
          <a:ln/>
        </p:spPr>
        <p:txBody>
          <a:bodyPr wrap="square" lIns="0" tIns="0" rIns="0" bIns="0" rtlCol="0" anchor="ctr"/>
          <a:lstStyle/>
          <a:p>
            <a:pPr indent="0" marL="0">
              <a:buNone/>
            </a:pPr>
            <a:r>
              <a:rPr lang="en-US" sz="1400" b="1" dirty="0">
                <a:solidFill>
                  <a:schemeClr val="accent2"/>
                </a:solidFill>
              </a:rPr>
              <a:t>Хатуу хориглоно: </a:t>
            </a:r>
            <a:pPr indent="0" marL="0">
              <a:buNone/>
            </a:pPr>
            <a:r>
              <a:rPr lang="en-US" sz="1400" dirty="0">
                <a:solidFill>
                  <a:schemeClr val="tx1"/>
                </a:solidFill>
              </a:rPr>
              <a:t>сонсогч удирдагч бие махбодын шийтгэл, доромжлол, хувийн үйлчилгээ шаардах, хоолноос хасах үйлдэл хийх.</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292608"/>
          </a:xfrm>
          <a:prstGeom prst="rect">
            <a:avLst/>
          </a:prstGeom>
          <a:noFill/>
          <a:ln/>
        </p:spPr>
        <p:txBody>
          <a:bodyPr wrap="square" lIns="0" tIns="0" rIns="0" bIns="0" rtlCol="0"/>
          <a:lstStyle/>
          <a:p>
            <a:pPr indent="0" marL="0">
              <a:buNone/>
            </a:pPr>
            <a:r>
              <a:rPr lang="en-US" sz="1200" b="1" spc="200" kern="0" dirty="0">
                <a:solidFill>
                  <a:schemeClr val="accent2"/>
                </a:solidFill>
              </a:rPr>
              <a:t>НЭР ТӨР, ЭХ ОРОНЧ ХҮМҮҮЖИЛ</a:t>
            </a:r>
            <a:endParaRPr lang="en-US" sz="1200" dirty="0"/>
          </a:p>
        </p:txBody>
      </p:sp>
      <p:sp>
        <p:nvSpPr>
          <p:cNvPr id="3" name="Text 0"/>
          <p:cNvSpPr/>
          <p:nvPr>
            <p:ph idx="101" type="title" hasCustomPrompt="1"/>
          </p:nvPr>
        </p:nvSpPr>
        <p:spPr>
          <a:xfrm>
            <a:off x="548640" y="621792"/>
            <a:ext cx="11094415" cy="731520"/>
          </a:xfrm>
          <a:prstGeom prst="rect">
            <a:avLst/>
          </a:prstGeom>
          <a:noFill/>
          <a:ln/>
        </p:spPr>
        <p:txBody>
          <a:bodyPr wrap="square" lIns="0" tIns="0" rIns="0" bIns="0" rtlCol="0" anchor="t"/>
          <a:lstStyle/>
          <a:p>
            <a:pPr algn="l" indent="0" marL="0">
              <a:buNone/>
            </a:pPr>
            <a:r>
              <a:rPr lang="en-US" sz="3000" b="1" dirty="0">
                <a:solidFill>
                  <a:schemeClr val="accent1"/>
                </a:solidFill>
              </a:rPr>
              <a:t>Нэр төр, уламжлалаар хүмүүжүүлнэ</a:t>
            </a:r>
            <a:endParaRPr lang="en-US" sz="3000" dirty="0"/>
          </a:p>
        </p:txBody>
      </p:sp>
      <p:sp>
        <p:nvSpPr>
          <p:cNvPr id="5" name="Honor code card"/>
          <p:cNvSpPr/>
          <p:nvPr/>
        </p:nvSpPr>
        <p:spPr>
          <a:xfrm>
            <a:off x="548640" y="1554480"/>
            <a:ext cx="5120640" cy="4572000"/>
          </a:xfrm>
          <a:prstGeom prst="roundRect">
            <a:avLst>
              <a:gd name="adj" fmla="val 1600"/>
            </a:avLst>
          </a:prstGeom>
          <a:solidFill>
            <a:schemeClr val="accent1"/>
          </a:solidFill>
          <a:ln w="12700">
            <a:solidFill>
              <a:schemeClr val="accent1"/>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868680" y="1737360"/>
            <a:ext cx="4480560" cy="320040"/>
          </a:xfrm>
          <a:prstGeom prst="rect">
            <a:avLst/>
          </a:prstGeom>
          <a:noFill/>
          <a:ln/>
        </p:spPr>
        <p:txBody>
          <a:bodyPr wrap="square" lIns="0" tIns="0" rIns="0" bIns="0" rtlCol="0" anchor="ctr"/>
          <a:lstStyle/>
          <a:p>
            <a:pPr indent="0" marL="0">
              <a:buNone/>
            </a:pPr>
            <a:r>
              <a:rPr lang="en-US" sz="1300" b="1" spc="100" kern="0" dirty="0">
                <a:solidFill>
                  <a:schemeClr val="accent3"/>
                </a:solidFill>
              </a:rPr>
              <a:t>СОНСОГЧИЙН НЭР ТӨРИЙН ДҮРЭМ (ТӨСӨЛ)</a:t>
            </a:r>
            <a:endParaRPr lang="en-US" sz="1300" dirty="0"/>
          </a:p>
        </p:txBody>
      </p:sp>
      <p:sp>
        <p:nvSpPr>
          <p:cNvPr id="7" name="Text 4"/>
          <p:cNvSpPr txBox="1"/>
          <p:nvPr/>
        </p:nvSpPr>
        <p:spPr>
          <a:xfrm>
            <a:off x="868680" y="2148840"/>
            <a:ext cx="4480560" cy="1234440"/>
          </a:xfrm>
          <a:prstGeom prst="rect">
            <a:avLst/>
          </a:prstGeom>
          <a:noFill/>
          <a:ln/>
        </p:spPr>
        <p:txBody>
          <a:bodyPr wrap="square" lIns="0" tIns="0" rIns="0" bIns="0" rtlCol="0" anchor="t"/>
          <a:lstStyle/>
          <a:p>
            <a:pPr indent="0" marL="0">
              <a:buNone/>
            </a:pPr>
            <a:r>
              <a:rPr lang="en-US" sz="1900" i="1" dirty="0">
                <a:solidFill>
                  <a:schemeClr val="bg1"/>
                </a:solidFill>
                <a:latin typeface="Arial" pitchFamily="34" charset="0"/>
                <a:ea typeface="Arial" pitchFamily="34" charset="-122"/>
                <a:cs typeface="Arial" pitchFamily="34" charset="-120"/>
              </a:rPr>
              <a:t>«ҮБХИС-ийн сонсогч худал хэлэхгүй, хулгай хийхгүй, хууран мэхлэхгүй, эдгээрийг үйлдэгчийг тэвчихгүй.»</a:t>
            </a:r>
            <a:endParaRPr lang="en-US" sz="1900" dirty="0"/>
          </a:p>
        </p:txBody>
      </p:sp>
      <p:sp>
        <p:nvSpPr>
          <p:cNvPr id="8" name="Text 5"/>
          <p:cNvSpPr txBox="1"/>
          <p:nvPr/>
        </p:nvSpPr>
        <p:spPr>
          <a:xfrm>
            <a:off x="868680" y="3566160"/>
            <a:ext cx="4480560" cy="237744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chemeClr val="bg1"/>
                </a:solidFill>
              </a:rPr>
              <a:t>Сахилгын онооны цахим бүртгэл: бага зөрчил — сонсогч удирдагч, дунд — сургагч офицер, ноцтой — захирагч</a:t>
            </a:r>
            <a:endParaRPr lang="en-US" sz="1500" dirty="0"/>
          </a:p>
          <a:p>
            <a:pPr marL="342900" indent="-342900">
              <a:spcAft>
                <a:spcPts val="1200"/>
              </a:spcAft>
              <a:buSzPct val="100000"/>
              <a:buChar char="•"/>
            </a:pPr>
            <a:r>
              <a:rPr lang="en-US" sz="1500" dirty="0">
                <a:solidFill>
                  <a:schemeClr val="bg1"/>
                </a:solidFill>
              </a:rPr>
              <a:t>Нууц гомдлын суваг (сэтгэл зүйч, хуулийн зөвлөх, цахим хайрцаг), сар бүр нэргүй санал асуулга</a:t>
            </a:r>
            <a:endParaRPr lang="en-US" sz="1500" dirty="0"/>
          </a:p>
          <a:p>
            <a:pPr marL="342900" indent="-342900">
              <a:spcAft>
                <a:spcPts val="1200"/>
              </a:spcAft>
              <a:buSzPct val="100000"/>
              <a:buChar char="•"/>
            </a:pPr>
            <a:r>
              <a:rPr lang="en-US" sz="1500" dirty="0">
                <a:solidFill>
                  <a:schemeClr val="bg1"/>
                </a:solidFill>
              </a:rPr>
              <a:t>Сонсогч бүр давж заалдах эрхтэй</a:t>
            </a:r>
            <a:endParaRPr lang="en-US" sz="1500" dirty="0"/>
          </a:p>
        </p:txBody>
      </p:sp>
      <p:sp>
        <p:nvSpPr>
          <p:cNvPr id="9" name="Text 6"/>
          <p:cNvSpPr txBox="1"/>
          <p:nvPr/>
        </p:nvSpPr>
        <p:spPr>
          <a:xfrm>
            <a:off x="6035040" y="1554480"/>
            <a:ext cx="5608015" cy="365760"/>
          </a:xfrm>
          <a:prstGeom prst="rect">
            <a:avLst/>
          </a:prstGeom>
          <a:noFill/>
          <a:ln/>
        </p:spPr>
        <p:txBody>
          <a:bodyPr wrap="square" lIns="0" tIns="0" rIns="0" bIns="0" rtlCol="0" anchor="ctr"/>
          <a:lstStyle/>
          <a:p>
            <a:pPr indent="0" marL="0">
              <a:buNone/>
            </a:pPr>
            <a:r>
              <a:rPr lang="en-US" sz="1600" b="1" dirty="0">
                <a:solidFill>
                  <a:schemeClr val="accent1"/>
                </a:solidFill>
              </a:rPr>
              <a:t>Нэрэмжит 12 рот — ҮБХИС-иас төрсөн баатрууд</a:t>
            </a:r>
            <a:endParaRPr lang="en-US" sz="1600" dirty="0"/>
          </a:p>
        </p:txBody>
      </p:sp>
      <p:sp>
        <p:nvSpPr>
          <p:cNvPr id="10" name="Text 7"/>
          <p:cNvSpPr txBox="1"/>
          <p:nvPr/>
        </p:nvSpPr>
        <p:spPr>
          <a:xfrm>
            <a:off x="6035040" y="2057400"/>
            <a:ext cx="457200" cy="914400"/>
          </a:xfrm>
          <a:prstGeom prst="rect">
            <a:avLst/>
          </a:prstGeom>
          <a:noFill/>
          <a:ln/>
        </p:spPr>
        <p:txBody>
          <a:bodyPr wrap="square" lIns="0" tIns="0" rIns="0" bIns="0" rtlCol="0" anchor="ctr"/>
          <a:lstStyle/>
          <a:p>
            <a:pPr algn="ctr" indent="0" marL="0">
              <a:buNone/>
            </a:pPr>
            <a:r>
              <a:rPr lang="en-US" sz="1800" b="1" dirty="0">
                <a:solidFill>
                  <a:schemeClr val="accent3"/>
                </a:solidFill>
                <a:latin typeface="Arial" pitchFamily="34" charset="0"/>
                <a:ea typeface="Arial" pitchFamily="34" charset="-122"/>
                <a:cs typeface="Arial" pitchFamily="34" charset="-120"/>
              </a:rPr>
              <a:t>I</a:t>
            </a:r>
            <a:endParaRPr lang="en-US" sz="1800" dirty="0"/>
          </a:p>
        </p:txBody>
      </p:sp>
      <p:sp>
        <p:nvSpPr>
          <p:cNvPr id="11" name="Company 1"/>
          <p:cNvSpPr/>
          <p:nvPr/>
        </p:nvSpPr>
        <p:spPr>
          <a:xfrm>
            <a:off x="6583680" y="2057400"/>
            <a:ext cx="1196264" cy="914400"/>
          </a:xfrm>
          <a:prstGeom prst="roundRect">
            <a:avLst>
              <a:gd name="adj" fmla="val 8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2" name="Text 9"/>
          <p:cNvSpPr txBox="1"/>
          <p:nvPr/>
        </p:nvSpPr>
        <p:spPr>
          <a:xfrm>
            <a:off x="6629400" y="2057400"/>
            <a:ext cx="1104824" cy="914400"/>
          </a:xfrm>
          <a:prstGeom prst="rect">
            <a:avLst/>
          </a:prstGeom>
          <a:noFill/>
          <a:ln/>
        </p:spPr>
        <p:txBody>
          <a:bodyPr wrap="square" lIns="0" tIns="0" rIns="0" bIns="0" rtlCol="0" anchor="ctr"/>
          <a:lstStyle/>
          <a:p>
            <a:pPr algn="ctr" indent="0" marL="0">
              <a:buNone/>
            </a:pPr>
            <a:r>
              <a:rPr lang="en-US" sz="1300" b="1" dirty="0">
                <a:solidFill>
                  <a:schemeClr val="accent2"/>
                </a:solidFill>
              </a:rPr>
              <a:t>1-р рот</a:t>
            </a:r>
            <a:endParaRPr lang="en-US" sz="1300" dirty="0"/>
          </a:p>
          <a:p>
            <a:pPr algn="ctr" indent="0" marL="0">
              <a:buNone/>
            </a:pPr>
            <a:r>
              <a:rPr lang="en-US" sz="1100" b="1" dirty="0">
                <a:solidFill>
                  <a:schemeClr val="accent1"/>
                </a:solidFill>
              </a:rPr>
              <a:t>Ц.Олзвой</a:t>
            </a:r>
            <a:endParaRPr lang="en-US" sz="1300" dirty="0"/>
          </a:p>
        </p:txBody>
      </p:sp>
      <p:sp>
        <p:nvSpPr>
          <p:cNvPr id="13" name="Company 2"/>
          <p:cNvSpPr/>
          <p:nvPr/>
        </p:nvSpPr>
        <p:spPr>
          <a:xfrm>
            <a:off x="7871384" y="2057400"/>
            <a:ext cx="1196264" cy="914400"/>
          </a:xfrm>
          <a:prstGeom prst="roundRect">
            <a:avLst>
              <a:gd name="adj" fmla="val 8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Text 11"/>
          <p:cNvSpPr txBox="1"/>
          <p:nvPr/>
        </p:nvSpPr>
        <p:spPr>
          <a:xfrm>
            <a:off x="7917104" y="2057400"/>
            <a:ext cx="1104824" cy="914400"/>
          </a:xfrm>
          <a:prstGeom prst="rect">
            <a:avLst/>
          </a:prstGeom>
          <a:noFill/>
          <a:ln/>
        </p:spPr>
        <p:txBody>
          <a:bodyPr wrap="square" lIns="0" tIns="0" rIns="0" bIns="0" rtlCol="0" anchor="ctr"/>
          <a:lstStyle/>
          <a:p>
            <a:pPr algn="ctr" indent="0" marL="0">
              <a:buNone/>
            </a:pPr>
            <a:r>
              <a:rPr lang="en-US" sz="1300" b="1" dirty="0">
                <a:solidFill>
                  <a:schemeClr val="accent2"/>
                </a:solidFill>
              </a:rPr>
              <a:t>2-р рот</a:t>
            </a:r>
            <a:endParaRPr lang="en-US" sz="1300" dirty="0"/>
          </a:p>
          <a:p>
            <a:pPr algn="ctr" indent="0" marL="0">
              <a:buNone/>
            </a:pPr>
            <a:r>
              <a:rPr lang="en-US" sz="1100" b="1" dirty="0">
                <a:solidFill>
                  <a:schemeClr val="accent1"/>
                </a:solidFill>
              </a:rPr>
              <a:t>Л.Гэлэгбаатар</a:t>
            </a:r>
            <a:endParaRPr lang="en-US" sz="1300" dirty="0"/>
          </a:p>
        </p:txBody>
      </p:sp>
      <p:sp>
        <p:nvSpPr>
          <p:cNvPr id="15" name="Company 3"/>
          <p:cNvSpPr/>
          <p:nvPr/>
        </p:nvSpPr>
        <p:spPr>
          <a:xfrm>
            <a:off x="9159088" y="2057400"/>
            <a:ext cx="1196264" cy="914400"/>
          </a:xfrm>
          <a:prstGeom prst="roundRect">
            <a:avLst>
              <a:gd name="adj" fmla="val 8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6" name="Text 13"/>
          <p:cNvSpPr txBox="1"/>
          <p:nvPr/>
        </p:nvSpPr>
        <p:spPr>
          <a:xfrm>
            <a:off x="9204808" y="2057400"/>
            <a:ext cx="1104824" cy="914400"/>
          </a:xfrm>
          <a:prstGeom prst="rect">
            <a:avLst/>
          </a:prstGeom>
          <a:noFill/>
          <a:ln/>
        </p:spPr>
        <p:txBody>
          <a:bodyPr wrap="square" lIns="0" tIns="0" rIns="0" bIns="0" rtlCol="0" anchor="ctr"/>
          <a:lstStyle/>
          <a:p>
            <a:pPr algn="ctr" indent="0" marL="0">
              <a:buNone/>
            </a:pPr>
            <a:r>
              <a:rPr lang="en-US" sz="1300" b="1" dirty="0">
                <a:solidFill>
                  <a:schemeClr val="accent2"/>
                </a:solidFill>
              </a:rPr>
              <a:t>3-р рот</a:t>
            </a:r>
            <a:endParaRPr lang="en-US" sz="1300" dirty="0"/>
          </a:p>
          <a:p>
            <a:pPr algn="ctr" indent="0" marL="0">
              <a:buNone/>
            </a:pPr>
            <a:r>
              <a:rPr lang="en-US" sz="1100" b="1" dirty="0">
                <a:solidFill>
                  <a:schemeClr val="accent1"/>
                </a:solidFill>
              </a:rPr>
              <a:t>М.Экей</a:t>
            </a:r>
            <a:endParaRPr lang="en-US" sz="1300" dirty="0"/>
          </a:p>
        </p:txBody>
      </p:sp>
      <p:sp>
        <p:nvSpPr>
          <p:cNvPr id="17" name="Company 4"/>
          <p:cNvSpPr/>
          <p:nvPr/>
        </p:nvSpPr>
        <p:spPr>
          <a:xfrm>
            <a:off x="10446791" y="2057400"/>
            <a:ext cx="1196264" cy="914400"/>
          </a:xfrm>
          <a:prstGeom prst="roundRect">
            <a:avLst>
              <a:gd name="adj" fmla="val 8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8" name="Text 15"/>
          <p:cNvSpPr txBox="1"/>
          <p:nvPr/>
        </p:nvSpPr>
        <p:spPr>
          <a:xfrm>
            <a:off x="10492511" y="2057400"/>
            <a:ext cx="1104824" cy="914400"/>
          </a:xfrm>
          <a:prstGeom prst="rect">
            <a:avLst/>
          </a:prstGeom>
          <a:noFill/>
          <a:ln/>
        </p:spPr>
        <p:txBody>
          <a:bodyPr wrap="square" lIns="0" tIns="0" rIns="0" bIns="0" rtlCol="0" anchor="ctr"/>
          <a:lstStyle/>
          <a:p>
            <a:pPr algn="ctr" indent="0" marL="0">
              <a:buNone/>
            </a:pPr>
            <a:r>
              <a:rPr lang="en-US" sz="1300" b="1" dirty="0">
                <a:solidFill>
                  <a:schemeClr val="accent2"/>
                </a:solidFill>
              </a:rPr>
              <a:t>4-р рот</a:t>
            </a:r>
            <a:endParaRPr lang="en-US" sz="1300" dirty="0"/>
          </a:p>
          <a:p>
            <a:pPr algn="ctr" indent="0" marL="0">
              <a:buNone/>
            </a:pPr>
            <a:r>
              <a:rPr lang="en-US" sz="1100" b="1" dirty="0">
                <a:solidFill>
                  <a:schemeClr val="accent1"/>
                </a:solidFill>
              </a:rPr>
              <a:t>Д.Дэмбэрэл</a:t>
            </a:r>
            <a:endParaRPr lang="en-US" sz="1300" dirty="0"/>
          </a:p>
        </p:txBody>
      </p:sp>
      <p:sp>
        <p:nvSpPr>
          <p:cNvPr id="19" name="Text 16"/>
          <p:cNvSpPr txBox="1"/>
          <p:nvPr/>
        </p:nvSpPr>
        <p:spPr>
          <a:xfrm>
            <a:off x="6035040" y="3108960"/>
            <a:ext cx="457200" cy="914400"/>
          </a:xfrm>
          <a:prstGeom prst="rect">
            <a:avLst/>
          </a:prstGeom>
          <a:noFill/>
          <a:ln/>
        </p:spPr>
        <p:txBody>
          <a:bodyPr wrap="square" lIns="0" tIns="0" rIns="0" bIns="0" rtlCol="0" anchor="ctr"/>
          <a:lstStyle/>
          <a:p>
            <a:pPr algn="ctr" indent="0" marL="0">
              <a:buNone/>
            </a:pPr>
            <a:r>
              <a:rPr lang="en-US" sz="1800" b="1" dirty="0">
                <a:solidFill>
                  <a:schemeClr val="accent3"/>
                </a:solidFill>
                <a:latin typeface="Arial" pitchFamily="34" charset="0"/>
                <a:ea typeface="Arial" pitchFamily="34" charset="-122"/>
                <a:cs typeface="Arial" pitchFamily="34" charset="-120"/>
              </a:rPr>
              <a:t>II</a:t>
            </a:r>
            <a:endParaRPr lang="en-US" sz="1800" dirty="0"/>
          </a:p>
        </p:txBody>
      </p:sp>
      <p:sp>
        <p:nvSpPr>
          <p:cNvPr id="20" name="Company 5"/>
          <p:cNvSpPr/>
          <p:nvPr/>
        </p:nvSpPr>
        <p:spPr>
          <a:xfrm>
            <a:off x="6583680" y="3108960"/>
            <a:ext cx="1196264" cy="914400"/>
          </a:xfrm>
          <a:prstGeom prst="roundRect">
            <a:avLst>
              <a:gd name="adj" fmla="val 8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1" name="Text 18"/>
          <p:cNvSpPr txBox="1"/>
          <p:nvPr/>
        </p:nvSpPr>
        <p:spPr>
          <a:xfrm>
            <a:off x="6629400" y="3108960"/>
            <a:ext cx="1104824" cy="914400"/>
          </a:xfrm>
          <a:prstGeom prst="rect">
            <a:avLst/>
          </a:prstGeom>
          <a:noFill/>
          <a:ln/>
        </p:spPr>
        <p:txBody>
          <a:bodyPr wrap="square" lIns="0" tIns="0" rIns="0" bIns="0" rtlCol="0" anchor="ctr"/>
          <a:lstStyle/>
          <a:p>
            <a:pPr algn="ctr" indent="0" marL="0">
              <a:buNone/>
            </a:pPr>
            <a:r>
              <a:rPr lang="en-US" sz="1300" b="1" dirty="0">
                <a:solidFill>
                  <a:schemeClr val="accent2"/>
                </a:solidFill>
              </a:rPr>
              <a:t>5-р рот</a:t>
            </a:r>
            <a:endParaRPr lang="en-US" sz="1300" dirty="0"/>
          </a:p>
          <a:p>
            <a:pPr algn="ctr" indent="0" marL="0">
              <a:buNone/>
            </a:pPr>
            <a:r>
              <a:rPr lang="en-US" sz="1100" b="1" dirty="0">
                <a:solidFill>
                  <a:schemeClr val="accent1"/>
                </a:solidFill>
              </a:rPr>
              <a:t>Ж.Лхагвасүрэн</a:t>
            </a:r>
            <a:endParaRPr lang="en-US" sz="1300" dirty="0"/>
          </a:p>
        </p:txBody>
      </p:sp>
      <p:sp>
        <p:nvSpPr>
          <p:cNvPr id="22" name="Company 6"/>
          <p:cNvSpPr/>
          <p:nvPr/>
        </p:nvSpPr>
        <p:spPr>
          <a:xfrm>
            <a:off x="7871384" y="3108960"/>
            <a:ext cx="1196264" cy="914400"/>
          </a:xfrm>
          <a:prstGeom prst="roundRect">
            <a:avLst>
              <a:gd name="adj" fmla="val 8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3" name="Text 20"/>
          <p:cNvSpPr txBox="1"/>
          <p:nvPr/>
        </p:nvSpPr>
        <p:spPr>
          <a:xfrm>
            <a:off x="7917104" y="3108960"/>
            <a:ext cx="1104824" cy="914400"/>
          </a:xfrm>
          <a:prstGeom prst="rect">
            <a:avLst/>
          </a:prstGeom>
          <a:noFill/>
          <a:ln/>
        </p:spPr>
        <p:txBody>
          <a:bodyPr wrap="square" lIns="0" tIns="0" rIns="0" bIns="0" rtlCol="0" anchor="ctr"/>
          <a:lstStyle/>
          <a:p>
            <a:pPr algn="ctr" indent="0" marL="0">
              <a:buNone/>
            </a:pPr>
            <a:r>
              <a:rPr lang="en-US" sz="1300" b="1" dirty="0">
                <a:solidFill>
                  <a:schemeClr val="accent2"/>
                </a:solidFill>
              </a:rPr>
              <a:t>6-р рот</a:t>
            </a:r>
            <a:endParaRPr lang="en-US" sz="1300" dirty="0"/>
          </a:p>
          <a:p>
            <a:pPr algn="ctr" indent="0" marL="0">
              <a:buNone/>
            </a:pPr>
            <a:r>
              <a:rPr lang="en-US" sz="1100" b="1" dirty="0">
                <a:solidFill>
                  <a:schemeClr val="accent1"/>
                </a:solidFill>
              </a:rPr>
              <a:t>В.Шарав</a:t>
            </a:r>
            <a:endParaRPr lang="en-US" sz="1300" dirty="0"/>
          </a:p>
        </p:txBody>
      </p:sp>
      <p:sp>
        <p:nvSpPr>
          <p:cNvPr id="24" name="Company 7"/>
          <p:cNvSpPr/>
          <p:nvPr/>
        </p:nvSpPr>
        <p:spPr>
          <a:xfrm>
            <a:off x="9159088" y="3108960"/>
            <a:ext cx="1196264" cy="914400"/>
          </a:xfrm>
          <a:prstGeom prst="roundRect">
            <a:avLst>
              <a:gd name="adj" fmla="val 8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5" name="Text 22"/>
          <p:cNvSpPr txBox="1"/>
          <p:nvPr/>
        </p:nvSpPr>
        <p:spPr>
          <a:xfrm>
            <a:off x="9204808" y="3108960"/>
            <a:ext cx="1104824" cy="914400"/>
          </a:xfrm>
          <a:prstGeom prst="rect">
            <a:avLst/>
          </a:prstGeom>
          <a:noFill/>
          <a:ln/>
        </p:spPr>
        <p:txBody>
          <a:bodyPr wrap="square" lIns="0" tIns="0" rIns="0" bIns="0" rtlCol="0" anchor="ctr"/>
          <a:lstStyle/>
          <a:p>
            <a:pPr algn="ctr" indent="0" marL="0">
              <a:buNone/>
            </a:pPr>
            <a:r>
              <a:rPr lang="en-US" sz="1300" b="1" dirty="0">
                <a:solidFill>
                  <a:schemeClr val="accent2"/>
                </a:solidFill>
              </a:rPr>
              <a:t>7-р рот</a:t>
            </a:r>
            <a:endParaRPr lang="en-US" sz="1300" dirty="0"/>
          </a:p>
          <a:p>
            <a:pPr algn="ctr" indent="0" marL="0">
              <a:buNone/>
            </a:pPr>
            <a:r>
              <a:rPr lang="en-US" sz="1100" b="1" dirty="0">
                <a:solidFill>
                  <a:schemeClr val="accent1"/>
                </a:solidFill>
              </a:rPr>
              <a:t>Д.Данзанваанчиг</a:t>
            </a:r>
            <a:endParaRPr lang="en-US" sz="1300" dirty="0"/>
          </a:p>
        </p:txBody>
      </p:sp>
      <p:sp>
        <p:nvSpPr>
          <p:cNvPr id="26" name="Company 8"/>
          <p:cNvSpPr/>
          <p:nvPr/>
        </p:nvSpPr>
        <p:spPr>
          <a:xfrm>
            <a:off x="10446791" y="3108960"/>
            <a:ext cx="1196264" cy="914400"/>
          </a:xfrm>
          <a:prstGeom prst="roundRect">
            <a:avLst>
              <a:gd name="adj" fmla="val 8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7" name="Text 24"/>
          <p:cNvSpPr txBox="1"/>
          <p:nvPr/>
        </p:nvSpPr>
        <p:spPr>
          <a:xfrm>
            <a:off x="10492511" y="3108960"/>
            <a:ext cx="1104824" cy="914400"/>
          </a:xfrm>
          <a:prstGeom prst="rect">
            <a:avLst/>
          </a:prstGeom>
          <a:noFill/>
          <a:ln/>
        </p:spPr>
        <p:txBody>
          <a:bodyPr wrap="square" lIns="0" tIns="0" rIns="0" bIns="0" rtlCol="0" anchor="ctr"/>
          <a:lstStyle/>
          <a:p>
            <a:pPr algn="ctr" indent="0" marL="0">
              <a:buNone/>
            </a:pPr>
            <a:r>
              <a:rPr lang="en-US" sz="1300" b="1" dirty="0">
                <a:solidFill>
                  <a:schemeClr val="accent2"/>
                </a:solidFill>
              </a:rPr>
              <a:t>8-р рот</a:t>
            </a:r>
            <a:endParaRPr lang="en-US" sz="1300" dirty="0"/>
          </a:p>
          <a:p>
            <a:pPr algn="ctr" indent="0" marL="0">
              <a:buNone/>
            </a:pPr>
            <a:r>
              <a:rPr lang="en-US" sz="1100" b="1" dirty="0">
                <a:solidFill>
                  <a:schemeClr val="accent1"/>
                </a:solidFill>
              </a:rPr>
              <a:t>С.Дампил</a:t>
            </a:r>
            <a:endParaRPr lang="en-US" sz="1300" dirty="0"/>
          </a:p>
        </p:txBody>
      </p:sp>
      <p:sp>
        <p:nvSpPr>
          <p:cNvPr id="28" name="Text 25"/>
          <p:cNvSpPr txBox="1"/>
          <p:nvPr/>
        </p:nvSpPr>
        <p:spPr>
          <a:xfrm>
            <a:off x="6035040" y="4160520"/>
            <a:ext cx="457200" cy="914400"/>
          </a:xfrm>
          <a:prstGeom prst="rect">
            <a:avLst/>
          </a:prstGeom>
          <a:noFill/>
          <a:ln/>
        </p:spPr>
        <p:txBody>
          <a:bodyPr wrap="square" lIns="0" tIns="0" rIns="0" bIns="0" rtlCol="0" anchor="ctr"/>
          <a:lstStyle/>
          <a:p>
            <a:pPr algn="ctr" indent="0" marL="0">
              <a:buNone/>
            </a:pPr>
            <a:r>
              <a:rPr lang="en-US" sz="1800" b="1" dirty="0">
                <a:solidFill>
                  <a:schemeClr val="accent3"/>
                </a:solidFill>
                <a:latin typeface="Arial" pitchFamily="34" charset="0"/>
                <a:ea typeface="Arial" pitchFamily="34" charset="-122"/>
                <a:cs typeface="Arial" pitchFamily="34" charset="-120"/>
              </a:rPr>
              <a:t>III</a:t>
            </a:r>
            <a:endParaRPr lang="en-US" sz="1800" dirty="0"/>
          </a:p>
        </p:txBody>
      </p:sp>
      <p:sp>
        <p:nvSpPr>
          <p:cNvPr id="29" name="Company 9"/>
          <p:cNvSpPr/>
          <p:nvPr/>
        </p:nvSpPr>
        <p:spPr>
          <a:xfrm>
            <a:off x="6583680" y="4160520"/>
            <a:ext cx="1196264" cy="914400"/>
          </a:xfrm>
          <a:prstGeom prst="roundRect">
            <a:avLst>
              <a:gd name="adj" fmla="val 8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30" name="Text 27"/>
          <p:cNvSpPr txBox="1"/>
          <p:nvPr/>
        </p:nvSpPr>
        <p:spPr>
          <a:xfrm>
            <a:off x="6629400" y="4160520"/>
            <a:ext cx="1104824" cy="914400"/>
          </a:xfrm>
          <a:prstGeom prst="rect">
            <a:avLst/>
          </a:prstGeom>
          <a:noFill/>
          <a:ln/>
        </p:spPr>
        <p:txBody>
          <a:bodyPr wrap="square" lIns="0" tIns="0" rIns="0" bIns="0" rtlCol="0" anchor="ctr"/>
          <a:lstStyle/>
          <a:p>
            <a:pPr algn="ctr" indent="0" marL="0">
              <a:buNone/>
            </a:pPr>
            <a:r>
              <a:rPr lang="en-US" sz="1300" b="1" dirty="0">
                <a:solidFill>
                  <a:schemeClr val="accent2"/>
                </a:solidFill>
              </a:rPr>
              <a:t>9-р рот</a:t>
            </a:r>
            <a:endParaRPr lang="en-US" sz="1300" dirty="0"/>
          </a:p>
          <a:p>
            <a:pPr algn="ctr" indent="0" marL="0">
              <a:buNone/>
            </a:pPr>
            <a:r>
              <a:rPr lang="en-US" sz="1100" b="1" dirty="0">
                <a:solidFill>
                  <a:schemeClr val="accent1"/>
                </a:solidFill>
              </a:rPr>
              <a:t>Д.Хаянхярваа</a:t>
            </a:r>
            <a:endParaRPr lang="en-US" sz="1300" dirty="0"/>
          </a:p>
        </p:txBody>
      </p:sp>
      <p:sp>
        <p:nvSpPr>
          <p:cNvPr id="31" name="Company 10"/>
          <p:cNvSpPr/>
          <p:nvPr/>
        </p:nvSpPr>
        <p:spPr>
          <a:xfrm>
            <a:off x="7871384" y="4160520"/>
            <a:ext cx="1196264" cy="914400"/>
          </a:xfrm>
          <a:prstGeom prst="roundRect">
            <a:avLst>
              <a:gd name="adj" fmla="val 8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32" name="Text 29"/>
          <p:cNvSpPr txBox="1"/>
          <p:nvPr/>
        </p:nvSpPr>
        <p:spPr>
          <a:xfrm>
            <a:off x="7917104" y="4160520"/>
            <a:ext cx="1104824" cy="914400"/>
          </a:xfrm>
          <a:prstGeom prst="rect">
            <a:avLst/>
          </a:prstGeom>
          <a:noFill/>
          <a:ln/>
        </p:spPr>
        <p:txBody>
          <a:bodyPr wrap="square" lIns="0" tIns="0" rIns="0" bIns="0" rtlCol="0" anchor="ctr"/>
          <a:lstStyle/>
          <a:p>
            <a:pPr algn="ctr" indent="0" marL="0">
              <a:buNone/>
            </a:pPr>
            <a:r>
              <a:rPr lang="en-US" sz="1300" b="1" dirty="0">
                <a:solidFill>
                  <a:schemeClr val="accent2"/>
                </a:solidFill>
              </a:rPr>
              <a:t>10-р рот</a:t>
            </a:r>
            <a:endParaRPr lang="en-US" sz="1300" dirty="0"/>
          </a:p>
          <a:p>
            <a:pPr algn="ctr" indent="0" marL="0">
              <a:buNone/>
            </a:pPr>
            <a:r>
              <a:rPr lang="en-US" sz="1100" b="1" dirty="0">
                <a:solidFill>
                  <a:schemeClr val="accent1"/>
                </a:solidFill>
              </a:rPr>
              <a:t>Д.Нянтайсүрэн</a:t>
            </a:r>
            <a:endParaRPr lang="en-US" sz="1300" dirty="0"/>
          </a:p>
        </p:txBody>
      </p:sp>
      <p:sp>
        <p:nvSpPr>
          <p:cNvPr id="33" name="Company 11"/>
          <p:cNvSpPr/>
          <p:nvPr/>
        </p:nvSpPr>
        <p:spPr>
          <a:xfrm>
            <a:off x="9159088" y="4160520"/>
            <a:ext cx="1196264" cy="914400"/>
          </a:xfrm>
          <a:prstGeom prst="roundRect">
            <a:avLst>
              <a:gd name="adj" fmla="val 8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34" name="Text 31"/>
          <p:cNvSpPr txBox="1"/>
          <p:nvPr/>
        </p:nvSpPr>
        <p:spPr>
          <a:xfrm>
            <a:off x="9204808" y="4160520"/>
            <a:ext cx="1104824" cy="914400"/>
          </a:xfrm>
          <a:prstGeom prst="rect">
            <a:avLst/>
          </a:prstGeom>
          <a:noFill/>
          <a:ln/>
        </p:spPr>
        <p:txBody>
          <a:bodyPr wrap="square" lIns="0" tIns="0" rIns="0" bIns="0" rtlCol="0" anchor="ctr"/>
          <a:lstStyle/>
          <a:p>
            <a:pPr algn="ctr" indent="0" marL="0">
              <a:buNone/>
            </a:pPr>
            <a:r>
              <a:rPr lang="en-US" sz="1300" b="1" dirty="0">
                <a:solidFill>
                  <a:schemeClr val="accent2"/>
                </a:solidFill>
              </a:rPr>
              <a:t>11-р рот</a:t>
            </a:r>
            <a:endParaRPr lang="en-US" sz="1300" dirty="0"/>
          </a:p>
          <a:p>
            <a:pPr algn="ctr" indent="0" marL="0">
              <a:buNone/>
            </a:pPr>
            <a:r>
              <a:rPr lang="en-US" sz="1100" b="1" dirty="0">
                <a:solidFill>
                  <a:schemeClr val="accent1"/>
                </a:solidFill>
              </a:rPr>
              <a:t>П.Шагдарсүрэн</a:t>
            </a:r>
            <a:endParaRPr lang="en-US" sz="1300" dirty="0"/>
          </a:p>
        </p:txBody>
      </p:sp>
      <p:sp>
        <p:nvSpPr>
          <p:cNvPr id="35" name="Company 12"/>
          <p:cNvSpPr/>
          <p:nvPr/>
        </p:nvSpPr>
        <p:spPr>
          <a:xfrm>
            <a:off x="10446791" y="4160520"/>
            <a:ext cx="1196264" cy="914400"/>
          </a:xfrm>
          <a:prstGeom prst="roundRect">
            <a:avLst>
              <a:gd name="adj" fmla="val 8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36" name="Text 33"/>
          <p:cNvSpPr txBox="1"/>
          <p:nvPr/>
        </p:nvSpPr>
        <p:spPr>
          <a:xfrm>
            <a:off x="10492511" y="4160520"/>
            <a:ext cx="1104824" cy="914400"/>
          </a:xfrm>
          <a:prstGeom prst="rect">
            <a:avLst/>
          </a:prstGeom>
          <a:noFill/>
          <a:ln/>
        </p:spPr>
        <p:txBody>
          <a:bodyPr wrap="square" lIns="0" tIns="0" rIns="0" bIns="0" rtlCol="0" anchor="ctr"/>
          <a:lstStyle/>
          <a:p>
            <a:pPr algn="ctr" indent="0" marL="0">
              <a:buNone/>
            </a:pPr>
            <a:r>
              <a:rPr lang="en-US" sz="1300" b="1" dirty="0">
                <a:solidFill>
                  <a:schemeClr val="accent2"/>
                </a:solidFill>
              </a:rPr>
              <a:t>12-р рот</a:t>
            </a:r>
            <a:endParaRPr lang="en-US" sz="1300" dirty="0"/>
          </a:p>
          <a:p>
            <a:pPr algn="ctr" indent="0" marL="0">
              <a:buNone/>
            </a:pPr>
            <a:r>
              <a:rPr lang="en-US" sz="1100" i="1" dirty="0">
                <a:solidFill>
                  <a:schemeClr val="accent4"/>
                </a:solidFill>
              </a:rPr>
              <a:t>Эрдмийн зөвлөл тогтооно</a:t>
            </a:r>
            <a:endParaRPr lang="en-US" sz="1300" dirty="0"/>
          </a:p>
        </p:txBody>
      </p:sp>
      <p:sp>
        <p:nvSpPr>
          <p:cNvPr id="37" name="Text 34"/>
          <p:cNvSpPr txBox="1"/>
          <p:nvPr/>
        </p:nvSpPr>
        <p:spPr>
          <a:xfrm>
            <a:off x="6035040" y="5303520"/>
            <a:ext cx="5608015" cy="777240"/>
          </a:xfrm>
          <a:prstGeom prst="rect">
            <a:avLst/>
          </a:prstGeom>
          <a:noFill/>
          <a:ln/>
        </p:spPr>
        <p:txBody>
          <a:bodyPr wrap="square" lIns="0" tIns="0" rIns="0" bIns="0" rtlCol="0" anchor="t"/>
          <a:lstStyle/>
          <a:p>
            <a:pPr indent="0" marL="0">
              <a:buNone/>
            </a:pPr>
            <a:r>
              <a:rPr lang="en-US" sz="1300" dirty="0">
                <a:solidFill>
                  <a:schemeClr val="tx1"/>
                </a:solidFill>
              </a:rPr>
              <a:t>Мөр бүр нэг батальон (I–III). Баатрын нэрийг ротын туг, байр, самбарт мөнхжүүлж, ханцуйн тэмдэгт зөвхөн ротын дугаарыг бичнэ.</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292608"/>
          </a:xfrm>
          <a:prstGeom prst="rect">
            <a:avLst/>
          </a:prstGeom>
          <a:noFill/>
          <a:ln/>
        </p:spPr>
        <p:txBody>
          <a:bodyPr wrap="square" lIns="0" tIns="0" rIns="0" bIns="0" rtlCol="0"/>
          <a:lstStyle/>
          <a:p>
            <a:pPr indent="0" marL="0">
              <a:buNone/>
            </a:pPr>
            <a:r>
              <a:rPr lang="en-US" sz="1200" b="1" spc="200" kern="0" dirty="0">
                <a:solidFill>
                  <a:schemeClr val="accent2"/>
                </a:solidFill>
              </a:rPr>
              <a:t>ЯЛГАХ ТЭМДЭГ</a:t>
            </a:r>
            <a:endParaRPr lang="en-US" sz="1200" dirty="0"/>
          </a:p>
        </p:txBody>
      </p:sp>
      <p:sp>
        <p:nvSpPr>
          <p:cNvPr id="3" name="Text 0"/>
          <p:cNvSpPr/>
          <p:nvPr>
            <p:ph idx="101" type="title" hasCustomPrompt="1"/>
          </p:nvPr>
        </p:nvSpPr>
        <p:spPr>
          <a:xfrm>
            <a:off x="548640" y="621792"/>
            <a:ext cx="11094415" cy="731520"/>
          </a:xfrm>
          <a:prstGeom prst="rect">
            <a:avLst/>
          </a:prstGeom>
          <a:noFill/>
          <a:ln/>
        </p:spPr>
        <p:txBody>
          <a:bodyPr wrap="square" lIns="0" tIns="0" rIns="0" bIns="0" rtlCol="0" anchor="t"/>
          <a:lstStyle/>
          <a:p>
            <a:pPr algn="l" indent="0" marL="0">
              <a:buNone/>
            </a:pPr>
            <a:r>
              <a:rPr lang="en-US" sz="3000" b="1" dirty="0">
                <a:solidFill>
                  <a:schemeClr val="accent1"/>
                </a:solidFill>
              </a:rPr>
              <a:t>Албан тушаалыг баруун ханцуйн нэг тэмдгээр ялгана</a:t>
            </a:r>
            <a:endParaRPr lang="en-US" sz="3000" dirty="0"/>
          </a:p>
        </p:txBody>
      </p:sp>
      <p:pic>
        <p:nvPicPr>
          <p:cNvPr id="5" name="Officer line badges" descr="Сонсогч офицерын шугамын ханцуйн тэмдгүүд: 1–4 алтлаг ромб, алтан хүрээ, шонхор шувуу">    </p:cNvPr>
          <p:cNvPicPr>
            <a:picLocks noChangeAspect="1"/>
          </p:cNvPicPr>
          <p:nvPr/>
        </p:nvPicPr>
        <p:blipFill>
          <a:blip r:embed="rId1"/>
          <a:stretch>
            <a:fillRect/>
          </a:stretch>
        </p:blipFill>
        <p:spPr>
          <a:xfrm>
            <a:off x="883768" y="1463040"/>
            <a:ext cx="5074920" cy="4029179"/>
          </a:xfrm>
          <a:prstGeom prst="rect">
            <a:avLst/>
          </a:prstGeom>
        </p:spPr>
      </p:pic>
      <p:pic>
        <p:nvPicPr>
          <p:cNvPr id="6" name="Sergeant line badges" descr="Сонсогч түрүүчийн шугамын ханцуйн тэмдгүүд: мөнгөлөг шеврон, нуман тууз">    </p:cNvPr>
          <p:cNvPicPr>
            <a:picLocks noChangeAspect="1"/>
          </p:cNvPicPr>
          <p:nvPr/>
        </p:nvPicPr>
        <p:blipFill>
          <a:blip r:embed="rId2"/>
          <a:stretch>
            <a:fillRect/>
          </a:stretch>
        </p:blipFill>
        <p:spPr>
          <a:xfrm>
            <a:off x="6233008" y="1463040"/>
            <a:ext cx="5074920" cy="4029179"/>
          </a:xfrm>
          <a:prstGeom prst="rect">
            <a:avLst/>
          </a:prstGeom>
        </p:spPr>
      </p:pic>
      <p:sp>
        <p:nvSpPr>
          <p:cNvPr id="7" name="Reading rule"/>
          <p:cNvSpPr/>
          <p:nvPr/>
        </p:nvSpPr>
        <p:spPr>
          <a:xfrm>
            <a:off x="548640" y="5623560"/>
            <a:ext cx="11094415" cy="566928"/>
          </a:xfrm>
          <a:prstGeom prst="roundRect">
            <a:avLst>
              <a:gd name="adj" fmla="val 1290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8" name="Text 3"/>
          <p:cNvSpPr txBox="1"/>
          <p:nvPr/>
        </p:nvSpPr>
        <p:spPr>
          <a:xfrm>
            <a:off x="777240" y="5623560"/>
            <a:ext cx="10637215" cy="566928"/>
          </a:xfrm>
          <a:prstGeom prst="rect">
            <a:avLst/>
          </a:prstGeom>
          <a:noFill/>
          <a:ln/>
        </p:spPr>
        <p:txBody>
          <a:bodyPr wrap="square" lIns="0" tIns="0" rIns="0" bIns="0" rtlCol="0" anchor="ctr"/>
          <a:lstStyle/>
          <a:p>
            <a:pPr indent="0" marL="0">
              <a:buNone/>
            </a:pPr>
            <a:r>
              <a:rPr lang="en-US" sz="1400" b="1" dirty="0">
                <a:solidFill>
                  <a:schemeClr val="accent2"/>
                </a:solidFill>
              </a:rPr>
              <a:t>Унших дүрэм: </a:t>
            </a:r>
            <a:pPr indent="0" marL="0">
              <a:buNone/>
            </a:pPr>
            <a:r>
              <a:rPr lang="en-US" sz="1400" dirty="0">
                <a:solidFill>
                  <a:schemeClr val="tx1"/>
                </a:solidFill>
              </a:rPr>
              <a:t>ромб 1–4 = салаа → рот → батальон → хороо · алтан хүрээ = дарга · шеврон = түрүүчийн түвшин · нуман тууз = ахлах түрүүч · араб тоо = рот, ром тоо = батальон</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292608"/>
          </a:xfrm>
          <a:prstGeom prst="rect">
            <a:avLst/>
          </a:prstGeom>
          <a:noFill/>
          <a:ln/>
        </p:spPr>
        <p:txBody>
          <a:bodyPr wrap="square" lIns="0" tIns="0" rIns="0" bIns="0" rtlCol="0"/>
          <a:lstStyle/>
          <a:p>
            <a:pPr indent="0" marL="0">
              <a:buNone/>
            </a:pPr>
            <a:r>
              <a:rPr lang="en-US" sz="1200" b="1" spc="200" kern="0" dirty="0">
                <a:solidFill>
                  <a:schemeClr val="accent2"/>
                </a:solidFill>
              </a:rPr>
              <a:t>ЗАГВАР, БАЙРШИЛ</a:t>
            </a:r>
            <a:endParaRPr lang="en-US" sz="1200" dirty="0"/>
          </a:p>
        </p:txBody>
      </p:sp>
      <p:sp>
        <p:nvSpPr>
          <p:cNvPr id="3" name="Text 0"/>
          <p:cNvSpPr/>
          <p:nvPr>
            <p:ph idx="101" type="title" hasCustomPrompt="1"/>
          </p:nvPr>
        </p:nvSpPr>
        <p:spPr>
          <a:xfrm>
            <a:off x="548640" y="621792"/>
            <a:ext cx="11094415" cy="731520"/>
          </a:xfrm>
          <a:prstGeom prst="rect">
            <a:avLst/>
          </a:prstGeom>
          <a:noFill/>
          <a:ln/>
        </p:spPr>
        <p:txBody>
          <a:bodyPr wrap="square" lIns="0" tIns="0" rIns="0" bIns="0" rtlCol="0" anchor="t"/>
          <a:lstStyle/>
          <a:p>
            <a:pPr algn="l" indent="0" marL="0">
              <a:buNone/>
            </a:pPr>
            <a:r>
              <a:rPr lang="en-US" sz="3000" b="1" dirty="0">
                <a:solidFill>
                  <a:schemeClr val="accent1"/>
                </a:solidFill>
              </a:rPr>
              <a:t>Албаны ба эрээн хувцсанд нэг загвар, хоёр хувилбар</a:t>
            </a:r>
            <a:endParaRPr lang="en-US" sz="3000" dirty="0"/>
          </a:p>
        </p:txBody>
      </p:sp>
      <p:pic>
        <p:nvPicPr>
          <p:cNvPr id="5" name="Placement diagram" descr="Ханцуйн тэмдгүүдийн байршил: албаны хувцасны зүүн, баруун ханцуй ба эрээн хувцас">    </p:cNvPr>
          <p:cNvPicPr>
            <a:picLocks noChangeAspect="1"/>
          </p:cNvPicPr>
          <p:nvPr/>
        </p:nvPicPr>
        <p:blipFill>
          <a:blip r:embed="rId1"/>
          <a:stretch>
            <a:fillRect/>
          </a:stretch>
        </p:blipFill>
        <p:spPr>
          <a:xfrm>
            <a:off x="548640" y="1508760"/>
            <a:ext cx="6126480" cy="3675888"/>
          </a:xfrm>
          <a:prstGeom prst="rect">
            <a:avLst/>
          </a:prstGeom>
        </p:spPr>
      </p:pic>
      <p:sp>
        <p:nvSpPr>
          <p:cNvPr id="6" name="Qty 1"/>
          <p:cNvSpPr/>
          <p:nvPr/>
        </p:nvSpPr>
        <p:spPr>
          <a:xfrm>
            <a:off x="548640" y="5349240"/>
            <a:ext cx="1920240" cy="822960"/>
          </a:xfrm>
          <a:prstGeom prst="roundRect">
            <a:avLst>
              <a:gd name="adj" fmla="val 8889"/>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7" name="Text 3"/>
          <p:cNvSpPr txBox="1"/>
          <p:nvPr/>
        </p:nvSpPr>
        <p:spPr>
          <a:xfrm>
            <a:off x="685800" y="5349240"/>
            <a:ext cx="1645920" cy="822960"/>
          </a:xfrm>
          <a:prstGeom prst="rect">
            <a:avLst/>
          </a:prstGeom>
          <a:noFill/>
          <a:ln/>
        </p:spPr>
        <p:txBody>
          <a:bodyPr wrap="square" lIns="0" tIns="0" rIns="0" bIns="0" rtlCol="0" anchor="ctr"/>
          <a:lstStyle/>
          <a:p>
            <a:pPr indent="0" marL="0">
              <a:buNone/>
            </a:pPr>
            <a:r>
              <a:rPr lang="en-US" sz="2000" b="1" dirty="0">
                <a:solidFill>
                  <a:schemeClr val="accent1"/>
                </a:solidFill>
                <a:latin typeface="Arial" pitchFamily="34" charset="0"/>
                <a:ea typeface="Arial" pitchFamily="34" charset="-122"/>
                <a:cs typeface="Arial" pitchFamily="34" charset="-120"/>
              </a:rPr>
              <a:t>593</a:t>
            </a:r>
            <a:endParaRPr lang="en-US" sz="2000" dirty="0"/>
          </a:p>
          <a:p>
            <a:pPr indent="0" marL="0">
              <a:buNone/>
            </a:pPr>
            <a:r>
              <a:rPr lang="en-US" sz="1200" dirty="0">
                <a:solidFill>
                  <a:schemeClr val="tx1"/>
                </a:solidFill>
              </a:rPr>
              <a:t>албан тушаал / семестр</a:t>
            </a:r>
            <a:endParaRPr lang="en-US" sz="2000" dirty="0"/>
          </a:p>
        </p:txBody>
      </p:sp>
      <p:sp>
        <p:nvSpPr>
          <p:cNvPr id="8" name="Qty 2"/>
          <p:cNvSpPr/>
          <p:nvPr/>
        </p:nvSpPr>
        <p:spPr>
          <a:xfrm>
            <a:off x="2651760" y="5349240"/>
            <a:ext cx="1920240" cy="822960"/>
          </a:xfrm>
          <a:prstGeom prst="roundRect">
            <a:avLst>
              <a:gd name="adj" fmla="val 8889"/>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Text 5"/>
          <p:cNvSpPr txBox="1"/>
          <p:nvPr/>
        </p:nvSpPr>
        <p:spPr>
          <a:xfrm>
            <a:off x="2788920" y="5349240"/>
            <a:ext cx="1645920" cy="822960"/>
          </a:xfrm>
          <a:prstGeom prst="rect">
            <a:avLst/>
          </a:prstGeom>
          <a:noFill/>
          <a:ln/>
        </p:spPr>
        <p:txBody>
          <a:bodyPr wrap="square" lIns="0" tIns="0" rIns="0" bIns="0" rtlCol="0" anchor="ctr"/>
          <a:lstStyle/>
          <a:p>
            <a:pPr indent="0" marL="0">
              <a:buNone/>
            </a:pPr>
            <a:r>
              <a:rPr lang="en-US" sz="2000" b="1" dirty="0">
                <a:solidFill>
                  <a:schemeClr val="accent1"/>
                </a:solidFill>
                <a:latin typeface="Arial" pitchFamily="34" charset="0"/>
                <a:ea typeface="Arial" pitchFamily="34" charset="-122"/>
                <a:cs typeface="Arial" pitchFamily="34" charset="-120"/>
              </a:rPr>
              <a:t>719 + 719</a:t>
            </a:r>
            <a:endParaRPr lang="en-US" sz="2000" dirty="0"/>
          </a:p>
          <a:p>
            <a:pPr indent="0" marL="0">
              <a:buNone/>
            </a:pPr>
            <a:r>
              <a:rPr lang="en-US" sz="1200" dirty="0">
                <a:solidFill>
                  <a:schemeClr val="tx1"/>
                </a:solidFill>
              </a:rPr>
              <a:t>албаны + эрээн (+20% нөөц)</a:t>
            </a:r>
            <a:endParaRPr lang="en-US" sz="2000" dirty="0"/>
          </a:p>
        </p:txBody>
      </p:sp>
      <p:sp>
        <p:nvSpPr>
          <p:cNvPr id="10" name="Qty 3"/>
          <p:cNvSpPr/>
          <p:nvPr/>
        </p:nvSpPr>
        <p:spPr>
          <a:xfrm>
            <a:off x="4754880" y="5349240"/>
            <a:ext cx="1920240" cy="822960"/>
          </a:xfrm>
          <a:prstGeom prst="roundRect">
            <a:avLst>
              <a:gd name="adj" fmla="val 8889"/>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1" name="Text 7"/>
          <p:cNvSpPr txBox="1"/>
          <p:nvPr/>
        </p:nvSpPr>
        <p:spPr>
          <a:xfrm>
            <a:off x="4892040" y="5349240"/>
            <a:ext cx="1645920" cy="822960"/>
          </a:xfrm>
          <a:prstGeom prst="rect">
            <a:avLst/>
          </a:prstGeom>
          <a:noFill/>
          <a:ln/>
        </p:spPr>
        <p:txBody>
          <a:bodyPr wrap="square" lIns="0" tIns="0" rIns="0" bIns="0" rtlCol="0" anchor="ctr"/>
          <a:lstStyle/>
          <a:p>
            <a:pPr indent="0" marL="0">
              <a:buNone/>
            </a:pPr>
            <a:r>
              <a:rPr lang="en-US" sz="2000" b="1" dirty="0">
                <a:solidFill>
                  <a:schemeClr val="accent1"/>
                </a:solidFill>
                <a:latin typeface="Arial" pitchFamily="34" charset="0"/>
                <a:ea typeface="Arial" pitchFamily="34" charset="-122"/>
                <a:cs typeface="Arial" pitchFamily="34" charset="-120"/>
              </a:rPr>
              <a:t>15–20%</a:t>
            </a:r>
            <a:endParaRPr lang="en-US" sz="2000" dirty="0"/>
          </a:p>
          <a:p>
            <a:pPr indent="0" marL="0">
              <a:buNone/>
            </a:pPr>
            <a:r>
              <a:rPr lang="en-US" sz="1200" dirty="0">
                <a:solidFill>
                  <a:schemeClr val="tx1"/>
                </a:solidFill>
              </a:rPr>
              <a:t>жил бүр нөхөх</a:t>
            </a:r>
            <a:endParaRPr lang="en-US" sz="2000" dirty="0"/>
          </a:p>
        </p:txBody>
      </p:sp>
      <p:sp>
        <p:nvSpPr>
          <p:cNvPr id="12" name="6 × 9 см, нэг өнгийн улаан хөвөө circle"/>
          <p:cNvSpPr/>
          <p:nvPr/>
        </p:nvSpPr>
        <p:spPr>
          <a:xfrm>
            <a:off x="6995160" y="1600200"/>
            <a:ext cx="548640" cy="548640"/>
          </a:xfrm>
          <a:prstGeom prst="ellipse">
            <a:avLst/>
          </a:prstGeom>
          <a:solidFill>
            <a:schemeClr val="accent1"/>
          </a:solidFill>
          <a:ln w="12700">
            <a:solidFill>
              <a:schemeClr val="accent1"/>
            </a:solidFill>
            <a:prstDash val="solid"/>
          </a:ln>
        </p:spPr>
      </p:sp>
      <p:pic>
        <p:nvPicPr>
          <p:cNvPr id="13" name="6 × 9 см, нэг өнгийн улаан хөвөө icon" descr="6 × 9 см, нэг өнгийн улаан хөвөө">    </p:cNvPr>
          <p:cNvPicPr>
            <a:picLocks noChangeAspect="1"/>
          </p:cNvPicPr>
          <p:nvPr/>
        </p:nvPicPr>
        <p:blipFill>
          <a:blip r:embed="rId2"/>
          <a:stretch>
            <a:fillRect/>
          </a:stretch>
        </p:blipFill>
        <p:spPr>
          <a:xfrm>
            <a:off x="7126834" y="1731874"/>
            <a:ext cx="285293" cy="285293"/>
          </a:xfrm>
          <a:prstGeom prst="rect">
            <a:avLst/>
          </a:prstGeom>
        </p:spPr>
      </p:pic>
      <p:sp>
        <p:nvSpPr>
          <p:cNvPr id="14" name="Text 9"/>
          <p:cNvSpPr txBox="1"/>
          <p:nvPr/>
        </p:nvSpPr>
        <p:spPr>
          <a:xfrm>
            <a:off x="7726680" y="1554480"/>
            <a:ext cx="3916375" cy="320040"/>
          </a:xfrm>
          <a:prstGeom prst="rect">
            <a:avLst/>
          </a:prstGeom>
          <a:noFill/>
          <a:ln/>
        </p:spPr>
        <p:txBody>
          <a:bodyPr wrap="square" lIns="0" tIns="0" rIns="0" bIns="0" rtlCol="0" anchor="ctr"/>
          <a:lstStyle/>
          <a:p>
            <a:pPr indent="0" marL="0">
              <a:buNone/>
            </a:pPr>
            <a:r>
              <a:rPr lang="en-US" sz="1500" b="1" dirty="0">
                <a:solidFill>
                  <a:schemeClr val="accent1"/>
                </a:solidFill>
              </a:rPr>
              <a:t>6 × 9 см, нэг өнгийн улаан хөвөө</a:t>
            </a:r>
            <a:endParaRPr lang="en-US" sz="1500" dirty="0"/>
          </a:p>
        </p:txBody>
      </p:sp>
      <p:sp>
        <p:nvSpPr>
          <p:cNvPr id="15" name="Text 10"/>
          <p:cNvSpPr txBox="1"/>
          <p:nvPr/>
        </p:nvSpPr>
        <p:spPr>
          <a:xfrm>
            <a:off x="7726680" y="1883664"/>
            <a:ext cx="3916375" cy="548640"/>
          </a:xfrm>
          <a:prstGeom prst="rect">
            <a:avLst/>
          </a:prstGeom>
          <a:noFill/>
          <a:ln/>
        </p:spPr>
        <p:txBody>
          <a:bodyPr wrap="square" lIns="0" tIns="0" rIns="0" bIns="0" rtlCol="0" anchor="t"/>
          <a:lstStyle/>
          <a:p>
            <a:pPr indent="0" marL="0">
              <a:buNone/>
            </a:pPr>
            <a:r>
              <a:rPr lang="en-US" sz="1300" dirty="0">
                <a:solidFill>
                  <a:schemeClr val="tx1"/>
                </a:solidFill>
              </a:rPr>
              <a:t>Нэгжийг өнгөөр бус, зөвхөн тоогоор ялгана</a:t>
            </a:r>
            <a:endParaRPr lang="en-US" sz="1300" dirty="0"/>
          </a:p>
        </p:txBody>
      </p:sp>
      <p:sp>
        <p:nvSpPr>
          <p:cNvPr id="16" name="Албаны ба эрээн хувилбар circle"/>
          <p:cNvSpPr/>
          <p:nvPr/>
        </p:nvSpPr>
        <p:spPr>
          <a:xfrm>
            <a:off x="6995160" y="2514600"/>
            <a:ext cx="548640" cy="548640"/>
          </a:xfrm>
          <a:prstGeom prst="ellipse">
            <a:avLst/>
          </a:prstGeom>
          <a:solidFill>
            <a:schemeClr val="accent2"/>
          </a:solidFill>
          <a:ln w="12700">
            <a:solidFill>
              <a:schemeClr val="accent2"/>
            </a:solidFill>
            <a:prstDash val="solid"/>
          </a:ln>
        </p:spPr>
      </p:sp>
      <p:pic>
        <p:nvPicPr>
          <p:cNvPr id="17" name="Албаны ба эрээн хувилбар icon" descr="Албаны ба эрээн хувилбар">    </p:cNvPr>
          <p:cNvPicPr>
            <a:picLocks noChangeAspect="1"/>
          </p:cNvPicPr>
          <p:nvPr/>
        </p:nvPicPr>
        <p:blipFill>
          <a:blip r:embed="rId3"/>
          <a:stretch>
            <a:fillRect/>
          </a:stretch>
        </p:blipFill>
        <p:spPr>
          <a:xfrm>
            <a:off x="7126834" y="2646274"/>
            <a:ext cx="285293" cy="285293"/>
          </a:xfrm>
          <a:prstGeom prst="rect">
            <a:avLst/>
          </a:prstGeom>
        </p:spPr>
      </p:pic>
      <p:sp>
        <p:nvSpPr>
          <p:cNvPr id="18" name="Text 12"/>
          <p:cNvSpPr txBox="1"/>
          <p:nvPr/>
        </p:nvSpPr>
        <p:spPr>
          <a:xfrm>
            <a:off x="7726680" y="2468880"/>
            <a:ext cx="3916375" cy="320040"/>
          </a:xfrm>
          <a:prstGeom prst="rect">
            <a:avLst/>
          </a:prstGeom>
          <a:noFill/>
          <a:ln/>
        </p:spPr>
        <p:txBody>
          <a:bodyPr wrap="square" lIns="0" tIns="0" rIns="0" bIns="0" rtlCol="0" anchor="ctr"/>
          <a:lstStyle/>
          <a:p>
            <a:pPr indent="0" marL="0">
              <a:buNone/>
            </a:pPr>
            <a:r>
              <a:rPr lang="en-US" sz="1500" b="1" dirty="0">
                <a:solidFill>
                  <a:schemeClr val="accent1"/>
                </a:solidFill>
              </a:rPr>
              <a:t>Албаны ба эрээн хувилбар</a:t>
            </a:r>
            <a:endParaRPr lang="en-US" sz="1500" dirty="0"/>
          </a:p>
        </p:txBody>
      </p:sp>
      <p:sp>
        <p:nvSpPr>
          <p:cNvPr id="19" name="Text 13"/>
          <p:cNvSpPr txBox="1"/>
          <p:nvPr/>
        </p:nvSpPr>
        <p:spPr>
          <a:xfrm>
            <a:off x="7726680" y="2798064"/>
            <a:ext cx="3916375" cy="548640"/>
          </a:xfrm>
          <a:prstGeom prst="rect">
            <a:avLst/>
          </a:prstGeom>
          <a:noFill/>
          <a:ln/>
        </p:spPr>
        <p:txBody>
          <a:bodyPr wrap="square" lIns="0" tIns="0" rIns="0" bIns="0" rtlCol="0" anchor="t"/>
          <a:lstStyle/>
          <a:p>
            <a:pPr indent="0" marL="0">
              <a:buNone/>
            </a:pPr>
            <a:r>
              <a:rPr lang="en-US" sz="1300" dirty="0">
                <a:solidFill>
                  <a:schemeClr val="tx1"/>
                </a:solidFill>
              </a:rPr>
              <a:t>Албаны: хар хөх, дарааст товч. Эрээн: дижитал бор, бүдэг өнгө, наалт</a:t>
            </a:r>
            <a:endParaRPr lang="en-US" sz="1300" dirty="0"/>
          </a:p>
        </p:txBody>
      </p:sp>
      <p:sp>
        <p:nvSpPr>
          <p:cNvPr id="20" name="Салгадаг, хүлээлцдэг circle"/>
          <p:cNvSpPr/>
          <p:nvPr/>
        </p:nvSpPr>
        <p:spPr>
          <a:xfrm>
            <a:off x="6995160" y="3429000"/>
            <a:ext cx="548640" cy="548640"/>
          </a:xfrm>
          <a:prstGeom prst="ellipse">
            <a:avLst/>
          </a:prstGeom>
          <a:solidFill>
            <a:schemeClr val="accent1"/>
          </a:solidFill>
          <a:ln w="12700">
            <a:solidFill>
              <a:schemeClr val="accent1"/>
            </a:solidFill>
            <a:prstDash val="solid"/>
          </a:ln>
        </p:spPr>
      </p:sp>
      <p:pic>
        <p:nvPicPr>
          <p:cNvPr id="21" name="Салгадаг, хүлээлцдэг icon" descr="Салгадаг, хүлээлцдэг">    </p:cNvPr>
          <p:cNvPicPr>
            <a:picLocks noChangeAspect="1"/>
          </p:cNvPicPr>
          <p:nvPr/>
        </p:nvPicPr>
        <p:blipFill>
          <a:blip r:embed="rId4"/>
          <a:stretch>
            <a:fillRect/>
          </a:stretch>
        </p:blipFill>
        <p:spPr>
          <a:xfrm>
            <a:off x="7126834" y="3560674"/>
            <a:ext cx="285293" cy="285293"/>
          </a:xfrm>
          <a:prstGeom prst="rect">
            <a:avLst/>
          </a:prstGeom>
        </p:spPr>
      </p:pic>
      <p:sp>
        <p:nvSpPr>
          <p:cNvPr id="22" name="Text 15"/>
          <p:cNvSpPr txBox="1"/>
          <p:nvPr/>
        </p:nvSpPr>
        <p:spPr>
          <a:xfrm>
            <a:off x="7726680" y="3383280"/>
            <a:ext cx="3916375" cy="320040"/>
          </a:xfrm>
          <a:prstGeom prst="rect">
            <a:avLst/>
          </a:prstGeom>
          <a:noFill/>
          <a:ln/>
        </p:spPr>
        <p:txBody>
          <a:bodyPr wrap="square" lIns="0" tIns="0" rIns="0" bIns="0" rtlCol="0" anchor="ctr"/>
          <a:lstStyle/>
          <a:p>
            <a:pPr indent="0" marL="0">
              <a:buNone/>
            </a:pPr>
            <a:r>
              <a:rPr lang="en-US" sz="1500" b="1" dirty="0">
                <a:solidFill>
                  <a:schemeClr val="accent1"/>
                </a:solidFill>
              </a:rPr>
              <a:t>Салгадаг, хүлээлцдэг</a:t>
            </a:r>
            <a:endParaRPr lang="en-US" sz="1500" dirty="0"/>
          </a:p>
        </p:txBody>
      </p:sp>
      <p:sp>
        <p:nvSpPr>
          <p:cNvPr id="23" name="Text 16"/>
          <p:cNvSpPr txBox="1"/>
          <p:nvPr/>
        </p:nvSpPr>
        <p:spPr>
          <a:xfrm>
            <a:off x="7726680" y="3712464"/>
            <a:ext cx="3916375" cy="548640"/>
          </a:xfrm>
          <a:prstGeom prst="rect">
            <a:avLst/>
          </a:prstGeom>
          <a:noFill/>
          <a:ln/>
        </p:spPr>
        <p:txBody>
          <a:bodyPr wrap="square" lIns="0" tIns="0" rIns="0" bIns="0" rtlCol="0" anchor="t"/>
          <a:lstStyle/>
          <a:p>
            <a:pPr indent="0" marL="0">
              <a:buNone/>
            </a:pPr>
            <a:r>
              <a:rPr lang="en-US" sz="1300" dirty="0">
                <a:solidFill>
                  <a:schemeClr val="tx1"/>
                </a:solidFill>
              </a:rPr>
              <a:t>ҮБХИС-ийн өмч; семестр бүр дараагийн удирдагчид шилжинэ</a:t>
            </a:r>
            <a:endParaRPr lang="en-US" sz="1300" dirty="0"/>
          </a:p>
        </p:txBody>
      </p:sp>
      <p:sp>
        <p:nvSpPr>
          <p:cNvPr id="24" name="Ротын тэмдэг нэгтгэгдэнэ circle"/>
          <p:cNvSpPr/>
          <p:nvPr/>
        </p:nvSpPr>
        <p:spPr>
          <a:xfrm>
            <a:off x="6995160" y="4343400"/>
            <a:ext cx="548640" cy="548640"/>
          </a:xfrm>
          <a:prstGeom prst="ellipse">
            <a:avLst/>
          </a:prstGeom>
          <a:solidFill>
            <a:schemeClr val="accent2"/>
          </a:solidFill>
          <a:ln w="12700">
            <a:solidFill>
              <a:schemeClr val="accent2"/>
            </a:solidFill>
            <a:prstDash val="solid"/>
          </a:ln>
        </p:spPr>
      </p:sp>
      <p:pic>
        <p:nvPicPr>
          <p:cNvPr id="25" name="Ротын тэмдэг нэгтгэгдэнэ icon" descr="Ротын тэмдэг нэгтгэгдэнэ">    </p:cNvPr>
          <p:cNvPicPr>
            <a:picLocks noChangeAspect="1"/>
          </p:cNvPicPr>
          <p:nvPr/>
        </p:nvPicPr>
        <p:blipFill>
          <a:blip r:embed="rId5"/>
          <a:stretch>
            <a:fillRect/>
          </a:stretch>
        </p:blipFill>
        <p:spPr>
          <a:xfrm>
            <a:off x="7126834" y="4475074"/>
            <a:ext cx="285293" cy="285293"/>
          </a:xfrm>
          <a:prstGeom prst="rect">
            <a:avLst/>
          </a:prstGeom>
        </p:spPr>
      </p:pic>
      <p:sp>
        <p:nvSpPr>
          <p:cNvPr id="26" name="Text 18"/>
          <p:cNvSpPr txBox="1"/>
          <p:nvPr/>
        </p:nvSpPr>
        <p:spPr>
          <a:xfrm>
            <a:off x="7726680" y="4297680"/>
            <a:ext cx="3916375" cy="320040"/>
          </a:xfrm>
          <a:prstGeom prst="rect">
            <a:avLst/>
          </a:prstGeom>
          <a:noFill/>
          <a:ln/>
        </p:spPr>
        <p:txBody>
          <a:bodyPr wrap="square" lIns="0" tIns="0" rIns="0" bIns="0" rtlCol="0" anchor="ctr"/>
          <a:lstStyle/>
          <a:p>
            <a:pPr indent="0" marL="0">
              <a:buNone/>
            </a:pPr>
            <a:r>
              <a:rPr lang="en-US" sz="1500" b="1" dirty="0">
                <a:solidFill>
                  <a:schemeClr val="accent1"/>
                </a:solidFill>
              </a:rPr>
              <a:t>Ротын тэмдэг нэгтгэгдэнэ</a:t>
            </a:r>
            <a:endParaRPr lang="en-US" sz="1500" dirty="0"/>
          </a:p>
        </p:txBody>
      </p:sp>
      <p:sp>
        <p:nvSpPr>
          <p:cNvPr id="27" name="Text 19"/>
          <p:cNvSpPr txBox="1"/>
          <p:nvPr/>
        </p:nvSpPr>
        <p:spPr>
          <a:xfrm>
            <a:off x="7726680" y="4626864"/>
            <a:ext cx="3916375" cy="548640"/>
          </a:xfrm>
          <a:prstGeom prst="rect">
            <a:avLst/>
          </a:prstGeom>
          <a:noFill/>
          <a:ln/>
        </p:spPr>
        <p:txBody>
          <a:bodyPr wrap="square" lIns="0" tIns="0" rIns="0" bIns="0" rtlCol="0" anchor="t"/>
          <a:lstStyle/>
          <a:p>
            <a:pPr indent="0" marL="0">
              <a:buNone/>
            </a:pPr>
            <a:r>
              <a:rPr lang="en-US" sz="1300" dirty="0">
                <a:solidFill>
                  <a:schemeClr val="tx1"/>
                </a:solidFill>
              </a:rPr>
              <a:t>Албан тушаалгүй сонсогч ижил хэлбэрийн ротын тэмдэг зүүнэ</a:t>
            </a:r>
            <a:endParaRPr lang="en-US" sz="1300" dirty="0"/>
          </a:p>
        </p:txBody>
      </p:sp>
      <p:sp>
        <p:nvSpPr>
          <p:cNvPr id="28" name="Курсийн тэмдэг — зүүн ханцуй circle"/>
          <p:cNvSpPr/>
          <p:nvPr/>
        </p:nvSpPr>
        <p:spPr>
          <a:xfrm>
            <a:off x="6995160" y="5257800"/>
            <a:ext cx="548640" cy="548640"/>
          </a:xfrm>
          <a:prstGeom prst="ellipse">
            <a:avLst/>
          </a:prstGeom>
          <a:solidFill>
            <a:schemeClr val="accent1"/>
          </a:solidFill>
          <a:ln w="12700">
            <a:solidFill>
              <a:schemeClr val="accent1"/>
            </a:solidFill>
            <a:prstDash val="solid"/>
          </a:ln>
        </p:spPr>
      </p:sp>
      <p:pic>
        <p:nvPicPr>
          <p:cNvPr id="29" name="Курсийн тэмдэг — зүүн ханцуй icon" descr="Курсийн тэмдэг — зүүн ханцуй">    </p:cNvPr>
          <p:cNvPicPr>
            <a:picLocks noChangeAspect="1"/>
          </p:cNvPicPr>
          <p:nvPr/>
        </p:nvPicPr>
        <p:blipFill>
          <a:blip r:embed="rId6"/>
          <a:stretch>
            <a:fillRect/>
          </a:stretch>
        </p:blipFill>
        <p:spPr>
          <a:xfrm>
            <a:off x="7126834" y="5389474"/>
            <a:ext cx="285293" cy="285293"/>
          </a:xfrm>
          <a:prstGeom prst="rect">
            <a:avLst/>
          </a:prstGeom>
        </p:spPr>
      </p:pic>
      <p:sp>
        <p:nvSpPr>
          <p:cNvPr id="30" name="Text 21"/>
          <p:cNvSpPr txBox="1"/>
          <p:nvPr/>
        </p:nvSpPr>
        <p:spPr>
          <a:xfrm>
            <a:off x="7726680" y="5212080"/>
            <a:ext cx="3916375" cy="320040"/>
          </a:xfrm>
          <a:prstGeom prst="rect">
            <a:avLst/>
          </a:prstGeom>
          <a:noFill/>
          <a:ln/>
        </p:spPr>
        <p:txBody>
          <a:bodyPr wrap="square" lIns="0" tIns="0" rIns="0" bIns="0" rtlCol="0" anchor="ctr"/>
          <a:lstStyle/>
          <a:p>
            <a:pPr indent="0" marL="0">
              <a:buNone/>
            </a:pPr>
            <a:r>
              <a:rPr lang="en-US" sz="1500" b="1" dirty="0">
                <a:solidFill>
                  <a:schemeClr val="accent1"/>
                </a:solidFill>
              </a:rPr>
              <a:t>Курсийн тэмдэг — зүүн ханцуй</a:t>
            </a:r>
            <a:endParaRPr lang="en-US" sz="1500" dirty="0"/>
          </a:p>
        </p:txBody>
      </p:sp>
      <p:sp>
        <p:nvSpPr>
          <p:cNvPr id="31" name="Text 22"/>
          <p:cNvSpPr txBox="1"/>
          <p:nvPr/>
        </p:nvSpPr>
        <p:spPr>
          <a:xfrm>
            <a:off x="7726680" y="5541264"/>
            <a:ext cx="3916375" cy="548640"/>
          </a:xfrm>
          <a:prstGeom prst="rect">
            <a:avLst/>
          </a:prstGeom>
          <a:noFill/>
          <a:ln/>
        </p:spPr>
        <p:txBody>
          <a:bodyPr wrap="square" lIns="0" tIns="0" rIns="0" bIns="0" rtlCol="0" anchor="t"/>
          <a:lstStyle/>
          <a:p>
            <a:pPr indent="0" marL="0">
              <a:buNone/>
            </a:pPr>
            <a:r>
              <a:rPr lang="en-US" sz="1300" dirty="0">
                <a:solidFill>
                  <a:schemeClr val="tx1"/>
                </a:solidFill>
              </a:rPr>
              <a:t>Хөндлөн туузын тоо 1–4 нь курсийг заана</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292608"/>
          </a:xfrm>
          <a:prstGeom prst="rect">
            <a:avLst/>
          </a:prstGeom>
          <a:noFill/>
          <a:ln/>
        </p:spPr>
        <p:txBody>
          <a:bodyPr wrap="square" lIns="0" tIns="0" rIns="0" bIns="0" rtlCol="0"/>
          <a:lstStyle/>
          <a:p>
            <a:pPr indent="0" marL="0">
              <a:buNone/>
            </a:pPr>
            <a:r>
              <a:rPr lang="en-US" sz="1200" b="1" spc="200" kern="0" dirty="0">
                <a:solidFill>
                  <a:schemeClr val="accent2"/>
                </a:solidFill>
              </a:rPr>
              <a:t>ШАГНАЛЫН ТЭМДЭГ</a:t>
            </a:r>
            <a:endParaRPr lang="en-US" sz="1200" dirty="0"/>
          </a:p>
        </p:txBody>
      </p:sp>
      <p:sp>
        <p:nvSpPr>
          <p:cNvPr id="3" name="Text 0"/>
          <p:cNvSpPr/>
          <p:nvPr>
            <p:ph idx="101" type="title" hasCustomPrompt="1"/>
          </p:nvPr>
        </p:nvSpPr>
        <p:spPr>
          <a:xfrm>
            <a:off x="548640" y="621792"/>
            <a:ext cx="11094415" cy="731520"/>
          </a:xfrm>
          <a:prstGeom prst="rect">
            <a:avLst/>
          </a:prstGeom>
          <a:noFill/>
          <a:ln/>
        </p:spPr>
        <p:txBody>
          <a:bodyPr wrap="square" lIns="0" tIns="0" rIns="0" bIns="0" rtlCol="0" anchor="t"/>
          <a:lstStyle/>
          <a:p>
            <a:pPr algn="l" indent="0" marL="0">
              <a:buNone/>
            </a:pPr>
            <a:r>
              <a:rPr lang="en-US" sz="3000" b="1" dirty="0">
                <a:solidFill>
                  <a:schemeClr val="accent1"/>
                </a:solidFill>
              </a:rPr>
              <a:t>Шагналын тогтолцоо: зөвхөн 4 тэмдэг</a:t>
            </a:r>
            <a:endParaRPr lang="en-US" sz="3000" dirty="0"/>
          </a:p>
        </p:txBody>
      </p:sp>
      <p:pic>
        <p:nvPicPr>
          <p:cNvPr id="5" name="Award badges" descr="Шагналын 4 тэмдгийн загвар: Тамирчин сонсогч, Тэргүүний суралцагч, Их жанжин Д.Сүхбаатар, Шилдэг төгсөгч">    </p:cNvPr>
          <p:cNvPicPr>
            <a:picLocks noChangeAspect="1"/>
          </p:cNvPicPr>
          <p:nvPr/>
        </p:nvPicPr>
        <p:blipFill>
          <a:blip r:embed="rId1"/>
          <a:stretch>
            <a:fillRect/>
          </a:stretch>
        </p:blipFill>
        <p:spPr>
          <a:xfrm>
            <a:off x="548640" y="1508760"/>
            <a:ext cx="3362297" cy="4617720"/>
          </a:xfrm>
          <a:prstGeom prst="rect">
            <a:avLst/>
          </a:prstGeom>
        </p:spPr>
      </p:pic>
      <p:sp>
        <p:nvSpPr>
          <p:cNvPr id="6" name="Award 1"/>
          <p:cNvSpPr/>
          <p:nvPr/>
        </p:nvSpPr>
        <p:spPr>
          <a:xfrm>
            <a:off x="4276697" y="1508760"/>
            <a:ext cx="7366358" cy="978408"/>
          </a:xfrm>
          <a:prstGeom prst="roundRect">
            <a:avLst>
              <a:gd name="adj" fmla="val 747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7" name="«Тамирчин сонсогч» circle"/>
          <p:cNvSpPr/>
          <p:nvPr/>
        </p:nvSpPr>
        <p:spPr>
          <a:xfrm>
            <a:off x="4459577" y="1783080"/>
            <a:ext cx="429768" cy="429768"/>
          </a:xfrm>
          <a:prstGeom prst="ellipse">
            <a:avLst/>
          </a:prstGeom>
          <a:solidFill>
            <a:schemeClr val="accent6"/>
          </a:solidFill>
          <a:ln w="12700">
            <a:solidFill>
              <a:schemeClr val="accent6"/>
            </a:solidFill>
            <a:prstDash val="solid"/>
          </a:ln>
        </p:spPr>
      </p:sp>
      <p:pic>
        <p:nvPicPr>
          <p:cNvPr id="8" name="«Тамирчин сонсогч» icon" descr="«Тамирчин сонсогч»">    </p:cNvPr>
          <p:cNvPicPr>
            <a:picLocks noChangeAspect="1"/>
          </p:cNvPicPr>
          <p:nvPr/>
        </p:nvPicPr>
        <p:blipFill>
          <a:blip r:embed="rId2"/>
          <a:stretch>
            <a:fillRect/>
          </a:stretch>
        </p:blipFill>
        <p:spPr>
          <a:xfrm>
            <a:off x="4562721" y="1886224"/>
            <a:ext cx="223479" cy="223479"/>
          </a:xfrm>
          <a:prstGeom prst="rect">
            <a:avLst/>
          </a:prstGeom>
        </p:spPr>
      </p:pic>
      <p:sp>
        <p:nvSpPr>
          <p:cNvPr id="9" name="Text 4"/>
          <p:cNvSpPr txBox="1"/>
          <p:nvPr/>
        </p:nvSpPr>
        <p:spPr>
          <a:xfrm>
            <a:off x="5053937" y="1600200"/>
            <a:ext cx="4760318" cy="320040"/>
          </a:xfrm>
          <a:prstGeom prst="rect">
            <a:avLst/>
          </a:prstGeom>
          <a:noFill/>
          <a:ln/>
        </p:spPr>
        <p:txBody>
          <a:bodyPr wrap="square" lIns="0" tIns="0" rIns="0" bIns="0" rtlCol="0" anchor="ctr"/>
          <a:lstStyle/>
          <a:p>
            <a:pPr indent="0" marL="0">
              <a:buNone/>
            </a:pPr>
            <a:r>
              <a:rPr lang="en-US" sz="1500" b="1" dirty="0">
                <a:solidFill>
                  <a:schemeClr val="accent1"/>
                </a:solidFill>
              </a:rPr>
              <a:t>«Тамирчин сонсогч»</a:t>
            </a:r>
            <a:pPr indent="0" marL="0">
              <a:buNone/>
            </a:pPr>
            <a:r>
              <a:rPr lang="en-US" sz="1200" dirty="0">
                <a:solidFill>
                  <a:schemeClr val="accent4"/>
                </a:solidFill>
              </a:rPr>
              <a:t>  · хөх</a:t>
            </a:r>
            <a:endParaRPr lang="en-US" sz="1500" dirty="0"/>
          </a:p>
        </p:txBody>
      </p:sp>
      <p:sp>
        <p:nvSpPr>
          <p:cNvPr id="10" name="Text 5"/>
          <p:cNvSpPr txBox="1"/>
          <p:nvPr/>
        </p:nvSpPr>
        <p:spPr>
          <a:xfrm>
            <a:off x="5053937" y="1920240"/>
            <a:ext cx="4760318" cy="530352"/>
          </a:xfrm>
          <a:prstGeom prst="rect">
            <a:avLst/>
          </a:prstGeom>
          <a:noFill/>
          <a:ln/>
        </p:spPr>
        <p:txBody>
          <a:bodyPr wrap="square" lIns="0" tIns="0" rIns="0" bIns="0" rtlCol="0" anchor="t"/>
          <a:lstStyle/>
          <a:p>
            <a:pPr indent="0" marL="0">
              <a:buNone/>
            </a:pPr>
            <a:r>
              <a:rPr lang="en-US" sz="1300" dirty="0">
                <a:solidFill>
                  <a:schemeClr val="tx1"/>
                </a:solidFill>
              </a:rPr>
              <a:t>Бие бялдрын оноо ≥ 90%, биеийн тамир «A»; ҮБХИС, ЗХ-ний тэмцээнд 1–3-р байр</a:t>
            </a:r>
            <a:endParaRPr lang="en-US" sz="1300" dirty="0"/>
          </a:p>
        </p:txBody>
      </p:sp>
      <p:sp>
        <p:nvSpPr>
          <p:cNvPr id="11" name="Text 6"/>
          <p:cNvSpPr txBox="1"/>
          <p:nvPr/>
        </p:nvSpPr>
        <p:spPr>
          <a:xfrm>
            <a:off x="9951415" y="1508760"/>
            <a:ext cx="1554480" cy="978408"/>
          </a:xfrm>
          <a:prstGeom prst="rect">
            <a:avLst/>
          </a:prstGeom>
          <a:noFill/>
          <a:ln/>
        </p:spPr>
        <p:txBody>
          <a:bodyPr wrap="square" lIns="0" tIns="0" rIns="0" bIns="0" rtlCol="0" anchor="ctr"/>
          <a:lstStyle/>
          <a:p>
            <a:pPr algn="r" indent="0" marL="0">
              <a:buNone/>
            </a:pPr>
            <a:r>
              <a:rPr lang="en-US" sz="1400" b="1" dirty="0">
                <a:solidFill>
                  <a:schemeClr val="accent2"/>
                </a:solidFill>
              </a:rPr>
              <a:t>Жил бүр</a:t>
            </a:r>
            <a:endParaRPr lang="en-US" sz="1400" dirty="0"/>
          </a:p>
          <a:p>
            <a:pPr algn="r" indent="0" marL="0">
              <a:buNone/>
            </a:pPr>
            <a:r>
              <a:rPr lang="en-US" sz="1300" dirty="0">
                <a:solidFill>
                  <a:schemeClr val="tx1"/>
                </a:solidFill>
              </a:rPr>
              <a:t>≈150 / жил</a:t>
            </a:r>
            <a:endParaRPr lang="en-US" sz="1400" dirty="0"/>
          </a:p>
        </p:txBody>
      </p:sp>
      <p:sp>
        <p:nvSpPr>
          <p:cNvPr id="12" name="Award 2"/>
          <p:cNvSpPr/>
          <p:nvPr/>
        </p:nvSpPr>
        <p:spPr>
          <a:xfrm>
            <a:off x="4276697" y="2606040"/>
            <a:ext cx="7366358" cy="978408"/>
          </a:xfrm>
          <a:prstGeom prst="roundRect">
            <a:avLst>
              <a:gd name="adj" fmla="val 747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3" name="«Тэргүүний суралцагч» circle"/>
          <p:cNvSpPr/>
          <p:nvPr/>
        </p:nvSpPr>
        <p:spPr>
          <a:xfrm>
            <a:off x="4459577" y="2880360"/>
            <a:ext cx="429768" cy="429768"/>
          </a:xfrm>
          <a:prstGeom prst="ellipse">
            <a:avLst/>
          </a:prstGeom>
          <a:solidFill>
            <a:schemeClr val="accent2"/>
          </a:solidFill>
          <a:ln w="12700">
            <a:solidFill>
              <a:schemeClr val="accent2"/>
            </a:solidFill>
            <a:prstDash val="solid"/>
          </a:ln>
        </p:spPr>
      </p:sp>
      <p:pic>
        <p:nvPicPr>
          <p:cNvPr id="14" name="«Тэргүүний суралцагч» icon" descr="«Тэргүүний суралцагч»">    </p:cNvPr>
          <p:cNvPicPr>
            <a:picLocks noChangeAspect="1"/>
          </p:cNvPicPr>
          <p:nvPr/>
        </p:nvPicPr>
        <p:blipFill>
          <a:blip r:embed="rId3"/>
          <a:stretch>
            <a:fillRect/>
          </a:stretch>
        </p:blipFill>
        <p:spPr>
          <a:xfrm>
            <a:off x="4562721" y="2983504"/>
            <a:ext cx="223479" cy="223479"/>
          </a:xfrm>
          <a:prstGeom prst="rect">
            <a:avLst/>
          </a:prstGeom>
        </p:spPr>
      </p:pic>
      <p:sp>
        <p:nvSpPr>
          <p:cNvPr id="15" name="Text 9"/>
          <p:cNvSpPr txBox="1"/>
          <p:nvPr/>
        </p:nvSpPr>
        <p:spPr>
          <a:xfrm>
            <a:off x="5053937" y="2697480"/>
            <a:ext cx="4760318" cy="320040"/>
          </a:xfrm>
          <a:prstGeom prst="rect">
            <a:avLst/>
          </a:prstGeom>
          <a:noFill/>
          <a:ln/>
        </p:spPr>
        <p:txBody>
          <a:bodyPr wrap="square" lIns="0" tIns="0" rIns="0" bIns="0" rtlCol="0" anchor="ctr"/>
          <a:lstStyle/>
          <a:p>
            <a:pPr indent="0" marL="0">
              <a:buNone/>
            </a:pPr>
            <a:r>
              <a:rPr lang="en-US" sz="1500" b="1" dirty="0">
                <a:solidFill>
                  <a:schemeClr val="accent1"/>
                </a:solidFill>
              </a:rPr>
              <a:t>«Тэргүүний суралцагч»</a:t>
            </a:r>
            <a:pPr indent="0" marL="0">
              <a:buNone/>
            </a:pPr>
            <a:r>
              <a:rPr lang="en-US" sz="1200" dirty="0">
                <a:solidFill>
                  <a:schemeClr val="accent4"/>
                </a:solidFill>
              </a:rPr>
              <a:t>  · улаан</a:t>
            </a:r>
            <a:endParaRPr lang="en-US" sz="1500" dirty="0"/>
          </a:p>
        </p:txBody>
      </p:sp>
      <p:sp>
        <p:nvSpPr>
          <p:cNvPr id="16" name="Text 10"/>
          <p:cNvSpPr txBox="1"/>
          <p:nvPr/>
        </p:nvSpPr>
        <p:spPr>
          <a:xfrm>
            <a:off x="5053937" y="3017520"/>
            <a:ext cx="4760318" cy="530352"/>
          </a:xfrm>
          <a:prstGeom prst="rect">
            <a:avLst/>
          </a:prstGeom>
          <a:noFill/>
          <a:ln/>
        </p:spPr>
        <p:txBody>
          <a:bodyPr wrap="square" lIns="0" tIns="0" rIns="0" bIns="0" rtlCol="0" anchor="t"/>
          <a:lstStyle/>
          <a:p>
            <a:pPr indent="0" marL="0">
              <a:buNone/>
            </a:pPr>
            <a:r>
              <a:rPr lang="en-US" sz="1300" dirty="0">
                <a:solidFill>
                  <a:schemeClr val="tx1"/>
                </a:solidFill>
              </a:rPr>
              <a:t>Семестрийн голч дүн ≥ 3.5, «F» үнэлгээгүй, бүх хичээлээ хугацаандаа өгсөн</a:t>
            </a:r>
            <a:endParaRPr lang="en-US" sz="1300" dirty="0"/>
          </a:p>
        </p:txBody>
      </p:sp>
      <p:sp>
        <p:nvSpPr>
          <p:cNvPr id="17" name="Text 11"/>
          <p:cNvSpPr txBox="1"/>
          <p:nvPr/>
        </p:nvSpPr>
        <p:spPr>
          <a:xfrm>
            <a:off x="9951415" y="2606040"/>
            <a:ext cx="1554480" cy="978408"/>
          </a:xfrm>
          <a:prstGeom prst="rect">
            <a:avLst/>
          </a:prstGeom>
          <a:noFill/>
          <a:ln/>
        </p:spPr>
        <p:txBody>
          <a:bodyPr wrap="square" lIns="0" tIns="0" rIns="0" bIns="0" rtlCol="0" anchor="ctr"/>
          <a:lstStyle/>
          <a:p>
            <a:pPr algn="r" indent="0" marL="0">
              <a:buNone/>
            </a:pPr>
            <a:r>
              <a:rPr lang="en-US" sz="1400" b="1" dirty="0">
                <a:solidFill>
                  <a:schemeClr val="accent2"/>
                </a:solidFill>
              </a:rPr>
              <a:t>Семестр бүр</a:t>
            </a:r>
            <a:endParaRPr lang="en-US" sz="1400" dirty="0"/>
          </a:p>
          <a:p>
            <a:pPr algn="r" indent="0" marL="0">
              <a:buNone/>
            </a:pPr>
            <a:r>
              <a:rPr lang="en-US" sz="1300" dirty="0">
                <a:solidFill>
                  <a:schemeClr val="tx1"/>
                </a:solidFill>
              </a:rPr>
              <a:t>≈400 / жил</a:t>
            </a:r>
            <a:endParaRPr lang="en-US" sz="1400" dirty="0"/>
          </a:p>
        </p:txBody>
      </p:sp>
      <p:sp>
        <p:nvSpPr>
          <p:cNvPr id="18" name="Award 3"/>
          <p:cNvSpPr/>
          <p:nvPr/>
        </p:nvSpPr>
        <p:spPr>
          <a:xfrm>
            <a:off x="4276697" y="3703320"/>
            <a:ext cx="7366358" cy="978408"/>
          </a:xfrm>
          <a:prstGeom prst="roundRect">
            <a:avLst>
              <a:gd name="adj" fmla="val 747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9" name="«Их жанжин Д.Сүхбаатар» circle"/>
          <p:cNvSpPr/>
          <p:nvPr/>
        </p:nvSpPr>
        <p:spPr>
          <a:xfrm>
            <a:off x="4459577" y="3977640"/>
            <a:ext cx="429768" cy="429768"/>
          </a:xfrm>
          <a:prstGeom prst="ellipse">
            <a:avLst/>
          </a:prstGeom>
          <a:solidFill>
            <a:schemeClr val="accent5"/>
          </a:solidFill>
          <a:ln w="12700">
            <a:solidFill>
              <a:schemeClr val="accent5"/>
            </a:solidFill>
            <a:prstDash val="solid"/>
          </a:ln>
        </p:spPr>
      </p:sp>
      <p:pic>
        <p:nvPicPr>
          <p:cNvPr id="20" name="«Их жанжин Д.Сүхбаатар» icon" descr="«Их жанжин Д.Сүхбаатар»">    </p:cNvPr>
          <p:cNvPicPr>
            <a:picLocks noChangeAspect="1"/>
          </p:cNvPicPr>
          <p:nvPr/>
        </p:nvPicPr>
        <p:blipFill>
          <a:blip r:embed="rId4"/>
          <a:stretch>
            <a:fillRect/>
          </a:stretch>
        </p:blipFill>
        <p:spPr>
          <a:xfrm>
            <a:off x="4562721" y="4080784"/>
            <a:ext cx="223479" cy="223479"/>
          </a:xfrm>
          <a:prstGeom prst="rect">
            <a:avLst/>
          </a:prstGeom>
        </p:spPr>
      </p:pic>
      <p:sp>
        <p:nvSpPr>
          <p:cNvPr id="21" name="Text 14"/>
          <p:cNvSpPr txBox="1"/>
          <p:nvPr/>
        </p:nvSpPr>
        <p:spPr>
          <a:xfrm>
            <a:off x="5053937" y="3794760"/>
            <a:ext cx="4760318" cy="320040"/>
          </a:xfrm>
          <a:prstGeom prst="rect">
            <a:avLst/>
          </a:prstGeom>
          <a:noFill/>
          <a:ln/>
        </p:spPr>
        <p:txBody>
          <a:bodyPr wrap="square" lIns="0" tIns="0" rIns="0" bIns="0" rtlCol="0" anchor="ctr"/>
          <a:lstStyle/>
          <a:p>
            <a:pPr indent="0" marL="0">
              <a:buNone/>
            </a:pPr>
            <a:r>
              <a:rPr lang="en-US" sz="1500" b="1" dirty="0">
                <a:solidFill>
                  <a:schemeClr val="accent1"/>
                </a:solidFill>
              </a:rPr>
              <a:t>«Их жанжин Д.Сүхбаатар»</a:t>
            </a:r>
            <a:pPr indent="0" marL="0">
              <a:buNone/>
            </a:pPr>
            <a:r>
              <a:rPr lang="en-US" sz="1200" dirty="0">
                <a:solidFill>
                  <a:schemeClr val="accent4"/>
                </a:solidFill>
              </a:rPr>
              <a:t>  · ногоон</a:t>
            </a:r>
            <a:endParaRPr lang="en-US" sz="1500" dirty="0"/>
          </a:p>
        </p:txBody>
      </p:sp>
      <p:sp>
        <p:nvSpPr>
          <p:cNvPr id="22" name="Text 15"/>
          <p:cNvSpPr txBox="1"/>
          <p:nvPr/>
        </p:nvSpPr>
        <p:spPr>
          <a:xfrm>
            <a:off x="5053937" y="4114800"/>
            <a:ext cx="4760318" cy="530352"/>
          </a:xfrm>
          <a:prstGeom prst="rect">
            <a:avLst/>
          </a:prstGeom>
          <a:noFill/>
          <a:ln/>
        </p:spPr>
        <p:txBody>
          <a:bodyPr wrap="square" lIns="0" tIns="0" rIns="0" bIns="0" rtlCol="0" anchor="t"/>
          <a:lstStyle/>
          <a:p>
            <a:pPr indent="0" marL="0">
              <a:buNone/>
            </a:pPr>
            <a:r>
              <a:rPr lang="en-US" sz="1300" dirty="0">
                <a:solidFill>
                  <a:schemeClr val="tx1"/>
                </a:solidFill>
              </a:rPr>
              <a:t>ҮБХИС, Монгол Улсын нэрийг олон улсад гаргасан, эх орныхоо төлөө гавьяа байгуулсан</a:t>
            </a:r>
            <a:endParaRPr lang="en-US" sz="1300" dirty="0"/>
          </a:p>
        </p:txBody>
      </p:sp>
      <p:sp>
        <p:nvSpPr>
          <p:cNvPr id="23" name="Text 16"/>
          <p:cNvSpPr txBox="1"/>
          <p:nvPr/>
        </p:nvSpPr>
        <p:spPr>
          <a:xfrm>
            <a:off x="9951415" y="3703320"/>
            <a:ext cx="1554480" cy="978408"/>
          </a:xfrm>
          <a:prstGeom prst="rect">
            <a:avLst/>
          </a:prstGeom>
          <a:noFill/>
          <a:ln/>
        </p:spPr>
        <p:txBody>
          <a:bodyPr wrap="square" lIns="0" tIns="0" rIns="0" bIns="0" rtlCol="0" anchor="ctr"/>
          <a:lstStyle/>
          <a:p>
            <a:pPr algn="r" indent="0" marL="0">
              <a:buNone/>
            </a:pPr>
            <a:r>
              <a:rPr lang="en-US" sz="1400" b="1" dirty="0">
                <a:solidFill>
                  <a:schemeClr val="accent2"/>
                </a:solidFill>
              </a:rPr>
              <a:t>Тухай бүр</a:t>
            </a:r>
            <a:endParaRPr lang="en-US" sz="1400" dirty="0"/>
          </a:p>
          <a:p>
            <a:pPr algn="r" indent="0" marL="0">
              <a:buNone/>
            </a:pPr>
            <a:r>
              <a:rPr lang="en-US" sz="1300" dirty="0">
                <a:solidFill>
                  <a:schemeClr val="tx1"/>
                </a:solidFill>
              </a:rPr>
              <a:t>≈5–15 / жил</a:t>
            </a:r>
            <a:endParaRPr lang="en-US" sz="1400" dirty="0"/>
          </a:p>
        </p:txBody>
      </p:sp>
      <p:sp>
        <p:nvSpPr>
          <p:cNvPr id="24" name="Award 4"/>
          <p:cNvSpPr/>
          <p:nvPr/>
        </p:nvSpPr>
        <p:spPr>
          <a:xfrm>
            <a:off x="4276697" y="4800600"/>
            <a:ext cx="7366358" cy="978408"/>
          </a:xfrm>
          <a:prstGeom prst="roundRect">
            <a:avLst>
              <a:gd name="adj" fmla="val 747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5" name="«Шилдэг төгсөгч» шонхор circle"/>
          <p:cNvSpPr/>
          <p:nvPr/>
        </p:nvSpPr>
        <p:spPr>
          <a:xfrm>
            <a:off x="4459577" y="5074920"/>
            <a:ext cx="429768" cy="429768"/>
          </a:xfrm>
          <a:prstGeom prst="ellipse">
            <a:avLst/>
          </a:prstGeom>
          <a:solidFill>
            <a:schemeClr val="accent3"/>
          </a:solidFill>
          <a:ln w="12700">
            <a:solidFill>
              <a:schemeClr val="accent3"/>
            </a:solidFill>
            <a:prstDash val="solid"/>
          </a:ln>
        </p:spPr>
      </p:sp>
      <p:pic>
        <p:nvPicPr>
          <p:cNvPr id="26" name="«Шилдэг төгсөгч» шонхор icon" descr="«Шилдэг төгсөгч» шонхор">    </p:cNvPr>
          <p:cNvPicPr>
            <a:picLocks noChangeAspect="1"/>
          </p:cNvPicPr>
          <p:nvPr/>
        </p:nvPicPr>
        <p:blipFill>
          <a:blip r:embed="rId5"/>
          <a:stretch>
            <a:fillRect/>
          </a:stretch>
        </p:blipFill>
        <p:spPr>
          <a:xfrm>
            <a:off x="4562721" y="5178064"/>
            <a:ext cx="223479" cy="223479"/>
          </a:xfrm>
          <a:prstGeom prst="rect">
            <a:avLst/>
          </a:prstGeom>
        </p:spPr>
      </p:pic>
      <p:sp>
        <p:nvSpPr>
          <p:cNvPr id="27" name="Text 19"/>
          <p:cNvSpPr txBox="1"/>
          <p:nvPr/>
        </p:nvSpPr>
        <p:spPr>
          <a:xfrm>
            <a:off x="5053937" y="4892040"/>
            <a:ext cx="4760318" cy="320040"/>
          </a:xfrm>
          <a:prstGeom prst="rect">
            <a:avLst/>
          </a:prstGeom>
          <a:noFill/>
          <a:ln/>
        </p:spPr>
        <p:txBody>
          <a:bodyPr wrap="square" lIns="0" tIns="0" rIns="0" bIns="0" rtlCol="0" anchor="ctr"/>
          <a:lstStyle/>
          <a:p>
            <a:pPr indent="0" marL="0">
              <a:buNone/>
            </a:pPr>
            <a:r>
              <a:rPr lang="en-US" sz="1500" b="1" dirty="0">
                <a:solidFill>
                  <a:schemeClr val="accent1"/>
                </a:solidFill>
              </a:rPr>
              <a:t>«Шилдэг төгсөгч» шонхор</a:t>
            </a:r>
            <a:pPr indent="0" marL="0">
              <a:buNone/>
            </a:pPr>
            <a:r>
              <a:rPr lang="en-US" sz="1200" dirty="0">
                <a:solidFill>
                  <a:schemeClr val="accent4"/>
                </a:solidFill>
              </a:rPr>
              <a:t>  · медаль</a:t>
            </a:r>
            <a:endParaRPr lang="en-US" sz="1500" dirty="0"/>
          </a:p>
        </p:txBody>
      </p:sp>
      <p:sp>
        <p:nvSpPr>
          <p:cNvPr id="28" name="Text 20"/>
          <p:cNvSpPr txBox="1"/>
          <p:nvPr/>
        </p:nvSpPr>
        <p:spPr>
          <a:xfrm>
            <a:off x="5053937" y="5212080"/>
            <a:ext cx="4760318" cy="530352"/>
          </a:xfrm>
          <a:prstGeom prst="rect">
            <a:avLst/>
          </a:prstGeom>
          <a:noFill/>
          <a:ln/>
        </p:spPr>
        <p:txBody>
          <a:bodyPr wrap="square" lIns="0" tIns="0" rIns="0" bIns="0" rtlCol="0" anchor="t"/>
          <a:lstStyle/>
          <a:p>
            <a:pPr indent="0" marL="0">
              <a:buNone/>
            </a:pPr>
            <a:r>
              <a:rPr lang="en-US" sz="1300" dirty="0">
                <a:solidFill>
                  <a:schemeClr val="tx1"/>
                </a:solidFill>
              </a:rPr>
              <a:t>«Цэргийн хөгжлийн нэгдсэн дүн»-гээр шалгарсан төгсөгч, ҮБХИС-ийн захирлын шийдвэрээр</a:t>
            </a:r>
            <a:endParaRPr lang="en-US" sz="1300" dirty="0"/>
          </a:p>
        </p:txBody>
      </p:sp>
      <p:sp>
        <p:nvSpPr>
          <p:cNvPr id="29" name="Text 21"/>
          <p:cNvSpPr txBox="1"/>
          <p:nvPr/>
        </p:nvSpPr>
        <p:spPr>
          <a:xfrm>
            <a:off x="9951415" y="4800600"/>
            <a:ext cx="1554480" cy="978408"/>
          </a:xfrm>
          <a:prstGeom prst="rect">
            <a:avLst/>
          </a:prstGeom>
          <a:noFill/>
          <a:ln/>
        </p:spPr>
        <p:txBody>
          <a:bodyPr wrap="square" lIns="0" tIns="0" rIns="0" bIns="0" rtlCol="0" anchor="ctr"/>
          <a:lstStyle/>
          <a:p>
            <a:pPr algn="r" indent="0" marL="0">
              <a:buNone/>
            </a:pPr>
            <a:r>
              <a:rPr lang="en-US" sz="1400" b="1" dirty="0">
                <a:solidFill>
                  <a:schemeClr val="accent2"/>
                </a:solidFill>
              </a:rPr>
              <a:t>Төгсөлтөөр</a:t>
            </a:r>
            <a:endParaRPr lang="en-US" sz="1400" dirty="0"/>
          </a:p>
          <a:p>
            <a:pPr algn="r" indent="0" marL="0">
              <a:buNone/>
            </a:pPr>
            <a:r>
              <a:rPr lang="en-US" sz="1300" dirty="0">
                <a:solidFill>
                  <a:schemeClr val="tx1"/>
                </a:solidFill>
              </a:rPr>
              <a:t>≈1–3 / жил</a:t>
            </a:r>
            <a:endParaRPr lang="en-US" sz="1400" dirty="0"/>
          </a:p>
        </p:txBody>
      </p:sp>
      <p:sp>
        <p:nvSpPr>
          <p:cNvPr id="30" name="Text 22"/>
          <p:cNvSpPr txBox="1"/>
          <p:nvPr/>
        </p:nvSpPr>
        <p:spPr>
          <a:xfrm>
            <a:off x="4276697" y="5870448"/>
            <a:ext cx="7366358" cy="365760"/>
          </a:xfrm>
          <a:prstGeom prst="rect">
            <a:avLst/>
          </a:prstGeom>
          <a:noFill/>
          <a:ln/>
        </p:spPr>
        <p:txBody>
          <a:bodyPr wrap="square" lIns="0" tIns="0" rIns="0" bIns="0" rtlCol="0" anchor="ctr"/>
          <a:lstStyle/>
          <a:p>
            <a:pPr indent="0" marL="0">
              <a:buNone/>
            </a:pPr>
            <a:r>
              <a:rPr lang="en-US" sz="1200" b="1" dirty="0">
                <a:solidFill>
                  <a:schemeClr val="accent2"/>
                </a:solidFill>
              </a:rPr>
              <a:t>Журам: </a:t>
            </a:r>
            <a:pPr indent="0" marL="0">
              <a:buNone/>
            </a:pPr>
            <a:r>
              <a:rPr lang="en-US" sz="1200" dirty="0">
                <a:solidFill>
                  <a:schemeClr val="tx1"/>
                </a:solidFill>
              </a:rPr>
              <a:t>баруун энгэрт эрэмбээр зүүнэ · хорооны ёслолын жагсаалаар гардуулж, цахим бүртгэлд оруулна · шийтгэлтэй сонсогч хамрагдахгүй · 5 хоногт давж заалдана</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292608"/>
          </a:xfrm>
          <a:prstGeom prst="rect">
            <a:avLst/>
          </a:prstGeom>
          <a:noFill/>
          <a:ln/>
        </p:spPr>
        <p:txBody>
          <a:bodyPr wrap="square" lIns="0" tIns="0" rIns="0" bIns="0" rtlCol="0"/>
          <a:lstStyle/>
          <a:p>
            <a:pPr indent="0" marL="0">
              <a:buNone/>
            </a:pPr>
            <a:r>
              <a:rPr lang="en-US" sz="1200" b="1" spc="200" kern="0" dirty="0">
                <a:solidFill>
                  <a:schemeClr val="accent2"/>
                </a:solidFill>
              </a:rPr>
              <a:t>НЭГДСЭН ТӨЛӨВЛӨГӨӨ</a:t>
            </a:r>
            <a:endParaRPr lang="en-US" sz="1200" dirty="0"/>
          </a:p>
        </p:txBody>
      </p:sp>
      <p:sp>
        <p:nvSpPr>
          <p:cNvPr id="3" name="Text 0"/>
          <p:cNvSpPr/>
          <p:nvPr>
            <p:ph idx="101" type="title" hasCustomPrompt="1"/>
          </p:nvPr>
        </p:nvSpPr>
        <p:spPr>
          <a:xfrm>
            <a:off x="548640" y="621792"/>
            <a:ext cx="11094415" cy="731520"/>
          </a:xfrm>
          <a:prstGeom prst="rect">
            <a:avLst/>
          </a:prstGeom>
          <a:noFill/>
          <a:ln/>
        </p:spPr>
        <p:txBody>
          <a:bodyPr wrap="square" lIns="0" tIns="0" rIns="0" bIns="0" rtlCol="0" anchor="t"/>
          <a:lstStyle/>
          <a:p>
            <a:pPr algn="l" indent="0" marL="0">
              <a:buNone/>
            </a:pPr>
            <a:r>
              <a:rPr lang="en-US" sz="3000" b="1" dirty="0">
                <a:solidFill>
                  <a:schemeClr val="accent1"/>
                </a:solidFill>
              </a:rPr>
              <a:t>Хэрэгжүүлэх үе шат: 2026.11 – 2031</a:t>
            </a:r>
            <a:endParaRPr lang="en-US" sz="3000" dirty="0"/>
          </a:p>
        </p:txBody>
      </p:sp>
      <p:sp>
        <p:nvSpPr>
          <p:cNvPr id="5" name="Timeline"/>
          <p:cNvSpPr/>
          <p:nvPr/>
        </p:nvSpPr>
        <p:spPr>
          <a:xfrm>
            <a:off x="1473175" y="2331720"/>
            <a:ext cx="9245346" cy="0"/>
          </a:xfrm>
          <a:prstGeom prst="line">
            <a:avLst/>
          </a:prstGeom>
          <a:noFill/>
          <a:ln w="25400">
            <a:solidFill>
              <a:srgbClr val="5B6B85"/>
            </a:solidFill>
            <a:prstDash val="solid"/>
          </a:ln>
        </p:spPr>
      </p:sp>
      <p:sp>
        <p:nvSpPr>
          <p:cNvPr id="6" name="Text 3"/>
          <p:cNvSpPr txBox="1"/>
          <p:nvPr/>
        </p:nvSpPr>
        <p:spPr>
          <a:xfrm>
            <a:off x="548640" y="1600200"/>
            <a:ext cx="1849069" cy="365760"/>
          </a:xfrm>
          <a:prstGeom prst="rect">
            <a:avLst/>
          </a:prstGeom>
          <a:noFill/>
          <a:ln/>
        </p:spPr>
        <p:txBody>
          <a:bodyPr wrap="square" lIns="0" tIns="0" rIns="0" bIns="0" rtlCol="0" anchor="ctr"/>
          <a:lstStyle/>
          <a:p>
            <a:pPr algn="ctr" indent="0" marL="0">
              <a:buNone/>
            </a:pPr>
            <a:r>
              <a:rPr lang="en-US" sz="1400" b="1" dirty="0">
                <a:solidFill>
                  <a:schemeClr val="accent1"/>
                </a:solidFill>
              </a:rPr>
              <a:t>2026.11–2027.02</a:t>
            </a:r>
            <a:endParaRPr lang="en-US" sz="1400" dirty="0"/>
          </a:p>
        </p:txBody>
      </p:sp>
      <p:sp>
        <p:nvSpPr>
          <p:cNvPr id="7" name="Node 1"/>
          <p:cNvSpPr/>
          <p:nvPr/>
        </p:nvSpPr>
        <p:spPr>
          <a:xfrm>
            <a:off x="1326871" y="2185416"/>
            <a:ext cx="292608" cy="292608"/>
          </a:xfrm>
          <a:prstGeom prst="ellipse">
            <a:avLst/>
          </a:prstGeom>
          <a:solidFill>
            <a:schemeClr val="accent1"/>
          </a:solidFill>
          <a:ln w="25400">
            <a:solidFill>
              <a:schemeClr val="bg1"/>
            </a:solidFill>
            <a:prstDash val="solid"/>
          </a:ln>
        </p:spPr>
      </p:sp>
      <p:sp>
        <p:nvSpPr>
          <p:cNvPr id="8" name="Phase 1"/>
          <p:cNvSpPr/>
          <p:nvPr/>
        </p:nvSpPr>
        <p:spPr>
          <a:xfrm>
            <a:off x="612648" y="2697480"/>
            <a:ext cx="1721053" cy="3291840"/>
          </a:xfrm>
          <a:prstGeom prst="roundRect">
            <a:avLst>
              <a:gd name="adj" fmla="val 425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749808" y="2788920"/>
            <a:ext cx="1446733" cy="594360"/>
          </a:xfrm>
          <a:prstGeom prst="rect">
            <a:avLst/>
          </a:prstGeom>
          <a:noFill/>
          <a:ln/>
        </p:spPr>
        <p:txBody>
          <a:bodyPr wrap="square" lIns="0" tIns="0" rIns="0" bIns="0" rtlCol="0" anchor="ctr"/>
          <a:lstStyle/>
          <a:p>
            <a:pPr indent="0" marL="0">
              <a:buNone/>
            </a:pPr>
            <a:r>
              <a:rPr lang="en-US" sz="1500" b="1" dirty="0">
                <a:solidFill>
                  <a:schemeClr val="accent1"/>
                </a:solidFill>
              </a:rPr>
              <a:t>Бэлтгэл, батлах</a:t>
            </a:r>
            <a:endParaRPr lang="en-US" sz="1500" dirty="0"/>
          </a:p>
        </p:txBody>
      </p:sp>
      <p:sp>
        <p:nvSpPr>
          <p:cNvPr id="10" name="Text 7"/>
          <p:cNvSpPr txBox="1"/>
          <p:nvPr/>
        </p:nvSpPr>
        <p:spPr>
          <a:xfrm>
            <a:off x="722376" y="3429000"/>
            <a:ext cx="1501597" cy="2468880"/>
          </a:xfrm>
          <a:prstGeom prst="rect">
            <a:avLst/>
          </a:prstGeom>
          <a:noFill/>
          <a:ln/>
        </p:spPr>
        <p:txBody>
          <a:bodyPr wrap="square" lIns="0" tIns="0" rIns="0" bIns="0" rtlCol="0" anchor="t"/>
          <a:lstStyle/>
          <a:p>
            <a:pPr marL="152400" indent="-152400">
              <a:spcAft>
                <a:spcPts val="800"/>
              </a:spcAft>
              <a:buSzPct val="100000"/>
              <a:buChar char="•"/>
            </a:pPr>
            <a:r>
              <a:rPr lang="en-US" sz="1400" dirty="0">
                <a:solidFill>
                  <a:schemeClr val="tx1"/>
                </a:solidFill>
              </a:rPr>
              <a:t>Ажлын хэсэг байгуулах</a:t>
            </a:r>
            <a:endParaRPr lang="en-US" sz="1400" dirty="0"/>
          </a:p>
          <a:p>
            <a:pPr marL="152400" indent="-152400">
              <a:spcAft>
                <a:spcPts val="800"/>
              </a:spcAft>
              <a:buSzPct val="100000"/>
              <a:buChar char="•"/>
            </a:pPr>
            <a:r>
              <a:rPr lang="en-US" sz="1400" dirty="0">
                <a:solidFill>
                  <a:schemeClr val="tx1"/>
                </a:solidFill>
              </a:rPr>
              <a:t>Журмын төсөл, тэмдгийн загварыг хэлэлцүүлэх</a:t>
            </a:r>
            <a:endParaRPr lang="en-US" sz="1400" dirty="0"/>
          </a:p>
          <a:p>
            <a:pPr marL="152400" indent="-152400">
              <a:spcAft>
                <a:spcPts val="800"/>
              </a:spcAft>
              <a:buSzPct val="100000"/>
              <a:buChar char="•"/>
            </a:pPr>
            <a:r>
              <a:rPr lang="en-US" sz="1400" dirty="0">
                <a:solidFill>
                  <a:schemeClr val="tx1"/>
                </a:solidFill>
              </a:rPr>
              <a:t>ЗХЖШ, БХЯ-тай зөвшилцөж, захирлын тушаалаар батлах</a:t>
            </a:r>
            <a:endParaRPr lang="en-US" sz="1400" dirty="0"/>
          </a:p>
        </p:txBody>
      </p:sp>
      <p:sp>
        <p:nvSpPr>
          <p:cNvPr id="11" name="Text 8"/>
          <p:cNvSpPr txBox="1"/>
          <p:nvPr/>
        </p:nvSpPr>
        <p:spPr>
          <a:xfrm>
            <a:off x="2397709" y="1600200"/>
            <a:ext cx="1849069" cy="365760"/>
          </a:xfrm>
          <a:prstGeom prst="rect">
            <a:avLst/>
          </a:prstGeom>
          <a:noFill/>
          <a:ln/>
        </p:spPr>
        <p:txBody>
          <a:bodyPr wrap="square" lIns="0" tIns="0" rIns="0" bIns="0" rtlCol="0" anchor="ctr"/>
          <a:lstStyle/>
          <a:p>
            <a:pPr algn="ctr" indent="0" marL="0">
              <a:buNone/>
            </a:pPr>
            <a:r>
              <a:rPr lang="en-US" sz="1400" b="1" dirty="0">
                <a:solidFill>
                  <a:schemeClr val="accent1"/>
                </a:solidFill>
              </a:rPr>
              <a:t>2027.02–03</a:t>
            </a:r>
            <a:endParaRPr lang="en-US" sz="1400" dirty="0"/>
          </a:p>
        </p:txBody>
      </p:sp>
      <p:sp>
        <p:nvSpPr>
          <p:cNvPr id="12" name="Node 2"/>
          <p:cNvSpPr/>
          <p:nvPr/>
        </p:nvSpPr>
        <p:spPr>
          <a:xfrm>
            <a:off x="3175940" y="2185416"/>
            <a:ext cx="292608" cy="292608"/>
          </a:xfrm>
          <a:prstGeom prst="ellipse">
            <a:avLst/>
          </a:prstGeom>
          <a:solidFill>
            <a:schemeClr val="accent1"/>
          </a:solidFill>
          <a:ln w="25400">
            <a:solidFill>
              <a:schemeClr val="bg1"/>
            </a:solidFill>
            <a:prstDash val="solid"/>
          </a:ln>
        </p:spPr>
      </p:sp>
      <p:sp>
        <p:nvSpPr>
          <p:cNvPr id="13" name="Phase 2"/>
          <p:cNvSpPr/>
          <p:nvPr/>
        </p:nvSpPr>
        <p:spPr>
          <a:xfrm>
            <a:off x="2461717" y="2697480"/>
            <a:ext cx="1721053" cy="3291840"/>
          </a:xfrm>
          <a:prstGeom prst="roundRect">
            <a:avLst>
              <a:gd name="adj" fmla="val 425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Text 11"/>
          <p:cNvSpPr txBox="1"/>
          <p:nvPr/>
        </p:nvSpPr>
        <p:spPr>
          <a:xfrm>
            <a:off x="2598877" y="2788920"/>
            <a:ext cx="1446733" cy="594360"/>
          </a:xfrm>
          <a:prstGeom prst="rect">
            <a:avLst/>
          </a:prstGeom>
          <a:noFill/>
          <a:ln/>
        </p:spPr>
        <p:txBody>
          <a:bodyPr wrap="square" lIns="0" tIns="0" rIns="0" bIns="0" rtlCol="0" anchor="ctr"/>
          <a:lstStyle/>
          <a:p>
            <a:pPr indent="0" marL="0">
              <a:buNone/>
            </a:pPr>
            <a:r>
              <a:rPr lang="en-US" sz="1500" b="1" dirty="0">
                <a:solidFill>
                  <a:schemeClr val="accent1"/>
                </a:solidFill>
              </a:rPr>
              <a:t>Сургагч, багц</a:t>
            </a:r>
            <a:endParaRPr lang="en-US" sz="1500" dirty="0"/>
          </a:p>
        </p:txBody>
      </p:sp>
      <p:sp>
        <p:nvSpPr>
          <p:cNvPr id="15" name="Text 12"/>
          <p:cNvSpPr txBox="1"/>
          <p:nvPr/>
        </p:nvSpPr>
        <p:spPr>
          <a:xfrm>
            <a:off x="2571445" y="3429000"/>
            <a:ext cx="1501597" cy="2468880"/>
          </a:xfrm>
          <a:prstGeom prst="rect">
            <a:avLst/>
          </a:prstGeom>
          <a:noFill/>
          <a:ln/>
        </p:spPr>
        <p:txBody>
          <a:bodyPr wrap="square" lIns="0" tIns="0" rIns="0" bIns="0" rtlCol="0" anchor="t"/>
          <a:lstStyle/>
          <a:p>
            <a:pPr marL="152400" indent="-152400">
              <a:spcAft>
                <a:spcPts val="800"/>
              </a:spcAft>
              <a:buSzPct val="100000"/>
              <a:buChar char="•"/>
            </a:pPr>
            <a:r>
              <a:rPr lang="en-US" sz="1400" dirty="0">
                <a:solidFill>
                  <a:schemeClr val="tx1"/>
                </a:solidFill>
              </a:rPr>
              <a:t>Сургагч офицер, ахлагчийг сургах</a:t>
            </a:r>
            <a:endParaRPr lang="en-US" sz="1400" dirty="0"/>
          </a:p>
          <a:p>
            <a:pPr marL="152400" indent="-152400">
              <a:spcAft>
                <a:spcPts val="800"/>
              </a:spcAft>
              <a:buSzPct val="100000"/>
              <a:buChar char="•"/>
            </a:pPr>
            <a:r>
              <a:rPr lang="en-US" sz="1400" dirty="0">
                <a:solidFill>
                  <a:schemeClr val="tx1"/>
                </a:solidFill>
              </a:rPr>
              <a:t>Удирдагчдыг шалгаруулж сургах (≈40 цаг)</a:t>
            </a:r>
            <a:endParaRPr lang="en-US" sz="1400" dirty="0"/>
          </a:p>
          <a:p>
            <a:pPr marL="152400" indent="-152400">
              <a:spcAft>
                <a:spcPts val="800"/>
              </a:spcAft>
              <a:buSzPct val="100000"/>
              <a:buChar char="•"/>
            </a:pPr>
            <a:r>
              <a:rPr lang="en-US" sz="1400" dirty="0">
                <a:solidFill>
                  <a:schemeClr val="tx1"/>
                </a:solidFill>
              </a:rPr>
              <a:t>1 батальоны тэмдгийн багц хийлгэх</a:t>
            </a:r>
            <a:endParaRPr lang="en-US" sz="1400" dirty="0"/>
          </a:p>
        </p:txBody>
      </p:sp>
      <p:sp>
        <p:nvSpPr>
          <p:cNvPr id="16" name="Text 13"/>
          <p:cNvSpPr txBox="1"/>
          <p:nvPr/>
        </p:nvSpPr>
        <p:spPr>
          <a:xfrm>
            <a:off x="4246778" y="1600200"/>
            <a:ext cx="1849069" cy="365760"/>
          </a:xfrm>
          <a:prstGeom prst="rect">
            <a:avLst/>
          </a:prstGeom>
          <a:noFill/>
          <a:ln/>
        </p:spPr>
        <p:txBody>
          <a:bodyPr wrap="square" lIns="0" tIns="0" rIns="0" bIns="0" rtlCol="0" anchor="ctr"/>
          <a:lstStyle/>
          <a:p>
            <a:pPr algn="ctr" indent="0" marL="0">
              <a:buNone/>
            </a:pPr>
            <a:r>
              <a:rPr lang="en-US" sz="1400" b="1" dirty="0">
                <a:solidFill>
                  <a:schemeClr val="accent2"/>
                </a:solidFill>
              </a:rPr>
              <a:t>2027.03–06</a:t>
            </a:r>
            <a:endParaRPr lang="en-US" sz="1400" dirty="0"/>
          </a:p>
        </p:txBody>
      </p:sp>
      <p:sp>
        <p:nvSpPr>
          <p:cNvPr id="17" name="Node 3"/>
          <p:cNvSpPr/>
          <p:nvPr/>
        </p:nvSpPr>
        <p:spPr>
          <a:xfrm>
            <a:off x="5025009" y="2185416"/>
            <a:ext cx="292608" cy="292608"/>
          </a:xfrm>
          <a:prstGeom prst="ellipse">
            <a:avLst/>
          </a:prstGeom>
          <a:solidFill>
            <a:schemeClr val="accent2"/>
          </a:solidFill>
          <a:ln w="25400">
            <a:solidFill>
              <a:schemeClr val="bg1"/>
            </a:solidFill>
            <a:prstDash val="solid"/>
          </a:ln>
        </p:spPr>
      </p:sp>
      <p:sp>
        <p:nvSpPr>
          <p:cNvPr id="18" name="Phase 3"/>
          <p:cNvSpPr/>
          <p:nvPr/>
        </p:nvSpPr>
        <p:spPr>
          <a:xfrm>
            <a:off x="4310786" y="2697480"/>
            <a:ext cx="1721053" cy="3291840"/>
          </a:xfrm>
          <a:prstGeom prst="roundRect">
            <a:avLst>
              <a:gd name="adj" fmla="val 4250"/>
            </a:avLst>
          </a:prstGeom>
          <a:solidFill>
            <a:srgbClr val="FBE8EB"/>
          </a:solidFill>
          <a:ln w="12700">
            <a:solidFill>
              <a:srgbClr val="FBE8EB"/>
            </a:solidFill>
            <a:prstDash val="solid"/>
          </a:ln>
          <a:effectLst>
            <a:outerShdw sx="100000" sy="100000" kx="0" ky="0" algn="bl" rotWithShape="0" blurRad="76200" dist="25400" dir="5400000">
              <a:srgbClr val="000000">
                <a:alpha val="12000"/>
              </a:srgbClr>
            </a:outerShdw>
          </a:effectLst>
        </p:spPr>
      </p:sp>
      <p:sp>
        <p:nvSpPr>
          <p:cNvPr id="19" name="Text 16"/>
          <p:cNvSpPr txBox="1"/>
          <p:nvPr/>
        </p:nvSpPr>
        <p:spPr>
          <a:xfrm>
            <a:off x="4447946" y="2788920"/>
            <a:ext cx="1446733" cy="594360"/>
          </a:xfrm>
          <a:prstGeom prst="rect">
            <a:avLst/>
          </a:prstGeom>
          <a:noFill/>
          <a:ln/>
        </p:spPr>
        <p:txBody>
          <a:bodyPr wrap="square" lIns="0" tIns="0" rIns="0" bIns="0" rtlCol="0" anchor="ctr"/>
          <a:lstStyle/>
          <a:p>
            <a:pPr indent="0" marL="0">
              <a:buNone/>
            </a:pPr>
            <a:r>
              <a:rPr lang="en-US" sz="1500" b="1" dirty="0">
                <a:solidFill>
                  <a:schemeClr val="accent2"/>
                </a:solidFill>
              </a:rPr>
              <a:t>Туршилт</a:t>
            </a:r>
            <a:endParaRPr lang="en-US" sz="1500" dirty="0"/>
          </a:p>
        </p:txBody>
      </p:sp>
      <p:sp>
        <p:nvSpPr>
          <p:cNvPr id="20" name="Text 17"/>
          <p:cNvSpPr txBox="1"/>
          <p:nvPr/>
        </p:nvSpPr>
        <p:spPr>
          <a:xfrm>
            <a:off x="4420514" y="3429000"/>
            <a:ext cx="1501597" cy="2468880"/>
          </a:xfrm>
          <a:prstGeom prst="rect">
            <a:avLst/>
          </a:prstGeom>
          <a:noFill/>
          <a:ln/>
        </p:spPr>
        <p:txBody>
          <a:bodyPr wrap="square" lIns="0" tIns="0" rIns="0" bIns="0" rtlCol="0" anchor="t"/>
          <a:lstStyle/>
          <a:p>
            <a:pPr marL="152400" indent="-152400">
              <a:spcAft>
                <a:spcPts val="800"/>
              </a:spcAft>
              <a:buSzPct val="100000"/>
              <a:buChar char="•"/>
            </a:pPr>
            <a:r>
              <a:rPr lang="en-US" sz="1400" dirty="0">
                <a:solidFill>
                  <a:schemeClr val="tx1"/>
                </a:solidFill>
              </a:rPr>
              <a:t>Нэг батальонд турших</a:t>
            </a:r>
            <a:endParaRPr lang="en-US" sz="1400" dirty="0"/>
          </a:p>
          <a:p>
            <a:pPr marL="152400" indent="-152400">
              <a:spcAft>
                <a:spcPts val="800"/>
              </a:spcAft>
              <a:buSzPct val="100000"/>
              <a:buChar char="•"/>
            </a:pPr>
            <a:r>
              <a:rPr lang="en-US" sz="1400" dirty="0">
                <a:solidFill>
                  <a:schemeClr val="tx1"/>
                </a:solidFill>
              </a:rPr>
              <a:t>Эрх хэмжээний матриц, сахилгын оноог турших</a:t>
            </a:r>
            <a:endParaRPr lang="en-US" sz="1400" dirty="0"/>
          </a:p>
          <a:p>
            <a:pPr marL="152400" indent="-152400">
              <a:spcAft>
                <a:spcPts val="800"/>
              </a:spcAft>
              <a:buSzPct val="100000"/>
              <a:buChar char="•"/>
            </a:pPr>
            <a:r>
              <a:rPr lang="en-US" sz="1400" dirty="0">
                <a:solidFill>
                  <a:schemeClr val="tx1"/>
                </a:solidFill>
              </a:rPr>
              <a:t>Анхны шагналын тэмдэг олгох</a:t>
            </a:r>
            <a:endParaRPr lang="en-US" sz="1400" dirty="0"/>
          </a:p>
        </p:txBody>
      </p:sp>
      <p:sp>
        <p:nvSpPr>
          <p:cNvPr id="21" name="Text 18"/>
          <p:cNvSpPr txBox="1"/>
          <p:nvPr/>
        </p:nvSpPr>
        <p:spPr>
          <a:xfrm>
            <a:off x="6095848" y="1600200"/>
            <a:ext cx="1849069" cy="365760"/>
          </a:xfrm>
          <a:prstGeom prst="rect">
            <a:avLst/>
          </a:prstGeom>
          <a:noFill/>
          <a:ln/>
        </p:spPr>
        <p:txBody>
          <a:bodyPr wrap="square" lIns="0" tIns="0" rIns="0" bIns="0" rtlCol="0" anchor="ctr"/>
          <a:lstStyle/>
          <a:p>
            <a:pPr algn="ctr" indent="0" marL="0">
              <a:buNone/>
            </a:pPr>
            <a:r>
              <a:rPr lang="en-US" sz="1400" b="1" dirty="0">
                <a:solidFill>
                  <a:schemeClr val="accent1"/>
                </a:solidFill>
              </a:rPr>
              <a:t>2027.08–2028.06</a:t>
            </a:r>
            <a:endParaRPr lang="en-US" sz="1400" dirty="0"/>
          </a:p>
        </p:txBody>
      </p:sp>
      <p:sp>
        <p:nvSpPr>
          <p:cNvPr id="22" name="Node 4"/>
          <p:cNvSpPr/>
          <p:nvPr/>
        </p:nvSpPr>
        <p:spPr>
          <a:xfrm>
            <a:off x="6874078" y="2185416"/>
            <a:ext cx="292608" cy="292608"/>
          </a:xfrm>
          <a:prstGeom prst="ellipse">
            <a:avLst/>
          </a:prstGeom>
          <a:solidFill>
            <a:schemeClr val="accent1"/>
          </a:solidFill>
          <a:ln w="25400">
            <a:solidFill>
              <a:schemeClr val="bg1"/>
            </a:solidFill>
            <a:prstDash val="solid"/>
          </a:ln>
        </p:spPr>
      </p:sp>
      <p:sp>
        <p:nvSpPr>
          <p:cNvPr id="23" name="Phase 4"/>
          <p:cNvSpPr/>
          <p:nvPr/>
        </p:nvSpPr>
        <p:spPr>
          <a:xfrm>
            <a:off x="6159856" y="2697480"/>
            <a:ext cx="1721053" cy="3291840"/>
          </a:xfrm>
          <a:prstGeom prst="roundRect">
            <a:avLst>
              <a:gd name="adj" fmla="val 425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4" name="Text 21"/>
          <p:cNvSpPr txBox="1"/>
          <p:nvPr/>
        </p:nvSpPr>
        <p:spPr>
          <a:xfrm>
            <a:off x="6297016" y="2788920"/>
            <a:ext cx="1446733" cy="594360"/>
          </a:xfrm>
          <a:prstGeom prst="rect">
            <a:avLst/>
          </a:prstGeom>
          <a:noFill/>
          <a:ln/>
        </p:spPr>
        <p:txBody>
          <a:bodyPr wrap="square" lIns="0" tIns="0" rIns="0" bIns="0" rtlCol="0" anchor="ctr"/>
          <a:lstStyle/>
          <a:p>
            <a:pPr indent="0" marL="0">
              <a:buNone/>
            </a:pPr>
            <a:r>
              <a:rPr lang="en-US" sz="1500" b="1" dirty="0">
                <a:solidFill>
                  <a:schemeClr val="accent1"/>
                </a:solidFill>
              </a:rPr>
              <a:t>Бүрэн нэвтрүүлэх</a:t>
            </a:r>
            <a:endParaRPr lang="en-US" sz="1500" dirty="0"/>
          </a:p>
        </p:txBody>
      </p:sp>
      <p:sp>
        <p:nvSpPr>
          <p:cNvPr id="25" name="Text 22"/>
          <p:cNvSpPr txBox="1"/>
          <p:nvPr/>
        </p:nvSpPr>
        <p:spPr>
          <a:xfrm>
            <a:off x="6269584" y="3429000"/>
            <a:ext cx="1501597" cy="2468880"/>
          </a:xfrm>
          <a:prstGeom prst="rect">
            <a:avLst/>
          </a:prstGeom>
          <a:noFill/>
          <a:ln/>
        </p:spPr>
        <p:txBody>
          <a:bodyPr wrap="square" lIns="0" tIns="0" rIns="0" bIns="0" rtlCol="0" anchor="t"/>
          <a:lstStyle/>
          <a:p>
            <a:pPr marL="152400" indent="-152400">
              <a:spcAft>
                <a:spcPts val="800"/>
              </a:spcAft>
              <a:buSzPct val="100000"/>
              <a:buChar char="•"/>
            </a:pPr>
            <a:r>
              <a:rPr lang="en-US" sz="1400" dirty="0">
                <a:solidFill>
                  <a:schemeClr val="tx1"/>
                </a:solidFill>
              </a:rPr>
              <a:t>3 батальон, 12 рот бүрдүүлэх</a:t>
            </a:r>
            <a:endParaRPr lang="en-US" sz="1400" dirty="0"/>
          </a:p>
          <a:p>
            <a:pPr marL="152400" indent="-152400">
              <a:spcAft>
                <a:spcPts val="800"/>
              </a:spcAft>
              <a:buSzPct val="100000"/>
              <a:buChar char="•"/>
            </a:pPr>
            <a:r>
              <a:rPr lang="en-US" sz="1400" dirty="0">
                <a:solidFill>
                  <a:schemeClr val="tx1"/>
                </a:solidFill>
              </a:rPr>
              <a:t>Нэрэмжит рот, туг, ёслол нэвтрүүлэх</a:t>
            </a:r>
            <a:endParaRPr lang="en-US" sz="1400" dirty="0"/>
          </a:p>
          <a:p>
            <a:pPr marL="152400" indent="-152400">
              <a:spcAft>
                <a:spcPts val="800"/>
              </a:spcAft>
              <a:buSzPct val="100000"/>
              <a:buChar char="•"/>
            </a:pPr>
            <a:r>
              <a:rPr lang="en-US" sz="1400" dirty="0">
                <a:solidFill>
                  <a:schemeClr val="tx1"/>
                </a:solidFill>
              </a:rPr>
              <a:t>Бүх сонсогчид тэмдэг олгох</a:t>
            </a:r>
            <a:endParaRPr lang="en-US" sz="1400" dirty="0"/>
          </a:p>
        </p:txBody>
      </p:sp>
      <p:sp>
        <p:nvSpPr>
          <p:cNvPr id="26" name="Text 23"/>
          <p:cNvSpPr txBox="1"/>
          <p:nvPr/>
        </p:nvSpPr>
        <p:spPr>
          <a:xfrm>
            <a:off x="7944917" y="1600200"/>
            <a:ext cx="1849069" cy="365760"/>
          </a:xfrm>
          <a:prstGeom prst="rect">
            <a:avLst/>
          </a:prstGeom>
          <a:noFill/>
          <a:ln/>
        </p:spPr>
        <p:txBody>
          <a:bodyPr wrap="square" lIns="0" tIns="0" rIns="0" bIns="0" rtlCol="0" anchor="ctr"/>
          <a:lstStyle/>
          <a:p>
            <a:pPr algn="ctr" indent="0" marL="0">
              <a:buNone/>
            </a:pPr>
            <a:r>
              <a:rPr lang="en-US" sz="1400" b="1" dirty="0">
                <a:solidFill>
                  <a:schemeClr val="accent1"/>
                </a:solidFill>
              </a:rPr>
              <a:t>2028.06–2029.06</a:t>
            </a:r>
            <a:endParaRPr lang="en-US" sz="1400" dirty="0"/>
          </a:p>
        </p:txBody>
      </p:sp>
      <p:sp>
        <p:nvSpPr>
          <p:cNvPr id="27" name="Node 5"/>
          <p:cNvSpPr/>
          <p:nvPr/>
        </p:nvSpPr>
        <p:spPr>
          <a:xfrm>
            <a:off x="8723147" y="2185416"/>
            <a:ext cx="292608" cy="292608"/>
          </a:xfrm>
          <a:prstGeom prst="ellipse">
            <a:avLst/>
          </a:prstGeom>
          <a:solidFill>
            <a:schemeClr val="accent1"/>
          </a:solidFill>
          <a:ln w="25400">
            <a:solidFill>
              <a:schemeClr val="bg1"/>
            </a:solidFill>
            <a:prstDash val="solid"/>
          </a:ln>
        </p:spPr>
      </p:sp>
      <p:sp>
        <p:nvSpPr>
          <p:cNvPr id="28" name="Phase 5"/>
          <p:cNvSpPr/>
          <p:nvPr/>
        </p:nvSpPr>
        <p:spPr>
          <a:xfrm>
            <a:off x="8008925" y="2697480"/>
            <a:ext cx="1721053" cy="3291840"/>
          </a:xfrm>
          <a:prstGeom prst="roundRect">
            <a:avLst>
              <a:gd name="adj" fmla="val 425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9" name="Text 26"/>
          <p:cNvSpPr txBox="1"/>
          <p:nvPr/>
        </p:nvSpPr>
        <p:spPr>
          <a:xfrm>
            <a:off x="8146085" y="2788920"/>
            <a:ext cx="1446733" cy="594360"/>
          </a:xfrm>
          <a:prstGeom prst="rect">
            <a:avLst/>
          </a:prstGeom>
          <a:noFill/>
          <a:ln/>
        </p:spPr>
        <p:txBody>
          <a:bodyPr wrap="square" lIns="0" tIns="0" rIns="0" bIns="0" rtlCol="0" anchor="ctr"/>
          <a:lstStyle/>
          <a:p>
            <a:pPr indent="0" marL="0">
              <a:buNone/>
            </a:pPr>
            <a:r>
              <a:rPr lang="en-US" sz="1500" b="1" dirty="0">
                <a:solidFill>
                  <a:schemeClr val="accent1"/>
                </a:solidFill>
              </a:rPr>
              <a:t>Үнэлэх, сайжруулах</a:t>
            </a:r>
            <a:endParaRPr lang="en-US" sz="1500" dirty="0"/>
          </a:p>
        </p:txBody>
      </p:sp>
      <p:sp>
        <p:nvSpPr>
          <p:cNvPr id="30" name="Text 27"/>
          <p:cNvSpPr txBox="1"/>
          <p:nvPr/>
        </p:nvSpPr>
        <p:spPr>
          <a:xfrm>
            <a:off x="8118653" y="3429000"/>
            <a:ext cx="1501597" cy="2468880"/>
          </a:xfrm>
          <a:prstGeom prst="rect">
            <a:avLst/>
          </a:prstGeom>
          <a:noFill/>
          <a:ln/>
        </p:spPr>
        <p:txBody>
          <a:bodyPr wrap="square" lIns="0" tIns="0" rIns="0" bIns="0" rtlCol="0" anchor="t"/>
          <a:lstStyle/>
          <a:p>
            <a:pPr marL="152400" indent="-152400">
              <a:spcAft>
                <a:spcPts val="800"/>
              </a:spcAft>
              <a:buSzPct val="100000"/>
              <a:buChar char="•"/>
            </a:pPr>
            <a:r>
              <a:rPr lang="en-US" sz="1400" dirty="0">
                <a:solidFill>
                  <a:schemeClr val="tx1"/>
                </a:solidFill>
              </a:rPr>
              <a:t>Шинэ журмаар анхны «Шилдэг төгсөгч»</a:t>
            </a:r>
            <a:endParaRPr lang="en-US" sz="1400" dirty="0"/>
          </a:p>
          <a:p>
            <a:pPr marL="152400" indent="-152400">
              <a:spcAft>
                <a:spcPts val="800"/>
              </a:spcAft>
              <a:buSzPct val="100000"/>
              <a:buChar char="•"/>
            </a:pPr>
            <a:r>
              <a:rPr lang="en-US" sz="1400" dirty="0">
                <a:solidFill>
                  <a:schemeClr val="tx1"/>
                </a:solidFill>
              </a:rPr>
              <a:t>Хөндлөнгийн үнэлгээ, сэтгэл ханамжийн судалгаа</a:t>
            </a:r>
            <a:endParaRPr lang="en-US" sz="1400" dirty="0"/>
          </a:p>
          <a:p>
            <a:pPr marL="152400" indent="-152400">
              <a:spcAft>
                <a:spcPts val="800"/>
              </a:spcAft>
              <a:buSzPct val="100000"/>
              <a:buChar char="•"/>
            </a:pPr>
            <a:r>
              <a:rPr lang="en-US" sz="1400" dirty="0">
                <a:solidFill>
                  <a:schemeClr val="tx1"/>
                </a:solidFill>
              </a:rPr>
              <a:t>Журмыг шинэчлэх</a:t>
            </a:r>
            <a:endParaRPr lang="en-US" sz="1400" dirty="0"/>
          </a:p>
        </p:txBody>
      </p:sp>
      <p:sp>
        <p:nvSpPr>
          <p:cNvPr id="31" name="Text 28"/>
          <p:cNvSpPr txBox="1"/>
          <p:nvPr/>
        </p:nvSpPr>
        <p:spPr>
          <a:xfrm>
            <a:off x="9793986" y="1600200"/>
            <a:ext cx="1849069" cy="365760"/>
          </a:xfrm>
          <a:prstGeom prst="rect">
            <a:avLst/>
          </a:prstGeom>
          <a:noFill/>
          <a:ln/>
        </p:spPr>
        <p:txBody>
          <a:bodyPr wrap="square" lIns="0" tIns="0" rIns="0" bIns="0" rtlCol="0" anchor="ctr"/>
          <a:lstStyle/>
          <a:p>
            <a:pPr algn="ctr" indent="0" marL="0">
              <a:buNone/>
            </a:pPr>
            <a:r>
              <a:rPr lang="en-US" sz="1400" b="1" dirty="0">
                <a:solidFill>
                  <a:schemeClr val="accent1"/>
                </a:solidFill>
              </a:rPr>
              <a:t>2031</a:t>
            </a:r>
            <a:endParaRPr lang="en-US" sz="1400" dirty="0"/>
          </a:p>
        </p:txBody>
      </p:sp>
      <p:sp>
        <p:nvSpPr>
          <p:cNvPr id="32" name="Node 6"/>
          <p:cNvSpPr/>
          <p:nvPr/>
        </p:nvSpPr>
        <p:spPr>
          <a:xfrm>
            <a:off x="10572217" y="2185416"/>
            <a:ext cx="292608" cy="292608"/>
          </a:xfrm>
          <a:prstGeom prst="ellipse">
            <a:avLst/>
          </a:prstGeom>
          <a:solidFill>
            <a:schemeClr val="accent1"/>
          </a:solidFill>
          <a:ln w="25400">
            <a:solidFill>
              <a:schemeClr val="bg1"/>
            </a:solidFill>
            <a:prstDash val="solid"/>
          </a:ln>
        </p:spPr>
      </p:sp>
      <p:sp>
        <p:nvSpPr>
          <p:cNvPr id="33" name="Phase 6"/>
          <p:cNvSpPr/>
          <p:nvPr/>
        </p:nvSpPr>
        <p:spPr>
          <a:xfrm>
            <a:off x="9857994" y="2697480"/>
            <a:ext cx="1721053" cy="3291840"/>
          </a:xfrm>
          <a:prstGeom prst="roundRect">
            <a:avLst>
              <a:gd name="adj" fmla="val 425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34" name="Text 31"/>
          <p:cNvSpPr txBox="1"/>
          <p:nvPr/>
        </p:nvSpPr>
        <p:spPr>
          <a:xfrm>
            <a:off x="9995154" y="2788920"/>
            <a:ext cx="1446733" cy="594360"/>
          </a:xfrm>
          <a:prstGeom prst="rect">
            <a:avLst/>
          </a:prstGeom>
          <a:noFill/>
          <a:ln/>
        </p:spPr>
        <p:txBody>
          <a:bodyPr wrap="square" lIns="0" tIns="0" rIns="0" bIns="0" rtlCol="0" anchor="ctr"/>
          <a:lstStyle/>
          <a:p>
            <a:pPr indent="0" marL="0">
              <a:buNone/>
            </a:pPr>
            <a:r>
              <a:rPr lang="en-US" sz="1500" b="1" dirty="0">
                <a:solidFill>
                  <a:schemeClr val="accent1"/>
                </a:solidFill>
              </a:rPr>
              <a:t>Бүрэн мөчлөг</a:t>
            </a:r>
            <a:endParaRPr lang="en-US" sz="1500" dirty="0"/>
          </a:p>
        </p:txBody>
      </p:sp>
      <p:sp>
        <p:nvSpPr>
          <p:cNvPr id="35" name="Text 32"/>
          <p:cNvSpPr txBox="1"/>
          <p:nvPr/>
        </p:nvSpPr>
        <p:spPr>
          <a:xfrm>
            <a:off x="9967722" y="3429000"/>
            <a:ext cx="1501597" cy="2468880"/>
          </a:xfrm>
          <a:prstGeom prst="rect">
            <a:avLst/>
          </a:prstGeom>
          <a:noFill/>
          <a:ln/>
        </p:spPr>
        <p:txBody>
          <a:bodyPr wrap="square" lIns="0" tIns="0" rIns="0" bIns="0" rtlCol="0" anchor="t"/>
          <a:lstStyle/>
          <a:p>
            <a:pPr marL="152400" indent="-152400">
              <a:spcAft>
                <a:spcPts val="800"/>
              </a:spcAft>
              <a:buSzPct val="100000"/>
              <a:buChar char="•"/>
            </a:pPr>
            <a:r>
              <a:rPr lang="en-US" sz="1400" dirty="0">
                <a:solidFill>
                  <a:schemeClr val="tx1"/>
                </a:solidFill>
              </a:rPr>
              <a:t>Анхны бүрэн 4 жилийн төгсөгчид</a:t>
            </a:r>
            <a:endParaRPr lang="en-US" sz="1400" dirty="0"/>
          </a:p>
          <a:p>
            <a:pPr marL="152400" indent="-152400">
              <a:spcAft>
                <a:spcPts val="800"/>
              </a:spcAft>
              <a:buSzPct val="100000"/>
              <a:buChar char="•"/>
            </a:pPr>
            <a:r>
              <a:rPr lang="en-US" sz="1400" dirty="0">
                <a:solidFill>
                  <a:schemeClr val="tx1"/>
                </a:solidFill>
              </a:rPr>
              <a:t>Анги, байгууллагын үнэлгээгээр үр нөлөөг нотлох</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292608"/>
          </a:xfrm>
          <a:prstGeom prst="rect">
            <a:avLst/>
          </a:prstGeom>
          <a:noFill/>
          <a:ln/>
        </p:spPr>
        <p:txBody>
          <a:bodyPr wrap="square" lIns="0" tIns="0" rIns="0" bIns="0" rtlCol="0"/>
          <a:lstStyle/>
          <a:p>
            <a:pPr indent="0" marL="0">
              <a:buNone/>
            </a:pPr>
            <a:r>
              <a:rPr lang="en-US" sz="1200" b="1" spc="200" kern="0" dirty="0">
                <a:solidFill>
                  <a:schemeClr val="accent2"/>
                </a:solidFill>
              </a:rPr>
              <a:t>НӨӨЦ, ЭРСДЭЛ, ҮР ДҮН</a:t>
            </a:r>
            <a:endParaRPr lang="en-US" sz="1200" dirty="0"/>
          </a:p>
        </p:txBody>
      </p:sp>
      <p:sp>
        <p:nvSpPr>
          <p:cNvPr id="3" name="Text 0"/>
          <p:cNvSpPr/>
          <p:nvPr>
            <p:ph idx="101" type="title" hasCustomPrompt="1"/>
          </p:nvPr>
        </p:nvSpPr>
        <p:spPr>
          <a:xfrm>
            <a:off x="548640" y="621792"/>
            <a:ext cx="11094415" cy="731520"/>
          </a:xfrm>
          <a:prstGeom prst="rect">
            <a:avLst/>
          </a:prstGeom>
          <a:noFill/>
          <a:ln/>
        </p:spPr>
        <p:txBody>
          <a:bodyPr wrap="square" lIns="0" tIns="0" rIns="0" bIns="0" rtlCol="0" anchor="t"/>
          <a:lstStyle/>
          <a:p>
            <a:pPr algn="l" indent="0" marL="0">
              <a:buNone/>
            </a:pPr>
            <a:r>
              <a:rPr lang="en-US" sz="3000" b="1" dirty="0">
                <a:solidFill>
                  <a:schemeClr val="accent1"/>
                </a:solidFill>
              </a:rPr>
              <a:t>Шаардагдах нөөц, эрсдэл ба үр дүнгийн шалгуур</a:t>
            </a:r>
            <a:endParaRPr lang="en-US" sz="3000" dirty="0"/>
          </a:p>
        </p:txBody>
      </p:sp>
      <p:sp>
        <p:nvSpPr>
          <p:cNvPr id="5" name="Column 1"/>
          <p:cNvSpPr/>
          <p:nvPr/>
        </p:nvSpPr>
        <p:spPr>
          <a:xfrm>
            <a:off x="548640" y="1554480"/>
            <a:ext cx="3515258" cy="4617720"/>
          </a:xfrm>
          <a:prstGeom prst="roundRect">
            <a:avLst>
              <a:gd name="adj" fmla="val 208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Шаардагдах нөөц circle"/>
          <p:cNvSpPr/>
          <p:nvPr/>
        </p:nvSpPr>
        <p:spPr>
          <a:xfrm>
            <a:off x="777240" y="1737360"/>
            <a:ext cx="502920" cy="502920"/>
          </a:xfrm>
          <a:prstGeom prst="ellipse">
            <a:avLst/>
          </a:prstGeom>
          <a:solidFill>
            <a:schemeClr val="accent1"/>
          </a:solidFill>
          <a:ln w="12700">
            <a:solidFill>
              <a:schemeClr val="accent1"/>
            </a:solidFill>
            <a:prstDash val="solid"/>
          </a:ln>
        </p:spPr>
      </p:sp>
      <p:pic>
        <p:nvPicPr>
          <p:cNvPr id="7" name="Шаардагдах нөөц icon" descr="Шаардагдах нөөц">    </p:cNvPr>
          <p:cNvPicPr>
            <a:picLocks noChangeAspect="1"/>
          </p:cNvPicPr>
          <p:nvPr/>
        </p:nvPicPr>
        <p:blipFill>
          <a:blip r:embed="rId1"/>
          <a:stretch>
            <a:fillRect/>
          </a:stretch>
        </p:blipFill>
        <p:spPr>
          <a:xfrm>
            <a:off x="897941" y="1858061"/>
            <a:ext cx="261518" cy="261518"/>
          </a:xfrm>
          <a:prstGeom prst="rect">
            <a:avLst/>
          </a:prstGeom>
        </p:spPr>
      </p:pic>
      <p:sp>
        <p:nvSpPr>
          <p:cNvPr id="8" name="Text 4"/>
          <p:cNvSpPr txBox="1"/>
          <p:nvPr/>
        </p:nvSpPr>
        <p:spPr>
          <a:xfrm>
            <a:off x="1417320" y="1737360"/>
            <a:ext cx="2509418" cy="502920"/>
          </a:xfrm>
          <a:prstGeom prst="rect">
            <a:avLst/>
          </a:prstGeom>
          <a:noFill/>
          <a:ln/>
        </p:spPr>
        <p:txBody>
          <a:bodyPr wrap="square" lIns="0" tIns="0" rIns="0" bIns="0" rtlCol="0" anchor="ctr"/>
          <a:lstStyle/>
          <a:p>
            <a:pPr indent="0" marL="0">
              <a:buNone/>
            </a:pPr>
            <a:r>
              <a:rPr lang="en-US" sz="1600" b="1" dirty="0">
                <a:solidFill>
                  <a:schemeClr val="accent1"/>
                </a:solidFill>
              </a:rPr>
              <a:t>Шаардагдах нөөц</a:t>
            </a:r>
            <a:endParaRPr lang="en-US" sz="1600" dirty="0"/>
          </a:p>
        </p:txBody>
      </p:sp>
      <p:sp>
        <p:nvSpPr>
          <p:cNvPr id="9" name="Column 2"/>
          <p:cNvSpPr/>
          <p:nvPr/>
        </p:nvSpPr>
        <p:spPr>
          <a:xfrm>
            <a:off x="4338218" y="1554480"/>
            <a:ext cx="3515258" cy="4617720"/>
          </a:xfrm>
          <a:prstGeom prst="roundRect">
            <a:avLst>
              <a:gd name="adj" fmla="val 208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 name="Эрсдэл → сааруулах арга circle"/>
          <p:cNvSpPr/>
          <p:nvPr/>
        </p:nvSpPr>
        <p:spPr>
          <a:xfrm>
            <a:off x="4566818" y="1737360"/>
            <a:ext cx="502920" cy="502920"/>
          </a:xfrm>
          <a:prstGeom prst="ellipse">
            <a:avLst/>
          </a:prstGeom>
          <a:solidFill>
            <a:schemeClr val="accent2"/>
          </a:solidFill>
          <a:ln w="12700">
            <a:solidFill>
              <a:schemeClr val="accent2"/>
            </a:solidFill>
            <a:prstDash val="solid"/>
          </a:ln>
        </p:spPr>
      </p:sp>
      <p:pic>
        <p:nvPicPr>
          <p:cNvPr id="11" name="Эрсдэл → сааруулах арга icon" descr="Эрсдэл → сааруулах арга">    </p:cNvPr>
          <p:cNvPicPr>
            <a:picLocks noChangeAspect="1"/>
          </p:cNvPicPr>
          <p:nvPr/>
        </p:nvPicPr>
        <p:blipFill>
          <a:blip r:embed="rId2"/>
          <a:stretch>
            <a:fillRect/>
          </a:stretch>
        </p:blipFill>
        <p:spPr>
          <a:xfrm>
            <a:off x="4687519" y="1858061"/>
            <a:ext cx="261518" cy="261518"/>
          </a:xfrm>
          <a:prstGeom prst="rect">
            <a:avLst/>
          </a:prstGeom>
        </p:spPr>
      </p:pic>
      <p:sp>
        <p:nvSpPr>
          <p:cNvPr id="12" name="Text 7"/>
          <p:cNvSpPr txBox="1"/>
          <p:nvPr/>
        </p:nvSpPr>
        <p:spPr>
          <a:xfrm>
            <a:off x="5206898" y="1737360"/>
            <a:ext cx="2509418" cy="502920"/>
          </a:xfrm>
          <a:prstGeom prst="rect">
            <a:avLst/>
          </a:prstGeom>
          <a:noFill/>
          <a:ln/>
        </p:spPr>
        <p:txBody>
          <a:bodyPr wrap="square" lIns="0" tIns="0" rIns="0" bIns="0" rtlCol="0" anchor="ctr"/>
          <a:lstStyle/>
          <a:p>
            <a:pPr indent="0" marL="0">
              <a:buNone/>
            </a:pPr>
            <a:r>
              <a:rPr lang="en-US" sz="1600" b="1" dirty="0">
                <a:solidFill>
                  <a:schemeClr val="accent1"/>
                </a:solidFill>
              </a:rPr>
              <a:t>Эрсдэл → сааруулах арга</a:t>
            </a:r>
            <a:endParaRPr lang="en-US" sz="1600" dirty="0"/>
          </a:p>
        </p:txBody>
      </p:sp>
      <p:sp>
        <p:nvSpPr>
          <p:cNvPr id="13" name="Column 3"/>
          <p:cNvSpPr/>
          <p:nvPr/>
        </p:nvSpPr>
        <p:spPr>
          <a:xfrm>
            <a:off x="8127797" y="1554480"/>
            <a:ext cx="3515258" cy="4617720"/>
          </a:xfrm>
          <a:prstGeom prst="roundRect">
            <a:avLst>
              <a:gd name="adj" fmla="val 208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Үр дүнгийн шалгуур (2029) circle"/>
          <p:cNvSpPr/>
          <p:nvPr/>
        </p:nvSpPr>
        <p:spPr>
          <a:xfrm>
            <a:off x="8356397" y="1737360"/>
            <a:ext cx="502920" cy="502920"/>
          </a:xfrm>
          <a:prstGeom prst="ellipse">
            <a:avLst/>
          </a:prstGeom>
          <a:solidFill>
            <a:schemeClr val="accent1"/>
          </a:solidFill>
          <a:ln w="12700">
            <a:solidFill>
              <a:schemeClr val="accent1"/>
            </a:solidFill>
            <a:prstDash val="solid"/>
          </a:ln>
        </p:spPr>
      </p:sp>
      <p:pic>
        <p:nvPicPr>
          <p:cNvPr id="15" name="Үр дүнгийн шалгуур (2029) icon" descr="Үр дүнгийн шалгуур (2029)">    </p:cNvPr>
          <p:cNvPicPr>
            <a:picLocks noChangeAspect="1"/>
          </p:cNvPicPr>
          <p:nvPr/>
        </p:nvPicPr>
        <p:blipFill>
          <a:blip r:embed="rId3"/>
          <a:stretch>
            <a:fillRect/>
          </a:stretch>
        </p:blipFill>
        <p:spPr>
          <a:xfrm>
            <a:off x="8477098" y="1858061"/>
            <a:ext cx="261518" cy="261518"/>
          </a:xfrm>
          <a:prstGeom prst="rect">
            <a:avLst/>
          </a:prstGeom>
        </p:spPr>
      </p:pic>
      <p:sp>
        <p:nvSpPr>
          <p:cNvPr id="16" name="Text 10"/>
          <p:cNvSpPr txBox="1"/>
          <p:nvPr/>
        </p:nvSpPr>
        <p:spPr>
          <a:xfrm>
            <a:off x="8996477" y="1737360"/>
            <a:ext cx="2509418" cy="502920"/>
          </a:xfrm>
          <a:prstGeom prst="rect">
            <a:avLst/>
          </a:prstGeom>
          <a:noFill/>
          <a:ln/>
        </p:spPr>
        <p:txBody>
          <a:bodyPr wrap="square" lIns="0" tIns="0" rIns="0" bIns="0" rtlCol="0" anchor="ctr"/>
          <a:lstStyle/>
          <a:p>
            <a:pPr indent="0" marL="0">
              <a:buNone/>
            </a:pPr>
            <a:r>
              <a:rPr lang="en-US" sz="1600" b="1" dirty="0">
                <a:solidFill>
                  <a:schemeClr val="accent1"/>
                </a:solidFill>
              </a:rPr>
              <a:t>Үр дүнгийн шалгуур (2029)</a:t>
            </a:r>
            <a:endParaRPr lang="en-US" sz="1600" dirty="0"/>
          </a:p>
        </p:txBody>
      </p:sp>
      <p:sp>
        <p:nvSpPr>
          <p:cNvPr id="17" name="Text 11"/>
          <p:cNvSpPr txBox="1"/>
          <p:nvPr/>
        </p:nvSpPr>
        <p:spPr>
          <a:xfrm>
            <a:off x="777240" y="2423160"/>
            <a:ext cx="3058058" cy="3611880"/>
          </a:xfrm>
          <a:prstGeom prst="rect">
            <a:avLst/>
          </a:prstGeom>
          <a:noFill/>
          <a:ln/>
        </p:spPr>
        <p:txBody>
          <a:bodyPr wrap="square" lIns="0" tIns="0" rIns="0" bIns="0" rtlCol="0" anchor="t"/>
          <a:lstStyle/>
          <a:p>
            <a:pPr indent="0" marL="0">
              <a:spcAft>
                <a:spcPts val="1000"/>
              </a:spcAft>
              <a:buNone/>
            </a:pPr>
            <a:r>
              <a:rPr lang="en-US" sz="1400" b="1" dirty="0">
                <a:solidFill>
                  <a:schemeClr val="accent1"/>
                </a:solidFill>
              </a:rPr>
              <a:t>Хүн: </a:t>
            </a:r>
            <a:pPr indent="0" marL="0">
              <a:spcAft>
                <a:spcPts val="1000"/>
              </a:spcAft>
              <a:buNone/>
            </a:pPr>
            <a:r>
              <a:rPr lang="en-US" sz="1400" dirty="0">
                <a:solidFill>
                  <a:schemeClr val="tx1"/>
                </a:solidFill>
              </a:rPr>
              <a:t>захирагч 1, батальоны сургагч 3, ротын сургагч офицер 12, сургагч ахлагч 12, сэтгэл зүйч 1–2 (орон тоог дахин хуваарилна)</a:t>
            </a:r>
            <a:endParaRPr lang="en-US" sz="1400" dirty="0"/>
          </a:p>
          <a:p>
            <a:pPr indent="0" marL="0">
              <a:spcAft>
                <a:spcPts val="1000"/>
              </a:spcAft>
              <a:buNone/>
            </a:pPr>
            <a:r>
              <a:rPr lang="en-US" sz="1400" b="1" dirty="0">
                <a:solidFill>
                  <a:schemeClr val="accent1"/>
                </a:solidFill>
              </a:rPr>
              <a:t>Тэмдэг: </a:t>
            </a:r>
            <a:pPr indent="0" marL="0">
              <a:spcAft>
                <a:spcPts val="1000"/>
              </a:spcAft>
              <a:buNone/>
            </a:pPr>
            <a:r>
              <a:rPr lang="en-US" sz="1400" dirty="0">
                <a:solidFill>
                  <a:schemeClr val="tx1"/>
                </a:solidFill>
              </a:rPr>
              <a:t>719 албаны + 719 эрээн ханцуйн тэмдэг, сонсогч бүрт ротын тэмдэг; шагналын тэмдэг жилд ≈570</a:t>
            </a:r>
            <a:endParaRPr lang="en-US" sz="1400" dirty="0"/>
          </a:p>
          <a:p>
            <a:pPr indent="0" marL="0">
              <a:spcAft>
                <a:spcPts val="1000"/>
              </a:spcAft>
              <a:buNone/>
            </a:pPr>
            <a:r>
              <a:rPr lang="en-US" sz="1400" b="1" dirty="0">
                <a:solidFill>
                  <a:schemeClr val="accent1"/>
                </a:solidFill>
              </a:rPr>
              <a:t>Эрх зүй: </a:t>
            </a:r>
            <a:pPr indent="0" marL="0">
              <a:spcAft>
                <a:spcPts val="1000"/>
              </a:spcAft>
              <a:buNone/>
            </a:pPr>
            <a:r>
              <a:rPr lang="en-US" sz="1400" dirty="0">
                <a:solidFill>
                  <a:schemeClr val="tx1"/>
                </a:solidFill>
              </a:rPr>
              <a:t>хорооны журам, нэр төрийн дүрэм, сахилгын онооны журам, тэмдгийн журам</a:t>
            </a:r>
            <a:endParaRPr lang="en-US" sz="1400" dirty="0"/>
          </a:p>
          <a:p>
            <a:pPr indent="0" marL="0">
              <a:spcAft>
                <a:spcPts val="1000"/>
              </a:spcAft>
              <a:buNone/>
            </a:pPr>
            <a:r>
              <a:rPr lang="en-US" sz="1400" b="1" dirty="0">
                <a:solidFill>
                  <a:schemeClr val="accent1"/>
                </a:solidFill>
              </a:rPr>
              <a:t>Бусад: </a:t>
            </a:r>
            <a:pPr indent="0" marL="0">
              <a:spcAft>
                <a:spcPts val="1000"/>
              </a:spcAft>
              <a:buNone/>
            </a:pPr>
            <a:r>
              <a:rPr lang="en-US" sz="1400" dirty="0">
                <a:solidFill>
                  <a:schemeClr val="tx1"/>
                </a:solidFill>
              </a:rPr>
              <a:t>цахим бүртгэл; ротын өрөө, штаб; туг, ёслол, сургалтын төсөв</a:t>
            </a:r>
            <a:endParaRPr lang="en-US" sz="1400" dirty="0"/>
          </a:p>
        </p:txBody>
      </p:sp>
      <p:sp>
        <p:nvSpPr>
          <p:cNvPr id="18" name="Text 12"/>
          <p:cNvSpPr txBox="1"/>
          <p:nvPr/>
        </p:nvSpPr>
        <p:spPr>
          <a:xfrm>
            <a:off x="4566818" y="2423160"/>
            <a:ext cx="3058058" cy="502920"/>
          </a:xfrm>
          <a:prstGeom prst="rect">
            <a:avLst/>
          </a:prstGeom>
          <a:noFill/>
          <a:ln/>
        </p:spPr>
        <p:txBody>
          <a:bodyPr wrap="square" lIns="0" tIns="0" rIns="0" bIns="0" rtlCol="0" anchor="t"/>
          <a:lstStyle/>
          <a:p>
            <a:pPr indent="0" marL="0">
              <a:buNone/>
            </a:pPr>
            <a:r>
              <a:rPr lang="en-US" sz="1400" b="1" dirty="0">
                <a:solidFill>
                  <a:schemeClr val="accent1"/>
                </a:solidFill>
              </a:rPr>
              <a:t>Эрх мэдлийг урвуулах, дээрэлхэл</a:t>
            </a:r>
            <a:pPr indent="0" marL="0">
              <a:buNone/>
            </a:pPr>
            <a:r>
              <a:rPr lang="en-US" sz="1200" b="1" dirty="0">
                <a:solidFill>
                  <a:schemeClr val="accent4"/>
                </a:solidFill>
              </a:rPr>
              <a:t>  Дунд</a:t>
            </a:r>
            <a:endParaRPr lang="en-US" sz="1400" dirty="0"/>
          </a:p>
        </p:txBody>
      </p:sp>
      <p:sp>
        <p:nvSpPr>
          <p:cNvPr id="19" name="Text 13"/>
          <p:cNvSpPr txBox="1"/>
          <p:nvPr/>
        </p:nvSpPr>
        <p:spPr>
          <a:xfrm>
            <a:off x="4566818" y="2926080"/>
            <a:ext cx="3058058" cy="685800"/>
          </a:xfrm>
          <a:prstGeom prst="rect">
            <a:avLst/>
          </a:prstGeom>
          <a:noFill/>
          <a:ln/>
        </p:spPr>
        <p:txBody>
          <a:bodyPr wrap="square" lIns="0" tIns="0" rIns="0" bIns="0" rtlCol="0" anchor="t"/>
          <a:lstStyle/>
          <a:p>
            <a:pPr indent="0" marL="0">
              <a:buNone/>
            </a:pPr>
            <a:r>
              <a:rPr lang="en-US" sz="1300" dirty="0">
                <a:solidFill>
                  <a:schemeClr val="tx1"/>
                </a:solidFill>
              </a:rPr>
              <a:t>→ Эрх хэмжээний матриц, хориг, нууц суваг, зөрчсөн удирдагчийг шууд чөлөөлөх</a:t>
            </a:r>
            <a:endParaRPr lang="en-US" sz="1300" dirty="0"/>
          </a:p>
        </p:txBody>
      </p:sp>
      <p:sp>
        <p:nvSpPr>
          <p:cNvPr id="20" name="Text 14"/>
          <p:cNvSpPr txBox="1"/>
          <p:nvPr/>
        </p:nvSpPr>
        <p:spPr>
          <a:xfrm>
            <a:off x="4566818" y="3639312"/>
            <a:ext cx="3058058" cy="502920"/>
          </a:xfrm>
          <a:prstGeom prst="rect">
            <a:avLst/>
          </a:prstGeom>
          <a:noFill/>
          <a:ln/>
        </p:spPr>
        <p:txBody>
          <a:bodyPr wrap="square" lIns="0" tIns="0" rIns="0" bIns="0" rtlCol="0" anchor="t"/>
          <a:lstStyle/>
          <a:p>
            <a:pPr indent="0" marL="0">
              <a:buNone/>
            </a:pPr>
            <a:r>
              <a:rPr lang="en-US" sz="1400" b="1" dirty="0">
                <a:solidFill>
                  <a:schemeClr val="accent1"/>
                </a:solidFill>
              </a:rPr>
              <a:t>Офицерууд «бүгдийг өөрсдөө хийх»</a:t>
            </a:r>
            <a:pPr indent="0" marL="0">
              <a:buNone/>
            </a:pPr>
            <a:r>
              <a:rPr lang="en-US" sz="1200" b="1" dirty="0">
                <a:solidFill>
                  <a:schemeClr val="accent2"/>
                </a:solidFill>
              </a:rPr>
              <a:t>  Өндөр</a:t>
            </a:r>
            <a:endParaRPr lang="en-US" sz="1400" dirty="0"/>
          </a:p>
        </p:txBody>
      </p:sp>
      <p:sp>
        <p:nvSpPr>
          <p:cNvPr id="21" name="Text 15"/>
          <p:cNvSpPr txBox="1"/>
          <p:nvPr/>
        </p:nvSpPr>
        <p:spPr>
          <a:xfrm>
            <a:off x="4566818" y="4142232"/>
            <a:ext cx="3058058" cy="685800"/>
          </a:xfrm>
          <a:prstGeom prst="rect">
            <a:avLst/>
          </a:prstGeom>
          <a:noFill/>
          <a:ln/>
        </p:spPr>
        <p:txBody>
          <a:bodyPr wrap="square" lIns="0" tIns="0" rIns="0" bIns="0" rtlCol="0" anchor="t"/>
          <a:lstStyle/>
          <a:p>
            <a:pPr indent="0" marL="0">
              <a:buNone/>
            </a:pPr>
            <a:r>
              <a:rPr lang="en-US" sz="1300" dirty="0">
                <a:solidFill>
                  <a:schemeClr val="tx1"/>
                </a:solidFill>
              </a:rPr>
              <a:t>→ Сургагчийн үүргийг «зөвлөх, хянагч» гэж журамлах, офицеруудыг сургах</a:t>
            </a:r>
            <a:endParaRPr lang="en-US" sz="1300" dirty="0"/>
          </a:p>
        </p:txBody>
      </p:sp>
      <p:sp>
        <p:nvSpPr>
          <p:cNvPr id="22" name="Text 16"/>
          <p:cNvSpPr txBox="1"/>
          <p:nvPr/>
        </p:nvSpPr>
        <p:spPr>
          <a:xfrm>
            <a:off x="4566818" y="4855464"/>
            <a:ext cx="3058058" cy="502920"/>
          </a:xfrm>
          <a:prstGeom prst="rect">
            <a:avLst/>
          </a:prstGeom>
          <a:noFill/>
          <a:ln/>
        </p:spPr>
        <p:txBody>
          <a:bodyPr wrap="square" lIns="0" tIns="0" rIns="0" bIns="0" rtlCol="0" anchor="t"/>
          <a:lstStyle/>
          <a:p>
            <a:pPr indent="0" marL="0">
              <a:buNone/>
            </a:pPr>
            <a:r>
              <a:rPr lang="en-US" sz="1400" b="1" dirty="0">
                <a:solidFill>
                  <a:schemeClr val="accent1"/>
                </a:solidFill>
              </a:rPr>
              <a:t>Сурлагын ачаалал нэмэгдэх</a:t>
            </a:r>
            <a:pPr indent="0" marL="0">
              <a:buNone/>
            </a:pPr>
            <a:r>
              <a:rPr lang="en-US" sz="1200" b="1" dirty="0">
                <a:solidFill>
                  <a:schemeClr val="accent4"/>
                </a:solidFill>
              </a:rPr>
              <a:t>  Дунд</a:t>
            </a:r>
            <a:endParaRPr lang="en-US" sz="1400" dirty="0"/>
          </a:p>
        </p:txBody>
      </p:sp>
      <p:sp>
        <p:nvSpPr>
          <p:cNvPr id="23" name="Text 17"/>
          <p:cNvSpPr txBox="1"/>
          <p:nvPr/>
        </p:nvSpPr>
        <p:spPr>
          <a:xfrm>
            <a:off x="4566818" y="5358384"/>
            <a:ext cx="3058058" cy="685800"/>
          </a:xfrm>
          <a:prstGeom prst="rect">
            <a:avLst/>
          </a:prstGeom>
          <a:noFill/>
          <a:ln/>
        </p:spPr>
        <p:txBody>
          <a:bodyPr wrap="square" lIns="0" tIns="0" rIns="0" bIns="0" rtlCol="0" anchor="t"/>
          <a:lstStyle/>
          <a:p>
            <a:pPr indent="0" marL="0">
              <a:buNone/>
            </a:pPr>
            <a:r>
              <a:rPr lang="en-US" sz="1300" dirty="0">
                <a:solidFill>
                  <a:schemeClr val="tx1"/>
                </a:solidFill>
              </a:rPr>
              <a:t>→ Ротаци, голч дүнгийн босго, бие даан суралцах цагийг хамгаалах, кредит</a:t>
            </a:r>
            <a:endParaRPr lang="en-US" sz="1300" dirty="0"/>
          </a:p>
        </p:txBody>
      </p:sp>
      <p:sp>
        <p:nvSpPr>
          <p:cNvPr id="24" name="Text 18"/>
          <p:cNvSpPr txBox="1"/>
          <p:nvPr/>
        </p:nvSpPr>
        <p:spPr>
          <a:xfrm>
            <a:off x="8356397" y="2423160"/>
            <a:ext cx="1143000" cy="640080"/>
          </a:xfrm>
          <a:prstGeom prst="rect">
            <a:avLst/>
          </a:prstGeom>
          <a:noFill/>
          <a:ln/>
        </p:spPr>
        <p:txBody>
          <a:bodyPr wrap="square" lIns="0" tIns="0" rIns="0" bIns="0" rtlCol="0" anchor="ctr"/>
          <a:lstStyle/>
          <a:p>
            <a:pPr indent="0" marL="0">
              <a:buNone/>
            </a:pPr>
            <a:r>
              <a:rPr lang="en-US" sz="2200" b="1" dirty="0">
                <a:solidFill>
                  <a:schemeClr val="accent2"/>
                </a:solidFill>
                <a:latin typeface="Arial" pitchFamily="34" charset="0"/>
                <a:ea typeface="Arial" pitchFamily="34" charset="-122"/>
                <a:cs typeface="Arial" pitchFamily="34" charset="-120"/>
              </a:rPr>
              <a:t>≥ 60%</a:t>
            </a:r>
            <a:endParaRPr lang="en-US" sz="2200" dirty="0"/>
          </a:p>
        </p:txBody>
      </p:sp>
      <p:sp>
        <p:nvSpPr>
          <p:cNvPr id="25" name="Text 19"/>
          <p:cNvSpPr txBox="1"/>
          <p:nvPr/>
        </p:nvSpPr>
        <p:spPr>
          <a:xfrm>
            <a:off x="9545117" y="2423160"/>
            <a:ext cx="1869338" cy="640080"/>
          </a:xfrm>
          <a:prstGeom prst="rect">
            <a:avLst/>
          </a:prstGeom>
          <a:noFill/>
          <a:ln/>
        </p:spPr>
        <p:txBody>
          <a:bodyPr wrap="square" lIns="0" tIns="0" rIns="0" bIns="0" rtlCol="0" anchor="ctr"/>
          <a:lstStyle/>
          <a:p>
            <a:pPr indent="0" marL="0">
              <a:buNone/>
            </a:pPr>
            <a:r>
              <a:rPr lang="en-US" sz="1300" dirty="0">
                <a:solidFill>
                  <a:schemeClr val="tx1"/>
                </a:solidFill>
              </a:rPr>
              <a:t>4-р курс удирдах албан тушаал хашсан</a:t>
            </a:r>
            <a:endParaRPr lang="en-US" sz="1300" dirty="0"/>
          </a:p>
        </p:txBody>
      </p:sp>
      <p:sp>
        <p:nvSpPr>
          <p:cNvPr id="26" name="Text 20"/>
          <p:cNvSpPr txBox="1"/>
          <p:nvPr/>
        </p:nvSpPr>
        <p:spPr>
          <a:xfrm>
            <a:off x="8356397" y="3154680"/>
            <a:ext cx="1143000" cy="640080"/>
          </a:xfrm>
          <a:prstGeom prst="rect">
            <a:avLst/>
          </a:prstGeom>
          <a:noFill/>
          <a:ln/>
        </p:spPr>
        <p:txBody>
          <a:bodyPr wrap="square" lIns="0" tIns="0" rIns="0" bIns="0" rtlCol="0" anchor="ctr"/>
          <a:lstStyle/>
          <a:p>
            <a:pPr indent="0" marL="0">
              <a:buNone/>
            </a:pPr>
            <a:r>
              <a:rPr lang="en-US" sz="2200" b="1" dirty="0">
                <a:solidFill>
                  <a:schemeClr val="accent2"/>
                </a:solidFill>
                <a:latin typeface="Arial" pitchFamily="34" charset="0"/>
                <a:ea typeface="Arial" pitchFamily="34" charset="-122"/>
                <a:cs typeface="Arial" pitchFamily="34" charset="-120"/>
              </a:rPr>
              <a:t>−30%</a:t>
            </a:r>
            <a:endParaRPr lang="en-US" sz="2200" dirty="0"/>
          </a:p>
        </p:txBody>
      </p:sp>
      <p:sp>
        <p:nvSpPr>
          <p:cNvPr id="27" name="Text 21"/>
          <p:cNvSpPr txBox="1"/>
          <p:nvPr/>
        </p:nvSpPr>
        <p:spPr>
          <a:xfrm>
            <a:off x="9545117" y="3154680"/>
            <a:ext cx="1869338" cy="640080"/>
          </a:xfrm>
          <a:prstGeom prst="rect">
            <a:avLst/>
          </a:prstGeom>
          <a:noFill/>
          <a:ln/>
        </p:spPr>
        <p:txBody>
          <a:bodyPr wrap="square" lIns="0" tIns="0" rIns="0" bIns="0" rtlCol="0" anchor="ctr"/>
          <a:lstStyle/>
          <a:p>
            <a:pPr indent="0" marL="0">
              <a:buNone/>
            </a:pPr>
            <a:r>
              <a:rPr lang="en-US" sz="1300" dirty="0">
                <a:solidFill>
                  <a:schemeClr val="tx1"/>
                </a:solidFill>
              </a:rPr>
              <a:t>сахилгын ноцтой зөрчил</a:t>
            </a:r>
            <a:endParaRPr lang="en-US" sz="1300" dirty="0"/>
          </a:p>
        </p:txBody>
      </p:sp>
      <p:sp>
        <p:nvSpPr>
          <p:cNvPr id="28" name="Text 22"/>
          <p:cNvSpPr txBox="1"/>
          <p:nvPr/>
        </p:nvSpPr>
        <p:spPr>
          <a:xfrm>
            <a:off x="8356397" y="3886200"/>
            <a:ext cx="1143000" cy="640080"/>
          </a:xfrm>
          <a:prstGeom prst="rect">
            <a:avLst/>
          </a:prstGeom>
          <a:noFill/>
          <a:ln/>
        </p:spPr>
        <p:txBody>
          <a:bodyPr wrap="square" lIns="0" tIns="0" rIns="0" bIns="0" rtlCol="0" anchor="ctr"/>
          <a:lstStyle/>
          <a:p>
            <a:pPr indent="0" marL="0">
              <a:buNone/>
            </a:pPr>
            <a:r>
              <a:rPr lang="en-US" sz="2200" b="1" dirty="0">
                <a:solidFill>
                  <a:schemeClr val="accent2"/>
                </a:solidFill>
                <a:latin typeface="Arial" pitchFamily="34" charset="0"/>
                <a:ea typeface="Arial" pitchFamily="34" charset="-122"/>
                <a:cs typeface="Arial" pitchFamily="34" charset="-120"/>
              </a:rPr>
              <a:t>0</a:t>
            </a:r>
            <a:endParaRPr lang="en-US" sz="2200" dirty="0"/>
          </a:p>
        </p:txBody>
      </p:sp>
      <p:sp>
        <p:nvSpPr>
          <p:cNvPr id="29" name="Text 23"/>
          <p:cNvSpPr txBox="1"/>
          <p:nvPr/>
        </p:nvSpPr>
        <p:spPr>
          <a:xfrm>
            <a:off x="9545117" y="3886200"/>
            <a:ext cx="1869338" cy="640080"/>
          </a:xfrm>
          <a:prstGeom prst="rect">
            <a:avLst/>
          </a:prstGeom>
          <a:noFill/>
          <a:ln/>
        </p:spPr>
        <p:txBody>
          <a:bodyPr wrap="square" lIns="0" tIns="0" rIns="0" bIns="0" rtlCol="0" anchor="ctr"/>
          <a:lstStyle/>
          <a:p>
            <a:pPr indent="0" marL="0">
              <a:buNone/>
            </a:pPr>
            <a:r>
              <a:rPr lang="en-US" sz="1300" dirty="0">
                <a:solidFill>
                  <a:schemeClr val="tx1"/>
                </a:solidFill>
              </a:rPr>
              <a:t>батлагдсан дээрэлхэлтийн гомдол</a:t>
            </a:r>
            <a:endParaRPr lang="en-US" sz="1300" dirty="0"/>
          </a:p>
        </p:txBody>
      </p:sp>
      <p:sp>
        <p:nvSpPr>
          <p:cNvPr id="30" name="Text 24"/>
          <p:cNvSpPr txBox="1"/>
          <p:nvPr/>
        </p:nvSpPr>
        <p:spPr>
          <a:xfrm>
            <a:off x="8356397" y="4617720"/>
            <a:ext cx="1143000" cy="640080"/>
          </a:xfrm>
          <a:prstGeom prst="rect">
            <a:avLst/>
          </a:prstGeom>
          <a:noFill/>
          <a:ln/>
        </p:spPr>
        <p:txBody>
          <a:bodyPr wrap="square" lIns="0" tIns="0" rIns="0" bIns="0" rtlCol="0" anchor="ctr"/>
          <a:lstStyle/>
          <a:p>
            <a:pPr indent="0" marL="0">
              <a:buNone/>
            </a:pPr>
            <a:r>
              <a:rPr lang="en-US" sz="2200" b="1" dirty="0">
                <a:solidFill>
                  <a:schemeClr val="accent2"/>
                </a:solidFill>
                <a:latin typeface="Arial" pitchFamily="34" charset="0"/>
                <a:ea typeface="Arial" pitchFamily="34" charset="-122"/>
                <a:cs typeface="Arial" pitchFamily="34" charset="-120"/>
              </a:rPr>
              <a:t>≥ 75%</a:t>
            </a:r>
            <a:endParaRPr lang="en-US" sz="2200" dirty="0"/>
          </a:p>
        </p:txBody>
      </p:sp>
      <p:sp>
        <p:nvSpPr>
          <p:cNvPr id="31" name="Text 25"/>
          <p:cNvSpPr txBox="1"/>
          <p:nvPr/>
        </p:nvSpPr>
        <p:spPr>
          <a:xfrm>
            <a:off x="9545117" y="4617720"/>
            <a:ext cx="1869338" cy="640080"/>
          </a:xfrm>
          <a:prstGeom prst="rect">
            <a:avLst/>
          </a:prstGeom>
          <a:noFill/>
          <a:ln/>
        </p:spPr>
        <p:txBody>
          <a:bodyPr wrap="square" lIns="0" tIns="0" rIns="0" bIns="0" rtlCol="0" anchor="ctr"/>
          <a:lstStyle/>
          <a:p>
            <a:pPr indent="0" marL="0">
              <a:buNone/>
            </a:pPr>
            <a:r>
              <a:rPr lang="en-US" sz="1300" dirty="0">
                <a:solidFill>
                  <a:schemeClr val="tx1"/>
                </a:solidFill>
              </a:rPr>
              <a:t>сонсогчийн сэтгэл ханамж</a:t>
            </a:r>
            <a:endParaRPr lang="en-US" sz="1300" dirty="0"/>
          </a:p>
        </p:txBody>
      </p:sp>
      <p:sp>
        <p:nvSpPr>
          <p:cNvPr id="32" name="Text 26"/>
          <p:cNvSpPr txBox="1"/>
          <p:nvPr/>
        </p:nvSpPr>
        <p:spPr>
          <a:xfrm>
            <a:off x="8356397" y="5349240"/>
            <a:ext cx="1143000" cy="640080"/>
          </a:xfrm>
          <a:prstGeom prst="rect">
            <a:avLst/>
          </a:prstGeom>
          <a:noFill/>
          <a:ln/>
        </p:spPr>
        <p:txBody>
          <a:bodyPr wrap="square" lIns="0" tIns="0" rIns="0" bIns="0" rtlCol="0" anchor="ctr"/>
          <a:lstStyle/>
          <a:p>
            <a:pPr indent="0" marL="0">
              <a:buNone/>
            </a:pPr>
            <a:r>
              <a:rPr lang="en-US" sz="2200" b="1" dirty="0">
                <a:solidFill>
                  <a:schemeClr val="accent2"/>
                </a:solidFill>
                <a:latin typeface="Arial" pitchFamily="34" charset="0"/>
                <a:ea typeface="Arial" pitchFamily="34" charset="-122"/>
                <a:cs typeface="Arial" pitchFamily="34" charset="-120"/>
              </a:rPr>
              <a:t>≥ 80%</a:t>
            </a:r>
            <a:endParaRPr lang="en-US" sz="2200" dirty="0"/>
          </a:p>
        </p:txBody>
      </p:sp>
      <p:sp>
        <p:nvSpPr>
          <p:cNvPr id="33" name="Text 27"/>
          <p:cNvSpPr txBox="1"/>
          <p:nvPr/>
        </p:nvSpPr>
        <p:spPr>
          <a:xfrm>
            <a:off x="9545117" y="5349240"/>
            <a:ext cx="1869338" cy="640080"/>
          </a:xfrm>
          <a:prstGeom prst="rect">
            <a:avLst/>
          </a:prstGeom>
          <a:noFill/>
          <a:ln/>
        </p:spPr>
        <p:txBody>
          <a:bodyPr wrap="square" lIns="0" tIns="0" rIns="0" bIns="0" rtlCol="0" anchor="ctr"/>
          <a:lstStyle/>
          <a:p>
            <a:pPr indent="0" marL="0">
              <a:buNone/>
            </a:pPr>
            <a:r>
              <a:rPr lang="en-US" sz="1300" dirty="0">
                <a:solidFill>
                  <a:schemeClr val="tx1"/>
                </a:solidFill>
              </a:rPr>
              <a:t>төгсөгчийг командлагч «сайн»-аас дээш үнэлэх</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292608"/>
          </a:xfrm>
          <a:prstGeom prst="rect">
            <a:avLst/>
          </a:prstGeom>
          <a:noFill/>
          <a:ln/>
        </p:spPr>
        <p:txBody>
          <a:bodyPr wrap="square" lIns="0" tIns="0" rIns="0" bIns="0" rtlCol="0"/>
          <a:lstStyle/>
          <a:p>
            <a:pPr indent="0" marL="0">
              <a:buNone/>
            </a:pPr>
            <a:r>
              <a:rPr lang="en-US" sz="1200" b="1" spc="200" kern="0" dirty="0">
                <a:solidFill>
                  <a:schemeClr val="accent3"/>
                </a:solidFill>
              </a:rPr>
              <a:t>ШИЙДВЭРЛҮҮЛЭХ САНАЛ</a:t>
            </a:r>
            <a:endParaRPr lang="en-US" sz="1200" dirty="0"/>
          </a:p>
        </p:txBody>
      </p:sp>
      <p:sp>
        <p:nvSpPr>
          <p:cNvPr id="3" name="Text 0"/>
          <p:cNvSpPr/>
          <p:nvPr>
            <p:ph idx="101" type="title" hasCustomPrompt="1"/>
          </p:nvPr>
        </p:nvSpPr>
        <p:spPr>
          <a:xfrm>
            <a:off x="548640" y="621792"/>
            <a:ext cx="11094415" cy="731520"/>
          </a:xfrm>
          <a:prstGeom prst="rect">
            <a:avLst/>
          </a:prstGeom>
          <a:noFill/>
          <a:ln/>
        </p:spPr>
        <p:txBody>
          <a:bodyPr wrap="square" lIns="0" tIns="0" rIns="0" bIns="0" rtlCol="0" anchor="t"/>
          <a:lstStyle/>
          <a:p>
            <a:pPr algn="l" indent="0" marL="0">
              <a:buNone/>
            </a:pPr>
            <a:r>
              <a:rPr lang="en-US" sz="3000" b="1" dirty="0">
                <a:solidFill>
                  <a:schemeClr val="bg1"/>
                </a:solidFill>
              </a:rPr>
              <a:t>Удирдлагаар шийдвэрлүүлэх 8 санал</a:t>
            </a:r>
            <a:endParaRPr lang="en-US" sz="3000" dirty="0"/>
          </a:p>
        </p:txBody>
      </p:sp>
      <p:sp>
        <p:nvSpPr>
          <p:cNvPr id="5" name="Decision 1"/>
          <p:cNvSpPr/>
          <p:nvPr/>
        </p:nvSpPr>
        <p:spPr>
          <a:xfrm>
            <a:off x="548640" y="1691640"/>
            <a:ext cx="502920" cy="502920"/>
          </a:xfrm>
          <a:prstGeom prst="ellipse">
            <a:avLst/>
          </a:prstGeom>
          <a:solidFill>
            <a:schemeClr val="accent3"/>
          </a:solidFill>
          <a:ln w="12700">
            <a:solidFill>
              <a:schemeClr val="accent3"/>
            </a:solidFill>
            <a:prstDash val="solid"/>
          </a:ln>
        </p:spPr>
      </p:sp>
      <p:sp>
        <p:nvSpPr>
          <p:cNvPr id="6" name="Text 3"/>
          <p:cNvSpPr txBox="1"/>
          <p:nvPr/>
        </p:nvSpPr>
        <p:spPr>
          <a:xfrm>
            <a:off x="548640" y="1691640"/>
            <a:ext cx="502920" cy="502920"/>
          </a:xfrm>
          <a:prstGeom prst="rect">
            <a:avLst/>
          </a:prstGeom>
          <a:noFill/>
          <a:ln/>
        </p:spPr>
        <p:txBody>
          <a:bodyPr wrap="square" lIns="0" tIns="0" rIns="0" bIns="0" rtlCol="0" anchor="ctr"/>
          <a:lstStyle/>
          <a:p>
            <a:pPr algn="ctr" indent="0" marL="0">
              <a:buNone/>
            </a:pPr>
            <a:r>
              <a:rPr lang="en-US" sz="1800" b="1" dirty="0">
                <a:solidFill>
                  <a:schemeClr val="accent1"/>
                </a:solidFill>
              </a:rPr>
              <a:t>1</a:t>
            </a:r>
            <a:endParaRPr lang="en-US" sz="1800" dirty="0"/>
          </a:p>
        </p:txBody>
      </p:sp>
      <p:sp>
        <p:nvSpPr>
          <p:cNvPr id="7" name="Text 4"/>
          <p:cNvSpPr txBox="1"/>
          <p:nvPr/>
        </p:nvSpPr>
        <p:spPr>
          <a:xfrm>
            <a:off x="1280160" y="1645920"/>
            <a:ext cx="4632808" cy="960120"/>
          </a:xfrm>
          <a:prstGeom prst="rect">
            <a:avLst/>
          </a:prstGeom>
          <a:noFill/>
          <a:ln/>
        </p:spPr>
        <p:txBody>
          <a:bodyPr wrap="square" lIns="0" tIns="0" rIns="0" bIns="0" rtlCol="0" anchor="t"/>
          <a:lstStyle/>
          <a:p>
            <a:pPr indent="0" marL="0">
              <a:buNone/>
            </a:pPr>
            <a:r>
              <a:rPr lang="en-US" sz="1600" dirty="0">
                <a:solidFill>
                  <a:schemeClr val="bg1"/>
                </a:solidFill>
              </a:rPr>
              <a:t>«Сонсогчийн хороо»-г 3 батальон, 12 рот бүхий босоо холимог бүтэцтэйгээр байгуулах</a:t>
            </a:r>
            <a:endParaRPr lang="en-US" sz="1600" dirty="0"/>
          </a:p>
        </p:txBody>
      </p:sp>
      <p:sp>
        <p:nvSpPr>
          <p:cNvPr id="8" name="Decision 2"/>
          <p:cNvSpPr/>
          <p:nvPr/>
        </p:nvSpPr>
        <p:spPr>
          <a:xfrm>
            <a:off x="548640" y="2788920"/>
            <a:ext cx="502920" cy="502920"/>
          </a:xfrm>
          <a:prstGeom prst="ellipse">
            <a:avLst/>
          </a:prstGeom>
          <a:solidFill>
            <a:schemeClr val="accent3"/>
          </a:solidFill>
          <a:ln w="12700">
            <a:solidFill>
              <a:schemeClr val="accent3"/>
            </a:solidFill>
            <a:prstDash val="solid"/>
          </a:ln>
        </p:spPr>
      </p:sp>
      <p:sp>
        <p:nvSpPr>
          <p:cNvPr id="9" name="Text 6"/>
          <p:cNvSpPr txBox="1"/>
          <p:nvPr/>
        </p:nvSpPr>
        <p:spPr>
          <a:xfrm>
            <a:off x="548640" y="2788920"/>
            <a:ext cx="502920" cy="502920"/>
          </a:xfrm>
          <a:prstGeom prst="rect">
            <a:avLst/>
          </a:prstGeom>
          <a:noFill/>
          <a:ln/>
        </p:spPr>
        <p:txBody>
          <a:bodyPr wrap="square" lIns="0" tIns="0" rIns="0" bIns="0" rtlCol="0" anchor="ctr"/>
          <a:lstStyle/>
          <a:p>
            <a:pPr algn="ctr" indent="0" marL="0">
              <a:buNone/>
            </a:pPr>
            <a:r>
              <a:rPr lang="en-US" sz="1800" b="1" dirty="0">
                <a:solidFill>
                  <a:schemeClr val="accent1"/>
                </a:solidFill>
              </a:rPr>
              <a:t>2</a:t>
            </a:r>
            <a:endParaRPr lang="en-US" sz="1800" dirty="0"/>
          </a:p>
        </p:txBody>
      </p:sp>
      <p:sp>
        <p:nvSpPr>
          <p:cNvPr id="10" name="Text 7"/>
          <p:cNvSpPr txBox="1"/>
          <p:nvPr/>
        </p:nvSpPr>
        <p:spPr>
          <a:xfrm>
            <a:off x="1280160" y="2743200"/>
            <a:ext cx="4632808" cy="960120"/>
          </a:xfrm>
          <a:prstGeom prst="rect">
            <a:avLst/>
          </a:prstGeom>
          <a:noFill/>
          <a:ln/>
        </p:spPr>
        <p:txBody>
          <a:bodyPr wrap="square" lIns="0" tIns="0" rIns="0" bIns="0" rtlCol="0" anchor="t"/>
          <a:lstStyle/>
          <a:p>
            <a:pPr indent="0" marL="0">
              <a:buNone/>
            </a:pPr>
            <a:r>
              <a:rPr lang="en-US" sz="1600" dirty="0">
                <a:solidFill>
                  <a:schemeClr val="bg1"/>
                </a:solidFill>
              </a:rPr>
              <a:t>4 жилийн манлайллын шат, семестрийн ротацийг нэвтрүүлж, манлайллын үнэлгээг төгсөлтийн эрэмбэ, кредиттэй холбох</a:t>
            </a:r>
            <a:endParaRPr lang="en-US" sz="1600" dirty="0"/>
          </a:p>
        </p:txBody>
      </p:sp>
      <p:sp>
        <p:nvSpPr>
          <p:cNvPr id="11" name="Decision 3"/>
          <p:cNvSpPr/>
          <p:nvPr/>
        </p:nvSpPr>
        <p:spPr>
          <a:xfrm>
            <a:off x="548640" y="3886200"/>
            <a:ext cx="502920" cy="502920"/>
          </a:xfrm>
          <a:prstGeom prst="ellipse">
            <a:avLst/>
          </a:prstGeom>
          <a:solidFill>
            <a:schemeClr val="accent3"/>
          </a:solidFill>
          <a:ln w="12700">
            <a:solidFill>
              <a:schemeClr val="accent3"/>
            </a:solidFill>
            <a:prstDash val="solid"/>
          </a:ln>
        </p:spPr>
      </p:sp>
      <p:sp>
        <p:nvSpPr>
          <p:cNvPr id="12" name="Text 9"/>
          <p:cNvSpPr txBox="1"/>
          <p:nvPr/>
        </p:nvSpPr>
        <p:spPr>
          <a:xfrm>
            <a:off x="548640" y="3886200"/>
            <a:ext cx="502920" cy="502920"/>
          </a:xfrm>
          <a:prstGeom prst="rect">
            <a:avLst/>
          </a:prstGeom>
          <a:noFill/>
          <a:ln/>
        </p:spPr>
        <p:txBody>
          <a:bodyPr wrap="square" lIns="0" tIns="0" rIns="0" bIns="0" rtlCol="0" anchor="ctr"/>
          <a:lstStyle/>
          <a:p>
            <a:pPr algn="ctr" indent="0" marL="0">
              <a:buNone/>
            </a:pPr>
            <a:r>
              <a:rPr lang="en-US" sz="1800" b="1" dirty="0">
                <a:solidFill>
                  <a:schemeClr val="accent1"/>
                </a:solidFill>
              </a:rPr>
              <a:t>3</a:t>
            </a:r>
            <a:endParaRPr lang="en-US" sz="1800" dirty="0"/>
          </a:p>
        </p:txBody>
      </p:sp>
      <p:sp>
        <p:nvSpPr>
          <p:cNvPr id="13" name="Text 10"/>
          <p:cNvSpPr txBox="1"/>
          <p:nvPr/>
        </p:nvSpPr>
        <p:spPr>
          <a:xfrm>
            <a:off x="1280160" y="3840480"/>
            <a:ext cx="4632808" cy="960120"/>
          </a:xfrm>
          <a:prstGeom prst="rect">
            <a:avLst/>
          </a:prstGeom>
          <a:noFill/>
          <a:ln/>
        </p:spPr>
        <p:txBody>
          <a:bodyPr wrap="square" lIns="0" tIns="0" rIns="0" bIns="0" rtlCol="0" anchor="t"/>
          <a:lstStyle/>
          <a:p>
            <a:pPr indent="0" marL="0">
              <a:buNone/>
            </a:pPr>
            <a:r>
              <a:rPr lang="en-US" sz="1600" dirty="0">
                <a:solidFill>
                  <a:schemeClr val="bg1"/>
                </a:solidFill>
              </a:rPr>
              <a:t>Рот бүрт сургагч офицер, сургагч ахлагч томилж, үүргийг «зөвлөх, хянагч» гэж тогтоох</a:t>
            </a:r>
            <a:endParaRPr lang="en-US" sz="1600" dirty="0"/>
          </a:p>
        </p:txBody>
      </p:sp>
      <p:sp>
        <p:nvSpPr>
          <p:cNvPr id="14" name="Decision 4"/>
          <p:cNvSpPr/>
          <p:nvPr/>
        </p:nvSpPr>
        <p:spPr>
          <a:xfrm>
            <a:off x="548640" y="4983480"/>
            <a:ext cx="502920" cy="502920"/>
          </a:xfrm>
          <a:prstGeom prst="ellipse">
            <a:avLst/>
          </a:prstGeom>
          <a:solidFill>
            <a:schemeClr val="accent3"/>
          </a:solidFill>
          <a:ln w="12700">
            <a:solidFill>
              <a:schemeClr val="accent3"/>
            </a:solidFill>
            <a:prstDash val="solid"/>
          </a:ln>
        </p:spPr>
      </p:sp>
      <p:sp>
        <p:nvSpPr>
          <p:cNvPr id="15" name="Text 12"/>
          <p:cNvSpPr txBox="1"/>
          <p:nvPr/>
        </p:nvSpPr>
        <p:spPr>
          <a:xfrm>
            <a:off x="548640" y="4983480"/>
            <a:ext cx="502920" cy="502920"/>
          </a:xfrm>
          <a:prstGeom prst="rect">
            <a:avLst/>
          </a:prstGeom>
          <a:noFill/>
          <a:ln/>
        </p:spPr>
        <p:txBody>
          <a:bodyPr wrap="square" lIns="0" tIns="0" rIns="0" bIns="0" rtlCol="0" anchor="ctr"/>
          <a:lstStyle/>
          <a:p>
            <a:pPr algn="ctr" indent="0" marL="0">
              <a:buNone/>
            </a:pPr>
            <a:r>
              <a:rPr lang="en-US" sz="1800" b="1" dirty="0">
                <a:solidFill>
                  <a:schemeClr val="accent1"/>
                </a:solidFill>
              </a:rPr>
              <a:t>4</a:t>
            </a:r>
            <a:endParaRPr lang="en-US" sz="1800" dirty="0"/>
          </a:p>
        </p:txBody>
      </p:sp>
      <p:sp>
        <p:nvSpPr>
          <p:cNvPr id="16" name="Text 13"/>
          <p:cNvSpPr txBox="1"/>
          <p:nvPr/>
        </p:nvSpPr>
        <p:spPr>
          <a:xfrm>
            <a:off x="1280160" y="4937760"/>
            <a:ext cx="4632808" cy="960120"/>
          </a:xfrm>
          <a:prstGeom prst="rect">
            <a:avLst/>
          </a:prstGeom>
          <a:noFill/>
          <a:ln/>
        </p:spPr>
        <p:txBody>
          <a:bodyPr wrap="square" lIns="0" tIns="0" rIns="0" bIns="0" rtlCol="0" anchor="t"/>
          <a:lstStyle/>
          <a:p>
            <a:pPr indent="0" marL="0">
              <a:buNone/>
            </a:pPr>
            <a:r>
              <a:rPr lang="en-US" sz="1600" dirty="0">
                <a:solidFill>
                  <a:schemeClr val="bg1"/>
                </a:solidFill>
              </a:rPr>
              <a:t>Нэр төрийн зөвлөл бүхий 5 зөвлөл байгуулж, эрх хэмжээний матриц, нууц гомдлын сувгийг ажиллуулах</a:t>
            </a:r>
            <a:endParaRPr lang="en-US" sz="1600" dirty="0"/>
          </a:p>
        </p:txBody>
      </p:sp>
      <p:sp>
        <p:nvSpPr>
          <p:cNvPr id="17" name="Decision 5"/>
          <p:cNvSpPr/>
          <p:nvPr/>
        </p:nvSpPr>
        <p:spPr>
          <a:xfrm>
            <a:off x="6278728" y="1691640"/>
            <a:ext cx="502920" cy="502920"/>
          </a:xfrm>
          <a:prstGeom prst="ellipse">
            <a:avLst/>
          </a:prstGeom>
          <a:solidFill>
            <a:schemeClr val="accent3"/>
          </a:solidFill>
          <a:ln w="12700">
            <a:solidFill>
              <a:schemeClr val="accent3"/>
            </a:solidFill>
            <a:prstDash val="solid"/>
          </a:ln>
        </p:spPr>
      </p:sp>
      <p:sp>
        <p:nvSpPr>
          <p:cNvPr id="18" name="Text 15"/>
          <p:cNvSpPr txBox="1"/>
          <p:nvPr/>
        </p:nvSpPr>
        <p:spPr>
          <a:xfrm>
            <a:off x="6278728" y="1691640"/>
            <a:ext cx="502920" cy="502920"/>
          </a:xfrm>
          <a:prstGeom prst="rect">
            <a:avLst/>
          </a:prstGeom>
          <a:noFill/>
          <a:ln/>
        </p:spPr>
        <p:txBody>
          <a:bodyPr wrap="square" lIns="0" tIns="0" rIns="0" bIns="0" rtlCol="0" anchor="ctr"/>
          <a:lstStyle/>
          <a:p>
            <a:pPr algn="ctr" indent="0" marL="0">
              <a:buNone/>
            </a:pPr>
            <a:r>
              <a:rPr lang="en-US" sz="1800" b="1" dirty="0">
                <a:solidFill>
                  <a:schemeClr val="accent1"/>
                </a:solidFill>
              </a:rPr>
              <a:t>5</a:t>
            </a:r>
            <a:endParaRPr lang="en-US" sz="1800" dirty="0"/>
          </a:p>
        </p:txBody>
      </p:sp>
      <p:sp>
        <p:nvSpPr>
          <p:cNvPr id="19" name="Text 16"/>
          <p:cNvSpPr txBox="1"/>
          <p:nvPr/>
        </p:nvSpPr>
        <p:spPr>
          <a:xfrm>
            <a:off x="7010248" y="1645920"/>
            <a:ext cx="4632808" cy="960120"/>
          </a:xfrm>
          <a:prstGeom prst="rect">
            <a:avLst/>
          </a:prstGeom>
          <a:noFill/>
          <a:ln/>
        </p:spPr>
        <p:txBody>
          <a:bodyPr wrap="square" lIns="0" tIns="0" rIns="0" bIns="0" rtlCol="0" anchor="t"/>
          <a:lstStyle/>
          <a:p>
            <a:pPr indent="0" marL="0">
              <a:buNone/>
            </a:pPr>
            <a:r>
              <a:rPr lang="en-US" sz="1600" dirty="0">
                <a:solidFill>
                  <a:schemeClr val="bg1"/>
                </a:solidFill>
              </a:rPr>
              <a:t>Ротуудад ҮБХИС-иас төрсөн Монгол Улсын баатруудын нэрийг олгох</a:t>
            </a:r>
            <a:endParaRPr lang="en-US" sz="1600" dirty="0"/>
          </a:p>
        </p:txBody>
      </p:sp>
      <p:sp>
        <p:nvSpPr>
          <p:cNvPr id="20" name="Decision 6"/>
          <p:cNvSpPr/>
          <p:nvPr/>
        </p:nvSpPr>
        <p:spPr>
          <a:xfrm>
            <a:off x="6278728" y="2788920"/>
            <a:ext cx="502920" cy="502920"/>
          </a:xfrm>
          <a:prstGeom prst="ellipse">
            <a:avLst/>
          </a:prstGeom>
          <a:solidFill>
            <a:schemeClr val="accent3"/>
          </a:solidFill>
          <a:ln w="12700">
            <a:solidFill>
              <a:schemeClr val="accent3"/>
            </a:solidFill>
            <a:prstDash val="solid"/>
          </a:ln>
        </p:spPr>
      </p:sp>
      <p:sp>
        <p:nvSpPr>
          <p:cNvPr id="21" name="Text 18"/>
          <p:cNvSpPr txBox="1"/>
          <p:nvPr/>
        </p:nvSpPr>
        <p:spPr>
          <a:xfrm>
            <a:off x="6278728" y="2788920"/>
            <a:ext cx="502920" cy="502920"/>
          </a:xfrm>
          <a:prstGeom prst="rect">
            <a:avLst/>
          </a:prstGeom>
          <a:noFill/>
          <a:ln/>
        </p:spPr>
        <p:txBody>
          <a:bodyPr wrap="square" lIns="0" tIns="0" rIns="0" bIns="0" rtlCol="0" anchor="ctr"/>
          <a:lstStyle/>
          <a:p>
            <a:pPr algn="ctr" indent="0" marL="0">
              <a:buNone/>
            </a:pPr>
            <a:r>
              <a:rPr lang="en-US" sz="1800" b="1" dirty="0">
                <a:solidFill>
                  <a:schemeClr val="accent1"/>
                </a:solidFill>
              </a:rPr>
              <a:t>6</a:t>
            </a:r>
            <a:endParaRPr lang="en-US" sz="1800" dirty="0"/>
          </a:p>
        </p:txBody>
      </p:sp>
      <p:sp>
        <p:nvSpPr>
          <p:cNvPr id="22" name="Text 19"/>
          <p:cNvSpPr txBox="1"/>
          <p:nvPr/>
        </p:nvSpPr>
        <p:spPr>
          <a:xfrm>
            <a:off x="7010248" y="2743200"/>
            <a:ext cx="4632808" cy="960120"/>
          </a:xfrm>
          <a:prstGeom prst="rect">
            <a:avLst/>
          </a:prstGeom>
          <a:noFill/>
          <a:ln/>
        </p:spPr>
        <p:txBody>
          <a:bodyPr wrap="square" lIns="0" tIns="0" rIns="0" bIns="0" rtlCol="0" anchor="t"/>
          <a:lstStyle/>
          <a:p>
            <a:pPr indent="0" marL="0">
              <a:buNone/>
            </a:pPr>
            <a:r>
              <a:rPr lang="en-US" sz="1600" dirty="0">
                <a:solidFill>
                  <a:schemeClr val="bg1"/>
                </a:solidFill>
              </a:rPr>
              <a:t>Баруун ханцуйн албан тушаалын тэмдэг (албаны, эрээн) ба 4 шагналын тэмдгийн тогтолцоог батлах</a:t>
            </a:r>
            <a:endParaRPr lang="en-US" sz="1600" dirty="0"/>
          </a:p>
        </p:txBody>
      </p:sp>
      <p:sp>
        <p:nvSpPr>
          <p:cNvPr id="23" name="Decision 7"/>
          <p:cNvSpPr/>
          <p:nvPr/>
        </p:nvSpPr>
        <p:spPr>
          <a:xfrm>
            <a:off x="6278728" y="3886200"/>
            <a:ext cx="502920" cy="502920"/>
          </a:xfrm>
          <a:prstGeom prst="ellipse">
            <a:avLst/>
          </a:prstGeom>
          <a:solidFill>
            <a:schemeClr val="accent3"/>
          </a:solidFill>
          <a:ln w="12700">
            <a:solidFill>
              <a:schemeClr val="accent3"/>
            </a:solidFill>
            <a:prstDash val="solid"/>
          </a:ln>
        </p:spPr>
      </p:sp>
      <p:sp>
        <p:nvSpPr>
          <p:cNvPr id="24" name="Text 21"/>
          <p:cNvSpPr txBox="1"/>
          <p:nvPr/>
        </p:nvSpPr>
        <p:spPr>
          <a:xfrm>
            <a:off x="6278728" y="3886200"/>
            <a:ext cx="502920" cy="502920"/>
          </a:xfrm>
          <a:prstGeom prst="rect">
            <a:avLst/>
          </a:prstGeom>
          <a:noFill/>
          <a:ln/>
        </p:spPr>
        <p:txBody>
          <a:bodyPr wrap="square" lIns="0" tIns="0" rIns="0" bIns="0" rtlCol="0" anchor="ctr"/>
          <a:lstStyle/>
          <a:p>
            <a:pPr algn="ctr" indent="0" marL="0">
              <a:buNone/>
            </a:pPr>
            <a:r>
              <a:rPr lang="en-US" sz="1800" b="1" dirty="0">
                <a:solidFill>
                  <a:schemeClr val="accent1"/>
                </a:solidFill>
              </a:rPr>
              <a:t>7</a:t>
            </a:r>
            <a:endParaRPr lang="en-US" sz="1800" dirty="0"/>
          </a:p>
        </p:txBody>
      </p:sp>
      <p:sp>
        <p:nvSpPr>
          <p:cNvPr id="25" name="Text 22"/>
          <p:cNvSpPr txBox="1"/>
          <p:nvPr/>
        </p:nvSpPr>
        <p:spPr>
          <a:xfrm>
            <a:off x="7010248" y="3840480"/>
            <a:ext cx="4632808" cy="960120"/>
          </a:xfrm>
          <a:prstGeom prst="rect">
            <a:avLst/>
          </a:prstGeom>
          <a:noFill/>
          <a:ln/>
        </p:spPr>
        <p:txBody>
          <a:bodyPr wrap="square" lIns="0" tIns="0" rIns="0" bIns="0" rtlCol="0" anchor="t"/>
          <a:lstStyle/>
          <a:p>
            <a:pPr indent="0" marL="0">
              <a:buNone/>
            </a:pPr>
            <a:r>
              <a:rPr lang="en-US" sz="1600" dirty="0">
                <a:solidFill>
                  <a:schemeClr val="bg1"/>
                </a:solidFill>
              </a:rPr>
              <a:t>Ажлын хэсэг байгуулж, хоёр журмыг ЗХЖШ, БХЯ-тай зөвшилцөн 2027.02 гэхэд захирлын тушаалаар батлах</a:t>
            </a:r>
            <a:endParaRPr lang="en-US" sz="1600" dirty="0"/>
          </a:p>
        </p:txBody>
      </p:sp>
      <p:sp>
        <p:nvSpPr>
          <p:cNvPr id="26" name="Decision 8"/>
          <p:cNvSpPr/>
          <p:nvPr/>
        </p:nvSpPr>
        <p:spPr>
          <a:xfrm>
            <a:off x="6278728" y="4983480"/>
            <a:ext cx="502920" cy="502920"/>
          </a:xfrm>
          <a:prstGeom prst="ellipse">
            <a:avLst/>
          </a:prstGeom>
          <a:solidFill>
            <a:schemeClr val="accent3"/>
          </a:solidFill>
          <a:ln w="12700">
            <a:solidFill>
              <a:schemeClr val="accent3"/>
            </a:solidFill>
            <a:prstDash val="solid"/>
          </a:ln>
        </p:spPr>
      </p:sp>
      <p:sp>
        <p:nvSpPr>
          <p:cNvPr id="27" name="Text 24"/>
          <p:cNvSpPr txBox="1"/>
          <p:nvPr/>
        </p:nvSpPr>
        <p:spPr>
          <a:xfrm>
            <a:off x="6278728" y="4983480"/>
            <a:ext cx="502920" cy="502920"/>
          </a:xfrm>
          <a:prstGeom prst="rect">
            <a:avLst/>
          </a:prstGeom>
          <a:noFill/>
          <a:ln/>
        </p:spPr>
        <p:txBody>
          <a:bodyPr wrap="square" lIns="0" tIns="0" rIns="0" bIns="0" rtlCol="0" anchor="ctr"/>
          <a:lstStyle/>
          <a:p>
            <a:pPr algn="ctr" indent="0" marL="0">
              <a:buNone/>
            </a:pPr>
            <a:r>
              <a:rPr lang="en-US" sz="1800" b="1" dirty="0">
                <a:solidFill>
                  <a:schemeClr val="accent1"/>
                </a:solidFill>
              </a:rPr>
              <a:t>8</a:t>
            </a:r>
            <a:endParaRPr lang="en-US" sz="1800" dirty="0"/>
          </a:p>
        </p:txBody>
      </p:sp>
      <p:sp>
        <p:nvSpPr>
          <p:cNvPr id="28" name="Text 25"/>
          <p:cNvSpPr txBox="1"/>
          <p:nvPr/>
        </p:nvSpPr>
        <p:spPr>
          <a:xfrm>
            <a:off x="7010248" y="4937760"/>
            <a:ext cx="4632808" cy="960120"/>
          </a:xfrm>
          <a:prstGeom prst="rect">
            <a:avLst/>
          </a:prstGeom>
          <a:noFill/>
          <a:ln/>
        </p:spPr>
        <p:txBody>
          <a:bodyPr wrap="square" lIns="0" tIns="0" rIns="0" bIns="0" rtlCol="0" anchor="t"/>
          <a:lstStyle/>
          <a:p>
            <a:pPr indent="0" marL="0">
              <a:buNone/>
            </a:pPr>
            <a:r>
              <a:rPr lang="en-US" sz="1600" dirty="0">
                <a:solidFill>
                  <a:schemeClr val="bg1"/>
                </a:solidFill>
              </a:rPr>
              <a:t>2027 оны хавар 1 батальонд туршиж, 2027–2028 оны хичээлийн жилээс бүрэн нэвтрүүлэх</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UBHIS Cadet Corps">
  <a:themeElements>
    <a:clrScheme name="UBHIS Cadet Corps">
      <a:dk1>
        <a:srgbClr val="1B2333"/>
      </a:dk1>
      <a:lt1>
        <a:srgbClr val="FFFFFF"/>
      </a:lt1>
      <a:dk2>
        <a:srgbClr val="14284B"/>
      </a:dk2>
      <a:lt2>
        <a:srgbClr val="EEF1F6"/>
      </a:lt2>
      <a:accent1>
        <a:srgbClr val="14284B"/>
      </a:accent1>
      <a:accent2>
        <a:srgbClr val="C8102E"/>
      </a:accent2>
      <a:accent3>
        <a:srgbClr val="C9A227"/>
      </a:accent3>
      <a:accent4>
        <a:srgbClr val="5B6B85"/>
      </a:accent4>
      <a:accent5>
        <a:srgbClr val="2E7D4F"/>
      </a:accent5>
      <a:accent6>
        <a:srgbClr val="2B5CA8"/>
      </a:accent6>
      <a:hlink>
        <a:srgbClr val="2B5CA8"/>
      </a:hlink>
      <a:folHlink>
        <a:srgbClr val="5B6B85"/>
      </a:folHlink>
    </a:clrScheme>
    <a:fontScheme name="UBHIS Cadet Cor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ҮБХИС</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Сонсогчийн хороог шинээр байгуулах нэгдсэн санал</dc:title>
  <dc:subject>PptxGenJS Presentation</dc:subject>
  <dc:creator>ЦНС-ийн Кибер аюулгүй байдлын тэнхим</dc:creator>
  <cp:lastModifiedBy>ЦНС-ийн Кибер аюулгүй байдлын тэнхим</cp:lastModifiedBy>
  <cp:revision>1</cp:revision>
  <dcterms:created xsi:type="dcterms:W3CDTF">2026-10-30T04:19:50Z</dcterms:created>
  <dcterms:modified xsi:type="dcterms:W3CDTF">2026-10-30T04:19:50Z</dcterms:modified>
</cp:coreProperties>
</file>