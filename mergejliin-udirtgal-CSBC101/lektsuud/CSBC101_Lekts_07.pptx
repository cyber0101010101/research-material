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81db9d72-72ce-29c8-099c-09c0f515ed13}">
          <p14:sldIdLst>
            <p14:sldId id="256"/>
          </p14:sldIdLst>
        </p14:section>
        <p14:section name="Зорилго" id="{6510a933-f5de-07f4-c970-c7f23c5d1c3f}">
          <p14:sldIdLst>
            <p14:sldId id="257"/>
          </p14:sldIdLst>
        </p14:section>
        <p14:section name="Агуулга" id="{ebb1a90e-6dd2-8738-90e1-7beafc8e8f1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Дүгнэлт" id="{c2577f97-fd10-e203-dd15-c77f5fcef5f6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7. Карьерын зураглал: ажлын байр, албан тушаал, сертификат.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Эх сурвалж: хөтөлбөрийн 'Хөтөлбөрийн эрэлт, хэрэгцээ' хэсэг. Цэргийн сургуулийн төгсөгч эхлээд Зэвсэгт хүчинд алба хаана.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Техникийн мэдлэгээс гадна харилцаа, тайлагнал, ёс зүй адил чухал гэдгийг онцлох.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Жил нь баримжаа. Цэргийн албанд цол, албан тушаалын дэвшил тусгай журмаар явагдана.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Сертификат нь мэдлэгийн баталгаа боловч практик ур чадвар, туршлагыг орлохгүй. Шалгалтын шаардлага, үнийг албан ёсны сайтаас шалгах.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Өргөн суурьгүй мэргэшил тогтворгүй, мэргэшилгүй өргөн мэдлэг өрсөлдөх чадвар муутай.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 2: энэ 5 алхмын дагуу хувийн карьерын зураглал гаргаж, Дадлага 8-д хамгаална.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Портфолио нь ажил олгогчид таны ур чадварыг бодитоор харуулдаг.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Сонсогчид хариултаа бичиж хадгална. Бие даалт 2-ын 'алсын зорилго' хэсэгт ашиглана.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ЛЕКЦ_07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Карьерын зураглал: ажлын байр, албан тушаал, сертификат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CLO-7</a:t>
            </a:r>
            <a:endParaRPr lang="en-US" sz="1200" dirty="0"/>
          </a:p>
        </p:txBody>
      </p:sp>
      <p:sp>
        <p:nvSpPr>
          <p:cNvPr id="5" name="clo-label"/>
          <p:cNvSpPr txBox="1"/>
          <p:nvPr/>
        </p:nvSpPr>
        <p:spPr>
          <a:xfrm>
            <a:off x="178308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6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7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9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мэргэжилтний ажлын байр, ажил олгогчдын шаардлагыг мэдэх</a:t>
            </a:r>
            <a:endParaRPr lang="en-US" sz="1600" dirty="0"/>
          </a:p>
        </p:txBody>
      </p:sp>
      <p:sp>
        <p:nvSpPr>
          <p:cNvPr id="10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2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Карьерын шат, олон улсын сертификатын замналыг ойлгох</a:t>
            </a:r>
            <a:endParaRPr lang="en-US" sz="1600" dirty="0"/>
          </a:p>
        </p:txBody>
      </p:sp>
      <p:sp>
        <p:nvSpPr>
          <p:cNvPr id="13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5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Хувийн карьерын зураглал боловсруулах аргачлалыг эзэмших</a:t>
            </a:r>
            <a:endParaRPr lang="en-US" sz="1600" dirty="0"/>
          </a:p>
        </p:txBody>
      </p:sp>
      <p:sp>
        <p:nvSpPr>
          <p:cNvPr id="16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7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18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Хаана ажиллах вэ</a:t>
            </a:r>
            <a:endParaRPr lang="en-US" sz="1600" dirty="0"/>
          </a:p>
        </p:txBody>
      </p:sp>
      <p:sp>
        <p:nvSpPr>
          <p:cNvPr id="20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1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Ажил олгогчид юу хүсдэг вэ</a:t>
            </a:r>
            <a:endParaRPr lang="en-US" sz="1600" dirty="0"/>
          </a:p>
        </p:txBody>
      </p:sp>
      <p:sp>
        <p:nvSpPr>
          <p:cNvPr id="22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Карьерын шат</a:t>
            </a:r>
            <a:endParaRPr lang="en-US" sz="1600" dirty="0"/>
          </a:p>
        </p:txBody>
      </p:sp>
      <p:sp>
        <p:nvSpPr>
          <p:cNvPr id="24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Олон улсын сертификат</a:t>
            </a:r>
            <a:endParaRPr lang="en-US" sz="1600" dirty="0"/>
          </a:p>
        </p:txBody>
      </p:sp>
      <p:sp>
        <p:nvSpPr>
          <p:cNvPr id="26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Карьерын зураглал, портфолио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мэргэжилтэн хаана ажилладаг вэ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Зэвсэгт хүчин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аюулгүй байдлын цэрэг, анги, салбар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Тусгай, хууль сахиулах байгууллага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гэмт хэргийн мөрдөн шалгалт, тагнуул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Төрийн байгууллага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Яам, агентлаг, кибер халдлагатай тэмцэх төвүүд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Банк, санхүү, даатгал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SOC, луйврын хяналт, нийцлийн алба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Харилцаа холбоо, МТ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Сүлжээний аюулгүй байдал, үүлэн үйлчилгээ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Чухал дэд бүтэц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Эрчим хүч, тээвэр, үйлдвэрлэлийн хяналтын систем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Ажил олгогчид юу хүсдэг вэ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Хөтөлбөр боловсруулахад хийсэн ажил олгогчийн шаардлагын судалгаагаар</a:t>
            </a:r>
            <a:endParaRPr lang="en-US" sz="1600" dirty="0"/>
          </a:p>
        </p:txBody>
      </p:sp>
      <p:sp>
        <p:nvSpPr>
          <p:cNvPr id="5" name="card-0"/>
          <p:cNvSpPr/>
          <p:nvPr/>
        </p:nvSpPr>
        <p:spPr>
          <a:xfrm>
            <a:off x="548640" y="1828800"/>
            <a:ext cx="1999427" cy="4343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6" name="card-icon-0-bg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309774"/>
            <a:ext cx="409651" cy="409651"/>
          </a:xfrm>
          <a:prstGeom prst="rect">
            <a:avLst/>
          </a:prstGeom>
        </p:spPr>
      </p:pic>
      <p:sp>
        <p:nvSpPr>
          <p:cNvPr id="8" name="card-h-0"/>
          <p:cNvSpPr txBox="1"/>
          <p:nvPr/>
        </p:nvSpPr>
        <p:spPr>
          <a:xfrm>
            <a:off x="822960" y="310896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Мэргэжлийн мэдлэг</a:t>
            </a:r>
            <a:endParaRPr lang="en-US" sz="1700" dirty="0"/>
          </a:p>
        </p:txBody>
      </p:sp>
      <p:sp>
        <p:nvSpPr>
          <p:cNvPr id="9" name="card-t-0"/>
          <p:cNvSpPr txBox="1"/>
          <p:nvPr/>
        </p:nvSpPr>
        <p:spPr>
          <a:xfrm>
            <a:off x="822960" y="3764280"/>
            <a:ext cx="1450787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Сүлжээ, ҮС, CIA, Zero Trust, криптографи, хууль</a:t>
            </a:r>
            <a:endParaRPr lang="en-US" sz="1500" dirty="0"/>
          </a:p>
        </p:txBody>
      </p:sp>
      <p:sp>
        <p:nvSpPr>
          <p:cNvPr id="10" name="card-1"/>
          <p:cNvSpPr/>
          <p:nvPr/>
        </p:nvSpPr>
        <p:spPr>
          <a:xfrm>
            <a:off x="2822387" y="1828800"/>
            <a:ext cx="1999427" cy="4343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1" name="card-icon-1-bg"/>
          <p:cNvSpPr/>
          <p:nvPr/>
        </p:nvSpPr>
        <p:spPr>
          <a:xfrm>
            <a:off x="3096707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641" y="2309774"/>
            <a:ext cx="409651" cy="409651"/>
          </a:xfrm>
          <a:prstGeom prst="rect">
            <a:avLst/>
          </a:prstGeom>
        </p:spPr>
      </p:pic>
      <p:sp>
        <p:nvSpPr>
          <p:cNvPr id="13" name="card-h-1"/>
          <p:cNvSpPr txBox="1"/>
          <p:nvPr/>
        </p:nvSpPr>
        <p:spPr>
          <a:xfrm>
            <a:off x="3096707" y="310896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Практик ур чадвар</a:t>
            </a:r>
            <a:endParaRPr lang="en-US" sz="1700" dirty="0"/>
          </a:p>
        </p:txBody>
      </p:sp>
      <p:sp>
        <p:nvSpPr>
          <p:cNvPr id="14" name="card-t-1"/>
          <p:cNvSpPr txBox="1"/>
          <p:nvPr/>
        </p:nvSpPr>
        <p:spPr>
          <a:xfrm>
            <a:off x="3096707" y="3764280"/>
            <a:ext cx="1450787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Firewall, IDS/IPS, SIEM, лог анализ, OWASP</a:t>
            </a:r>
            <a:endParaRPr lang="en-US" sz="1500" dirty="0"/>
          </a:p>
        </p:txBody>
      </p:sp>
      <p:sp>
        <p:nvSpPr>
          <p:cNvPr id="15" name="card-2"/>
          <p:cNvSpPr/>
          <p:nvPr/>
        </p:nvSpPr>
        <p:spPr>
          <a:xfrm>
            <a:off x="5096134" y="1828800"/>
            <a:ext cx="1999427" cy="4343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16" name="card-icon-2-bg"/>
          <p:cNvSpPr/>
          <p:nvPr/>
        </p:nvSpPr>
        <p:spPr>
          <a:xfrm>
            <a:off x="5370454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388" y="2309774"/>
            <a:ext cx="409651" cy="409651"/>
          </a:xfrm>
          <a:prstGeom prst="rect">
            <a:avLst/>
          </a:prstGeom>
        </p:spPr>
      </p:pic>
      <p:sp>
        <p:nvSpPr>
          <p:cNvPr id="18" name="card-h-2"/>
          <p:cNvSpPr txBox="1"/>
          <p:nvPr/>
        </p:nvSpPr>
        <p:spPr>
          <a:xfrm>
            <a:off x="5370454" y="310896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Зөөлөн ур чадвар</a:t>
            </a:r>
            <a:endParaRPr lang="en-US" sz="1700" dirty="0"/>
          </a:p>
        </p:txBody>
      </p:sp>
      <p:sp>
        <p:nvSpPr>
          <p:cNvPr id="19" name="card-t-2"/>
          <p:cNvSpPr txBox="1"/>
          <p:nvPr/>
        </p:nvSpPr>
        <p:spPr>
          <a:xfrm>
            <a:off x="5370454" y="3764280"/>
            <a:ext cx="1450787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Асуудал шийдэх, багаар ажиллах, ойлгомжтой тайлагнах</a:t>
            </a:r>
            <a:endParaRPr lang="en-US" sz="1500" dirty="0"/>
          </a:p>
        </p:txBody>
      </p:sp>
      <p:sp>
        <p:nvSpPr>
          <p:cNvPr id="20" name="card-3"/>
          <p:cNvSpPr/>
          <p:nvPr/>
        </p:nvSpPr>
        <p:spPr>
          <a:xfrm>
            <a:off x="7369881" y="1828800"/>
            <a:ext cx="1999427" cy="4343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1" name="card-icon-3-bg"/>
          <p:cNvSpPr/>
          <p:nvPr/>
        </p:nvSpPr>
        <p:spPr>
          <a:xfrm>
            <a:off x="7644201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136" y="2309774"/>
            <a:ext cx="409651" cy="409651"/>
          </a:xfrm>
          <a:prstGeom prst="rect">
            <a:avLst/>
          </a:prstGeom>
        </p:spPr>
      </p:pic>
      <p:sp>
        <p:nvSpPr>
          <p:cNvPr id="23" name="card-h-3"/>
          <p:cNvSpPr txBox="1"/>
          <p:nvPr/>
        </p:nvSpPr>
        <p:spPr>
          <a:xfrm>
            <a:off x="7644201" y="310896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Ёс зүй, хариуцлага</a:t>
            </a:r>
            <a:endParaRPr lang="en-US" sz="1700" dirty="0"/>
          </a:p>
        </p:txBody>
      </p:sp>
      <p:sp>
        <p:nvSpPr>
          <p:cNvPr id="24" name="card-t-3"/>
          <p:cNvSpPr txBox="1"/>
          <p:nvPr/>
        </p:nvSpPr>
        <p:spPr>
          <a:xfrm>
            <a:off x="7644201" y="3764280"/>
            <a:ext cx="1450787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Хуулийн хүрээнд ажиллах, нууцлал хамгаалах</a:t>
            </a:r>
            <a:endParaRPr lang="en-US" sz="1500" dirty="0"/>
          </a:p>
        </p:txBody>
      </p:sp>
      <p:sp>
        <p:nvSpPr>
          <p:cNvPr id="25" name="card-4"/>
          <p:cNvSpPr/>
          <p:nvPr/>
        </p:nvSpPr>
        <p:spPr>
          <a:xfrm>
            <a:off x="9643628" y="1828800"/>
            <a:ext cx="1999427" cy="4343400"/>
          </a:xfrm>
          <a:prstGeom prst="roundRect">
            <a:avLst>
              <a:gd name="adj" fmla="val 4573"/>
            </a:avLst>
          </a:prstGeom>
          <a:solidFill>
            <a:schemeClr val="bg2"/>
          </a:solidFill>
          <a:ln/>
        </p:spPr>
      </p:sp>
      <p:sp>
        <p:nvSpPr>
          <p:cNvPr id="26" name="card-icon-4-bg"/>
          <p:cNvSpPr/>
          <p:nvPr/>
        </p:nvSpPr>
        <p:spPr>
          <a:xfrm>
            <a:off x="9917948" y="21488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8883" y="2309774"/>
            <a:ext cx="409651" cy="409651"/>
          </a:xfrm>
          <a:prstGeom prst="rect">
            <a:avLst/>
          </a:prstGeom>
        </p:spPr>
      </p:pic>
      <p:sp>
        <p:nvSpPr>
          <p:cNvPr id="28" name="card-h-4"/>
          <p:cNvSpPr txBox="1"/>
          <p:nvPr/>
        </p:nvSpPr>
        <p:spPr>
          <a:xfrm>
            <a:off x="9917948" y="3108960"/>
            <a:ext cx="1450787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Олон улсын түвшин</a:t>
            </a:r>
            <a:endParaRPr lang="en-US" sz="1700" dirty="0"/>
          </a:p>
        </p:txBody>
      </p:sp>
      <p:sp>
        <p:nvSpPr>
          <p:cNvPr id="29" name="card-t-4"/>
          <p:cNvSpPr txBox="1"/>
          <p:nvPr/>
        </p:nvSpPr>
        <p:spPr>
          <a:xfrm>
            <a:off x="9917948" y="3764280"/>
            <a:ext cx="1450787" cy="2179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Англи хэл, сертификат, тэмцээний туршлага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Карьерын шат: анхан шатнаас удирдах түвшин хүртэл</a:t>
            </a:r>
            <a:endParaRPr lang="en-US" sz="2800" dirty="0"/>
          </a:p>
        </p:txBody>
      </p:sp>
      <p:sp>
        <p:nvSpPr>
          <p:cNvPr id="4" name="step-0"/>
          <p:cNvSpPr/>
          <p:nvPr/>
        </p:nvSpPr>
        <p:spPr>
          <a:xfrm>
            <a:off x="548640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5" name="step-dot-0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-num-0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-h-0"/>
          <p:cNvSpPr txBox="1"/>
          <p:nvPr/>
        </p:nvSpPr>
        <p:spPr>
          <a:xfrm>
            <a:off x="731520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Анхан шат</a:t>
            </a:r>
            <a:endParaRPr lang="en-US" sz="1800" dirty="0"/>
          </a:p>
        </p:txBody>
      </p:sp>
      <p:sp>
        <p:nvSpPr>
          <p:cNvPr id="8" name="step-sub-0"/>
          <p:cNvSpPr txBox="1"/>
          <p:nvPr/>
        </p:nvSpPr>
        <p:spPr>
          <a:xfrm>
            <a:off x="731520" y="2834640"/>
            <a:ext cx="21975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0–2 жил</a:t>
            </a:r>
            <a:endParaRPr lang="en-US" sz="1200" dirty="0"/>
          </a:p>
        </p:txBody>
      </p:sp>
      <p:sp>
        <p:nvSpPr>
          <p:cNvPr id="9" name="step-t-0"/>
          <p:cNvSpPr txBox="1"/>
          <p:nvPr/>
        </p:nvSpPr>
        <p:spPr>
          <a:xfrm>
            <a:off x="731520" y="3246120"/>
            <a:ext cx="21518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SOC шинжээч (L1), систем, сүлжээний администратор, туслах аудитор</a:t>
            </a:r>
            <a:endParaRPr lang="en-US" sz="1600" dirty="0"/>
          </a:p>
        </p:txBody>
      </p:sp>
      <p:sp>
        <p:nvSpPr>
          <p:cNvPr id="10" name="step-arrow-0"/>
          <p:cNvSpPr/>
          <p:nvPr/>
        </p:nvSpPr>
        <p:spPr>
          <a:xfrm>
            <a:off x="3093644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1" name="step-1"/>
          <p:cNvSpPr/>
          <p:nvPr/>
        </p:nvSpPr>
        <p:spPr>
          <a:xfrm>
            <a:off x="3422828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12" name="step-dot-1"/>
          <p:cNvSpPr/>
          <p:nvPr/>
        </p:nvSpPr>
        <p:spPr>
          <a:xfrm>
            <a:off x="3605708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-num-1"/>
          <p:cNvSpPr txBox="1"/>
          <p:nvPr/>
        </p:nvSpPr>
        <p:spPr>
          <a:xfrm>
            <a:off x="3605708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step-h-1"/>
          <p:cNvSpPr txBox="1"/>
          <p:nvPr/>
        </p:nvSpPr>
        <p:spPr>
          <a:xfrm>
            <a:off x="3605708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Дунд шат</a:t>
            </a:r>
            <a:endParaRPr lang="en-US" sz="1800" dirty="0"/>
          </a:p>
        </p:txBody>
      </p:sp>
      <p:sp>
        <p:nvSpPr>
          <p:cNvPr id="15" name="step-sub-1"/>
          <p:cNvSpPr txBox="1"/>
          <p:nvPr/>
        </p:nvSpPr>
        <p:spPr>
          <a:xfrm>
            <a:off x="3605708" y="2834640"/>
            <a:ext cx="21975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2–5 жил</a:t>
            </a:r>
            <a:endParaRPr lang="en-US" sz="1200" dirty="0"/>
          </a:p>
        </p:txBody>
      </p:sp>
      <p:sp>
        <p:nvSpPr>
          <p:cNvPr id="16" name="step-t-1"/>
          <p:cNvSpPr txBox="1"/>
          <p:nvPr/>
        </p:nvSpPr>
        <p:spPr>
          <a:xfrm>
            <a:off x="3605708" y="3246120"/>
            <a:ext cx="21518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Инцидентийн мэргэжилтэн, нэвтрэлтийн тестийн мэргэжилтэн, АБ инженер</a:t>
            </a:r>
            <a:endParaRPr lang="en-US" sz="1600" dirty="0"/>
          </a:p>
        </p:txBody>
      </p:sp>
      <p:sp>
        <p:nvSpPr>
          <p:cNvPr id="17" name="step-arrow-1"/>
          <p:cNvSpPr/>
          <p:nvPr/>
        </p:nvSpPr>
        <p:spPr>
          <a:xfrm>
            <a:off x="5967832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8" name="step-2"/>
          <p:cNvSpPr/>
          <p:nvPr/>
        </p:nvSpPr>
        <p:spPr>
          <a:xfrm>
            <a:off x="6297016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19" name="step-dot-2"/>
          <p:cNvSpPr/>
          <p:nvPr/>
        </p:nvSpPr>
        <p:spPr>
          <a:xfrm>
            <a:off x="6479896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step-num-2"/>
          <p:cNvSpPr txBox="1"/>
          <p:nvPr/>
        </p:nvSpPr>
        <p:spPr>
          <a:xfrm>
            <a:off x="6479896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step-h-2"/>
          <p:cNvSpPr txBox="1"/>
          <p:nvPr/>
        </p:nvSpPr>
        <p:spPr>
          <a:xfrm>
            <a:off x="6479896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Ахлах шат</a:t>
            </a:r>
            <a:endParaRPr lang="en-US" sz="1800" dirty="0"/>
          </a:p>
        </p:txBody>
      </p:sp>
      <p:sp>
        <p:nvSpPr>
          <p:cNvPr id="22" name="step-sub-2"/>
          <p:cNvSpPr txBox="1"/>
          <p:nvPr/>
        </p:nvSpPr>
        <p:spPr>
          <a:xfrm>
            <a:off x="6479896" y="2834640"/>
            <a:ext cx="21975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5–10 жил</a:t>
            </a:r>
            <a:endParaRPr lang="en-US" sz="1200" dirty="0"/>
          </a:p>
        </p:txBody>
      </p:sp>
      <p:sp>
        <p:nvSpPr>
          <p:cNvPr id="23" name="step-t-2"/>
          <p:cNvSpPr txBox="1"/>
          <p:nvPr/>
        </p:nvSpPr>
        <p:spPr>
          <a:xfrm>
            <a:off x="6479896" y="3246120"/>
            <a:ext cx="21518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Ахлах шинжээч, аюулгүй байдлын архитектор, багийн ахлагч</a:t>
            </a:r>
            <a:endParaRPr lang="en-US" sz="1600" dirty="0"/>
          </a:p>
        </p:txBody>
      </p:sp>
      <p:sp>
        <p:nvSpPr>
          <p:cNvPr id="24" name="step-arrow-2"/>
          <p:cNvSpPr/>
          <p:nvPr/>
        </p:nvSpPr>
        <p:spPr>
          <a:xfrm>
            <a:off x="8842019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5" name="step-3"/>
          <p:cNvSpPr/>
          <p:nvPr/>
        </p:nvSpPr>
        <p:spPr>
          <a:xfrm>
            <a:off x="9171203" y="1463040"/>
            <a:ext cx="2471852" cy="4023360"/>
          </a:xfrm>
          <a:prstGeom prst="roundRect">
            <a:avLst>
              <a:gd name="adj" fmla="val 3699"/>
            </a:avLst>
          </a:prstGeom>
          <a:solidFill>
            <a:schemeClr val="bg2"/>
          </a:solidFill>
          <a:ln/>
        </p:spPr>
      </p:sp>
      <p:sp>
        <p:nvSpPr>
          <p:cNvPr id="26" name="step-dot-3"/>
          <p:cNvSpPr/>
          <p:nvPr/>
        </p:nvSpPr>
        <p:spPr>
          <a:xfrm>
            <a:off x="9354083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step-num-3"/>
          <p:cNvSpPr txBox="1"/>
          <p:nvPr/>
        </p:nvSpPr>
        <p:spPr>
          <a:xfrm>
            <a:off x="9354083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step-h-3"/>
          <p:cNvSpPr txBox="1"/>
          <p:nvPr/>
        </p:nvSpPr>
        <p:spPr>
          <a:xfrm>
            <a:off x="9354083" y="2377440"/>
            <a:ext cx="21518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Удирдах шат</a:t>
            </a:r>
            <a:endParaRPr lang="en-US" sz="1800" dirty="0"/>
          </a:p>
        </p:txBody>
      </p:sp>
      <p:sp>
        <p:nvSpPr>
          <p:cNvPr id="29" name="step-sub-3"/>
          <p:cNvSpPr txBox="1"/>
          <p:nvPr/>
        </p:nvSpPr>
        <p:spPr>
          <a:xfrm>
            <a:off x="9354083" y="2834640"/>
            <a:ext cx="21975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10+ жил</a:t>
            </a:r>
            <a:endParaRPr lang="en-US" sz="1200" dirty="0"/>
          </a:p>
        </p:txBody>
      </p:sp>
      <p:sp>
        <p:nvSpPr>
          <p:cNvPr id="30" name="step-t-3"/>
          <p:cNvSpPr txBox="1"/>
          <p:nvPr/>
        </p:nvSpPr>
        <p:spPr>
          <a:xfrm>
            <a:off x="9354083" y="3246120"/>
            <a:ext cx="215181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CISO, кибер нэгжийн дарга, стратеги, бодлогын зөвлөх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Олон улсын мэргэжлийн сертификатын замнал</a:t>
            </a:r>
            <a:endParaRPr lang="en-US" sz="28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93776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Түвшин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Хэнд тохирох вэ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Суурь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ISC2 CC, CompTIA Security+, Cisco CCNA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Бүх чиглэлийн эхлэл, II–III 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Team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CompTIA CySA+, Cisco CyberOps, GIAC GCIH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SOC, инцидентийн хариу арга хэмжээ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Team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eJPT, CEH, OSCP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Нэвтрэлтийн тест, эмзэг байдлын үнэлгээ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DFIR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GIAC GCFA, GCFE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Тоон ул мөр, хортой кодын шинжилгээ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Засаглал, аудит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CISA, CISM, ISO/IEC 27001 Lead Auditor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GRC, аудит, менежмент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Ахисан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CISSP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5+ жилийн туршлагатай ахлах мэргэжилтэн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«T» хэлбэрийн мэргэжилтэн</a:t>
            </a:r>
            <a:endParaRPr lang="en-US" sz="2800" dirty="0"/>
          </a:p>
        </p:txBody>
      </p:sp>
      <p:sp>
        <p:nvSpPr>
          <p:cNvPr id="4" name="col-0"/>
          <p:cNvSpPr/>
          <p:nvPr/>
        </p:nvSpPr>
        <p:spPr>
          <a:xfrm>
            <a:off x="548640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5" name="col-icon-0-bg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6" name="co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1710842"/>
            <a:ext cx="281635" cy="281635"/>
          </a:xfrm>
          <a:prstGeom prst="rect">
            <a:avLst/>
          </a:prstGeom>
        </p:spPr>
      </p:pic>
      <p:sp>
        <p:nvSpPr>
          <p:cNvPr id="7" name="col-h-0"/>
          <p:cNvSpPr txBox="1"/>
          <p:nvPr/>
        </p:nvSpPr>
        <p:spPr>
          <a:xfrm>
            <a:off x="1508760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Өргөн суурь (T-ийн хөндлөн)</a:t>
            </a:r>
            <a:endParaRPr lang="en-US" sz="1800" dirty="0"/>
          </a:p>
        </p:txBody>
      </p:sp>
      <p:sp>
        <p:nvSpPr>
          <p:cNvPr id="8" name="col-list-0"/>
          <p:cNvSpPr txBox="1"/>
          <p:nvPr/>
        </p:nvSpPr>
        <p:spPr>
          <a:xfrm>
            <a:off x="822960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Сүлжээ, үйлдлийн систем, программчлал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Криптографи, хууль эрх зүй, стандарт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Харилцаа, тайлагнал, англи хэл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I–II курсын хичээлүүд үүнийг бүрдүүлнэ</a:t>
            </a:r>
            <a:endParaRPr lang="en-US" sz="1800" dirty="0"/>
          </a:p>
        </p:txBody>
      </p:sp>
      <p:sp>
        <p:nvSpPr>
          <p:cNvPr id="9" name="col-1"/>
          <p:cNvSpPr/>
          <p:nvPr/>
        </p:nvSpPr>
        <p:spPr>
          <a:xfrm>
            <a:off x="6255868" y="1325880"/>
            <a:ext cx="5387188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/>
        </p:spPr>
      </p:sp>
      <p:sp>
        <p:nvSpPr>
          <p:cNvPr id="10" name="col-icon-1-bg"/>
          <p:cNvSpPr/>
          <p:nvPr/>
        </p:nvSpPr>
        <p:spPr>
          <a:xfrm>
            <a:off x="6530188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710842"/>
            <a:ext cx="281635" cy="281635"/>
          </a:xfrm>
          <a:prstGeom prst="rect">
            <a:avLst/>
          </a:prstGeom>
        </p:spPr>
      </p:pic>
      <p:sp>
        <p:nvSpPr>
          <p:cNvPr id="12" name="col-h-1"/>
          <p:cNvSpPr txBox="1"/>
          <p:nvPr/>
        </p:nvSpPr>
        <p:spPr>
          <a:xfrm>
            <a:off x="7215988" y="1600200"/>
            <a:ext cx="419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Гүнзгий мэргэшил (T-ийн босоо)</a:t>
            </a:r>
            <a:endParaRPr lang="en-US" sz="1800" dirty="0"/>
          </a:p>
        </p:txBody>
      </p:sp>
      <p:sp>
        <p:nvSpPr>
          <p:cNvPr id="13" name="col-list-1"/>
          <p:cNvSpPr txBox="1"/>
          <p:nvPr/>
        </p:nvSpPr>
        <p:spPr>
          <a:xfrm>
            <a:off x="6530188" y="2377440"/>
            <a:ext cx="48385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Нэг чиглэлд гүнзгий ур чадвар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Жишээ: DFIR, VAPT, SOC, криптографи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Төсөл, CTF, сертификатаар баталгаажна</a:t>
            </a:r>
            <a:endParaRPr lang="en-US" sz="1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III–IV курс, дадлагаар бүрэлдэнэ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Карьерын зураглал боловсруулах 5 алхам</a:t>
            </a:r>
            <a:endParaRPr lang="en-US" sz="2800" dirty="0"/>
          </a:p>
        </p:txBody>
      </p:sp>
      <p:sp>
        <p:nvSpPr>
          <p:cNvPr id="4" name="step-0"/>
          <p:cNvSpPr/>
          <p:nvPr/>
        </p:nvSpPr>
        <p:spPr>
          <a:xfrm>
            <a:off x="548640" y="146304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5" name="step-dot-0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-num-0"/>
          <p:cNvSpPr txBox="1"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tep-h-0"/>
          <p:cNvSpPr txBox="1"/>
          <p:nvPr/>
        </p:nvSpPr>
        <p:spPr>
          <a:xfrm>
            <a:off x="731520" y="237744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Өөрийгөө үнэлэх</a:t>
            </a:r>
            <a:endParaRPr lang="en-US" sz="1800" dirty="0"/>
          </a:p>
        </p:txBody>
      </p:sp>
      <p:sp>
        <p:nvSpPr>
          <p:cNvPr id="8" name="step-t-0"/>
          <p:cNvSpPr txBox="1"/>
          <p:nvPr/>
        </p:nvSpPr>
        <p:spPr>
          <a:xfrm>
            <a:off x="731520" y="306324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Сонирхол, давуу тал, үнэт зүйл</a:t>
            </a:r>
            <a:endParaRPr lang="en-US" sz="1600" dirty="0"/>
          </a:p>
        </p:txBody>
      </p:sp>
      <p:sp>
        <p:nvSpPr>
          <p:cNvPr id="9" name="step-arrow-0"/>
          <p:cNvSpPr/>
          <p:nvPr/>
        </p:nvSpPr>
        <p:spPr>
          <a:xfrm>
            <a:off x="2518806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step-1"/>
          <p:cNvSpPr/>
          <p:nvPr/>
        </p:nvSpPr>
        <p:spPr>
          <a:xfrm>
            <a:off x="2847990" y="146304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1" name="step-dot-1"/>
          <p:cNvSpPr/>
          <p:nvPr/>
        </p:nvSpPr>
        <p:spPr>
          <a:xfrm>
            <a:off x="303087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-num-1"/>
          <p:cNvSpPr txBox="1"/>
          <p:nvPr/>
        </p:nvSpPr>
        <p:spPr>
          <a:xfrm>
            <a:off x="303087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tep-h-1"/>
          <p:cNvSpPr txBox="1"/>
          <p:nvPr/>
        </p:nvSpPr>
        <p:spPr>
          <a:xfrm>
            <a:off x="3030870" y="237744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Зорилтот үүрэг</a:t>
            </a:r>
            <a:endParaRPr lang="en-US" sz="1800" dirty="0"/>
          </a:p>
        </p:txBody>
      </p:sp>
      <p:sp>
        <p:nvSpPr>
          <p:cNvPr id="14" name="step-t-1"/>
          <p:cNvSpPr txBox="1"/>
          <p:nvPr/>
        </p:nvSpPr>
        <p:spPr>
          <a:xfrm>
            <a:off x="3030870" y="306324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NICE-ээс 1–2 ажлын үүрэг сонгох</a:t>
            </a:r>
            <a:endParaRPr lang="en-US" sz="1600" dirty="0"/>
          </a:p>
        </p:txBody>
      </p:sp>
      <p:sp>
        <p:nvSpPr>
          <p:cNvPr id="15" name="step-arrow-1"/>
          <p:cNvSpPr/>
          <p:nvPr/>
        </p:nvSpPr>
        <p:spPr>
          <a:xfrm>
            <a:off x="4818156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6" name="step-2"/>
          <p:cNvSpPr/>
          <p:nvPr/>
        </p:nvSpPr>
        <p:spPr>
          <a:xfrm>
            <a:off x="5147340" y="146304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7" name="step-dot-2"/>
          <p:cNvSpPr/>
          <p:nvPr/>
        </p:nvSpPr>
        <p:spPr>
          <a:xfrm>
            <a:off x="5330220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step-num-2"/>
          <p:cNvSpPr txBox="1"/>
          <p:nvPr/>
        </p:nvSpPr>
        <p:spPr>
          <a:xfrm>
            <a:off x="53302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step-h-2"/>
          <p:cNvSpPr txBox="1"/>
          <p:nvPr/>
        </p:nvSpPr>
        <p:spPr>
          <a:xfrm>
            <a:off x="5330220" y="237744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Зөрүүгээ олох</a:t>
            </a:r>
            <a:endParaRPr lang="en-US" sz="1800" dirty="0"/>
          </a:p>
        </p:txBody>
      </p:sp>
      <p:sp>
        <p:nvSpPr>
          <p:cNvPr id="20" name="step-t-2"/>
          <p:cNvSpPr txBox="1"/>
          <p:nvPr/>
        </p:nvSpPr>
        <p:spPr>
          <a:xfrm>
            <a:off x="5330220" y="306324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Шаардлага ба одоогийн түвшний зөрүү</a:t>
            </a:r>
            <a:endParaRPr lang="en-US" sz="1600" dirty="0"/>
          </a:p>
        </p:txBody>
      </p:sp>
      <p:sp>
        <p:nvSpPr>
          <p:cNvPr id="21" name="step-arrow-2"/>
          <p:cNvSpPr/>
          <p:nvPr/>
        </p:nvSpPr>
        <p:spPr>
          <a:xfrm>
            <a:off x="7117507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2" name="step-3"/>
          <p:cNvSpPr/>
          <p:nvPr/>
        </p:nvSpPr>
        <p:spPr>
          <a:xfrm>
            <a:off x="7446691" y="146304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23" name="step-dot-3"/>
          <p:cNvSpPr/>
          <p:nvPr/>
        </p:nvSpPr>
        <p:spPr>
          <a:xfrm>
            <a:off x="7629571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step-num-3"/>
          <p:cNvSpPr txBox="1"/>
          <p:nvPr/>
        </p:nvSpPr>
        <p:spPr>
          <a:xfrm>
            <a:off x="7629571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tep-h-3"/>
          <p:cNvSpPr txBox="1"/>
          <p:nvPr/>
        </p:nvSpPr>
        <p:spPr>
          <a:xfrm>
            <a:off x="7629571" y="237744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Замнал төлөвлөх</a:t>
            </a:r>
            <a:endParaRPr lang="en-US" sz="1800" dirty="0"/>
          </a:p>
        </p:txBody>
      </p:sp>
      <p:sp>
        <p:nvSpPr>
          <p:cNvPr id="26" name="step-t-3"/>
          <p:cNvSpPr txBox="1"/>
          <p:nvPr/>
        </p:nvSpPr>
        <p:spPr>
          <a:xfrm>
            <a:off x="7629571" y="306324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Хичээл, сертификат, төсөл, CTF</a:t>
            </a:r>
            <a:endParaRPr lang="en-US" sz="1600" dirty="0"/>
          </a:p>
        </p:txBody>
      </p:sp>
      <p:sp>
        <p:nvSpPr>
          <p:cNvPr id="27" name="step-arrow-3"/>
          <p:cNvSpPr/>
          <p:nvPr/>
        </p:nvSpPr>
        <p:spPr>
          <a:xfrm>
            <a:off x="9416857" y="324612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8" name="step-4"/>
          <p:cNvSpPr/>
          <p:nvPr/>
        </p:nvSpPr>
        <p:spPr>
          <a:xfrm>
            <a:off x="9746041" y="146304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29" name="step-dot-4"/>
          <p:cNvSpPr/>
          <p:nvPr/>
        </p:nvSpPr>
        <p:spPr>
          <a:xfrm>
            <a:off x="9928921" y="1691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step-num-4"/>
          <p:cNvSpPr txBox="1"/>
          <p:nvPr/>
        </p:nvSpPr>
        <p:spPr>
          <a:xfrm>
            <a:off x="9928921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step-h-4"/>
          <p:cNvSpPr txBox="1"/>
          <p:nvPr/>
        </p:nvSpPr>
        <p:spPr>
          <a:xfrm>
            <a:off x="9928921" y="2377440"/>
            <a:ext cx="15769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Хянах, шинэчлэх</a:t>
            </a:r>
            <a:endParaRPr lang="en-US" sz="1800" dirty="0"/>
          </a:p>
        </p:txBody>
      </p:sp>
      <p:sp>
        <p:nvSpPr>
          <p:cNvPr id="32" name="step-t-4"/>
          <p:cNvSpPr txBox="1"/>
          <p:nvPr/>
        </p:nvSpPr>
        <p:spPr>
          <a:xfrm>
            <a:off x="9928921" y="3063240"/>
            <a:ext cx="157697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Улирал бүр дүгнэж, засах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Оюутан байхдаа портфолио бүрдүүлэх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GitHub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Скрипт, лабораторийн тайлан, төслөө байршуулах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3665144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CTF ба тэмцээн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3665144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Оноо, байр, бодолтын тайлбар (write-up)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6507328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Блог, тэмдэглэл</a:t>
            </a:r>
            <a:endParaRPr lang="en-US" sz="2000" dirty="0"/>
          </a:p>
        </p:txBody>
      </p:sp>
      <p:sp>
        <p:nvSpPr>
          <p:cNvPr id="18" name="card-t-2"/>
          <p:cNvSpPr txBox="1"/>
          <p:nvPr/>
        </p:nvSpPr>
        <p:spPr>
          <a:xfrm>
            <a:off x="6507328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Сурсан зүйлээ бусдад тайлбарлан бичих</a:t>
            </a:r>
            <a:endParaRPr lang="en-US" sz="1800" dirty="0"/>
          </a:p>
        </p:txBody>
      </p:sp>
      <p:sp>
        <p:nvSpPr>
          <p:cNvPr id="19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9349511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Сертификат, курс</a:t>
            </a:r>
            <a:endParaRPr lang="en-US" sz="2000" dirty="0"/>
          </a:p>
        </p:txBody>
      </p:sp>
      <p:sp>
        <p:nvSpPr>
          <p:cNvPr id="23" name="card-t-3"/>
          <p:cNvSpPr txBox="1"/>
          <p:nvPr/>
        </p:nvSpPr>
        <p:spPr>
          <a:xfrm>
            <a:off x="9349511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Онлайн курс, суурь сертификат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БОДОЛЦОХ АСУУЛТ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10 жилийн дараа та ямар албан тушаалд, ямар багийг удирдаж, ямар асуудлыг шийдэж байх вэ?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Кибер мэргэжилтэн батлан хамгаалах, төр, хувийн хэвшлийн олон салбарт эрэлттэй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Карьер нь анхан → дунд → ахлах → удирдах шатаар хөгждөг; сертификат, туршлага дэмждэг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Карьерын зураглал бол тогтмол шинэчлэгддэг амьд төлөвлөгөө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Бие даалт 2: Хувийн карьерын зураглал ба хөгжлийн төлөвлөгөө (IDP)-ний ноорог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Дотоод, гадаадын 3 ажлын зар цуглуулж, Дадлага 7-д авчрах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ДАДЛАГА_07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Ажлын зар шинжлэх ба карьерын зураглал боловсруулах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Кибер аюулгүй байдлын бакалаврын хөтөлбөр (103103), 'Ажил олгогчийн шаардлага'   ·   NIST SP 800-181 Rev.1, NICE Framework   ·   CyberSeek Career Pathway (cyberseek.org)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7. Карьерын зураглал: ажлын байр, албан тушаал, сертификат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2026-10-26T09:26:44Z</dcterms:created>
  <dcterms:modified xsi:type="dcterms:W3CDTF">2026-10-26T09:26:44Z</dcterms:modified>
</cp:coreProperties>
</file>