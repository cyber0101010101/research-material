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5991ba67-0f93-fff3-5982-3d29b17b005a}">
          <p14:sldIdLst>
            <p14:sldId id="256"/>
          </p14:sldIdLst>
        </p14:section>
        <p14:section name="Зорилго" id="{df45c568-ba64-d07a-b24e-761df546deb7}">
          <p14:sldIdLst>
            <p14:sldId id="257"/>
          </p14:sldIdLst>
        </p14:section>
        <p14:section name="Агуулга" id="{ed58444f-ed7f-83b4-b6bc-2e5d42af1c9d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Дүгнэлт" id="{59cce01d-3c9b-7be6-af3d-be06cd29b8a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4. Хөтөлбөрийн бүтэц: хичээлүүдийн үүрэг ба уялдаа холбоо.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Хөтөлбөрийн индекс 103103. Кредитийн тоог хөтөлбөрийн сургалтын төлөвлөгөөнөөс авсан.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Сонсогчид 'математик яагаад хэрэгтэй вэ' гэж олонтоо асуудаг. RSA шифрлэлт анхны тооны онол дээр, лог анализ статистик дээр тулгуурладгийг жишээ болгох.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Хүснэгтийг хөтөлбөрийн санал болгох төлөвлөгөөтэй (2.5.4) уялдуулсан.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Дадлага 4-т сонсогчид бүх хичээлийн уялдааны зураглалыг бүлгээрээ байгуулна.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Хичээлүүдийн курсыг хөтөлбөрийн 2.5.4 'Сонсогчдод санал болгох төлөвлөгөө'-өөс авсан.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хөтөлбөрийн 2.5.5 'Төсөл, дадлага, судалгаа, туршилтын төлөвлөлт'.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Сонсогч бүр 1 жишээг цаасан дээр бичиж, 3–4 хүн чангаар уншина.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ЛЕКЦ_04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Хөтөлбөрийн бүтэц: хичээлүүдийн үүрэг ба уялдаа холбоо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CLO-3</a:t>
            </a:r>
            <a:endParaRPr lang="en-US" sz="1200" dirty="0"/>
          </a:p>
        </p:txBody>
      </p:sp>
      <p:sp>
        <p:nvSpPr>
          <p:cNvPr id="5" name="clo-label"/>
          <p:cNvSpPr txBox="1"/>
          <p:nvPr/>
        </p:nvSpPr>
        <p:spPr>
          <a:xfrm>
            <a:off x="178308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6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7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9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Бакалаврын хөтөлбөрийн бүтэц, кредит системийг ойлгох</a:t>
            </a:r>
            <a:endParaRPr lang="en-US" sz="1600" dirty="0"/>
          </a:p>
        </p:txBody>
      </p:sp>
      <p:sp>
        <p:nvSpPr>
          <p:cNvPr id="10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2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Ерөнхий суурь, мэргэжлийн суурь, мэргэших хичээлийн үүргийг тайлбарлах</a:t>
            </a:r>
            <a:endParaRPr lang="en-US" sz="1600" dirty="0"/>
          </a:p>
        </p:txBody>
      </p:sp>
      <p:sp>
        <p:nvSpPr>
          <p:cNvPr id="13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5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 хоорондын уялдааг харж, 4 жилийн суралцах замналаа төсөөлөх</a:t>
            </a:r>
            <a:endParaRPr lang="en-US" sz="1600" dirty="0"/>
          </a:p>
        </p:txBody>
      </p:sp>
      <p:sp>
        <p:nvSpPr>
          <p:cNvPr id="16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7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18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Хөтөлбөрийн бүтэц ба кредит</a:t>
            </a:r>
            <a:endParaRPr lang="en-US" sz="1600" dirty="0"/>
          </a:p>
        </p:txBody>
      </p:sp>
      <p:sp>
        <p:nvSpPr>
          <p:cNvPr id="20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Ерөнхий суурь хичээл яагаад хэрэгтэй вэ</a:t>
            </a:r>
            <a:endParaRPr lang="en-US" sz="1600" dirty="0"/>
          </a:p>
        </p:txBody>
      </p:sp>
      <p:sp>
        <p:nvSpPr>
          <p:cNvPr id="22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суурь хичээлүүдийн үүрэг</a:t>
            </a:r>
            <a:endParaRPr lang="en-US" sz="1600" dirty="0"/>
          </a:p>
        </p:txBody>
      </p:sp>
      <p:sp>
        <p:nvSpPr>
          <p:cNvPr id="24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 хоорондын уялдааны гинж</a:t>
            </a:r>
            <a:endParaRPr lang="en-US" sz="1600" dirty="0"/>
          </a:p>
        </p:txBody>
      </p:sp>
      <p:sp>
        <p:nvSpPr>
          <p:cNvPr id="26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 жилийн замнал, дадлага, диплом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Хөтөлбөрийн бүтэц: 150 кредит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548640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stat-n-0"/>
          <p:cNvSpPr txBox="1"/>
          <p:nvPr/>
        </p:nvSpPr>
        <p:spPr>
          <a:xfrm>
            <a:off x="822960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45</a:t>
            </a:r>
            <a:endParaRPr lang="en-US" sz="4400" dirty="0"/>
          </a:p>
        </p:txBody>
      </p:sp>
      <p:sp>
        <p:nvSpPr>
          <p:cNvPr id="6" name="stat-l-0"/>
          <p:cNvSpPr txBox="1"/>
          <p:nvPr/>
        </p:nvSpPr>
        <p:spPr>
          <a:xfrm>
            <a:off x="822960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Ерөнхий суурь хичээл</a:t>
            </a:r>
            <a:endParaRPr lang="en-US" sz="2000" dirty="0"/>
          </a:p>
        </p:txBody>
      </p:sp>
      <p:sp>
        <p:nvSpPr>
          <p:cNvPr id="7" name="stat-s-0"/>
          <p:cNvSpPr txBox="1"/>
          <p:nvPr/>
        </p:nvSpPr>
        <p:spPr>
          <a:xfrm>
            <a:off x="822960" y="44348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нийгэм, байгалийн ухаан, хэл, цэргийн бэлтгэл</a:t>
            </a:r>
            <a:endParaRPr lang="en-US" sz="1300" dirty="0"/>
          </a:p>
        </p:txBody>
      </p:sp>
      <p:sp>
        <p:nvSpPr>
          <p:cNvPr id="8" name="stat-card-1"/>
          <p:cNvSpPr/>
          <p:nvPr/>
        </p:nvSpPr>
        <p:spPr>
          <a:xfrm>
            <a:off x="3390824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9" name="stat-n-1"/>
          <p:cNvSpPr txBox="1"/>
          <p:nvPr/>
        </p:nvSpPr>
        <p:spPr>
          <a:xfrm>
            <a:off x="3665144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44</a:t>
            </a:r>
            <a:endParaRPr lang="en-US" sz="4400" dirty="0"/>
          </a:p>
        </p:txBody>
      </p:sp>
      <p:sp>
        <p:nvSpPr>
          <p:cNvPr id="10" name="stat-l-1"/>
          <p:cNvSpPr txBox="1"/>
          <p:nvPr/>
        </p:nvSpPr>
        <p:spPr>
          <a:xfrm>
            <a:off x="3665144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Мэргэжлийн суурь хичээл</a:t>
            </a:r>
            <a:endParaRPr lang="en-US" sz="2000" dirty="0"/>
          </a:p>
        </p:txBody>
      </p:sp>
      <p:sp>
        <p:nvSpPr>
          <p:cNvPr id="11" name="stat-s-1"/>
          <p:cNvSpPr txBox="1"/>
          <p:nvPr/>
        </p:nvSpPr>
        <p:spPr>
          <a:xfrm>
            <a:off x="3665144" y="44348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сүлжээ, программ, ҮС, математик</a:t>
            </a:r>
            <a:endParaRPr lang="en-US" sz="1300" dirty="0"/>
          </a:p>
        </p:txBody>
      </p:sp>
      <p:sp>
        <p:nvSpPr>
          <p:cNvPr id="12" name="stat-card-2"/>
          <p:cNvSpPr/>
          <p:nvPr/>
        </p:nvSpPr>
        <p:spPr>
          <a:xfrm>
            <a:off x="6233008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3" name="stat-n-2"/>
          <p:cNvSpPr txBox="1"/>
          <p:nvPr/>
        </p:nvSpPr>
        <p:spPr>
          <a:xfrm>
            <a:off x="6507328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59</a:t>
            </a:r>
            <a:endParaRPr lang="en-US" sz="4400" dirty="0"/>
          </a:p>
        </p:txBody>
      </p:sp>
      <p:sp>
        <p:nvSpPr>
          <p:cNvPr id="14" name="stat-l-2"/>
          <p:cNvSpPr txBox="1"/>
          <p:nvPr/>
        </p:nvSpPr>
        <p:spPr>
          <a:xfrm>
            <a:off x="6507328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Мэргэших хичээл</a:t>
            </a:r>
            <a:endParaRPr lang="en-US" sz="2000" dirty="0"/>
          </a:p>
        </p:txBody>
      </p:sp>
      <p:sp>
        <p:nvSpPr>
          <p:cNvPr id="15" name="stat-s-2"/>
          <p:cNvSpPr txBox="1"/>
          <p:nvPr/>
        </p:nvSpPr>
        <p:spPr>
          <a:xfrm>
            <a:off x="6507328" y="44348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криптографи, VAPT, DFIR, аудит, дадлага</a:t>
            </a:r>
            <a:endParaRPr lang="en-US" sz="1300" dirty="0"/>
          </a:p>
        </p:txBody>
      </p:sp>
      <p:sp>
        <p:nvSpPr>
          <p:cNvPr id="16" name="stat-card-3"/>
          <p:cNvSpPr/>
          <p:nvPr/>
        </p:nvSpPr>
        <p:spPr>
          <a:xfrm>
            <a:off x="9075191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7" name="stat-n-3"/>
          <p:cNvSpPr txBox="1"/>
          <p:nvPr/>
        </p:nvSpPr>
        <p:spPr>
          <a:xfrm>
            <a:off x="9349511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8" name="stat-l-3"/>
          <p:cNvSpPr txBox="1"/>
          <p:nvPr/>
        </p:nvSpPr>
        <p:spPr>
          <a:xfrm>
            <a:off x="9349511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Төгсөлтийн шалгалт, диплом</a:t>
            </a:r>
            <a:endParaRPr lang="en-US" sz="2000" dirty="0"/>
          </a:p>
        </p:txBody>
      </p:sp>
      <p:sp>
        <p:nvSpPr>
          <p:cNvPr id="19" name="stat-s-3"/>
          <p:cNvSpPr txBox="1"/>
          <p:nvPr/>
        </p:nvSpPr>
        <p:spPr>
          <a:xfrm>
            <a:off x="9349511" y="443484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мэргэжлийн цогцолбор</a:t>
            </a:r>
            <a:endParaRPr lang="en-US" sz="1300" dirty="0"/>
          </a:p>
        </p:txBody>
      </p:sp>
      <p:sp>
        <p:nvSpPr>
          <p:cNvPr id="20" name="stat-note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1 кредит ≈ 48 цагийн нийт ачаалал (танхимын хичээл + бие даалт). Энэ хичээл: 2 кредит = 96 цаг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Ерөнхий суурь хичээлүүд яагаад хэрэгтэй вэ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Математик-1, 2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Логик сэтгэлгээ, алгоритм, криптографийн суурь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Физик-1, 2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Электроник, дохио дамжуулалт, холбооны техник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Англи хэл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Стандарт, баримт бичиг, сертификат, олон улсын хамтын ажиллагаа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Монгол хэл, найруулга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Тайлан, албан бичиг, дүгнэлтийг ойлгомжтой бичих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Философи, түүх, соёл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Шүүмжлэлт сэтгэлгээ, эх оронч үзэл, ёс зүй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Цэргийн бэлтгэл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Сахилга, удирдлага, багийн ажиллагаа, тэсвэр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Мэргэжлийн суурь хичээлүүд ба тэдгээрийн үүрэг</a:t>
            </a:r>
            <a:endParaRPr lang="en-US" sz="2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09728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Хичээл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Мэргэжилд гүйцэтгэх үүрэг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Мэргэжлийн удиртгал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Мэргэжлийн чиг баримжаа, суралцах арга барил, карьерын зураглал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Програмчлалын үндэс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Скрипт бичих, автоматжуулах, кодын эмзэг байдлыг ойлгох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Өгөгдлийн бүтэц ба алгоритм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Үр ашигтай шийдэл, криптографи ба шинжилгээний суурь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Магадлал, математик статистик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Лог анализ, аномали илрүүлэлт, эрсдэлийн тооцоо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Компьютерийн сүлжээ-1,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II–III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Өгөгдөл хэрхэн дамждагийг ойлгох: сүлжээний хамгаалалтын суурь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Үйлдлийн систем ба аюулгүй байдал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Windows, Linux-ийг удирдах, хатууруулах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Мэдээллийн АБ ба хууль эрх зүй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Бодлого, стандарт, хууль эрх зүйн орчин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Ёс зүй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Мэргэжлийн ёс зүй, хариуцлага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Хичээл хоорондын уялдааны гинж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Өмнөх хичээл дараагийнхаа суурь болдог: нэг хичээлийг алгасвал гинж тасарна</a:t>
            </a:r>
            <a:endParaRPr lang="en-US" sz="1600" dirty="0"/>
          </a:p>
        </p:txBody>
      </p:sp>
      <p:sp>
        <p:nvSpPr>
          <p:cNvPr id="5" name="chain-label-bg-0"/>
          <p:cNvSpPr/>
          <p:nvPr/>
        </p:nvSpPr>
        <p:spPr>
          <a:xfrm>
            <a:off x="548640" y="1828800"/>
            <a:ext cx="1737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6" name="chain-label-0"/>
          <p:cNvSpPr txBox="1"/>
          <p:nvPr/>
        </p:nvSpPr>
        <p:spPr>
          <a:xfrm>
            <a:off x="640080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Криптографи</a:t>
            </a:r>
            <a:endParaRPr lang="en-US" sz="1600" dirty="0"/>
          </a:p>
        </p:txBody>
      </p:sp>
      <p:sp>
        <p:nvSpPr>
          <p:cNvPr id="7" name="chain-0-0"/>
          <p:cNvSpPr/>
          <p:nvPr/>
        </p:nvSpPr>
        <p:spPr>
          <a:xfrm>
            <a:off x="2560320" y="182880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8" name="chain-t-0-0"/>
          <p:cNvSpPr txBox="1"/>
          <p:nvPr/>
        </p:nvSpPr>
        <p:spPr>
          <a:xfrm>
            <a:off x="2697480" y="182880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Математик-1, 2</a:t>
            </a:r>
            <a:endParaRPr lang="en-US" sz="1500" dirty="0"/>
          </a:p>
        </p:txBody>
      </p:sp>
      <p:sp>
        <p:nvSpPr>
          <p:cNvPr id="9" name="chain-arrow-0-0"/>
          <p:cNvSpPr/>
          <p:nvPr/>
        </p:nvSpPr>
        <p:spPr>
          <a:xfrm>
            <a:off x="4579544" y="224485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chain-0-1"/>
          <p:cNvSpPr/>
          <p:nvPr/>
        </p:nvSpPr>
        <p:spPr>
          <a:xfrm>
            <a:off x="4945304" y="182880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1" name="chain-t-0-1"/>
          <p:cNvSpPr txBox="1"/>
          <p:nvPr/>
        </p:nvSpPr>
        <p:spPr>
          <a:xfrm>
            <a:off x="5082464" y="182880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Дискрет математик</a:t>
            </a:r>
            <a:endParaRPr lang="en-US" sz="1500" dirty="0"/>
          </a:p>
        </p:txBody>
      </p:sp>
      <p:sp>
        <p:nvSpPr>
          <p:cNvPr id="12" name="chain-arrow-0-1"/>
          <p:cNvSpPr/>
          <p:nvPr/>
        </p:nvSpPr>
        <p:spPr>
          <a:xfrm>
            <a:off x="6964528" y="224485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3" name="chain-0-2"/>
          <p:cNvSpPr/>
          <p:nvPr/>
        </p:nvSpPr>
        <p:spPr>
          <a:xfrm>
            <a:off x="7330288" y="182880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4" name="chain-t-0-2"/>
          <p:cNvSpPr txBox="1"/>
          <p:nvPr/>
        </p:nvSpPr>
        <p:spPr>
          <a:xfrm>
            <a:off x="7467448" y="182880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Өгөгдлийн АБ ба криптографи</a:t>
            </a:r>
            <a:endParaRPr lang="en-US" sz="1500" dirty="0"/>
          </a:p>
        </p:txBody>
      </p:sp>
      <p:sp>
        <p:nvSpPr>
          <p:cNvPr id="15" name="chain-arrow-0-2"/>
          <p:cNvSpPr/>
          <p:nvPr/>
        </p:nvSpPr>
        <p:spPr>
          <a:xfrm>
            <a:off x="9349511" y="224485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6" name="chain-0-3"/>
          <p:cNvSpPr/>
          <p:nvPr/>
        </p:nvSpPr>
        <p:spPr>
          <a:xfrm>
            <a:off x="9715271" y="182880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</p:spPr>
      </p:sp>
      <p:sp>
        <p:nvSpPr>
          <p:cNvPr id="17" name="chain-t-0-3"/>
          <p:cNvSpPr txBox="1"/>
          <p:nvPr/>
        </p:nvSpPr>
        <p:spPr>
          <a:xfrm>
            <a:off x="9852431" y="182880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PKI, тоон гарын үсэг</a:t>
            </a:r>
            <a:endParaRPr lang="en-US" sz="1500" dirty="0"/>
          </a:p>
        </p:txBody>
      </p:sp>
      <p:sp>
        <p:nvSpPr>
          <p:cNvPr id="18" name="chain-label-bg-1"/>
          <p:cNvSpPr/>
          <p:nvPr/>
        </p:nvSpPr>
        <p:spPr>
          <a:xfrm>
            <a:off x="548640" y="3383280"/>
            <a:ext cx="1737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19" name="chain-label-1"/>
          <p:cNvSpPr txBox="1"/>
          <p:nvPr/>
        </p:nvSpPr>
        <p:spPr>
          <a:xfrm>
            <a:off x="640080" y="33832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Сүлжээ</a:t>
            </a:r>
            <a:endParaRPr lang="en-US" sz="1600" dirty="0"/>
          </a:p>
        </p:txBody>
      </p:sp>
      <p:sp>
        <p:nvSpPr>
          <p:cNvPr id="20" name="chain-1-0"/>
          <p:cNvSpPr/>
          <p:nvPr/>
        </p:nvSpPr>
        <p:spPr>
          <a:xfrm>
            <a:off x="2560320" y="338328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1" name="chain-t-1-0"/>
          <p:cNvSpPr txBox="1"/>
          <p:nvPr/>
        </p:nvSpPr>
        <p:spPr>
          <a:xfrm>
            <a:off x="2697480" y="338328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Компьютерийн сүлжээ-1</a:t>
            </a:r>
            <a:endParaRPr lang="en-US" sz="1500" dirty="0"/>
          </a:p>
        </p:txBody>
      </p:sp>
      <p:sp>
        <p:nvSpPr>
          <p:cNvPr id="22" name="chain-arrow-1-0"/>
          <p:cNvSpPr/>
          <p:nvPr/>
        </p:nvSpPr>
        <p:spPr>
          <a:xfrm>
            <a:off x="4579544" y="379933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3" name="chain-1-1"/>
          <p:cNvSpPr/>
          <p:nvPr/>
        </p:nvSpPr>
        <p:spPr>
          <a:xfrm>
            <a:off x="4945304" y="338328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4" name="chain-t-1-1"/>
          <p:cNvSpPr txBox="1"/>
          <p:nvPr/>
        </p:nvSpPr>
        <p:spPr>
          <a:xfrm>
            <a:off x="5082464" y="338328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Компьютерийн сүлжээ-2</a:t>
            </a:r>
            <a:endParaRPr lang="en-US" sz="1500" dirty="0"/>
          </a:p>
        </p:txBody>
      </p:sp>
      <p:sp>
        <p:nvSpPr>
          <p:cNvPr id="25" name="chain-arrow-1-1"/>
          <p:cNvSpPr/>
          <p:nvPr/>
        </p:nvSpPr>
        <p:spPr>
          <a:xfrm>
            <a:off x="6964528" y="379933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6" name="chain-1-2"/>
          <p:cNvSpPr/>
          <p:nvPr/>
        </p:nvSpPr>
        <p:spPr>
          <a:xfrm>
            <a:off x="7330288" y="338328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7" name="chain-t-1-2"/>
          <p:cNvSpPr txBox="1"/>
          <p:nvPr/>
        </p:nvSpPr>
        <p:spPr>
          <a:xfrm>
            <a:off x="7467448" y="338328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Сүлжээний аюулгүй байдал</a:t>
            </a:r>
            <a:endParaRPr lang="en-US" sz="1500" dirty="0"/>
          </a:p>
        </p:txBody>
      </p:sp>
      <p:sp>
        <p:nvSpPr>
          <p:cNvPr id="28" name="chain-arrow-1-2"/>
          <p:cNvSpPr/>
          <p:nvPr/>
        </p:nvSpPr>
        <p:spPr>
          <a:xfrm>
            <a:off x="9349511" y="379933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9" name="chain-1-3"/>
          <p:cNvSpPr/>
          <p:nvPr/>
        </p:nvSpPr>
        <p:spPr>
          <a:xfrm>
            <a:off x="9715271" y="338328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</p:spPr>
      </p:sp>
      <p:sp>
        <p:nvSpPr>
          <p:cNvPr id="30" name="chain-t-1-3"/>
          <p:cNvSpPr txBox="1"/>
          <p:nvPr/>
        </p:nvSpPr>
        <p:spPr>
          <a:xfrm>
            <a:off x="9852431" y="338328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Эмзэг байдлын үнэлгээ, VAPT</a:t>
            </a:r>
            <a:endParaRPr lang="en-US" sz="1500" dirty="0"/>
          </a:p>
        </p:txBody>
      </p:sp>
      <p:sp>
        <p:nvSpPr>
          <p:cNvPr id="31" name="chain-label-bg-2"/>
          <p:cNvSpPr/>
          <p:nvPr/>
        </p:nvSpPr>
        <p:spPr>
          <a:xfrm>
            <a:off x="548640" y="4937760"/>
            <a:ext cx="1737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2" name="chain-label-2"/>
          <p:cNvSpPr txBox="1"/>
          <p:nvPr/>
        </p:nvSpPr>
        <p:spPr>
          <a:xfrm>
            <a:off x="640080" y="49377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Шинжилгээ</a:t>
            </a:r>
            <a:endParaRPr lang="en-US" sz="1600" dirty="0"/>
          </a:p>
        </p:txBody>
      </p:sp>
      <p:sp>
        <p:nvSpPr>
          <p:cNvPr id="33" name="chain-2-0"/>
          <p:cNvSpPr/>
          <p:nvPr/>
        </p:nvSpPr>
        <p:spPr>
          <a:xfrm>
            <a:off x="2560320" y="493776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4" name="chain-t-2-0"/>
          <p:cNvSpPr txBox="1"/>
          <p:nvPr/>
        </p:nvSpPr>
        <p:spPr>
          <a:xfrm>
            <a:off x="2697480" y="493776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Програмчлалын үндэс</a:t>
            </a:r>
            <a:endParaRPr lang="en-US" sz="1500" dirty="0"/>
          </a:p>
        </p:txBody>
      </p:sp>
      <p:sp>
        <p:nvSpPr>
          <p:cNvPr id="35" name="chain-arrow-2-0"/>
          <p:cNvSpPr/>
          <p:nvPr/>
        </p:nvSpPr>
        <p:spPr>
          <a:xfrm>
            <a:off x="4579544" y="535381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6" name="chain-2-1"/>
          <p:cNvSpPr/>
          <p:nvPr/>
        </p:nvSpPr>
        <p:spPr>
          <a:xfrm>
            <a:off x="4945304" y="493776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7" name="chain-t-2-1"/>
          <p:cNvSpPr txBox="1"/>
          <p:nvPr/>
        </p:nvSpPr>
        <p:spPr>
          <a:xfrm>
            <a:off x="5082464" y="493776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Үйлдлийн систем ба АБ</a:t>
            </a:r>
            <a:endParaRPr lang="en-US" sz="1500" dirty="0"/>
          </a:p>
        </p:txBody>
      </p:sp>
      <p:sp>
        <p:nvSpPr>
          <p:cNvPr id="38" name="chain-arrow-2-1"/>
          <p:cNvSpPr/>
          <p:nvPr/>
        </p:nvSpPr>
        <p:spPr>
          <a:xfrm>
            <a:off x="6964528" y="535381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9" name="chain-2-2"/>
          <p:cNvSpPr/>
          <p:nvPr/>
        </p:nvSpPr>
        <p:spPr>
          <a:xfrm>
            <a:off x="7330288" y="493776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40" name="chain-t-2-2"/>
          <p:cNvSpPr txBox="1"/>
          <p:nvPr/>
        </p:nvSpPr>
        <p:spPr>
          <a:xfrm>
            <a:off x="7467448" y="493776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Тоон ул мөр шинжилгээ</a:t>
            </a:r>
            <a:endParaRPr lang="en-US" sz="1500" dirty="0"/>
          </a:p>
        </p:txBody>
      </p:sp>
      <p:sp>
        <p:nvSpPr>
          <p:cNvPr id="41" name="chain-arrow-2-2"/>
          <p:cNvSpPr/>
          <p:nvPr/>
        </p:nvSpPr>
        <p:spPr>
          <a:xfrm>
            <a:off x="9349511" y="5353812"/>
            <a:ext cx="274320" cy="40233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42" name="chain-2-3"/>
          <p:cNvSpPr/>
          <p:nvPr/>
        </p:nvSpPr>
        <p:spPr>
          <a:xfrm>
            <a:off x="9715271" y="4937760"/>
            <a:ext cx="1927784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</p:spPr>
      </p:sp>
      <p:sp>
        <p:nvSpPr>
          <p:cNvPr id="43" name="chain-t-2-3"/>
          <p:cNvSpPr txBox="1"/>
          <p:nvPr/>
        </p:nvSpPr>
        <p:spPr>
          <a:xfrm>
            <a:off x="9852431" y="4937760"/>
            <a:ext cx="1653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Хортой кодын шинжилгээ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 жилийн суралцах замнал</a:t>
            </a:r>
            <a:endParaRPr lang="en-US" sz="2800" dirty="0"/>
          </a:p>
        </p:txBody>
      </p:sp>
      <p:sp>
        <p:nvSpPr>
          <p:cNvPr id="4" name="timeline-axis"/>
          <p:cNvSpPr/>
          <p:nvPr/>
        </p:nvSpPr>
        <p:spPr>
          <a:xfrm>
            <a:off x="1935442" y="2560320"/>
            <a:ext cx="8320811" cy="0"/>
          </a:xfrm>
          <a:prstGeom prst="line">
            <a:avLst/>
          </a:prstGeom>
          <a:noFill/>
          <a:ln w="38100">
            <a:solidFill>
              <a:srgbClr val="8FD3C1"/>
            </a:solidFill>
            <a:prstDash val="solid"/>
          </a:ln>
        </p:spPr>
      </p:sp>
      <p:sp>
        <p:nvSpPr>
          <p:cNvPr id="5" name="tl-year-0"/>
          <p:cNvSpPr txBox="1"/>
          <p:nvPr/>
        </p:nvSpPr>
        <p:spPr>
          <a:xfrm>
            <a:off x="640080" y="1417320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 курс</a:t>
            </a:r>
            <a:endParaRPr lang="en-US" sz="2200" dirty="0"/>
          </a:p>
        </p:txBody>
      </p:sp>
      <p:sp>
        <p:nvSpPr>
          <p:cNvPr id="6" name="tl-dot-0"/>
          <p:cNvSpPr/>
          <p:nvPr/>
        </p:nvSpPr>
        <p:spPr>
          <a:xfrm>
            <a:off x="1752562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l-card-0"/>
          <p:cNvSpPr/>
          <p:nvPr/>
        </p:nvSpPr>
        <p:spPr>
          <a:xfrm>
            <a:off x="658368" y="2971800"/>
            <a:ext cx="2554148" cy="3200400"/>
          </a:xfrm>
          <a:prstGeom prst="roundRect">
            <a:avLst>
              <a:gd name="adj" fmla="val 3580"/>
            </a:avLst>
          </a:prstGeom>
          <a:solidFill>
            <a:schemeClr val="bg2"/>
          </a:solidFill>
          <a:ln/>
        </p:spPr>
      </p:sp>
      <p:sp>
        <p:nvSpPr>
          <p:cNvPr id="8" name="tl-text-0"/>
          <p:cNvSpPr txBox="1"/>
          <p:nvPr/>
        </p:nvSpPr>
        <p:spPr>
          <a:xfrm>
            <a:off x="841248" y="3200400"/>
            <a:ext cx="21883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Суурь: математик, физик, хэл, түүх, Мэргэжлийн удиртгал, цэргийн бэлтгэл</a:t>
            </a:r>
            <a:endParaRPr lang="en-US" sz="1700" dirty="0"/>
          </a:p>
        </p:txBody>
      </p:sp>
      <p:sp>
        <p:nvSpPr>
          <p:cNvPr id="9" name="tl-year-1"/>
          <p:cNvSpPr txBox="1"/>
          <p:nvPr/>
        </p:nvSpPr>
        <p:spPr>
          <a:xfrm>
            <a:off x="3413684" y="1417320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II курс</a:t>
            </a:r>
            <a:endParaRPr lang="en-US" sz="2200" dirty="0"/>
          </a:p>
        </p:txBody>
      </p:sp>
      <p:sp>
        <p:nvSpPr>
          <p:cNvPr id="10" name="tl-dot-1"/>
          <p:cNvSpPr/>
          <p:nvPr/>
        </p:nvSpPr>
        <p:spPr>
          <a:xfrm>
            <a:off x="4526166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l-card-1"/>
          <p:cNvSpPr/>
          <p:nvPr/>
        </p:nvSpPr>
        <p:spPr>
          <a:xfrm>
            <a:off x="3431972" y="2971800"/>
            <a:ext cx="2554148" cy="3200400"/>
          </a:xfrm>
          <a:prstGeom prst="roundRect">
            <a:avLst>
              <a:gd name="adj" fmla="val 3580"/>
            </a:avLst>
          </a:prstGeom>
          <a:solidFill>
            <a:schemeClr val="bg2"/>
          </a:solidFill>
          <a:ln/>
        </p:spPr>
      </p:sp>
      <p:sp>
        <p:nvSpPr>
          <p:cNvPr id="12" name="tl-text-1"/>
          <p:cNvSpPr txBox="1"/>
          <p:nvPr/>
        </p:nvSpPr>
        <p:spPr>
          <a:xfrm>
            <a:off x="3614852" y="3200400"/>
            <a:ext cx="21883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Мэргэжлийн суурь: програмчлал, алгоритм, статистик, сүлжээ-1, англи хэл</a:t>
            </a:r>
            <a:endParaRPr lang="en-US" sz="1700" dirty="0"/>
          </a:p>
        </p:txBody>
      </p:sp>
      <p:sp>
        <p:nvSpPr>
          <p:cNvPr id="13" name="tl-year-2"/>
          <p:cNvSpPr txBox="1"/>
          <p:nvPr/>
        </p:nvSpPr>
        <p:spPr>
          <a:xfrm>
            <a:off x="6187288" y="1417320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III курс</a:t>
            </a:r>
            <a:endParaRPr lang="en-US" sz="2200" dirty="0"/>
          </a:p>
        </p:txBody>
      </p:sp>
      <p:sp>
        <p:nvSpPr>
          <p:cNvPr id="14" name="tl-dot-2"/>
          <p:cNvSpPr/>
          <p:nvPr/>
        </p:nvSpPr>
        <p:spPr>
          <a:xfrm>
            <a:off x="7299770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l-card-2"/>
          <p:cNvSpPr/>
          <p:nvPr/>
        </p:nvSpPr>
        <p:spPr>
          <a:xfrm>
            <a:off x="6205576" y="2971800"/>
            <a:ext cx="2554148" cy="3200400"/>
          </a:xfrm>
          <a:prstGeom prst="roundRect">
            <a:avLst>
              <a:gd name="adj" fmla="val 3580"/>
            </a:avLst>
          </a:prstGeom>
          <a:solidFill>
            <a:schemeClr val="bg2"/>
          </a:solidFill>
          <a:ln/>
        </p:spPr>
      </p:sp>
      <p:sp>
        <p:nvSpPr>
          <p:cNvPr id="16" name="tl-text-2"/>
          <p:cNvSpPr txBox="1"/>
          <p:nvPr/>
        </p:nvSpPr>
        <p:spPr>
          <a:xfrm>
            <a:off x="6388456" y="3200400"/>
            <a:ext cx="21883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Мэргэших эхлэл: ҮС ба АБ, сүлжээний АБ, криптографи, вэб, төслийн ажил, цэргийн хэргийн дадлага</a:t>
            </a:r>
            <a:endParaRPr lang="en-US" sz="1700" dirty="0"/>
          </a:p>
        </p:txBody>
      </p:sp>
      <p:sp>
        <p:nvSpPr>
          <p:cNvPr id="17" name="tl-year-3"/>
          <p:cNvSpPr txBox="1"/>
          <p:nvPr/>
        </p:nvSpPr>
        <p:spPr>
          <a:xfrm>
            <a:off x="8960891" y="1417320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IV курс</a:t>
            </a:r>
            <a:endParaRPr lang="en-US" sz="2200" dirty="0"/>
          </a:p>
        </p:txBody>
      </p:sp>
      <p:sp>
        <p:nvSpPr>
          <p:cNvPr id="18" name="tl-dot-3"/>
          <p:cNvSpPr/>
          <p:nvPr/>
        </p:nvSpPr>
        <p:spPr>
          <a:xfrm>
            <a:off x="10073373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l-card-3"/>
          <p:cNvSpPr/>
          <p:nvPr/>
        </p:nvSpPr>
        <p:spPr>
          <a:xfrm>
            <a:off x="8979179" y="2971800"/>
            <a:ext cx="2554148" cy="3200400"/>
          </a:xfrm>
          <a:prstGeom prst="roundRect">
            <a:avLst>
              <a:gd name="adj" fmla="val 3580"/>
            </a:avLst>
          </a:prstGeom>
          <a:solidFill>
            <a:schemeClr val="bg2"/>
          </a:solidFill>
          <a:ln/>
        </p:spPr>
      </p:sp>
      <p:sp>
        <p:nvSpPr>
          <p:cNvPr id="20" name="tl-text-3"/>
          <p:cNvSpPr txBox="1"/>
          <p:nvPr/>
        </p:nvSpPr>
        <p:spPr>
          <a:xfrm>
            <a:off x="9162059" y="3200400"/>
            <a:ext cx="21883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Мэргэшил: тоон ул мөр, хортой код, аудит, VAPT, кибер цэргийн ажиллагаа, мэргэжлийн дадлага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Дадлага, төсөл, судалгаа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1999427" cy="484632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1450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Туршилт</a:t>
            </a:r>
            <a:endParaRPr lang="en-US" sz="1700" dirty="0"/>
          </a:p>
        </p:txBody>
      </p:sp>
      <p:sp>
        <p:nvSpPr>
          <p:cNvPr id="8" name="card-sub-0"/>
          <p:cNvSpPr txBox="1"/>
          <p:nvPr/>
        </p:nvSpPr>
        <p:spPr>
          <a:xfrm>
            <a:off x="822960" y="300228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II–IV курс</a:t>
            </a:r>
            <a:endParaRPr lang="en-US" sz="14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413760"/>
            <a:ext cx="1450787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Лабораторийн орчинд сүлжээ, системийн туршилт хийх</a:t>
            </a:r>
            <a:endParaRPr lang="en-US" sz="1500" dirty="0"/>
          </a:p>
        </p:txBody>
      </p:sp>
      <p:sp>
        <p:nvSpPr>
          <p:cNvPr id="10" name="card-1"/>
          <p:cNvSpPr/>
          <p:nvPr/>
        </p:nvSpPr>
        <p:spPr>
          <a:xfrm>
            <a:off x="2822387" y="1325880"/>
            <a:ext cx="1999427" cy="484632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3096707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641" y="180685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3096707" y="260604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Төслийн ажил</a:t>
            </a:r>
            <a:endParaRPr lang="en-US" sz="1700" dirty="0"/>
          </a:p>
        </p:txBody>
      </p:sp>
      <p:sp>
        <p:nvSpPr>
          <p:cNvPr id="14" name="card-sub-1"/>
          <p:cNvSpPr txBox="1"/>
          <p:nvPr/>
        </p:nvSpPr>
        <p:spPr>
          <a:xfrm>
            <a:off x="3096707" y="326136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III курс</a:t>
            </a:r>
            <a:endParaRPr lang="en-US" sz="1400" dirty="0"/>
          </a:p>
        </p:txBody>
      </p:sp>
      <p:sp>
        <p:nvSpPr>
          <p:cNvPr id="15" name="card-t-1"/>
          <p:cNvSpPr txBox="1"/>
          <p:nvPr/>
        </p:nvSpPr>
        <p:spPr>
          <a:xfrm>
            <a:off x="3096707" y="3672840"/>
            <a:ext cx="1450787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SIEM тохируулах, эмзэг байдлын үнэлгээ, Red/Blue Team</a:t>
            </a:r>
            <a:endParaRPr lang="en-US" sz="1500" dirty="0"/>
          </a:p>
        </p:txBody>
      </p:sp>
      <p:sp>
        <p:nvSpPr>
          <p:cNvPr id="16" name="card-2"/>
          <p:cNvSpPr/>
          <p:nvPr/>
        </p:nvSpPr>
        <p:spPr>
          <a:xfrm>
            <a:off x="5096134" y="1325880"/>
            <a:ext cx="1999427" cy="484632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7" name="card-icon-2-bg"/>
          <p:cNvSpPr/>
          <p:nvPr/>
        </p:nvSpPr>
        <p:spPr>
          <a:xfrm>
            <a:off x="537045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388" y="1806854"/>
            <a:ext cx="409651" cy="409651"/>
          </a:xfrm>
          <a:prstGeom prst="rect">
            <a:avLst/>
          </a:prstGeom>
        </p:spPr>
      </p:pic>
      <p:sp>
        <p:nvSpPr>
          <p:cNvPr id="19" name="card-h-2"/>
          <p:cNvSpPr txBox="1"/>
          <p:nvPr/>
        </p:nvSpPr>
        <p:spPr>
          <a:xfrm>
            <a:off x="5370454" y="260604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Цэргийн хэргийн дадлага</a:t>
            </a:r>
            <a:endParaRPr lang="en-US" sz="1700" dirty="0"/>
          </a:p>
        </p:txBody>
      </p:sp>
      <p:sp>
        <p:nvSpPr>
          <p:cNvPr id="20" name="card-sub-2"/>
          <p:cNvSpPr txBox="1"/>
          <p:nvPr/>
        </p:nvSpPr>
        <p:spPr>
          <a:xfrm>
            <a:off x="5370454" y="352044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III курс</a:t>
            </a:r>
            <a:endParaRPr lang="en-US" sz="1400" dirty="0"/>
          </a:p>
        </p:txBody>
      </p:sp>
      <p:sp>
        <p:nvSpPr>
          <p:cNvPr id="21" name="card-t-2"/>
          <p:cNvSpPr txBox="1"/>
          <p:nvPr/>
        </p:nvSpPr>
        <p:spPr>
          <a:xfrm>
            <a:off x="5370454" y="3931920"/>
            <a:ext cx="145078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Салааны захирагчийн ажил үүргийг гүйцэтгэх</a:t>
            </a:r>
            <a:endParaRPr lang="en-US" sz="1500" dirty="0"/>
          </a:p>
        </p:txBody>
      </p:sp>
      <p:sp>
        <p:nvSpPr>
          <p:cNvPr id="22" name="card-3"/>
          <p:cNvSpPr/>
          <p:nvPr/>
        </p:nvSpPr>
        <p:spPr>
          <a:xfrm>
            <a:off x="7369881" y="1325880"/>
            <a:ext cx="1999427" cy="484632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3" name="card-icon-3-bg"/>
          <p:cNvSpPr/>
          <p:nvPr/>
        </p:nvSpPr>
        <p:spPr>
          <a:xfrm>
            <a:off x="764420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136" y="1806854"/>
            <a:ext cx="409651" cy="409651"/>
          </a:xfrm>
          <a:prstGeom prst="rect">
            <a:avLst/>
          </a:prstGeom>
        </p:spPr>
      </p:pic>
      <p:sp>
        <p:nvSpPr>
          <p:cNvPr id="25" name="card-h-3"/>
          <p:cNvSpPr txBox="1"/>
          <p:nvPr/>
        </p:nvSpPr>
        <p:spPr>
          <a:xfrm>
            <a:off x="7644201" y="260604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Мэргэжлийн дадлага</a:t>
            </a:r>
            <a:endParaRPr lang="en-US" sz="1700" dirty="0"/>
          </a:p>
        </p:txBody>
      </p:sp>
      <p:sp>
        <p:nvSpPr>
          <p:cNvPr id="26" name="card-sub-3"/>
          <p:cNvSpPr txBox="1"/>
          <p:nvPr/>
        </p:nvSpPr>
        <p:spPr>
          <a:xfrm>
            <a:off x="7644201" y="326136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IV курс</a:t>
            </a:r>
            <a:endParaRPr lang="en-US" sz="1400" dirty="0"/>
          </a:p>
        </p:txBody>
      </p:sp>
      <p:sp>
        <p:nvSpPr>
          <p:cNvPr id="27" name="card-t-3"/>
          <p:cNvSpPr txBox="1"/>
          <p:nvPr/>
        </p:nvSpPr>
        <p:spPr>
          <a:xfrm>
            <a:off x="7644201" y="3672840"/>
            <a:ext cx="1450787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Байгууллагын бодит орчинд ажиллах</a:t>
            </a:r>
            <a:endParaRPr lang="en-US" sz="1500" dirty="0"/>
          </a:p>
        </p:txBody>
      </p:sp>
      <p:sp>
        <p:nvSpPr>
          <p:cNvPr id="28" name="card-4"/>
          <p:cNvSpPr/>
          <p:nvPr/>
        </p:nvSpPr>
        <p:spPr>
          <a:xfrm>
            <a:off x="9643628" y="1325880"/>
            <a:ext cx="1999427" cy="484632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9" name="card-icon-4-bg"/>
          <p:cNvSpPr/>
          <p:nvPr/>
        </p:nvSpPr>
        <p:spPr>
          <a:xfrm>
            <a:off x="991794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883" y="1806854"/>
            <a:ext cx="409651" cy="409651"/>
          </a:xfrm>
          <a:prstGeom prst="rect">
            <a:avLst/>
          </a:prstGeom>
        </p:spPr>
      </p:pic>
      <p:sp>
        <p:nvSpPr>
          <p:cNvPr id="31" name="card-h-4"/>
          <p:cNvSpPr txBox="1"/>
          <p:nvPr/>
        </p:nvSpPr>
        <p:spPr>
          <a:xfrm>
            <a:off x="9917948" y="260604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Дипломын ажил</a:t>
            </a:r>
            <a:endParaRPr lang="en-US" sz="1700" dirty="0"/>
          </a:p>
        </p:txBody>
      </p:sp>
      <p:sp>
        <p:nvSpPr>
          <p:cNvPr id="32" name="card-sub-4"/>
          <p:cNvSpPr txBox="1"/>
          <p:nvPr/>
        </p:nvSpPr>
        <p:spPr>
          <a:xfrm>
            <a:off x="9917948" y="3261360"/>
            <a:ext cx="14507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IV курс</a:t>
            </a:r>
            <a:endParaRPr lang="en-US" sz="1400" dirty="0"/>
          </a:p>
        </p:txBody>
      </p:sp>
      <p:sp>
        <p:nvSpPr>
          <p:cNvPr id="33" name="card-t-4"/>
          <p:cNvSpPr txBox="1"/>
          <p:nvPr/>
        </p:nvSpPr>
        <p:spPr>
          <a:xfrm>
            <a:off x="9917948" y="3672840"/>
            <a:ext cx="1450787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Мэргэжлийн судалгаа хийж, тайлан хамгаалах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БОДОЛЦОХ АСУУЛТ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Таны хамгийн хэцүү гэж бодож буй ерөнхий суурь хичээл кибер аюулгүй байдлын аль ажилд хэрэгтэй вэ? Нэг жишээ олоорой.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Хөтөлбөр нь ерөнхий суурь → мэргэжлийн суурь → мэргэших гэсэн шаталсан бүтэцтэй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Хичээл бүр дараагийн хичээлийн суурь: уялдааг ойлгох нь суралцах сэдлийг нэмэгдүүлнэ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Дадлага, төсөл, диплом нь онолыг бодит ажилтай холбоно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Өөрийн 4 жилийн хичээлийн зураглалыг (курс, улирлаар) зурж, сонирхсон чиглэлээ тэмдэглэх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Нэг ерөнхий суурь хичээлийн мэргэжилд хэрэглэгдэх 2 жишээ олох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ДАДЛАГА_04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Хөтөлбөрийн зураглал: хичээл, чадамж, карьерын уялдаа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Кибер аюулгүй байдлын бакалаврын хөтөлбөр (103103): 2.5.1–2.5.5 хэсэг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4. Хөтөлбөрийн бүтэц: хичээлүүдийн үүрэг ба уялдаа холбоо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