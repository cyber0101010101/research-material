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үүр" id="{6a43244b-69b8-803a-bd18-0a14f53ca6dc}">
          <p14:sldIdLst>
            <p14:sldId id="256"/>
          </p14:sldIdLst>
        </p14:section>
        <p14:section name="Зорилго" id="{7add2453-e3ab-d71b-dee9-6c7ddd3d855a}">
          <p14:sldIdLst>
            <p14:sldId id="257"/>
          </p14:sldIdLst>
        </p14:section>
        <p14:section name="Агуулга" id="{6538db20-0b38-1309-bbd5-fcfb6aefcc6f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Дүгнэлт" id="{cf953b0a-1442-215b-43c9-e0b378954791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 5. Их сургуульд үр дүнтэй суралцах арга барил. Хичээл 2 цаг (90 минут). Сонсогчдод лекцийн зорилго, дадлагатай уялдааг танилцуулна.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Лекцийн зорилго, суралцахуйн үр дүнг (CLO) танилцуулж, агуулгын дарааллыг тайлбарлана.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Танхимын 1 цаг тутамд дунджаар 1 цаг бие даан суралцах шаардлагатай гэдгийг онцлох.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Эх сурвалж: Brown, Roediger, McDaniel, «Make It Stick», 2014. Анкиг (Anki) нэр томьёо цээжлэхэд ашиглахыг санал болгох.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Ангид шууд туршина: 2 минутад 'IP хаяг гэж юу вэ'-г хөршдөө тайлбарлах.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 хуудас, RFC, үйлдвэрлэгчийн баримт бичиг зэрэг эх сурвалжийг танилцуулах.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Цэргийн сургуулийн өдрийн дэглэм хатуу тул бие даалтын цагийг ухаалаг ашиглах нь онцгой чухал.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Дадлага 5-т эдгээрээс виртуал машин, Git, тэмдэглэлийн системийг суулгаж тохируулна.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Хуулбарлалт, ёс зүйгүй үйлдэл гаргавал сургуулийн журмын дагуу арга хэмжээ авахыг сануулах.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Сонсогчид долоо хоногийн цагийн аудитаа хийж, Дадлага 5-т авчирна.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Лекцийн гол санааг сонсогчдоор давтуулж хэлүүлнэ: 'Өнөөдөр сурсан хамгийн чухал нэг зүйл юу вэ?'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Бие даалтын шаардлага, хугацааг тодорхой хэлж, дараагийн дадлагад юу бэлтгэж ирэхийг сануулна.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48840"/>
            <a:ext cx="786384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CSBC101 · Мэргэжлийн удиртгал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CSBC101 · Мэргэжлийн удиртгал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BLAN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CSBC101 · Мэргэжлийн удиртгал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ЛЕКЦ_05</a:t>
            </a:r>
            <a:endParaRPr lang="en-US" sz="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14884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Их сургуульд үр дүнтэй суралцах арга барил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CSBC101 · Мэргэжлийн удиртгал · I курс</a:t>
            </a:r>
            <a:endParaRPr lang="en-US" sz="1800" dirty="0"/>
          </a:p>
        </p:txBody>
      </p:sp>
      <p:sp>
        <p:nvSpPr>
          <p:cNvPr id="5" name="teacher"/>
          <p:cNvSpPr txBox="1"/>
          <p:nvPr/>
        </p:nvSpPr>
        <p:spPr>
          <a:xfrm>
            <a:off x="640080" y="53492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Дэслэгч Ч.Энхбаатар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ҮБХИС · ЦНС · Кибер аюулгүй байдлын тэнхим</a:t>
            </a:r>
            <a:endParaRPr lang="en-US" sz="1400" dirty="0"/>
          </a:p>
        </p:txBody>
      </p:sp>
      <p:sp>
        <p:nvSpPr>
          <p:cNvPr id="6" name="motif-ring"/>
          <p:cNvSpPr/>
          <p:nvPr/>
        </p:nvSpPr>
        <p:spPr>
          <a:xfrm>
            <a:off x="8732520" y="1691640"/>
            <a:ext cx="2926080" cy="2926080"/>
          </a:xfrm>
          <a:prstGeom prst="ellipse">
            <a:avLst/>
          </a:prstGeom>
          <a:solidFill>
            <a:schemeClr val="accent3">
              <a:alpha val="60000"/>
            </a:schemeClr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7" name="motif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377440"/>
            <a:ext cx="1554480" cy="1554480"/>
          </a:xfrm>
          <a:prstGeom prst="rect">
            <a:avLst/>
          </a:prstGeom>
        </p:spPr>
      </p:pic>
      <p:sp>
        <p:nvSpPr>
          <p:cNvPr id="8" name="progress"/>
          <p:cNvSpPr txBox="1"/>
          <p:nvPr/>
        </p:nvSpPr>
        <p:spPr>
          <a:xfrm>
            <a:off x="8732520" y="4846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8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Лекцийн зорилго ба агуулга</a:t>
            </a:r>
            <a:endParaRPr lang="en-US" sz="2800" dirty="0"/>
          </a:p>
        </p:txBody>
      </p:sp>
      <p:sp>
        <p:nvSpPr>
          <p:cNvPr id="3" name="clo-chip-0"/>
          <p:cNvSpPr/>
          <p:nvPr/>
        </p:nvSpPr>
        <p:spPr>
          <a:xfrm>
            <a:off x="548640" y="1188720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clo-text-0"/>
          <p:cNvSpPr txBox="1"/>
          <p:nvPr/>
        </p:nvSpPr>
        <p:spPr>
          <a:xfrm>
            <a:off x="548640" y="11887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CLO-4</a:t>
            </a:r>
            <a:endParaRPr lang="en-US" sz="1200" dirty="0"/>
          </a:p>
        </p:txBody>
      </p:sp>
      <p:sp>
        <p:nvSpPr>
          <p:cNvPr id="5" name="clo-label"/>
          <p:cNvSpPr txBox="1"/>
          <p:nvPr/>
        </p:nvSpPr>
        <p:spPr>
          <a:xfrm>
            <a:off x="1783080" y="11887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хичээлийн суралцахуйн үр дүнд хамаарна</a:t>
            </a:r>
            <a:endParaRPr lang="en-US" sz="1200" dirty="0"/>
          </a:p>
        </p:txBody>
      </p:sp>
      <p:sp>
        <p:nvSpPr>
          <p:cNvPr id="6" name="goals-h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Энэ лекцийн дараа та:</a:t>
            </a:r>
            <a:endParaRPr lang="en-US" sz="1800" dirty="0"/>
          </a:p>
        </p:txBody>
      </p:sp>
      <p:sp>
        <p:nvSpPr>
          <p:cNvPr id="7" name="goal-icon-0-bg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goal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478024"/>
            <a:ext cx="256032" cy="256032"/>
          </a:xfrm>
          <a:prstGeom prst="rect">
            <a:avLst/>
          </a:prstGeom>
        </p:spPr>
      </p:pic>
      <p:sp>
        <p:nvSpPr>
          <p:cNvPr id="9" name="goal-0"/>
          <p:cNvSpPr txBox="1"/>
          <p:nvPr/>
        </p:nvSpPr>
        <p:spPr>
          <a:xfrm>
            <a:off x="1188720" y="23591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Их сургуулийн суралцахуйн онцлогийг ойлгох</a:t>
            </a:r>
            <a:endParaRPr lang="en-US" sz="1600" dirty="0"/>
          </a:p>
        </p:txBody>
      </p:sp>
      <p:sp>
        <p:nvSpPr>
          <p:cNvPr id="10" name="goal-icon-1-bg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goal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621024"/>
            <a:ext cx="256032" cy="256032"/>
          </a:xfrm>
          <a:prstGeom prst="rect">
            <a:avLst/>
          </a:prstGeom>
        </p:spPr>
      </p:pic>
      <p:sp>
        <p:nvSpPr>
          <p:cNvPr id="12" name="goal-1"/>
          <p:cNvSpPr txBox="1"/>
          <p:nvPr/>
        </p:nvSpPr>
        <p:spPr>
          <a:xfrm>
            <a:off x="1188720" y="35021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Шинжлэх ухаанаар батлагдсан суралцах аргуудыг эзэмших</a:t>
            </a:r>
            <a:endParaRPr lang="en-US" sz="1600" dirty="0"/>
          </a:p>
        </p:txBody>
      </p:sp>
      <p:sp>
        <p:nvSpPr>
          <p:cNvPr id="13" name="goal-icon-2-bg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goal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764024"/>
            <a:ext cx="256032" cy="256032"/>
          </a:xfrm>
          <a:prstGeom prst="rect">
            <a:avLst/>
          </a:prstGeom>
        </p:spPr>
      </p:pic>
      <p:sp>
        <p:nvSpPr>
          <p:cNvPr id="15" name="goal-2"/>
          <p:cNvSpPr txBox="1"/>
          <p:nvPr/>
        </p:nvSpPr>
        <p:spPr>
          <a:xfrm>
            <a:off x="1188720" y="46451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Цагийн менежмент, бие даан суралцах хэрэгслээ төлөвлөх</a:t>
            </a:r>
            <a:endParaRPr lang="en-US" sz="1600" dirty="0"/>
          </a:p>
        </p:txBody>
      </p:sp>
      <p:sp>
        <p:nvSpPr>
          <p:cNvPr id="16" name="agenda-panel"/>
          <p:cNvSpPr/>
          <p:nvPr/>
        </p:nvSpPr>
        <p:spPr>
          <a:xfrm>
            <a:off x="6400800" y="1828800"/>
            <a:ext cx="5242255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17" name="agenda-h"/>
          <p:cNvSpPr txBox="1"/>
          <p:nvPr/>
        </p:nvSpPr>
        <p:spPr>
          <a:xfrm>
            <a:off x="6720840" y="2057400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Агуулга</a:t>
            </a:r>
            <a:endParaRPr lang="en-US" sz="1800" dirty="0"/>
          </a:p>
        </p:txBody>
      </p:sp>
      <p:sp>
        <p:nvSpPr>
          <p:cNvPr id="18" name="agenda-n-0"/>
          <p:cNvSpPr txBox="1"/>
          <p:nvPr/>
        </p:nvSpPr>
        <p:spPr>
          <a:xfrm>
            <a:off x="6720840" y="26060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19" name="agenda-0"/>
          <p:cNvSpPr txBox="1"/>
          <p:nvPr/>
        </p:nvSpPr>
        <p:spPr>
          <a:xfrm>
            <a:off x="7315200" y="2624328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Ахлах сургууль ба их сургуулийн ялгаа</a:t>
            </a:r>
            <a:endParaRPr lang="en-US" sz="1600" dirty="0"/>
          </a:p>
        </p:txBody>
      </p:sp>
      <p:sp>
        <p:nvSpPr>
          <p:cNvPr id="20" name="agenda-n-1"/>
          <p:cNvSpPr txBox="1"/>
          <p:nvPr/>
        </p:nvSpPr>
        <p:spPr>
          <a:xfrm>
            <a:off x="6720840" y="328269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agenda-1"/>
          <p:cNvSpPr txBox="1"/>
          <p:nvPr/>
        </p:nvSpPr>
        <p:spPr>
          <a:xfrm>
            <a:off x="7315200" y="3300984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Суралцахуйн шинжлэх ухаан</a:t>
            </a:r>
            <a:endParaRPr lang="en-US" sz="1600" dirty="0"/>
          </a:p>
        </p:txBody>
      </p:sp>
      <p:sp>
        <p:nvSpPr>
          <p:cNvPr id="22" name="agenda-n-2"/>
          <p:cNvSpPr txBox="1"/>
          <p:nvPr/>
        </p:nvSpPr>
        <p:spPr>
          <a:xfrm>
            <a:off x="6720840" y="39593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agenda-2"/>
          <p:cNvSpPr txBox="1"/>
          <p:nvPr/>
        </p:nvSpPr>
        <p:spPr>
          <a:xfrm>
            <a:off x="7315200" y="3977640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Тэмдэглэл хөтлөх, техникийн баримт унших</a:t>
            </a:r>
            <a:endParaRPr lang="en-US" sz="1600" dirty="0"/>
          </a:p>
        </p:txBody>
      </p:sp>
      <p:sp>
        <p:nvSpPr>
          <p:cNvPr id="24" name="agenda-n-3"/>
          <p:cNvSpPr txBox="1"/>
          <p:nvPr/>
        </p:nvSpPr>
        <p:spPr>
          <a:xfrm>
            <a:off x="6720840" y="46360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agenda-3"/>
          <p:cNvSpPr txBox="1"/>
          <p:nvPr/>
        </p:nvSpPr>
        <p:spPr>
          <a:xfrm>
            <a:off x="7315200" y="4654296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Цагийн менежмент</a:t>
            </a:r>
            <a:endParaRPr lang="en-US" sz="1600" dirty="0"/>
          </a:p>
        </p:txBody>
      </p:sp>
      <p:sp>
        <p:nvSpPr>
          <p:cNvPr id="26" name="agenda-n-4"/>
          <p:cNvSpPr txBox="1"/>
          <p:nvPr/>
        </p:nvSpPr>
        <p:spPr>
          <a:xfrm>
            <a:off x="6720840" y="531266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agenda-4"/>
          <p:cNvSpPr txBox="1"/>
          <p:nvPr/>
        </p:nvSpPr>
        <p:spPr>
          <a:xfrm>
            <a:off x="7315200" y="5330952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Суралцах хэрэгслүүд, академик шударга байдал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Ахлах сургууль ба их сургуулийн суралцахуй</a:t>
            </a:r>
            <a:endParaRPr lang="en-US" sz="2800" dirty="0"/>
          </a:p>
        </p:txBody>
      </p:sp>
      <p:sp>
        <p:nvSpPr>
          <p:cNvPr id="4" name="col-0"/>
          <p:cNvSpPr/>
          <p:nvPr/>
        </p:nvSpPr>
        <p:spPr>
          <a:xfrm>
            <a:off x="548640" y="1325880"/>
            <a:ext cx="5387188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/>
        </p:spPr>
      </p:sp>
      <p:sp>
        <p:nvSpPr>
          <p:cNvPr id="5" name="col-icon-0-bg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col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1710842"/>
            <a:ext cx="281635" cy="281635"/>
          </a:xfrm>
          <a:prstGeom prst="rect">
            <a:avLst/>
          </a:prstGeom>
        </p:spPr>
      </p:pic>
      <p:sp>
        <p:nvSpPr>
          <p:cNvPr id="7" name="col-h-0"/>
          <p:cNvSpPr txBox="1"/>
          <p:nvPr/>
        </p:nvSpPr>
        <p:spPr>
          <a:xfrm>
            <a:off x="1508760" y="160020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Ахлах сургуульд</a:t>
            </a:r>
            <a:endParaRPr lang="en-US" sz="1800" dirty="0"/>
          </a:p>
        </p:txBody>
      </p:sp>
      <p:sp>
        <p:nvSpPr>
          <p:cNvPr id="8" name="col-list-0"/>
          <p:cNvSpPr txBox="1"/>
          <p:nvPr/>
        </p:nvSpPr>
        <p:spPr>
          <a:xfrm>
            <a:off x="822960" y="2377440"/>
            <a:ext cx="48385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Багш бүх зүйлийг тайлбарлана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Даалгаврыг өдөр бүр шалгана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Цээжилж, давтах нь гол арга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Нэг сурах бичигт тулгуурлана</a:t>
            </a:r>
            <a:endParaRPr lang="en-US" sz="1800" dirty="0"/>
          </a:p>
        </p:txBody>
      </p:sp>
      <p:sp>
        <p:nvSpPr>
          <p:cNvPr id="9" name="col-1"/>
          <p:cNvSpPr/>
          <p:nvPr/>
        </p:nvSpPr>
        <p:spPr>
          <a:xfrm>
            <a:off x="6255868" y="1325880"/>
            <a:ext cx="5387188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/>
        </p:spPr>
      </p:sp>
      <p:sp>
        <p:nvSpPr>
          <p:cNvPr id="10" name="col-icon-1-bg"/>
          <p:cNvSpPr/>
          <p:nvPr/>
        </p:nvSpPr>
        <p:spPr>
          <a:xfrm>
            <a:off x="6530188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ol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710842"/>
            <a:ext cx="281635" cy="281635"/>
          </a:xfrm>
          <a:prstGeom prst="rect">
            <a:avLst/>
          </a:prstGeom>
        </p:spPr>
      </p:pic>
      <p:sp>
        <p:nvSpPr>
          <p:cNvPr id="12" name="col-h-1"/>
          <p:cNvSpPr txBox="1"/>
          <p:nvPr/>
        </p:nvSpPr>
        <p:spPr>
          <a:xfrm>
            <a:off x="7215988" y="160020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Их сургуульд</a:t>
            </a:r>
            <a:endParaRPr lang="en-US" sz="1800" dirty="0"/>
          </a:p>
        </p:txBody>
      </p:sp>
      <p:sp>
        <p:nvSpPr>
          <p:cNvPr id="13" name="col-list-1"/>
          <p:cNvSpPr txBox="1"/>
          <p:nvPr/>
        </p:nvSpPr>
        <p:spPr>
          <a:xfrm>
            <a:off x="6530188" y="2377440"/>
            <a:ext cx="48385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Багш чиглүүлнэ, гол ажлыг та өөрөө хийнэ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Бие даалт, урт хугацааны төсөл давамгайлна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Ойлгох, хэрэглэх, бүтээх нь гол зорилго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Олон эх сурвалж, англи хэлний баримт бичиг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Шинжлэх ухаанаар батлагдсан суралцах аргууд</a:t>
            </a:r>
            <a:endParaRPr lang="en-US" sz="2800" dirty="0"/>
          </a:p>
        </p:txBody>
      </p:sp>
      <p:sp>
        <p:nvSpPr>
          <p:cNvPr id="4" name="lead"/>
          <p:cNvSpPr txBox="1"/>
          <p:nvPr/>
        </p:nvSpPr>
        <p:spPr>
          <a:xfrm>
            <a:off x="548640" y="1143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Дахин унших, онцлох нь «ойлгосон юм шиг» мэдрэмж төрүүлдэг ч санах ойг бэхжүүлдэггүй</a:t>
            </a:r>
            <a:endParaRPr lang="en-US" sz="1600" dirty="0"/>
          </a:p>
        </p:txBody>
      </p:sp>
      <p:sp>
        <p:nvSpPr>
          <p:cNvPr id="5" name="card-0"/>
          <p:cNvSpPr/>
          <p:nvPr/>
        </p:nvSpPr>
        <p:spPr>
          <a:xfrm>
            <a:off x="548640" y="1828800"/>
            <a:ext cx="2567864" cy="43434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6" name="card-icon-0-bg"/>
          <p:cNvSpPr/>
          <p:nvPr/>
        </p:nvSpPr>
        <p:spPr>
          <a:xfrm>
            <a:off x="822960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card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309774"/>
            <a:ext cx="409651" cy="409651"/>
          </a:xfrm>
          <a:prstGeom prst="rect">
            <a:avLst/>
          </a:prstGeom>
        </p:spPr>
      </p:pic>
      <p:sp>
        <p:nvSpPr>
          <p:cNvPr id="8" name="card-h-0"/>
          <p:cNvSpPr txBox="1"/>
          <p:nvPr/>
        </p:nvSpPr>
        <p:spPr>
          <a:xfrm>
            <a:off x="822960" y="3108960"/>
            <a:ext cx="201922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Идэвхтэй сэргээн санах</a:t>
            </a:r>
            <a:endParaRPr lang="en-US" sz="2000" dirty="0"/>
          </a:p>
        </p:txBody>
      </p:sp>
      <p:sp>
        <p:nvSpPr>
          <p:cNvPr id="9" name="card-sub-0"/>
          <p:cNvSpPr txBox="1"/>
          <p:nvPr/>
        </p:nvSpPr>
        <p:spPr>
          <a:xfrm>
            <a:off x="822960" y="385572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Retrieval practice</a:t>
            </a:r>
            <a:endParaRPr lang="en-US" sz="1400" dirty="0"/>
          </a:p>
        </p:txBody>
      </p:sp>
      <p:sp>
        <p:nvSpPr>
          <p:cNvPr id="10" name="card-t-0"/>
          <p:cNvSpPr txBox="1"/>
          <p:nvPr/>
        </p:nvSpPr>
        <p:spPr>
          <a:xfrm>
            <a:off x="822960" y="4267200"/>
            <a:ext cx="2019224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Номоо хаагаад өөрийгөө шалга: тест, флэш карт</a:t>
            </a:r>
            <a:endParaRPr lang="en-US" sz="1800" dirty="0"/>
          </a:p>
        </p:txBody>
      </p:sp>
      <p:sp>
        <p:nvSpPr>
          <p:cNvPr id="11" name="card-1"/>
          <p:cNvSpPr/>
          <p:nvPr/>
        </p:nvSpPr>
        <p:spPr>
          <a:xfrm>
            <a:off x="3390824" y="1828800"/>
            <a:ext cx="2567864" cy="43434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2" name="card-icon-1-bg"/>
          <p:cNvSpPr/>
          <p:nvPr/>
        </p:nvSpPr>
        <p:spPr>
          <a:xfrm>
            <a:off x="3665144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card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078" y="2309774"/>
            <a:ext cx="409651" cy="409651"/>
          </a:xfrm>
          <a:prstGeom prst="rect">
            <a:avLst/>
          </a:prstGeom>
        </p:spPr>
      </p:pic>
      <p:sp>
        <p:nvSpPr>
          <p:cNvPr id="14" name="card-h-1"/>
          <p:cNvSpPr txBox="1"/>
          <p:nvPr/>
        </p:nvSpPr>
        <p:spPr>
          <a:xfrm>
            <a:off x="3665144" y="3108960"/>
            <a:ext cx="201922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Зайтай давтлага</a:t>
            </a:r>
            <a:endParaRPr lang="en-US" sz="2000" dirty="0"/>
          </a:p>
        </p:txBody>
      </p:sp>
      <p:sp>
        <p:nvSpPr>
          <p:cNvPr id="15" name="card-sub-1"/>
          <p:cNvSpPr txBox="1"/>
          <p:nvPr/>
        </p:nvSpPr>
        <p:spPr>
          <a:xfrm>
            <a:off x="3665144" y="385572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Spaced repetition</a:t>
            </a:r>
            <a:endParaRPr lang="en-US" sz="1400" dirty="0"/>
          </a:p>
        </p:txBody>
      </p:sp>
      <p:sp>
        <p:nvSpPr>
          <p:cNvPr id="16" name="card-t-1"/>
          <p:cNvSpPr txBox="1"/>
          <p:nvPr/>
        </p:nvSpPr>
        <p:spPr>
          <a:xfrm>
            <a:off x="3665144" y="4267200"/>
            <a:ext cx="2019224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1 өдөр, 3 өдөр, 1 долоо хоногийн дараа давт</a:t>
            </a:r>
            <a:endParaRPr lang="en-US" sz="1800" dirty="0"/>
          </a:p>
        </p:txBody>
      </p:sp>
      <p:sp>
        <p:nvSpPr>
          <p:cNvPr id="17" name="card-2"/>
          <p:cNvSpPr/>
          <p:nvPr/>
        </p:nvSpPr>
        <p:spPr>
          <a:xfrm>
            <a:off x="6233008" y="1828800"/>
            <a:ext cx="2567864" cy="43434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8" name="card-icon-2-bg"/>
          <p:cNvSpPr/>
          <p:nvPr/>
        </p:nvSpPr>
        <p:spPr>
          <a:xfrm>
            <a:off x="6507328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card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262" y="2309774"/>
            <a:ext cx="409651" cy="409651"/>
          </a:xfrm>
          <a:prstGeom prst="rect">
            <a:avLst/>
          </a:prstGeom>
        </p:spPr>
      </p:pic>
      <p:sp>
        <p:nvSpPr>
          <p:cNvPr id="20" name="card-h-2"/>
          <p:cNvSpPr txBox="1"/>
          <p:nvPr/>
        </p:nvSpPr>
        <p:spPr>
          <a:xfrm>
            <a:off x="6507328" y="3108960"/>
            <a:ext cx="201922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Холих дасгал</a:t>
            </a:r>
            <a:endParaRPr lang="en-US" sz="2000" dirty="0"/>
          </a:p>
        </p:txBody>
      </p:sp>
      <p:sp>
        <p:nvSpPr>
          <p:cNvPr id="21" name="card-sub-2"/>
          <p:cNvSpPr txBox="1"/>
          <p:nvPr/>
        </p:nvSpPr>
        <p:spPr>
          <a:xfrm>
            <a:off x="6507328" y="355092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Interleaving</a:t>
            </a:r>
            <a:endParaRPr lang="en-US" sz="1400" dirty="0"/>
          </a:p>
        </p:txBody>
      </p:sp>
      <p:sp>
        <p:nvSpPr>
          <p:cNvPr id="22" name="card-t-2"/>
          <p:cNvSpPr txBox="1"/>
          <p:nvPr/>
        </p:nvSpPr>
        <p:spPr>
          <a:xfrm>
            <a:off x="6507328" y="3962400"/>
            <a:ext cx="2019224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Өөр өөр төрлийн бодлого, даалгаврыг сэлгэж хий</a:t>
            </a:r>
            <a:endParaRPr lang="en-US" sz="1800" dirty="0"/>
          </a:p>
        </p:txBody>
      </p:sp>
      <p:sp>
        <p:nvSpPr>
          <p:cNvPr id="23" name="card-3"/>
          <p:cNvSpPr/>
          <p:nvPr/>
        </p:nvSpPr>
        <p:spPr>
          <a:xfrm>
            <a:off x="9075191" y="1828800"/>
            <a:ext cx="2567864" cy="43434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24" name="card-icon-3-bg"/>
          <p:cNvSpPr/>
          <p:nvPr/>
        </p:nvSpPr>
        <p:spPr>
          <a:xfrm>
            <a:off x="9349511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card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0446" y="2309774"/>
            <a:ext cx="409651" cy="409651"/>
          </a:xfrm>
          <a:prstGeom prst="rect">
            <a:avLst/>
          </a:prstGeom>
        </p:spPr>
      </p:pic>
      <p:sp>
        <p:nvSpPr>
          <p:cNvPr id="26" name="card-h-3"/>
          <p:cNvSpPr txBox="1"/>
          <p:nvPr/>
        </p:nvSpPr>
        <p:spPr>
          <a:xfrm>
            <a:off x="9349511" y="3108960"/>
            <a:ext cx="201922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Тайлбарлах</a:t>
            </a:r>
            <a:endParaRPr lang="en-US" sz="2000" dirty="0"/>
          </a:p>
        </p:txBody>
      </p:sp>
      <p:sp>
        <p:nvSpPr>
          <p:cNvPr id="27" name="card-sub-3"/>
          <p:cNvSpPr txBox="1"/>
          <p:nvPr/>
        </p:nvSpPr>
        <p:spPr>
          <a:xfrm>
            <a:off x="9349511" y="355092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Elaboration</a:t>
            </a:r>
            <a:endParaRPr lang="en-US" sz="1400" dirty="0"/>
          </a:p>
        </p:txBody>
      </p:sp>
      <p:sp>
        <p:nvSpPr>
          <p:cNvPr id="28" name="card-t-3"/>
          <p:cNvSpPr txBox="1"/>
          <p:nvPr/>
        </p:nvSpPr>
        <p:spPr>
          <a:xfrm>
            <a:off x="9349511" y="3962400"/>
            <a:ext cx="2019224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Шинэ мэдлэгийг өөрийн үгээр, жишээгээр тайлбарла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Фейнманы арга: ойлгосноо шалгах</a:t>
            </a:r>
            <a:endParaRPr lang="en-US" sz="2800" dirty="0"/>
          </a:p>
        </p:txBody>
      </p:sp>
      <p:sp>
        <p:nvSpPr>
          <p:cNvPr id="4" name="step-0"/>
          <p:cNvSpPr/>
          <p:nvPr/>
        </p:nvSpPr>
        <p:spPr>
          <a:xfrm>
            <a:off x="548640" y="1463040"/>
            <a:ext cx="2471852" cy="4023360"/>
          </a:xfrm>
          <a:prstGeom prst="roundRect">
            <a:avLst>
              <a:gd name="adj" fmla="val 3699"/>
            </a:avLst>
          </a:prstGeom>
          <a:solidFill>
            <a:schemeClr val="bg2"/>
          </a:solidFill>
          <a:ln/>
        </p:spPr>
      </p:sp>
      <p:sp>
        <p:nvSpPr>
          <p:cNvPr id="5" name="step-dot-0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tep-num-0"/>
          <p:cNvSpPr txBox="1"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tep-h-0"/>
          <p:cNvSpPr txBox="1"/>
          <p:nvPr/>
        </p:nvSpPr>
        <p:spPr>
          <a:xfrm>
            <a:off x="731520" y="2377440"/>
            <a:ext cx="2151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Сэдэв сонгох</a:t>
            </a:r>
            <a:endParaRPr lang="en-US" sz="1800" dirty="0"/>
          </a:p>
        </p:txBody>
      </p:sp>
      <p:sp>
        <p:nvSpPr>
          <p:cNvPr id="8" name="step-t-0"/>
          <p:cNvSpPr txBox="1"/>
          <p:nvPr/>
        </p:nvSpPr>
        <p:spPr>
          <a:xfrm>
            <a:off x="731520" y="2834640"/>
            <a:ext cx="21518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Жишээ: «DNS хэрхэн ажилладаг вэ»</a:t>
            </a:r>
            <a:endParaRPr lang="en-US" sz="1600" dirty="0"/>
          </a:p>
        </p:txBody>
      </p:sp>
      <p:sp>
        <p:nvSpPr>
          <p:cNvPr id="9" name="step-arrow-0"/>
          <p:cNvSpPr/>
          <p:nvPr/>
        </p:nvSpPr>
        <p:spPr>
          <a:xfrm>
            <a:off x="3093644" y="3246120"/>
            <a:ext cx="256032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0" name="step-1"/>
          <p:cNvSpPr/>
          <p:nvPr/>
        </p:nvSpPr>
        <p:spPr>
          <a:xfrm>
            <a:off x="3422828" y="1463040"/>
            <a:ext cx="2471852" cy="4023360"/>
          </a:xfrm>
          <a:prstGeom prst="roundRect">
            <a:avLst>
              <a:gd name="adj" fmla="val 3699"/>
            </a:avLst>
          </a:prstGeom>
          <a:solidFill>
            <a:schemeClr val="bg2"/>
          </a:solidFill>
          <a:ln/>
        </p:spPr>
      </p:sp>
      <p:sp>
        <p:nvSpPr>
          <p:cNvPr id="11" name="step-dot-1"/>
          <p:cNvSpPr/>
          <p:nvPr/>
        </p:nvSpPr>
        <p:spPr>
          <a:xfrm>
            <a:off x="3605708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step-num-1"/>
          <p:cNvSpPr txBox="1"/>
          <p:nvPr/>
        </p:nvSpPr>
        <p:spPr>
          <a:xfrm>
            <a:off x="360570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tep-h-1"/>
          <p:cNvSpPr txBox="1"/>
          <p:nvPr/>
        </p:nvSpPr>
        <p:spPr>
          <a:xfrm>
            <a:off x="3605708" y="2377440"/>
            <a:ext cx="21518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Энгийнээр тайлбарлах</a:t>
            </a:r>
            <a:endParaRPr lang="en-US" sz="1800" dirty="0"/>
          </a:p>
        </p:txBody>
      </p:sp>
      <p:sp>
        <p:nvSpPr>
          <p:cNvPr id="14" name="step-t-1"/>
          <p:cNvSpPr txBox="1"/>
          <p:nvPr/>
        </p:nvSpPr>
        <p:spPr>
          <a:xfrm>
            <a:off x="3605708" y="3063240"/>
            <a:ext cx="215181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Ахлах ангийн сурагчид ойлгомжтойгоор бич</a:t>
            </a:r>
            <a:endParaRPr lang="en-US" sz="1600" dirty="0"/>
          </a:p>
        </p:txBody>
      </p:sp>
      <p:sp>
        <p:nvSpPr>
          <p:cNvPr id="15" name="step-arrow-1"/>
          <p:cNvSpPr/>
          <p:nvPr/>
        </p:nvSpPr>
        <p:spPr>
          <a:xfrm>
            <a:off x="5967832" y="3246120"/>
            <a:ext cx="256032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6" name="step-2"/>
          <p:cNvSpPr/>
          <p:nvPr/>
        </p:nvSpPr>
        <p:spPr>
          <a:xfrm>
            <a:off x="6297016" y="1463040"/>
            <a:ext cx="2471852" cy="4023360"/>
          </a:xfrm>
          <a:prstGeom prst="roundRect">
            <a:avLst>
              <a:gd name="adj" fmla="val 3699"/>
            </a:avLst>
          </a:prstGeom>
          <a:solidFill>
            <a:schemeClr val="bg2"/>
          </a:solidFill>
          <a:ln/>
        </p:spPr>
      </p:sp>
      <p:sp>
        <p:nvSpPr>
          <p:cNvPr id="17" name="step-dot-2"/>
          <p:cNvSpPr/>
          <p:nvPr/>
        </p:nvSpPr>
        <p:spPr>
          <a:xfrm>
            <a:off x="6479896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step-num-2"/>
          <p:cNvSpPr txBox="1"/>
          <p:nvPr/>
        </p:nvSpPr>
        <p:spPr>
          <a:xfrm>
            <a:off x="6479896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step-h-2"/>
          <p:cNvSpPr txBox="1"/>
          <p:nvPr/>
        </p:nvSpPr>
        <p:spPr>
          <a:xfrm>
            <a:off x="6479896" y="2377440"/>
            <a:ext cx="2151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Цоорхойгоо олох</a:t>
            </a:r>
            <a:endParaRPr lang="en-US" sz="1800" dirty="0"/>
          </a:p>
        </p:txBody>
      </p:sp>
      <p:sp>
        <p:nvSpPr>
          <p:cNvPr id="20" name="step-t-2"/>
          <p:cNvSpPr txBox="1"/>
          <p:nvPr/>
        </p:nvSpPr>
        <p:spPr>
          <a:xfrm>
            <a:off x="6479896" y="2834640"/>
            <a:ext cx="21518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Гацсан газраа тэмдэглэж, эх сурвалж руу буц</a:t>
            </a:r>
            <a:endParaRPr lang="en-US" sz="1600" dirty="0"/>
          </a:p>
        </p:txBody>
      </p:sp>
      <p:sp>
        <p:nvSpPr>
          <p:cNvPr id="21" name="step-arrow-2"/>
          <p:cNvSpPr/>
          <p:nvPr/>
        </p:nvSpPr>
        <p:spPr>
          <a:xfrm>
            <a:off x="8842019" y="3246120"/>
            <a:ext cx="256032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22" name="step-3"/>
          <p:cNvSpPr/>
          <p:nvPr/>
        </p:nvSpPr>
        <p:spPr>
          <a:xfrm>
            <a:off x="9171203" y="1463040"/>
            <a:ext cx="2471852" cy="4023360"/>
          </a:xfrm>
          <a:prstGeom prst="roundRect">
            <a:avLst>
              <a:gd name="adj" fmla="val 3699"/>
            </a:avLst>
          </a:prstGeom>
          <a:solidFill>
            <a:schemeClr val="bg2"/>
          </a:solidFill>
          <a:ln/>
        </p:spPr>
      </p:sp>
      <p:sp>
        <p:nvSpPr>
          <p:cNvPr id="23" name="step-dot-3"/>
          <p:cNvSpPr/>
          <p:nvPr/>
        </p:nvSpPr>
        <p:spPr>
          <a:xfrm>
            <a:off x="9354083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step-num-3"/>
          <p:cNvSpPr txBox="1"/>
          <p:nvPr/>
        </p:nvSpPr>
        <p:spPr>
          <a:xfrm>
            <a:off x="9354083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step-h-3"/>
          <p:cNvSpPr txBox="1"/>
          <p:nvPr/>
        </p:nvSpPr>
        <p:spPr>
          <a:xfrm>
            <a:off x="9354083" y="2377440"/>
            <a:ext cx="2151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Хялбарчлах</a:t>
            </a:r>
            <a:endParaRPr lang="en-US" sz="1800" dirty="0"/>
          </a:p>
        </p:txBody>
      </p:sp>
      <p:sp>
        <p:nvSpPr>
          <p:cNvPr id="26" name="step-t-3"/>
          <p:cNvSpPr txBox="1"/>
          <p:nvPr/>
        </p:nvSpPr>
        <p:spPr>
          <a:xfrm>
            <a:off x="9354083" y="2834640"/>
            <a:ext cx="21518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Жишээ, зүйрлэлээр баяжуулж дахин тайлбарла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Тэмдэглэл хөтлөх ба техникийн баримт унших</a:t>
            </a:r>
            <a:endParaRPr lang="en-US" sz="2800" dirty="0"/>
          </a:p>
        </p:txBody>
      </p:sp>
      <p:sp>
        <p:nvSpPr>
          <p:cNvPr id="4" name="col-0"/>
          <p:cNvSpPr/>
          <p:nvPr/>
        </p:nvSpPr>
        <p:spPr>
          <a:xfrm>
            <a:off x="548640" y="1325880"/>
            <a:ext cx="5387188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/>
        </p:spPr>
      </p:sp>
      <p:sp>
        <p:nvSpPr>
          <p:cNvPr id="5" name="col-icon-0-bg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col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1710842"/>
            <a:ext cx="281635" cy="281635"/>
          </a:xfrm>
          <a:prstGeom prst="rect">
            <a:avLst/>
          </a:prstGeom>
        </p:spPr>
      </p:pic>
      <p:sp>
        <p:nvSpPr>
          <p:cNvPr id="7" name="col-h-0"/>
          <p:cNvSpPr txBox="1"/>
          <p:nvPr/>
        </p:nvSpPr>
        <p:spPr>
          <a:xfrm>
            <a:off x="1508760" y="160020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Корнелл тэмдэглэлийн арга</a:t>
            </a:r>
            <a:endParaRPr lang="en-US" sz="1800" dirty="0"/>
          </a:p>
        </p:txBody>
      </p:sp>
      <p:sp>
        <p:nvSpPr>
          <p:cNvPr id="8" name="col-list-0"/>
          <p:cNvSpPr txBox="1"/>
          <p:nvPr/>
        </p:nvSpPr>
        <p:spPr>
          <a:xfrm>
            <a:off x="822960" y="2377440"/>
            <a:ext cx="48385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Баруун талд: лекцийн гол тэмдэглэл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Зүүн талд: түлхүүр үг, өөртөө тавих асуулт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Доод хэсэгт: 2–3 өгүүлбэрийн хураангуй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24 цагийн дотор асуултаараа өөрийгөө шалга</a:t>
            </a:r>
            <a:endParaRPr lang="en-US" sz="1800" dirty="0"/>
          </a:p>
        </p:txBody>
      </p:sp>
      <p:sp>
        <p:nvSpPr>
          <p:cNvPr id="9" name="col-1"/>
          <p:cNvSpPr/>
          <p:nvPr/>
        </p:nvSpPr>
        <p:spPr>
          <a:xfrm>
            <a:off x="6255868" y="1325880"/>
            <a:ext cx="5387188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/>
        </p:spPr>
      </p:sp>
      <p:sp>
        <p:nvSpPr>
          <p:cNvPr id="10" name="col-icon-1-bg"/>
          <p:cNvSpPr/>
          <p:nvPr/>
        </p:nvSpPr>
        <p:spPr>
          <a:xfrm>
            <a:off x="6530188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ol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710842"/>
            <a:ext cx="281635" cy="281635"/>
          </a:xfrm>
          <a:prstGeom prst="rect">
            <a:avLst/>
          </a:prstGeom>
        </p:spPr>
      </p:pic>
      <p:sp>
        <p:nvSpPr>
          <p:cNvPr id="12" name="col-h-1"/>
          <p:cNvSpPr txBox="1"/>
          <p:nvPr/>
        </p:nvSpPr>
        <p:spPr>
          <a:xfrm>
            <a:off x="7215988" y="160020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Техникийн баримт унших</a:t>
            </a:r>
            <a:endParaRPr lang="en-US" sz="1800" dirty="0"/>
          </a:p>
        </p:txBody>
      </p:sp>
      <p:sp>
        <p:nvSpPr>
          <p:cNvPr id="13" name="col-list-1"/>
          <p:cNvSpPr txBox="1"/>
          <p:nvPr/>
        </p:nvSpPr>
        <p:spPr>
          <a:xfrm>
            <a:off x="6530188" y="2377440"/>
            <a:ext cx="48385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Эхлээд гарчиг, зураг, хураангуйг гүйлгэж хар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Тодорхой асуулт тавиад, хариултыг нь хай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Англи нэр томьёоны хувийн толь хөтөл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Командыг уншаад зогсохгүй, лабораторид туршиж үз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Цагийн менежментийн аргууд</a:t>
            </a:r>
            <a:endParaRPr lang="en-US" sz="2800" dirty="0"/>
          </a:p>
        </p:txBody>
      </p:sp>
      <p:sp>
        <p:nvSpPr>
          <p:cNvPr id="4" name="card-0"/>
          <p:cNvSpPr/>
          <p:nvPr/>
        </p:nvSpPr>
        <p:spPr>
          <a:xfrm>
            <a:off x="548640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5" name="card-icon-0-bg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rd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1806854"/>
            <a:ext cx="409651" cy="409651"/>
          </a:xfrm>
          <a:prstGeom prst="rect">
            <a:avLst/>
          </a:prstGeom>
        </p:spPr>
      </p:pic>
      <p:sp>
        <p:nvSpPr>
          <p:cNvPr id="7" name="card-h-0"/>
          <p:cNvSpPr txBox="1"/>
          <p:nvPr/>
        </p:nvSpPr>
        <p:spPr>
          <a:xfrm>
            <a:off x="822960" y="2606040"/>
            <a:ext cx="201922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Помодоро</a:t>
            </a:r>
            <a:endParaRPr lang="en-US" sz="2000" dirty="0"/>
          </a:p>
        </p:txBody>
      </p:sp>
      <p:sp>
        <p:nvSpPr>
          <p:cNvPr id="8" name="card-t-0"/>
          <p:cNvSpPr txBox="1"/>
          <p:nvPr/>
        </p:nvSpPr>
        <p:spPr>
          <a:xfrm>
            <a:off x="822960" y="3048000"/>
            <a:ext cx="2019224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25 минут төвлөрч ажиллаад, 5 минут амрах. 4 мөчлөгийн дараа урт завсарлага</a:t>
            </a:r>
            <a:endParaRPr lang="en-US" sz="1800" dirty="0"/>
          </a:p>
        </p:txBody>
      </p:sp>
      <p:sp>
        <p:nvSpPr>
          <p:cNvPr id="9" name="card-1"/>
          <p:cNvSpPr/>
          <p:nvPr/>
        </p:nvSpPr>
        <p:spPr>
          <a:xfrm>
            <a:off x="3390824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0" name="card-icon-1-bg"/>
          <p:cNvSpPr/>
          <p:nvPr/>
        </p:nvSpPr>
        <p:spPr>
          <a:xfrm>
            <a:off x="3665144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ard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078" y="1806854"/>
            <a:ext cx="409651" cy="409651"/>
          </a:xfrm>
          <a:prstGeom prst="rect">
            <a:avLst/>
          </a:prstGeom>
        </p:spPr>
      </p:pic>
      <p:sp>
        <p:nvSpPr>
          <p:cNvPr id="12" name="card-h-1"/>
          <p:cNvSpPr txBox="1"/>
          <p:nvPr/>
        </p:nvSpPr>
        <p:spPr>
          <a:xfrm>
            <a:off x="3665144" y="2606040"/>
            <a:ext cx="201922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Эйзенхауэрын матриц</a:t>
            </a:r>
            <a:endParaRPr lang="en-US" sz="2000" dirty="0"/>
          </a:p>
        </p:txBody>
      </p:sp>
      <p:sp>
        <p:nvSpPr>
          <p:cNvPr id="13" name="card-t-1"/>
          <p:cNvSpPr txBox="1"/>
          <p:nvPr/>
        </p:nvSpPr>
        <p:spPr>
          <a:xfrm>
            <a:off x="3665144" y="3352800"/>
            <a:ext cx="2019224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Чухал ба яаралтай байдлаар ажлаа 4 ангилж, эрэмбэлэх</a:t>
            </a:r>
            <a:endParaRPr lang="en-US" sz="1800" dirty="0"/>
          </a:p>
        </p:txBody>
      </p:sp>
      <p:sp>
        <p:nvSpPr>
          <p:cNvPr id="14" name="card-2"/>
          <p:cNvSpPr/>
          <p:nvPr/>
        </p:nvSpPr>
        <p:spPr>
          <a:xfrm>
            <a:off x="6233008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5" name="card-icon-2-bg"/>
          <p:cNvSpPr/>
          <p:nvPr/>
        </p:nvSpPr>
        <p:spPr>
          <a:xfrm>
            <a:off x="6507328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ard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262" y="1806854"/>
            <a:ext cx="409651" cy="409651"/>
          </a:xfrm>
          <a:prstGeom prst="rect">
            <a:avLst/>
          </a:prstGeom>
        </p:spPr>
      </p:pic>
      <p:sp>
        <p:nvSpPr>
          <p:cNvPr id="17" name="card-h-2"/>
          <p:cNvSpPr txBox="1"/>
          <p:nvPr/>
        </p:nvSpPr>
        <p:spPr>
          <a:xfrm>
            <a:off x="6507328" y="2606040"/>
            <a:ext cx="201922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Цаг хуваарьлах</a:t>
            </a:r>
            <a:endParaRPr lang="en-US" sz="2000" dirty="0"/>
          </a:p>
        </p:txBody>
      </p:sp>
      <p:sp>
        <p:nvSpPr>
          <p:cNvPr id="18" name="card-sub-2"/>
          <p:cNvSpPr txBox="1"/>
          <p:nvPr/>
        </p:nvSpPr>
        <p:spPr>
          <a:xfrm>
            <a:off x="6507328" y="335280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Time blocking</a:t>
            </a:r>
            <a:endParaRPr lang="en-US" sz="1400" dirty="0"/>
          </a:p>
        </p:txBody>
      </p:sp>
      <p:sp>
        <p:nvSpPr>
          <p:cNvPr id="19" name="card-t-2"/>
          <p:cNvSpPr txBox="1"/>
          <p:nvPr/>
        </p:nvSpPr>
        <p:spPr>
          <a:xfrm>
            <a:off x="6507328" y="3764280"/>
            <a:ext cx="2019224" cy="217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Бие даалт, давтлагад хуанлидаа тогтмол цаг гаргах</a:t>
            </a:r>
            <a:endParaRPr lang="en-US" sz="1800" dirty="0"/>
          </a:p>
        </p:txBody>
      </p:sp>
      <p:sp>
        <p:nvSpPr>
          <p:cNvPr id="20" name="card-3"/>
          <p:cNvSpPr/>
          <p:nvPr/>
        </p:nvSpPr>
        <p:spPr>
          <a:xfrm>
            <a:off x="9075191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21" name="card-icon-3-bg"/>
          <p:cNvSpPr/>
          <p:nvPr/>
        </p:nvSpPr>
        <p:spPr>
          <a:xfrm>
            <a:off x="9349511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card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0446" y="1806854"/>
            <a:ext cx="409651" cy="409651"/>
          </a:xfrm>
          <a:prstGeom prst="rect">
            <a:avLst/>
          </a:prstGeom>
        </p:spPr>
      </p:pic>
      <p:sp>
        <p:nvSpPr>
          <p:cNvPr id="23" name="card-h-3"/>
          <p:cNvSpPr txBox="1"/>
          <p:nvPr/>
        </p:nvSpPr>
        <p:spPr>
          <a:xfrm>
            <a:off x="9349511" y="2606040"/>
            <a:ext cx="2019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Долоо хоногийн дүгнэлт</a:t>
            </a:r>
            <a:endParaRPr lang="en-US" sz="2000" dirty="0"/>
          </a:p>
        </p:txBody>
      </p:sp>
      <p:sp>
        <p:nvSpPr>
          <p:cNvPr id="24" name="card-t-3"/>
          <p:cNvSpPr txBox="1"/>
          <p:nvPr/>
        </p:nvSpPr>
        <p:spPr>
          <a:xfrm>
            <a:off x="9349511" y="3657600"/>
            <a:ext cx="20192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Ням гараг бүр: юу хийсэн, юу үлдсэн, ирэх долоо хоногийн төлөвлөгөө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Кибер мэргэжилтний суралцах хэрэгслүүд</a:t>
            </a:r>
            <a:endParaRPr lang="en-US" sz="2800" dirty="0"/>
          </a:p>
        </p:txBody>
      </p:sp>
      <p:sp>
        <p:nvSpPr>
          <p:cNvPr id="4" name="card-0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card-icon-0-bg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rd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675181"/>
            <a:ext cx="307238" cy="307238"/>
          </a:xfrm>
          <a:prstGeom prst="rect">
            <a:avLst/>
          </a:prstGeom>
        </p:spPr>
      </p:pic>
      <p:sp>
        <p:nvSpPr>
          <p:cNvPr id="7" name="card-h-0"/>
          <p:cNvSpPr txBox="1"/>
          <p:nvPr/>
        </p:nvSpPr>
        <p:spPr>
          <a:xfrm>
            <a:off x="1463040" y="152704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Виртуал лаборатори</a:t>
            </a:r>
            <a:endParaRPr lang="en-US" sz="1800" dirty="0"/>
          </a:p>
        </p:txBody>
      </p:sp>
      <p:sp>
        <p:nvSpPr>
          <p:cNvPr id="8" name="card-t-0"/>
          <p:cNvSpPr txBox="1"/>
          <p:nvPr/>
        </p:nvSpPr>
        <p:spPr>
          <a:xfrm>
            <a:off x="777240" y="22860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VirtualBox / VMware дээр Ubuntu, Kali Linux</a:t>
            </a:r>
            <a:endParaRPr lang="en-US" sz="1600" dirty="0"/>
          </a:p>
        </p:txBody>
      </p:sp>
      <p:sp>
        <p:nvSpPr>
          <p:cNvPr id="9" name="card-1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0" name="card-icon-1-bg"/>
          <p:cNvSpPr/>
          <p:nvPr/>
        </p:nvSpPr>
        <p:spPr>
          <a:xfrm>
            <a:off x="4566818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ard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519" y="1675181"/>
            <a:ext cx="307238" cy="307238"/>
          </a:xfrm>
          <a:prstGeom prst="rect">
            <a:avLst/>
          </a:prstGeom>
        </p:spPr>
      </p:pic>
      <p:sp>
        <p:nvSpPr>
          <p:cNvPr id="12" name="card-h-1"/>
          <p:cNvSpPr txBox="1"/>
          <p:nvPr/>
        </p:nvSpPr>
        <p:spPr>
          <a:xfrm>
            <a:off x="5252618" y="152704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Практик платформ</a:t>
            </a:r>
            <a:endParaRPr lang="en-US" sz="1800" dirty="0"/>
          </a:p>
        </p:txBody>
      </p:sp>
      <p:sp>
        <p:nvSpPr>
          <p:cNvPr id="13" name="card-t-1"/>
          <p:cNvSpPr txBox="1"/>
          <p:nvPr/>
        </p:nvSpPr>
        <p:spPr>
          <a:xfrm>
            <a:off x="4566818" y="22860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TryHackMe, picoCTF, OverTheWire (Bandit)</a:t>
            </a:r>
            <a:endParaRPr lang="en-US" sz="1600" dirty="0"/>
          </a:p>
        </p:txBody>
      </p:sp>
      <p:sp>
        <p:nvSpPr>
          <p:cNvPr id="14" name="card-2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5" name="card-icon-2-bg"/>
          <p:cNvSpPr/>
          <p:nvPr/>
        </p:nvSpPr>
        <p:spPr>
          <a:xfrm>
            <a:off x="8356397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ard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098" y="1675181"/>
            <a:ext cx="307238" cy="307238"/>
          </a:xfrm>
          <a:prstGeom prst="rect">
            <a:avLst/>
          </a:prstGeom>
        </p:spPr>
      </p:pic>
      <p:sp>
        <p:nvSpPr>
          <p:cNvPr id="17" name="card-h-2"/>
          <p:cNvSpPr txBox="1"/>
          <p:nvPr/>
        </p:nvSpPr>
        <p:spPr>
          <a:xfrm>
            <a:off x="9042197" y="152704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Онлайн курс</a:t>
            </a:r>
            <a:endParaRPr lang="en-US" sz="1800" dirty="0"/>
          </a:p>
        </p:txBody>
      </p:sp>
      <p:sp>
        <p:nvSpPr>
          <p:cNvPr id="18" name="card-t-2"/>
          <p:cNvSpPr txBox="1"/>
          <p:nvPr/>
        </p:nvSpPr>
        <p:spPr>
          <a:xfrm>
            <a:off x="8356397" y="22860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Cisco Networking Academy, Coursera, edX</a:t>
            </a:r>
            <a:endParaRPr lang="en-US" sz="1600" dirty="0"/>
          </a:p>
        </p:txBody>
      </p:sp>
      <p:sp>
        <p:nvSpPr>
          <p:cNvPr id="19" name="card-3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0" name="card-icon-3-bg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card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235501"/>
            <a:ext cx="307238" cy="307238"/>
          </a:xfrm>
          <a:prstGeom prst="rect">
            <a:avLst/>
          </a:prstGeom>
        </p:spPr>
      </p:pic>
      <p:sp>
        <p:nvSpPr>
          <p:cNvPr id="22" name="card-h-3"/>
          <p:cNvSpPr txBox="1"/>
          <p:nvPr/>
        </p:nvSpPr>
        <p:spPr>
          <a:xfrm>
            <a:off x="1463040" y="408736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Git ба GitHub</a:t>
            </a:r>
            <a:endParaRPr lang="en-US" sz="1800" dirty="0"/>
          </a:p>
        </p:txBody>
      </p:sp>
      <p:sp>
        <p:nvSpPr>
          <p:cNvPr id="23" name="card-t-3"/>
          <p:cNvSpPr txBox="1"/>
          <p:nvPr/>
        </p:nvSpPr>
        <p:spPr>
          <a:xfrm>
            <a:off x="777240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Код, тэмдэглэл, лабораторийн тайлангаа хадгалж портфолио болгох</a:t>
            </a:r>
            <a:endParaRPr lang="en-US" sz="1600" dirty="0"/>
          </a:p>
        </p:txBody>
      </p:sp>
      <p:sp>
        <p:nvSpPr>
          <p:cNvPr id="24" name="card-4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5" name="card-icon-4-bg"/>
          <p:cNvSpPr/>
          <p:nvPr/>
        </p:nvSpPr>
        <p:spPr>
          <a:xfrm>
            <a:off x="4566818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card-icon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7519" y="4235501"/>
            <a:ext cx="307238" cy="307238"/>
          </a:xfrm>
          <a:prstGeom prst="rect">
            <a:avLst/>
          </a:prstGeom>
        </p:spPr>
      </p:pic>
      <p:sp>
        <p:nvSpPr>
          <p:cNvPr id="27" name="card-h-4"/>
          <p:cNvSpPr txBox="1"/>
          <p:nvPr/>
        </p:nvSpPr>
        <p:spPr>
          <a:xfrm>
            <a:off x="5252618" y="408736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Тэмдэглэлийн систем</a:t>
            </a:r>
            <a:endParaRPr lang="en-US" sz="1800" dirty="0"/>
          </a:p>
        </p:txBody>
      </p:sp>
      <p:sp>
        <p:nvSpPr>
          <p:cNvPr id="28" name="card-t-4"/>
          <p:cNvSpPr txBox="1"/>
          <p:nvPr/>
        </p:nvSpPr>
        <p:spPr>
          <a:xfrm>
            <a:off x="4566818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Obsidian, OneNote: холбоостой мэдлэгийн сан</a:t>
            </a:r>
            <a:endParaRPr lang="en-US" sz="1600" dirty="0"/>
          </a:p>
        </p:txBody>
      </p:sp>
      <p:sp>
        <p:nvSpPr>
          <p:cNvPr id="29" name="card-5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30" name="card-icon-5-bg"/>
          <p:cNvSpPr/>
          <p:nvPr/>
        </p:nvSpPr>
        <p:spPr>
          <a:xfrm>
            <a:off x="8356397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card-icon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098" y="4235501"/>
            <a:ext cx="307238" cy="307238"/>
          </a:xfrm>
          <a:prstGeom prst="rect">
            <a:avLst/>
          </a:prstGeom>
        </p:spPr>
      </p:pic>
      <p:sp>
        <p:nvSpPr>
          <p:cNvPr id="32" name="card-h-5"/>
          <p:cNvSpPr txBox="1"/>
          <p:nvPr/>
        </p:nvSpPr>
        <p:spPr>
          <a:xfrm>
            <a:off x="9042197" y="408736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Нэр томьёоны толь</a:t>
            </a:r>
            <a:endParaRPr lang="en-US" sz="1800" dirty="0"/>
          </a:p>
        </p:txBody>
      </p:sp>
      <p:sp>
        <p:nvSpPr>
          <p:cNvPr id="33" name="card-t-5"/>
          <p:cNvSpPr txBox="1"/>
          <p:nvPr/>
        </p:nvSpPr>
        <p:spPr>
          <a:xfrm>
            <a:off x="8356397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Англи-монгол мэргэжлийн толь, Anki флэш карт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Академик шударга байдал ба хиймэл оюуныг зөв ашиглах</a:t>
            </a:r>
            <a:endParaRPr lang="en-US" sz="2800" dirty="0"/>
          </a:p>
        </p:txBody>
      </p:sp>
      <p:sp>
        <p:nvSpPr>
          <p:cNvPr id="4" name="col-0"/>
          <p:cNvSpPr/>
          <p:nvPr/>
        </p:nvSpPr>
        <p:spPr>
          <a:xfrm>
            <a:off x="548640" y="1325880"/>
            <a:ext cx="5387188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/>
        </p:spPr>
      </p:sp>
      <p:sp>
        <p:nvSpPr>
          <p:cNvPr id="5" name="col-icon-0-bg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col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1710842"/>
            <a:ext cx="281635" cy="281635"/>
          </a:xfrm>
          <a:prstGeom prst="rect">
            <a:avLst/>
          </a:prstGeom>
        </p:spPr>
      </p:pic>
      <p:sp>
        <p:nvSpPr>
          <p:cNvPr id="7" name="col-h-0"/>
          <p:cNvSpPr txBox="1"/>
          <p:nvPr/>
        </p:nvSpPr>
        <p:spPr>
          <a:xfrm>
            <a:off x="1508760" y="160020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Хориглох зүйл</a:t>
            </a:r>
            <a:endParaRPr lang="en-US" sz="1800" dirty="0"/>
          </a:p>
        </p:txBody>
      </p:sp>
      <p:sp>
        <p:nvSpPr>
          <p:cNvPr id="8" name="col-list-0"/>
          <p:cNvSpPr txBox="1"/>
          <p:nvPr/>
        </p:nvSpPr>
        <p:spPr>
          <a:xfrm>
            <a:off x="822960" y="2377440"/>
            <a:ext cx="48385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Бусдын ажлыг өөрийнх мэт танилцуулах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Эх сурвалжийг дурдалгүй хуулах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Шалгалт, лабораторийн ажилд хуурах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AI-ийн гаргасан хариултыг шалгаж ойлголгүй хүлээлгэн өгөх</a:t>
            </a:r>
            <a:endParaRPr lang="en-US" sz="1800" dirty="0"/>
          </a:p>
        </p:txBody>
      </p:sp>
      <p:sp>
        <p:nvSpPr>
          <p:cNvPr id="9" name="col-1"/>
          <p:cNvSpPr/>
          <p:nvPr/>
        </p:nvSpPr>
        <p:spPr>
          <a:xfrm>
            <a:off x="6255868" y="1325880"/>
            <a:ext cx="5387188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/>
        </p:spPr>
      </p:sp>
      <p:sp>
        <p:nvSpPr>
          <p:cNvPr id="10" name="col-icon-1-bg"/>
          <p:cNvSpPr/>
          <p:nvPr/>
        </p:nvSpPr>
        <p:spPr>
          <a:xfrm>
            <a:off x="6530188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ol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710842"/>
            <a:ext cx="281635" cy="281635"/>
          </a:xfrm>
          <a:prstGeom prst="rect">
            <a:avLst/>
          </a:prstGeom>
        </p:spPr>
      </p:pic>
      <p:sp>
        <p:nvSpPr>
          <p:cNvPr id="12" name="col-h-1"/>
          <p:cNvSpPr txBox="1"/>
          <p:nvPr/>
        </p:nvSpPr>
        <p:spPr>
          <a:xfrm>
            <a:off x="7215988" y="160020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Зөв дадал</a:t>
            </a:r>
            <a:endParaRPr lang="en-US" sz="1800" dirty="0"/>
          </a:p>
        </p:txBody>
      </p:sp>
      <p:sp>
        <p:nvSpPr>
          <p:cNvPr id="13" name="col-list-1"/>
          <p:cNvSpPr txBox="1"/>
          <p:nvPr/>
        </p:nvSpPr>
        <p:spPr>
          <a:xfrm>
            <a:off x="6530188" y="2377440"/>
            <a:ext cx="48385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Эх сурвалжаа тогтсон хэлбэрээр иш татах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AI-г тайлбар авах, санаа сэдэх туслах болгох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Үр дүнг өөрөө шалгаж, бүрэн ойлгох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AI ашигласан бол багшид ил тод мэдэгдэх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-kicker"/>
          <p:cNvSpPr txBox="1"/>
          <p:nvPr/>
        </p:nvSpPr>
        <p:spPr>
          <a:xfrm>
            <a:off x="54864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ӨӨРИЙГӨӨ ҮНЭЛЭХ</a:t>
            </a:r>
            <a:endParaRPr lang="en-US" sz="2000" dirty="0"/>
          </a:p>
        </p:txBody>
      </p:sp>
      <p:sp>
        <p:nvSpPr>
          <p:cNvPr id="4" name="q-text"/>
          <p:cNvSpPr txBox="1"/>
          <p:nvPr/>
        </p:nvSpPr>
        <p:spPr>
          <a:xfrm>
            <a:off x="548640" y="1645920"/>
            <a:ext cx="8138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Өнгөрсөн долоо хоногт та бие даан суралцахад хэдэн цаг зарцуулсан бэ? Үүнийг хэрхэн 2 дахин үр дүнтэй болгох вэ?</a:t>
            </a:r>
            <a:endParaRPr lang="en-US" sz="3000" dirty="0"/>
          </a:p>
        </p:txBody>
      </p:sp>
      <p:sp>
        <p:nvSpPr>
          <p:cNvPr id="5" name="q-ring"/>
          <p:cNvSpPr/>
          <p:nvPr/>
        </p:nvSpPr>
        <p:spPr>
          <a:xfrm>
            <a:off x="9144000" y="2103120"/>
            <a:ext cx="2377440" cy="2377440"/>
          </a:xfrm>
          <a:prstGeom prst="ellipse">
            <a:avLst/>
          </a:prstGeom>
          <a:solidFill>
            <a:schemeClr val="accent3">
              <a:alpha val="60000"/>
            </a:schemeClr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6" name="q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2651760"/>
            <a:ext cx="1280160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Гол санаа</a:t>
            </a:r>
            <a:endParaRPr lang="en-US" sz="2800" dirty="0"/>
          </a:p>
        </p:txBody>
      </p:sp>
      <p:sp>
        <p:nvSpPr>
          <p:cNvPr id="3" name="take-card-0"/>
          <p:cNvSpPr/>
          <p:nvPr/>
        </p:nvSpPr>
        <p:spPr>
          <a:xfrm>
            <a:off x="548640" y="1463040"/>
            <a:ext cx="3454298" cy="44805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4" name="take-n-0"/>
          <p:cNvSpPr txBox="1"/>
          <p:nvPr/>
        </p:nvSpPr>
        <p:spPr>
          <a:xfrm>
            <a:off x="914400" y="178308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ake-0"/>
          <p:cNvSpPr txBox="1"/>
          <p:nvPr/>
        </p:nvSpPr>
        <p:spPr>
          <a:xfrm>
            <a:off x="914400" y="2926080"/>
            <a:ext cx="27227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Их сургуульд суралцах хариуцлагын гол хэсэг сонсогч өөрт оногдоно</a:t>
            </a:r>
            <a:endParaRPr lang="en-US" sz="1800" dirty="0"/>
          </a:p>
        </p:txBody>
      </p:sp>
      <p:sp>
        <p:nvSpPr>
          <p:cNvPr id="6" name="take-card-1"/>
          <p:cNvSpPr/>
          <p:nvPr/>
        </p:nvSpPr>
        <p:spPr>
          <a:xfrm>
            <a:off x="4368698" y="1463040"/>
            <a:ext cx="3454298" cy="44805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7" name="take-n-1"/>
          <p:cNvSpPr txBox="1"/>
          <p:nvPr/>
        </p:nvSpPr>
        <p:spPr>
          <a:xfrm>
            <a:off x="4734458" y="178308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4800" dirty="0"/>
          </a:p>
        </p:txBody>
      </p:sp>
      <p:sp>
        <p:nvSpPr>
          <p:cNvPr id="8" name="take-1"/>
          <p:cNvSpPr txBox="1"/>
          <p:nvPr/>
        </p:nvSpPr>
        <p:spPr>
          <a:xfrm>
            <a:off x="4734458" y="2926080"/>
            <a:ext cx="27227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Идэвхтэй сэргээн санах, зайтай давтлага, тайлбарлах нь хамгийн үр дүнтэй аргууд</a:t>
            </a:r>
            <a:endParaRPr lang="en-US" sz="1800" dirty="0"/>
          </a:p>
        </p:txBody>
      </p:sp>
      <p:sp>
        <p:nvSpPr>
          <p:cNvPr id="9" name="take-card-2"/>
          <p:cNvSpPr/>
          <p:nvPr/>
        </p:nvSpPr>
        <p:spPr>
          <a:xfrm>
            <a:off x="8188757" y="1463040"/>
            <a:ext cx="3454298" cy="44805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10" name="take-n-2"/>
          <p:cNvSpPr txBox="1"/>
          <p:nvPr/>
        </p:nvSpPr>
        <p:spPr>
          <a:xfrm>
            <a:off x="8554517" y="178308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4800" dirty="0"/>
          </a:p>
        </p:txBody>
      </p:sp>
      <p:sp>
        <p:nvSpPr>
          <p:cNvPr id="11" name="take-2"/>
          <p:cNvSpPr txBox="1"/>
          <p:nvPr/>
        </p:nvSpPr>
        <p:spPr>
          <a:xfrm>
            <a:off x="8554517" y="2926080"/>
            <a:ext cx="27227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Цагийн менежмент, зөв хэрэгсэл, академик шударга байдал нь амжилтын суурь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Бие даалт ба дараагийн дадлага</a:t>
            </a:r>
            <a:endParaRPr lang="en-US" sz="2800" dirty="0"/>
          </a:p>
        </p:txBody>
      </p:sp>
      <p:sp>
        <p:nvSpPr>
          <p:cNvPr id="3" name="hw-icon-bg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hw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538021"/>
            <a:ext cx="307238" cy="307238"/>
          </a:xfrm>
          <a:prstGeom prst="rect">
            <a:avLst/>
          </a:prstGeom>
        </p:spPr>
      </p:pic>
      <p:sp>
        <p:nvSpPr>
          <p:cNvPr id="5" name="hw-h"/>
          <p:cNvSpPr txBox="1"/>
          <p:nvPr/>
        </p:nvSpPr>
        <p:spPr>
          <a:xfrm>
            <a:off x="128016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Бие даалтын даалгавар</a:t>
            </a:r>
            <a:endParaRPr lang="en-US" sz="2000" dirty="0"/>
          </a:p>
        </p:txBody>
      </p:sp>
      <p:sp>
        <p:nvSpPr>
          <p:cNvPr id="6" name="hw-list"/>
          <p:cNvSpPr txBox="1"/>
          <p:nvPr/>
        </p:nvSpPr>
        <p:spPr>
          <a:xfrm>
            <a:off x="54864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16 долоо хоногийн хувийн суралцах төлөвлөгөө (цагийн хуваарь) гаргах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TryHackMe «Pre Security» эсвэл OverTheWire Bandit-ийн эхний 5 түвшинг гүйцэтгэх</a:t>
            </a:r>
            <a:endParaRPr lang="en-US" sz="1600" dirty="0"/>
          </a:p>
        </p:txBody>
      </p:sp>
      <p:sp>
        <p:nvSpPr>
          <p:cNvPr id="7" name="next-card"/>
          <p:cNvSpPr/>
          <p:nvPr/>
        </p:nvSpPr>
        <p:spPr>
          <a:xfrm>
            <a:off x="6583680" y="1417320"/>
            <a:ext cx="5059375" cy="3108960"/>
          </a:xfrm>
          <a:prstGeom prst="roundRect">
            <a:avLst>
              <a:gd name="adj" fmla="val 3529"/>
            </a:avLst>
          </a:prstGeom>
          <a:solidFill>
            <a:schemeClr val="accent3"/>
          </a:solidFill>
          <a:ln/>
        </p:spPr>
      </p:sp>
      <p:sp>
        <p:nvSpPr>
          <p:cNvPr id="8" name="next-kicker"/>
          <p:cNvSpPr txBox="1"/>
          <p:nvPr/>
        </p:nvSpPr>
        <p:spPr>
          <a:xfrm>
            <a:off x="6949440" y="1691640"/>
            <a:ext cx="4327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ДАДЛАГА_05</a:t>
            </a:r>
            <a:endParaRPr lang="en-US" sz="1800" dirty="0"/>
          </a:p>
        </p:txBody>
      </p:sp>
      <p:sp>
        <p:nvSpPr>
          <p:cNvPr id="9" name="next-title"/>
          <p:cNvSpPr txBox="1"/>
          <p:nvPr/>
        </p:nvSpPr>
        <p:spPr>
          <a:xfrm>
            <a:off x="6949440" y="2240280"/>
            <a:ext cx="43278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Суралцах хэрэгслээ бүрдүүлэх: виртуал машин, Linux, Git</a:t>
            </a:r>
            <a:endParaRPr lang="en-US" sz="2000" dirty="0"/>
          </a:p>
        </p:txBody>
      </p:sp>
      <p:sp>
        <p:nvSpPr>
          <p:cNvPr id="10" name="next-meta"/>
          <p:cNvSpPr txBox="1"/>
          <p:nvPr/>
        </p:nvSpPr>
        <p:spPr>
          <a:xfrm>
            <a:off x="6949440" y="3703320"/>
            <a:ext cx="4327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4 цаг · лаборатори · дэлгэрэнгүй төлөвлөгөөг дадлагын гарын авлагаас үзнэ</a:t>
            </a:r>
            <a:endParaRPr lang="en-US" sz="1400" dirty="0"/>
          </a:p>
        </p:txBody>
      </p:sp>
      <p:sp>
        <p:nvSpPr>
          <p:cNvPr id="11" name="src-h"/>
          <p:cNvSpPr txBox="1"/>
          <p:nvPr/>
        </p:nvSpPr>
        <p:spPr>
          <a:xfrm>
            <a:off x="54864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Эх сурвалж</a:t>
            </a:r>
            <a:endParaRPr lang="en-US" sz="1400" dirty="0"/>
          </a:p>
        </p:txBody>
      </p:sp>
      <p:sp>
        <p:nvSpPr>
          <p:cNvPr id="12" name="src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Brown, P., Roediger, H., McDaniel, M. Make It Stick: The Science of Successful Learning, 2014   ·   Oakley, B. A Mind for Numbers, 2014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BC101 Signal">
  <a:themeElements>
    <a:clrScheme name="CSBC101 Signal">
      <a:dk1>
        <a:srgbClr val="17262A"/>
      </a:dk1>
      <a:lt1>
        <a:srgbClr val="FFFFFF"/>
      </a:lt1>
      <a:dk2>
        <a:srgbClr val="0F3B3F"/>
      </a:dk2>
      <a:lt2>
        <a:srgbClr val="EAF4F1"/>
      </a:lt2>
      <a:accent1>
        <a:srgbClr val="12A37F"/>
      </a:accent1>
      <a:accent2>
        <a:srgbClr val="E89B3C"/>
      </a:accent2>
      <a:accent3>
        <a:srgbClr val="2E6F73"/>
      </a:accent3>
      <a:accent4>
        <a:srgbClr val="8FD3C1"/>
      </a:accent4>
      <a:accent5>
        <a:srgbClr val="C4553B"/>
      </a:accent5>
      <a:accent6>
        <a:srgbClr val="5B6B6E"/>
      </a:accent6>
      <a:hlink>
        <a:srgbClr val="12A37F"/>
      </a:hlink>
      <a:folHlink>
        <a:srgbClr val="2E6F73"/>
      </a:folHlink>
    </a:clrScheme>
    <a:fontScheme name="CSBC101 Sign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ҮБХИС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 5. Их сургуульд үр дүнтэй суралцах арга барил</dc:title>
  <dc:subject>CSBC101 Мэргэжлийн удиртгал</dc:subject>
  <dc:creator>Дэслэгч Ч.Энхбаатар</dc:creator>
  <cp:lastModifiedBy>Дэслэгч Ч.Энхбаатар</cp:lastModifiedBy>
  <cp:revision>1</cp:revision>
  <dcterms:created xsi:type="dcterms:W3CDTF">2026-10-26T09:26:44Z</dcterms:created>
  <dcterms:modified xsi:type="dcterms:W3CDTF">2026-10-26T09:26:44Z</dcterms:modified>
</cp:coreProperties>
</file>