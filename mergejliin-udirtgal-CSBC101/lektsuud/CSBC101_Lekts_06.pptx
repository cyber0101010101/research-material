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610fc4bb-c5b4-c0e8-0d49-d796392816a5}">
          <p14:sldIdLst>
            <p14:sldId id="256"/>
          </p14:sldIdLst>
        </p14:section>
        <p14:section name="Зорилго" id="{e07bb226-c208-3220-ef6e-b04f027e2d59}">
          <p14:sldIdLst>
            <p14:sldId id="257"/>
          </p14:sldIdLst>
        </p14:section>
        <p14:section name="Агуулга" id="{7fe43959-4059-d511-e475-0f59cd64a73b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Дүгнэлт" id="{8a7bfe4f-1194-4fe5-a19e-ef6065b042cd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6. Хууль эрх зүй, мэргэжлийн ёс зүй ба хариуцлага.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 үг: ЗӨВШӨӨРӨЛ. Техникийн хувьд ижил үйлдэл зөвшөөрөлтэй эсэхээс хамаарч хууль ёсны эсвэл гэмт хэрэг болно.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Хуулийн бүрэн эхийг legalinfo.mn сайтаас уншина. Хуулийн заалт, зүйлийн дугаарыг хичээлийн өмнө хамгийн сүүлийн хувилбартай нь тулгаж шалгах.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ISC2 Code of Ethics-ийн 4 үндсэн зарчим (canons). Сонсогчид Дадлага 6-д ангийн ёс зүйн гэрээг өөрсдөө боловсруулна.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Цэргийн орчинд эмзэг байдлыг заавал шууд удирдлагадаа, тогтоосон журмаар мэдээлнэ.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бүрт: хууль зөрчих эсэх, ёс зүйн зарчим, зөв үйлдэл. Дадлага 6-д дэлгэрэнгүй хэлэлцэнэ.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Хөтөлбөрийн 'Цэргийн сахилга бат ба нууцлалын шаардлага'-ыг үндэслэсэн. Бодит жишээ: фитнес аппын байршлын мэдээллээс цэргийн баазын байршил ил болсон тохиолдол (2018).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Лекцийг дүгнэж, сонсогчдоос 'миний ёс зүйн 3 дүрэм'-ийг бичиж авах.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ЛЕКЦ_06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Хууль эрх зүй, мэргэжлийн ёс зүй ба хариуцлага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CLO-5</a:t>
            </a:r>
            <a:endParaRPr lang="en-US" sz="1200" dirty="0"/>
          </a:p>
        </p:txBody>
      </p:sp>
      <p:sp>
        <p:nvSpPr>
          <p:cNvPr id="5" name="clo-chip-1"/>
          <p:cNvSpPr/>
          <p:nvPr/>
        </p:nvSpPr>
        <p:spPr>
          <a:xfrm>
            <a:off x="173736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clo-text-1"/>
          <p:cNvSpPr txBox="1"/>
          <p:nvPr/>
        </p:nvSpPr>
        <p:spPr>
          <a:xfrm>
            <a:off x="173736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CLO-8</a:t>
            </a:r>
            <a:endParaRPr lang="en-US" sz="1200" dirty="0"/>
          </a:p>
        </p:txBody>
      </p:sp>
      <p:sp>
        <p:nvSpPr>
          <p:cNvPr id="7" name="clo-label"/>
          <p:cNvSpPr txBox="1"/>
          <p:nvPr/>
        </p:nvSpPr>
        <p:spPr>
          <a:xfrm>
            <a:off x="297180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8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9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11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аюулгүй байдлын эрх зүйн орчинтой танилцах</a:t>
            </a:r>
            <a:endParaRPr lang="en-US" sz="1600" dirty="0"/>
          </a:p>
        </p:txBody>
      </p:sp>
      <p:sp>
        <p:nvSpPr>
          <p:cNvPr id="12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4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Ёс зүйт хакер ба гэмт хэргийн хил хязгаарыг ялгах</a:t>
            </a:r>
            <a:endParaRPr lang="en-US" sz="1600" dirty="0"/>
          </a:p>
        </p:txBody>
      </p:sp>
      <p:sp>
        <p:nvSpPr>
          <p:cNvPr id="15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7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Мэргэжлийн ёс зүй, цэргийн нууцлалын хариуцлагыг ухамсарлах</a:t>
            </a:r>
            <a:endParaRPr lang="en-US" sz="1600" dirty="0"/>
          </a:p>
        </p:txBody>
      </p:sp>
      <p:sp>
        <p:nvSpPr>
          <p:cNvPr id="18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9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20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Ижил үйлдэл, өөр үр дагавар</a:t>
            </a:r>
            <a:endParaRPr lang="en-US" sz="1600" dirty="0"/>
          </a:p>
        </p:txBody>
      </p:sp>
      <p:sp>
        <p:nvSpPr>
          <p:cNvPr id="22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Монгол Улсын эрх зүйн орчин</a:t>
            </a:r>
            <a:endParaRPr lang="en-US" sz="1600" dirty="0"/>
          </a:p>
        </p:txBody>
      </p:sp>
      <p:sp>
        <p:nvSpPr>
          <p:cNvPr id="24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Мэргэжлийн ёс зүйн дүрэм</a:t>
            </a:r>
            <a:endParaRPr lang="en-US" sz="1600" dirty="0"/>
          </a:p>
        </p:txBody>
      </p:sp>
      <p:sp>
        <p:nvSpPr>
          <p:cNvPr id="26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Хариуцлагатай мэдээлэх</a:t>
            </a:r>
            <a:endParaRPr lang="en-US" sz="1600" dirty="0"/>
          </a:p>
        </p:txBody>
      </p:sp>
      <p:sp>
        <p:nvSpPr>
          <p:cNvPr id="28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Цэргийн алба хаагчийн мэдээллийн хариуцлага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Ижил үйлдэл — өөр үр дагавар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Мэргэжлийн ажил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Бичгээр авсан зөвшөөрөл, гэрээтэй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Хамрах хүрээ (scope) тодорхой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Олж мэдсэн мэдээллийг нууцална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Үр дүнг эзэмшигчид тайлагнана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Гэмт хэрэг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Зөвшөөрөлгүйгээр нэвтэрнэ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Хамрах хүрээгүй, хяналтгүй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Мэдээллийг хувийн ашиг, хорлонд ашиглана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Эрүүгийн хариуцлага хүлээнэ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Монгол Улсын эрх зүйн үндсэн баримт бичгүүд</a:t>
            </a:r>
            <a:endParaRPr lang="en-US" sz="28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Баримт бичиг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Гол агуулга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аюулгүй байдлын тухай хууль (2021)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Кибер аюулгүй байдлыг хангах, кибер халдлага, зөрчилтэй тэмцэх үндэс, оролцогч талуудын эрх, үүрэг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Хүний хувийн мэдээлэл хамгаалах тухай хууль (2021)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Хувийн мэдээллийг цуглуулах, боловсруулах, ашиглах, хамгаалах журам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Нийтийн мэдээллийн ил тод байдлын тухай хууль (2021)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Нийтийн мэдээллийн ил тод байдал, хаалттай мэдээллийн ангилал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Эрүүгийн хууль (2015), 26 дугаар бүлэг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Компьютерийн мэдээллийн аюулгүй байдлын эсрэг гэмт хэрэг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Төрийн болон албаны нууцын тухай хууль (2016)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Нууцад хамаарах мэдээлэл, түүнийг хамгаалах хариуцлага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Зэвсэгт хүчний тухай хууль (2020 оны нэмэлт)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Зэвсэгт хүчний бүрэлдэхүүнд Кибер аюулгүй байдлын цэрэг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Мэргэжлийн ёс зүйн дүрэм: ISC2-ийн 4 зарчим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Нийгмийг хамгаалах</a:t>
            </a:r>
            <a:endParaRPr lang="en-US" sz="2000" dirty="0"/>
          </a:p>
        </p:txBody>
      </p:sp>
      <p:sp>
        <p:nvSpPr>
          <p:cNvPr id="8" name="card-t-0"/>
          <p:cNvSpPr txBox="1"/>
          <p:nvPr/>
        </p:nvSpPr>
        <p:spPr>
          <a:xfrm>
            <a:off x="822960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Нийгэм, нийтийн итгэлцэл, дэд бүтцийг хамгаалах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1806854"/>
            <a:ext cx="409651" cy="409651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3665144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Шударга байх</a:t>
            </a:r>
            <a:endParaRPr lang="en-US" sz="2000" dirty="0"/>
          </a:p>
        </p:txBody>
      </p:sp>
      <p:sp>
        <p:nvSpPr>
          <p:cNvPr id="13" name="card-t-1"/>
          <p:cNvSpPr txBox="1"/>
          <p:nvPr/>
        </p:nvSpPr>
        <p:spPr>
          <a:xfrm>
            <a:off x="3665144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Үнэнч, шударга, хууль ёсны, хариуцлагатай ажиллах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1806854"/>
            <a:ext cx="409651" cy="409651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6507328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Мэргэжлийн үйлчилгээ</a:t>
            </a:r>
            <a:endParaRPr lang="en-US" sz="2000" dirty="0"/>
          </a:p>
        </p:txBody>
      </p:sp>
      <p:sp>
        <p:nvSpPr>
          <p:cNvPr id="18" name="card-t-2"/>
          <p:cNvSpPr txBox="1"/>
          <p:nvPr/>
        </p:nvSpPr>
        <p:spPr>
          <a:xfrm>
            <a:off x="6507328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Захиалагч, байгууллагадаа хичээнгүйлэн, чадварлаг үйлчлэх</a:t>
            </a:r>
            <a:endParaRPr lang="en-US" sz="1800" dirty="0"/>
          </a:p>
        </p:txBody>
      </p:sp>
      <p:sp>
        <p:nvSpPr>
          <p:cNvPr id="19" name="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1806854"/>
            <a:ext cx="409651" cy="409651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9349511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Мэргэжлийг хөгжүүлэх</a:t>
            </a:r>
            <a:endParaRPr lang="en-US" sz="2000" dirty="0"/>
          </a:p>
        </p:txBody>
      </p:sp>
      <p:sp>
        <p:nvSpPr>
          <p:cNvPr id="23" name="card-t-3"/>
          <p:cNvSpPr txBox="1"/>
          <p:nvPr/>
        </p:nvSpPr>
        <p:spPr>
          <a:xfrm>
            <a:off x="9349511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Мэргэжил, хамт олноо хөгжүүлж, хамгаалах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Хариуцлагатай мэдээлэх (Responsible Disclosure)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Эмзэг байдал санамсаргүй олж харвал яах вэ?</a:t>
            </a:r>
            <a:endParaRPr lang="en-US" sz="1600" dirty="0"/>
          </a:p>
        </p:txBody>
      </p:sp>
      <p:sp>
        <p:nvSpPr>
          <p:cNvPr id="5" name="step-0"/>
          <p:cNvSpPr/>
          <p:nvPr/>
        </p:nvSpPr>
        <p:spPr>
          <a:xfrm>
            <a:off x="548640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6" name="step-dot-0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-num-0"/>
          <p:cNvSpPr txBox="1"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tep-h-0"/>
          <p:cNvSpPr txBox="1"/>
          <p:nvPr/>
        </p:nvSpPr>
        <p:spPr>
          <a:xfrm>
            <a:off x="731520" y="2880360"/>
            <a:ext cx="1576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Зогсох</a:t>
            </a:r>
            <a:endParaRPr lang="en-US" sz="1800" dirty="0"/>
          </a:p>
        </p:txBody>
      </p:sp>
      <p:sp>
        <p:nvSpPr>
          <p:cNvPr id="9" name="step-t-0"/>
          <p:cNvSpPr txBox="1"/>
          <p:nvPr/>
        </p:nvSpPr>
        <p:spPr>
          <a:xfrm>
            <a:off x="731520" y="3337560"/>
            <a:ext cx="157697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Цааш ашиглахгүй, өгөгдөлд хандахгүй</a:t>
            </a:r>
            <a:endParaRPr lang="en-US" sz="1600" dirty="0"/>
          </a:p>
        </p:txBody>
      </p:sp>
      <p:sp>
        <p:nvSpPr>
          <p:cNvPr id="10" name="step-arrow-0"/>
          <p:cNvSpPr/>
          <p:nvPr/>
        </p:nvSpPr>
        <p:spPr>
          <a:xfrm>
            <a:off x="2518806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1" name="step-1"/>
          <p:cNvSpPr/>
          <p:nvPr/>
        </p:nvSpPr>
        <p:spPr>
          <a:xfrm>
            <a:off x="2847990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12" name="step-dot-1"/>
          <p:cNvSpPr/>
          <p:nvPr/>
        </p:nvSpPr>
        <p:spPr>
          <a:xfrm>
            <a:off x="303087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-num-1"/>
          <p:cNvSpPr txBox="1"/>
          <p:nvPr/>
        </p:nvSpPr>
        <p:spPr>
          <a:xfrm>
            <a:off x="303087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tep-h-1"/>
          <p:cNvSpPr txBox="1"/>
          <p:nvPr/>
        </p:nvSpPr>
        <p:spPr>
          <a:xfrm>
            <a:off x="3030870" y="2880360"/>
            <a:ext cx="1576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Баримтжуулах</a:t>
            </a:r>
            <a:endParaRPr lang="en-US" sz="1700" dirty="0"/>
          </a:p>
        </p:txBody>
      </p:sp>
      <p:sp>
        <p:nvSpPr>
          <p:cNvPr id="15" name="step-t-1"/>
          <p:cNvSpPr txBox="1"/>
          <p:nvPr/>
        </p:nvSpPr>
        <p:spPr>
          <a:xfrm>
            <a:off x="3030870" y="3337560"/>
            <a:ext cx="157697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Юу, хаана, хэрхэн олсноо тэмдэглэх</a:t>
            </a:r>
            <a:endParaRPr lang="en-US" sz="1600" dirty="0"/>
          </a:p>
        </p:txBody>
      </p:sp>
      <p:sp>
        <p:nvSpPr>
          <p:cNvPr id="16" name="step-arrow-1"/>
          <p:cNvSpPr/>
          <p:nvPr/>
        </p:nvSpPr>
        <p:spPr>
          <a:xfrm>
            <a:off x="4818156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7" name="step-2"/>
          <p:cNvSpPr/>
          <p:nvPr/>
        </p:nvSpPr>
        <p:spPr>
          <a:xfrm>
            <a:off x="5147340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18" name="step-dot-2"/>
          <p:cNvSpPr/>
          <p:nvPr/>
        </p:nvSpPr>
        <p:spPr>
          <a:xfrm>
            <a:off x="533022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-num-2"/>
          <p:cNvSpPr txBox="1"/>
          <p:nvPr/>
        </p:nvSpPr>
        <p:spPr>
          <a:xfrm>
            <a:off x="53302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tep-h-2"/>
          <p:cNvSpPr txBox="1"/>
          <p:nvPr/>
        </p:nvSpPr>
        <p:spPr>
          <a:xfrm>
            <a:off x="5330220" y="288036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Нууцаар мэдээлэх</a:t>
            </a:r>
            <a:endParaRPr lang="en-US" sz="1800" dirty="0"/>
          </a:p>
        </p:txBody>
      </p:sp>
      <p:sp>
        <p:nvSpPr>
          <p:cNvPr id="21" name="step-t-2"/>
          <p:cNvSpPr txBox="1"/>
          <p:nvPr/>
        </p:nvSpPr>
        <p:spPr>
          <a:xfrm>
            <a:off x="5330220" y="356616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Эзэмшигч, CERT эсвэл удирдлагадаа</a:t>
            </a:r>
            <a:endParaRPr lang="en-US" sz="1600" dirty="0"/>
          </a:p>
        </p:txBody>
      </p:sp>
      <p:sp>
        <p:nvSpPr>
          <p:cNvPr id="22" name="step-arrow-2"/>
          <p:cNvSpPr/>
          <p:nvPr/>
        </p:nvSpPr>
        <p:spPr>
          <a:xfrm>
            <a:off x="7117507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3" name="step-3"/>
          <p:cNvSpPr/>
          <p:nvPr/>
        </p:nvSpPr>
        <p:spPr>
          <a:xfrm>
            <a:off x="7446691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24" name="step-dot-3"/>
          <p:cNvSpPr/>
          <p:nvPr/>
        </p:nvSpPr>
        <p:spPr>
          <a:xfrm>
            <a:off x="7629571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step-num-3"/>
          <p:cNvSpPr txBox="1"/>
          <p:nvPr/>
        </p:nvSpPr>
        <p:spPr>
          <a:xfrm>
            <a:off x="7629571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tep-h-3"/>
          <p:cNvSpPr txBox="1"/>
          <p:nvPr/>
        </p:nvSpPr>
        <p:spPr>
          <a:xfrm>
            <a:off x="7629571" y="288036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Хугацаа олгох</a:t>
            </a:r>
            <a:endParaRPr lang="en-US" sz="1800" dirty="0"/>
          </a:p>
        </p:txBody>
      </p:sp>
      <p:sp>
        <p:nvSpPr>
          <p:cNvPr id="27" name="step-t-3"/>
          <p:cNvSpPr txBox="1"/>
          <p:nvPr/>
        </p:nvSpPr>
        <p:spPr>
          <a:xfrm>
            <a:off x="7629571" y="356616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Засах боломжийг хүндэтгэх</a:t>
            </a:r>
            <a:endParaRPr lang="en-US" sz="1600" dirty="0"/>
          </a:p>
        </p:txBody>
      </p:sp>
      <p:sp>
        <p:nvSpPr>
          <p:cNvPr id="28" name="step-arrow-3"/>
          <p:cNvSpPr/>
          <p:nvPr/>
        </p:nvSpPr>
        <p:spPr>
          <a:xfrm>
            <a:off x="9416857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9" name="step-4"/>
          <p:cNvSpPr/>
          <p:nvPr/>
        </p:nvSpPr>
        <p:spPr>
          <a:xfrm>
            <a:off x="9746041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30" name="step-dot-4"/>
          <p:cNvSpPr/>
          <p:nvPr/>
        </p:nvSpPr>
        <p:spPr>
          <a:xfrm>
            <a:off x="9928921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step-num-4"/>
          <p:cNvSpPr txBox="1"/>
          <p:nvPr/>
        </p:nvSpPr>
        <p:spPr>
          <a:xfrm>
            <a:off x="9928921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step-h-4"/>
          <p:cNvSpPr txBox="1"/>
          <p:nvPr/>
        </p:nvSpPr>
        <p:spPr>
          <a:xfrm>
            <a:off x="9928921" y="288036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Хамтран нийтлэх</a:t>
            </a:r>
            <a:endParaRPr lang="en-US" sz="1800" dirty="0"/>
          </a:p>
        </p:txBody>
      </p:sp>
      <p:sp>
        <p:nvSpPr>
          <p:cNvPr id="33" name="step-t-4"/>
          <p:cNvSpPr txBox="1"/>
          <p:nvPr/>
        </p:nvSpPr>
        <p:spPr>
          <a:xfrm>
            <a:off x="9928921" y="356616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Засагдсаны дараа зөвшөөрлөөр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Ёс зүйн дилемма: та яах вэ?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Кейс 1</a:t>
            </a:r>
            <a:endParaRPr lang="en-US" sz="2000" dirty="0"/>
          </a:p>
        </p:txBody>
      </p:sp>
      <p:sp>
        <p:nvSpPr>
          <p:cNvPr id="8" name="card-t-0"/>
          <p:cNvSpPr txBox="1"/>
          <p:nvPr/>
        </p:nvSpPr>
        <p:spPr>
          <a:xfrm>
            <a:off x="822960" y="3048000"/>
            <a:ext cx="2966618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Найз тань хуучин найзынхаа сошиал хаягийн нууц үгийг «тайлж» өгөхийг гуйв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61253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473" y="1806854"/>
            <a:ext cx="409651" cy="409651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4612538" y="260604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Кейс 2</a:t>
            </a:r>
            <a:endParaRPr lang="en-US" sz="2000" dirty="0"/>
          </a:p>
        </p:txBody>
      </p:sp>
      <p:sp>
        <p:nvSpPr>
          <p:cNvPr id="13" name="card-t-1"/>
          <p:cNvSpPr txBox="1"/>
          <p:nvPr/>
        </p:nvSpPr>
        <p:spPr>
          <a:xfrm>
            <a:off x="4612538" y="3048000"/>
            <a:ext cx="2966618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Дадлагын үеэр хамрах хүрээнээс гадуурх серверт эмзэг байдал анзаарав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402117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051" y="1806854"/>
            <a:ext cx="409651" cy="409651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8402117" y="2606040"/>
            <a:ext cx="29666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Кейс 3</a:t>
            </a:r>
            <a:endParaRPr lang="en-US" sz="2000" dirty="0"/>
          </a:p>
        </p:txBody>
      </p:sp>
      <p:sp>
        <p:nvSpPr>
          <p:cNvPr id="18" name="card-t-2"/>
          <p:cNvSpPr txBox="1"/>
          <p:nvPr/>
        </p:nvSpPr>
        <p:spPr>
          <a:xfrm>
            <a:off x="8402117" y="3048000"/>
            <a:ext cx="2966618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Форумаас «үнэгүй» халдлагын хэрэгсэл олдож, сургуулийн сүлжээнд турших сонирхол төрөв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Цэргийн алба хаагчийн мэдээллийн хариуцлага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Нууцлал ба сахилга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Цэргийн өгөгдөл, сүлжээний бүтцийг задруулахгүй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Нууцын горим, баримт бичгийн журмыг мөрдөх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Хувийн төхөөрөмжийг зөвшөөрөгдсөн журмаар ашиглах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Тушаал, дүрэм журамд захирагдах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Үйл ажиллагааны нууцлал (OPSEC)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Байршил, ангийн хөдөлгөөнийг нийтлэхгүй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Албаны зураг, бичлэгийг сошиалд тавихгүй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Танихгүй хүний «найзын хүсэлт»-д болгоомжлох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Сэжигтэй харилцааг удирдлагадаа мэдээлэх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БОДОЛЦОХ АСУУЛТ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Хэн ч харахгүй, хэн ч мэдэхгүй байхад та юу хийх вэ? Мэргэжлийн ёс зүй тэр мөчид шалгагддаг.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Зөвшөөрөл, хамрах хүрээ, нууцлал бол мэргэжлийн ажлыг гэмт хэргээс ялгах гол шалгуур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Монгол Улсад кибер аюулгүй байдал, хувийн мэдээлэл, нууцын тухай хууль үйлчилдэг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Ёс зүй, нууцлал бол кибер мэргэжилтэн, цэргийн алба хаагчийн итгэлцлийн суурь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Кибер аюулгүй байдлын тухай хуулийг уншиж, 1 нүүрийн хураангуй бичих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Дадлага 6-д зориулж нэг ёс зүйн кейсийн байр сууриа бэлтгэх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ДАДЛАГА_06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Хууль, ёс зүйн кейс шинжилгээ ба ангийн ёс зүйн гэрээ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Монгол Улсын хууль тогтоомжийн нэгдсэн сан: legalinfo.mn   ·   ISC2 Code of Ethics   ·   Кибер аюулгүй байдлын бакалаврын хөтөлбөр (103103), 2.1.2 хэсэг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6. Хууль эрх зүй, мэргэжлийн ёс зүй ба хариуцлага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