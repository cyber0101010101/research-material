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Нүүр" id="{054a5966-b303-2b93-6354-f70fe35c01ae}">
          <p14:sldIdLst>
            <p14:sldId id="256"/>
          </p14:sldIdLst>
        </p14:section>
        <p14:section name="Зорилго" id="{8e60cd49-f34e-26c6-fe6b-9733f71da268}">
          <p14:sldIdLst>
            <p14:sldId id="257"/>
          </p14:sldIdLst>
        </p14:section>
        <p14:section name="Агуулга" id="{1aa32852-480c-478e-b401-249bbf6f53c8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Дүгнэлт" id="{cc7a469d-7a89-ce7f-1df1-a20332c9140d}">
          <p14:sldIdLst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Лекц 2. Кибер орчны аюул занал ба хамгаалалтын зарчим. Хичээл 2 цаг (90 минут). Сонсогчдод лекцийн зорилго, дадлагатай уялдааг танилцуулна.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Лекцийн зорилго, суралцахуйн үр дүнг (CLO) танилцуулж, агуулгын дарааллыг тайлбарлана.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Жишээ: Хөрөнгө — сонсогчийн и-мэйл. Аюул занал — фишинг. Эмзэг байдал — сул нууц үг, MFA байхгүй. Эрсдэл — бүртгэл алдагдах.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Халдагчийн сэдлийг ойлгох нь хамгаалалтыг төлөвлөхөд чухал. Батлан хамгаалах салбарын хувьд APT хамгийн ноцтой аюул занал.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Халдлага бүрийг 'аль CIA шинжид халддаг вэ' гэж асуун ангитай хамт ангилна.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Кейс бүр шинэ сургамж өгсөн: шинэчлэлтийн ач холбогдол, нөөцлөлт, нийлүүлэгчийн эрсдэл, чухал дэд бүтцийн хамгаалалт.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Хамгаалалтын хичээлүүд (Сүлжээний аюулгүй байдал, Хортой кодын шинжилгээ, Тоон ул мөр) эдгээр үе шат бүрт хэрхэн хамааралтайг дурдах.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Цэргийн зүйрлэл: гүнзгий хамгаалалт нь хамгаалалтын олон шугамтай адил.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Хүнийг 'асуудал' биш 'хамгаалалтын хүчин' болгох нь сургалт, соёлоор хэрэгждэг.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Илгээгчийн хаяг, домэйн, яаруулсан өнгө аяс, холбоосын бодит хаяг, хавсралт зэргийг ангитай хамт жагсаана. Дадлага 2-т бодит жишээн дээр шинжилнэ.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Лекцийн гол санааг сонсогчдоор давтуулж хэлүүлнэ: 'Өнөөдөр сурсан хамгийн чухал нэг зүйл юу вэ?'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Бие даалтын шаардлага, хугацааг тодорхой хэлж, дараагийн дадлагад юу бэлтгэж ирэхийг сануулна.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148840"/>
            <a:ext cx="786384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4251960"/>
            <a:ext cx="786384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CSBC101 · Мэргэжлийн удиртгал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CSBC101 · Мэргэжлийн удиртгал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BLAN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CSBC101 · Мэргэжлийн удиртгал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1417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ЛЕКЦ_02</a:t>
            </a:r>
            <a:endParaRPr lang="en-US" sz="2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2148840"/>
            <a:ext cx="7863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Кибер орчны аюул занал ба хамгаалалтын зарчим</a:t>
            </a:r>
            <a:endParaRPr lang="en-US" sz="36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640080" y="42519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CSBC101 · Мэргэжлийн удиртгал · I курс</a:t>
            </a:r>
            <a:endParaRPr lang="en-US" sz="1800" dirty="0"/>
          </a:p>
        </p:txBody>
      </p:sp>
      <p:sp>
        <p:nvSpPr>
          <p:cNvPr id="5" name="teacher"/>
          <p:cNvSpPr txBox="1"/>
          <p:nvPr/>
        </p:nvSpPr>
        <p:spPr>
          <a:xfrm>
            <a:off x="640080" y="534924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Дэслэгч Ч.Энхбаатар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ҮБХИС · ЦНС · Кибер аюулгүй байдлын тэнхим</a:t>
            </a:r>
            <a:endParaRPr lang="en-US" sz="1400" dirty="0"/>
          </a:p>
        </p:txBody>
      </p:sp>
      <p:sp>
        <p:nvSpPr>
          <p:cNvPr id="6" name="motif-ring"/>
          <p:cNvSpPr/>
          <p:nvPr/>
        </p:nvSpPr>
        <p:spPr>
          <a:xfrm>
            <a:off x="8732520" y="1691640"/>
            <a:ext cx="2926080" cy="2926080"/>
          </a:xfrm>
          <a:prstGeom prst="ellipse">
            <a:avLst/>
          </a:prstGeom>
          <a:solidFill>
            <a:schemeClr val="accent3">
              <a:alpha val="60000"/>
            </a:schemeClr>
          </a:solidFill>
          <a:ln w="25400">
            <a:solidFill>
              <a:schemeClr val="accent1"/>
            </a:solidFill>
            <a:prstDash val="solid"/>
          </a:ln>
        </p:spPr>
      </p:sp>
      <p:pic>
        <p:nvPicPr>
          <p:cNvPr id="7" name="motif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0" y="2377440"/>
            <a:ext cx="1554480" cy="1554480"/>
          </a:xfrm>
          <a:prstGeom prst="rect">
            <a:avLst/>
          </a:prstGeom>
        </p:spPr>
      </p:pic>
      <p:sp>
        <p:nvSpPr>
          <p:cNvPr id="8" name="progress"/>
          <p:cNvSpPr txBox="1"/>
          <p:nvPr/>
        </p:nvSpPr>
        <p:spPr>
          <a:xfrm>
            <a:off x="8732520" y="48463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/ 8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Лекцийн зорилго ба агуулга</a:t>
            </a:r>
            <a:endParaRPr lang="en-US" sz="2800" dirty="0"/>
          </a:p>
        </p:txBody>
      </p:sp>
      <p:sp>
        <p:nvSpPr>
          <p:cNvPr id="3" name="clo-chip-0"/>
          <p:cNvSpPr/>
          <p:nvPr/>
        </p:nvSpPr>
        <p:spPr>
          <a:xfrm>
            <a:off x="548640" y="1188720"/>
            <a:ext cx="105156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clo-text-0"/>
          <p:cNvSpPr txBox="1"/>
          <p:nvPr/>
        </p:nvSpPr>
        <p:spPr>
          <a:xfrm>
            <a:off x="548640" y="118872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CLO-1</a:t>
            </a:r>
            <a:endParaRPr lang="en-US" sz="1200" dirty="0"/>
          </a:p>
        </p:txBody>
      </p:sp>
      <p:sp>
        <p:nvSpPr>
          <p:cNvPr id="5" name="clo-chip-1"/>
          <p:cNvSpPr/>
          <p:nvPr/>
        </p:nvSpPr>
        <p:spPr>
          <a:xfrm>
            <a:off x="1737360" y="1188720"/>
            <a:ext cx="105156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6" name="clo-text-1"/>
          <p:cNvSpPr txBox="1"/>
          <p:nvPr/>
        </p:nvSpPr>
        <p:spPr>
          <a:xfrm>
            <a:off x="1737360" y="118872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CLO-2</a:t>
            </a:r>
            <a:endParaRPr lang="en-US" sz="1200" dirty="0"/>
          </a:p>
        </p:txBody>
      </p:sp>
      <p:sp>
        <p:nvSpPr>
          <p:cNvPr id="7" name="clo-label"/>
          <p:cNvSpPr txBox="1"/>
          <p:nvPr/>
        </p:nvSpPr>
        <p:spPr>
          <a:xfrm>
            <a:off x="2971800" y="118872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хичээлийн суралцахуйн үр дүнд хамаарна</a:t>
            </a:r>
            <a:endParaRPr lang="en-US" sz="1200" dirty="0"/>
          </a:p>
        </p:txBody>
      </p:sp>
      <p:sp>
        <p:nvSpPr>
          <p:cNvPr id="8" name="goals-h"/>
          <p:cNvSpPr txBox="1"/>
          <p:nvPr/>
        </p:nvSpPr>
        <p:spPr>
          <a:xfrm>
            <a:off x="548640" y="1828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Энэ лекцийн дараа та:</a:t>
            </a:r>
            <a:endParaRPr lang="en-US" sz="1800" dirty="0"/>
          </a:p>
        </p:txBody>
      </p:sp>
      <p:sp>
        <p:nvSpPr>
          <p:cNvPr id="9" name="goal-icon-0-bg"/>
          <p:cNvSpPr/>
          <p:nvPr/>
        </p:nvSpPr>
        <p:spPr>
          <a:xfrm>
            <a:off x="548640" y="23774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goal-icon-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2478024"/>
            <a:ext cx="256032" cy="256032"/>
          </a:xfrm>
          <a:prstGeom prst="rect">
            <a:avLst/>
          </a:prstGeom>
        </p:spPr>
      </p:pic>
      <p:sp>
        <p:nvSpPr>
          <p:cNvPr id="11" name="goal-0"/>
          <p:cNvSpPr txBox="1"/>
          <p:nvPr/>
        </p:nvSpPr>
        <p:spPr>
          <a:xfrm>
            <a:off x="1188720" y="2359152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Аюул занал, эмзэг байдал, эрсдэлийн ялгааг тайлбарлах</a:t>
            </a:r>
            <a:endParaRPr lang="en-US" sz="1600" dirty="0"/>
          </a:p>
        </p:txBody>
      </p:sp>
      <p:sp>
        <p:nvSpPr>
          <p:cNvPr id="12" name="goal-icon-1-bg"/>
          <p:cNvSpPr/>
          <p:nvPr/>
        </p:nvSpPr>
        <p:spPr>
          <a:xfrm>
            <a:off x="548640" y="35204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goal-icon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3621024"/>
            <a:ext cx="256032" cy="256032"/>
          </a:xfrm>
          <a:prstGeom prst="rect">
            <a:avLst/>
          </a:prstGeom>
        </p:spPr>
      </p:pic>
      <p:sp>
        <p:nvSpPr>
          <p:cNvPr id="14" name="goal-1"/>
          <p:cNvSpPr txBox="1"/>
          <p:nvPr/>
        </p:nvSpPr>
        <p:spPr>
          <a:xfrm>
            <a:off x="1188720" y="3502152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Халдагчдын төрөл, сэдэл, халдлагын түгээмэл аргуудыг таних</a:t>
            </a:r>
            <a:endParaRPr lang="en-US" sz="1600" dirty="0"/>
          </a:p>
        </p:txBody>
      </p:sp>
      <p:sp>
        <p:nvSpPr>
          <p:cNvPr id="15" name="goal-icon-2-bg"/>
          <p:cNvSpPr/>
          <p:nvPr/>
        </p:nvSpPr>
        <p:spPr>
          <a:xfrm>
            <a:off x="548640" y="46634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goal-icon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4764024"/>
            <a:ext cx="256032" cy="256032"/>
          </a:xfrm>
          <a:prstGeom prst="rect">
            <a:avLst/>
          </a:prstGeom>
        </p:spPr>
      </p:pic>
      <p:sp>
        <p:nvSpPr>
          <p:cNvPr id="17" name="goal-2"/>
          <p:cNvSpPr txBox="1"/>
          <p:nvPr/>
        </p:nvSpPr>
        <p:spPr>
          <a:xfrm>
            <a:off x="1188720" y="4645152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Хамгаалалтын үндсэн зарчмуудыг ойлгох</a:t>
            </a:r>
            <a:endParaRPr lang="en-US" sz="1600" dirty="0"/>
          </a:p>
        </p:txBody>
      </p:sp>
      <p:sp>
        <p:nvSpPr>
          <p:cNvPr id="18" name="agenda-panel"/>
          <p:cNvSpPr/>
          <p:nvPr/>
        </p:nvSpPr>
        <p:spPr>
          <a:xfrm>
            <a:off x="6400800" y="1828800"/>
            <a:ext cx="5242255" cy="429768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/>
        </p:spPr>
      </p:sp>
      <p:sp>
        <p:nvSpPr>
          <p:cNvPr id="19" name="agenda-h"/>
          <p:cNvSpPr txBox="1"/>
          <p:nvPr/>
        </p:nvSpPr>
        <p:spPr>
          <a:xfrm>
            <a:off x="6720840" y="2057400"/>
            <a:ext cx="46021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Агуулга</a:t>
            </a:r>
            <a:endParaRPr lang="en-US" sz="1800" dirty="0"/>
          </a:p>
        </p:txBody>
      </p:sp>
      <p:sp>
        <p:nvSpPr>
          <p:cNvPr id="20" name="agenda-n-0"/>
          <p:cNvSpPr txBox="1"/>
          <p:nvPr/>
        </p:nvSpPr>
        <p:spPr>
          <a:xfrm>
            <a:off x="6720840" y="260604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800" dirty="0"/>
          </a:p>
        </p:txBody>
      </p:sp>
      <p:sp>
        <p:nvSpPr>
          <p:cNvPr id="21" name="agenda-0"/>
          <p:cNvSpPr txBox="1"/>
          <p:nvPr/>
        </p:nvSpPr>
        <p:spPr>
          <a:xfrm>
            <a:off x="7315200" y="2624328"/>
            <a:ext cx="4053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Хөрөнгө, аюул занал, эмзэг байдал, эрсдэл</a:t>
            </a:r>
            <a:endParaRPr lang="en-US" sz="1600" dirty="0"/>
          </a:p>
        </p:txBody>
      </p:sp>
      <p:sp>
        <p:nvSpPr>
          <p:cNvPr id="22" name="agenda-n-1"/>
          <p:cNvSpPr txBox="1"/>
          <p:nvPr/>
        </p:nvSpPr>
        <p:spPr>
          <a:xfrm>
            <a:off x="6720840" y="3282696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800" dirty="0"/>
          </a:p>
        </p:txBody>
      </p:sp>
      <p:sp>
        <p:nvSpPr>
          <p:cNvPr id="23" name="agenda-1"/>
          <p:cNvSpPr txBox="1"/>
          <p:nvPr/>
        </p:nvSpPr>
        <p:spPr>
          <a:xfrm>
            <a:off x="7315200" y="3300984"/>
            <a:ext cx="4053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Халдагчид ба тэдний сэдэл</a:t>
            </a:r>
            <a:endParaRPr lang="en-US" sz="1600" dirty="0"/>
          </a:p>
        </p:txBody>
      </p:sp>
      <p:sp>
        <p:nvSpPr>
          <p:cNvPr id="24" name="agenda-n-2"/>
          <p:cNvSpPr txBox="1"/>
          <p:nvPr/>
        </p:nvSpPr>
        <p:spPr>
          <a:xfrm>
            <a:off x="6720840" y="395935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800" dirty="0"/>
          </a:p>
        </p:txBody>
      </p:sp>
      <p:sp>
        <p:nvSpPr>
          <p:cNvPr id="25" name="agenda-2"/>
          <p:cNvSpPr txBox="1"/>
          <p:nvPr/>
        </p:nvSpPr>
        <p:spPr>
          <a:xfrm>
            <a:off x="7315200" y="3977640"/>
            <a:ext cx="4053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Халдлагын түгээмэл төрлүүд, түүхэн кейсүүд</a:t>
            </a:r>
            <a:endParaRPr lang="en-US" sz="1600" dirty="0"/>
          </a:p>
        </p:txBody>
      </p:sp>
      <p:sp>
        <p:nvSpPr>
          <p:cNvPr id="26" name="agenda-n-3"/>
          <p:cNvSpPr txBox="1"/>
          <p:nvPr/>
        </p:nvSpPr>
        <p:spPr>
          <a:xfrm>
            <a:off x="6720840" y="463600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800" dirty="0"/>
          </a:p>
        </p:txBody>
      </p:sp>
      <p:sp>
        <p:nvSpPr>
          <p:cNvPr id="27" name="agenda-3"/>
          <p:cNvSpPr txBox="1"/>
          <p:nvPr/>
        </p:nvSpPr>
        <p:spPr>
          <a:xfrm>
            <a:off x="7315200" y="4654296"/>
            <a:ext cx="4053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Cyber Kill Chain</a:t>
            </a:r>
            <a:endParaRPr lang="en-US" sz="1600" dirty="0"/>
          </a:p>
        </p:txBody>
      </p:sp>
      <p:sp>
        <p:nvSpPr>
          <p:cNvPr id="28" name="agenda-n-4"/>
          <p:cNvSpPr txBox="1"/>
          <p:nvPr/>
        </p:nvSpPr>
        <p:spPr>
          <a:xfrm>
            <a:off x="6720840" y="5312664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800" dirty="0"/>
          </a:p>
        </p:txBody>
      </p:sp>
      <p:sp>
        <p:nvSpPr>
          <p:cNvPr id="29" name="agenda-4"/>
          <p:cNvSpPr txBox="1"/>
          <p:nvPr/>
        </p:nvSpPr>
        <p:spPr>
          <a:xfrm>
            <a:off x="7315200" y="5330952"/>
            <a:ext cx="4053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Хамгаалалтын зарчмууд, хүний хүчин зүйл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Эрсдэлийн үндсэн ойлголтууд</a:t>
            </a:r>
            <a:endParaRPr lang="en-US" sz="2800" dirty="0"/>
          </a:p>
        </p:txBody>
      </p:sp>
      <p:sp>
        <p:nvSpPr>
          <p:cNvPr id="4" name="lead"/>
          <p:cNvSpPr txBox="1"/>
          <p:nvPr/>
        </p:nvSpPr>
        <p:spPr>
          <a:xfrm>
            <a:off x="548640" y="11430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3"/>
                </a:solidFill>
              </a:rPr>
              <a:t>Эрсдэл = Аюул занал × Эмзэг байдал × Үр дагавар</a:t>
            </a:r>
            <a:endParaRPr lang="en-US" sz="1600" dirty="0"/>
          </a:p>
        </p:txBody>
      </p:sp>
      <p:sp>
        <p:nvSpPr>
          <p:cNvPr id="5" name="card-0"/>
          <p:cNvSpPr/>
          <p:nvPr/>
        </p:nvSpPr>
        <p:spPr>
          <a:xfrm>
            <a:off x="548640" y="1828800"/>
            <a:ext cx="2567864" cy="4343400"/>
          </a:xfrm>
          <a:prstGeom prst="roundRect">
            <a:avLst>
              <a:gd name="adj" fmla="val 3561"/>
            </a:avLst>
          </a:prstGeom>
          <a:solidFill>
            <a:schemeClr val="bg2"/>
          </a:solidFill>
          <a:ln/>
        </p:spPr>
      </p:sp>
      <p:sp>
        <p:nvSpPr>
          <p:cNvPr id="6" name="card-icon-0-bg"/>
          <p:cNvSpPr/>
          <p:nvPr/>
        </p:nvSpPr>
        <p:spPr>
          <a:xfrm>
            <a:off x="822960" y="21488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card-icon-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3894" y="2309774"/>
            <a:ext cx="409651" cy="409651"/>
          </a:xfrm>
          <a:prstGeom prst="rect">
            <a:avLst/>
          </a:prstGeom>
        </p:spPr>
      </p:pic>
      <p:sp>
        <p:nvSpPr>
          <p:cNvPr id="8" name="card-h-0"/>
          <p:cNvSpPr txBox="1"/>
          <p:nvPr/>
        </p:nvSpPr>
        <p:spPr>
          <a:xfrm>
            <a:off x="822960" y="3108960"/>
            <a:ext cx="2019224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Хөрөнгө</a:t>
            </a:r>
            <a:endParaRPr lang="en-US" sz="2000" dirty="0"/>
          </a:p>
        </p:txBody>
      </p:sp>
      <p:sp>
        <p:nvSpPr>
          <p:cNvPr id="9" name="card-sub-0"/>
          <p:cNvSpPr txBox="1"/>
          <p:nvPr/>
        </p:nvSpPr>
        <p:spPr>
          <a:xfrm>
            <a:off x="822960" y="3550920"/>
            <a:ext cx="2019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3"/>
                </a:solidFill>
              </a:rPr>
              <a:t>Asset</a:t>
            </a:r>
            <a:endParaRPr lang="en-US" sz="1400" dirty="0"/>
          </a:p>
        </p:txBody>
      </p:sp>
      <p:sp>
        <p:nvSpPr>
          <p:cNvPr id="10" name="card-t-0"/>
          <p:cNvSpPr txBox="1"/>
          <p:nvPr/>
        </p:nvSpPr>
        <p:spPr>
          <a:xfrm>
            <a:off x="822960" y="3962400"/>
            <a:ext cx="2019224" cy="198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Хамгаалах ёстой зүйл: өгөгдөл, систем, хүн, нэр хүнд</a:t>
            </a:r>
            <a:endParaRPr lang="en-US" sz="1800" dirty="0"/>
          </a:p>
        </p:txBody>
      </p:sp>
      <p:sp>
        <p:nvSpPr>
          <p:cNvPr id="11" name="card-1"/>
          <p:cNvSpPr/>
          <p:nvPr/>
        </p:nvSpPr>
        <p:spPr>
          <a:xfrm>
            <a:off x="3390824" y="1828800"/>
            <a:ext cx="2567864" cy="4343400"/>
          </a:xfrm>
          <a:prstGeom prst="roundRect">
            <a:avLst>
              <a:gd name="adj" fmla="val 3561"/>
            </a:avLst>
          </a:prstGeom>
          <a:solidFill>
            <a:schemeClr val="bg2"/>
          </a:solidFill>
          <a:ln/>
        </p:spPr>
      </p:sp>
      <p:sp>
        <p:nvSpPr>
          <p:cNvPr id="12" name="card-icon-1-bg"/>
          <p:cNvSpPr/>
          <p:nvPr/>
        </p:nvSpPr>
        <p:spPr>
          <a:xfrm>
            <a:off x="3665144" y="21488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card-icon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6078" y="2309774"/>
            <a:ext cx="409651" cy="409651"/>
          </a:xfrm>
          <a:prstGeom prst="rect">
            <a:avLst/>
          </a:prstGeom>
        </p:spPr>
      </p:pic>
      <p:sp>
        <p:nvSpPr>
          <p:cNvPr id="14" name="card-h-1"/>
          <p:cNvSpPr txBox="1"/>
          <p:nvPr/>
        </p:nvSpPr>
        <p:spPr>
          <a:xfrm>
            <a:off x="3665144" y="3108960"/>
            <a:ext cx="2019224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Аюул занал</a:t>
            </a:r>
            <a:endParaRPr lang="en-US" sz="2000" dirty="0"/>
          </a:p>
        </p:txBody>
      </p:sp>
      <p:sp>
        <p:nvSpPr>
          <p:cNvPr id="15" name="card-sub-1"/>
          <p:cNvSpPr txBox="1"/>
          <p:nvPr/>
        </p:nvSpPr>
        <p:spPr>
          <a:xfrm>
            <a:off x="3665144" y="3550920"/>
            <a:ext cx="2019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3"/>
                </a:solidFill>
              </a:rPr>
              <a:t>Threat</a:t>
            </a:r>
            <a:endParaRPr lang="en-US" sz="1400" dirty="0"/>
          </a:p>
        </p:txBody>
      </p:sp>
      <p:sp>
        <p:nvSpPr>
          <p:cNvPr id="16" name="card-t-1"/>
          <p:cNvSpPr txBox="1"/>
          <p:nvPr/>
        </p:nvSpPr>
        <p:spPr>
          <a:xfrm>
            <a:off x="3665144" y="3962400"/>
            <a:ext cx="2019224" cy="198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Хөрөнгөд хохирол учруулж болох үйлдэл, үзэгдэл</a:t>
            </a:r>
            <a:endParaRPr lang="en-US" sz="1800" dirty="0"/>
          </a:p>
        </p:txBody>
      </p:sp>
      <p:sp>
        <p:nvSpPr>
          <p:cNvPr id="17" name="card-2"/>
          <p:cNvSpPr/>
          <p:nvPr/>
        </p:nvSpPr>
        <p:spPr>
          <a:xfrm>
            <a:off x="6233008" y="1828800"/>
            <a:ext cx="2567864" cy="4343400"/>
          </a:xfrm>
          <a:prstGeom prst="roundRect">
            <a:avLst>
              <a:gd name="adj" fmla="val 3561"/>
            </a:avLst>
          </a:prstGeom>
          <a:solidFill>
            <a:schemeClr val="bg2"/>
          </a:solidFill>
          <a:ln/>
        </p:spPr>
      </p:sp>
      <p:sp>
        <p:nvSpPr>
          <p:cNvPr id="18" name="card-icon-2-bg"/>
          <p:cNvSpPr/>
          <p:nvPr/>
        </p:nvSpPr>
        <p:spPr>
          <a:xfrm>
            <a:off x="6507328" y="21488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9" name="card-icon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8262" y="2309774"/>
            <a:ext cx="409651" cy="409651"/>
          </a:xfrm>
          <a:prstGeom prst="rect">
            <a:avLst/>
          </a:prstGeom>
        </p:spPr>
      </p:pic>
      <p:sp>
        <p:nvSpPr>
          <p:cNvPr id="20" name="card-h-2"/>
          <p:cNvSpPr txBox="1"/>
          <p:nvPr/>
        </p:nvSpPr>
        <p:spPr>
          <a:xfrm>
            <a:off x="6507328" y="3108960"/>
            <a:ext cx="2019224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Эмзэг байдал</a:t>
            </a:r>
            <a:endParaRPr lang="en-US" sz="2000" dirty="0"/>
          </a:p>
        </p:txBody>
      </p:sp>
      <p:sp>
        <p:nvSpPr>
          <p:cNvPr id="21" name="card-sub-2"/>
          <p:cNvSpPr txBox="1"/>
          <p:nvPr/>
        </p:nvSpPr>
        <p:spPr>
          <a:xfrm>
            <a:off x="6507328" y="3550920"/>
            <a:ext cx="2019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3"/>
                </a:solidFill>
              </a:rPr>
              <a:t>Vulnerability</a:t>
            </a:r>
            <a:endParaRPr lang="en-US" sz="1400" dirty="0"/>
          </a:p>
        </p:txBody>
      </p:sp>
      <p:sp>
        <p:nvSpPr>
          <p:cNvPr id="22" name="card-t-2"/>
          <p:cNvSpPr txBox="1"/>
          <p:nvPr/>
        </p:nvSpPr>
        <p:spPr>
          <a:xfrm>
            <a:off x="6507328" y="3962400"/>
            <a:ext cx="2019224" cy="198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Аюул занал ашиглаж болох сул тал, алдаа</a:t>
            </a:r>
            <a:endParaRPr lang="en-US" sz="1800" dirty="0"/>
          </a:p>
        </p:txBody>
      </p:sp>
      <p:sp>
        <p:nvSpPr>
          <p:cNvPr id="23" name="card-3"/>
          <p:cNvSpPr/>
          <p:nvPr/>
        </p:nvSpPr>
        <p:spPr>
          <a:xfrm>
            <a:off x="9075191" y="1828800"/>
            <a:ext cx="2567864" cy="4343400"/>
          </a:xfrm>
          <a:prstGeom prst="roundRect">
            <a:avLst>
              <a:gd name="adj" fmla="val 3561"/>
            </a:avLst>
          </a:prstGeom>
          <a:solidFill>
            <a:schemeClr val="bg2"/>
          </a:solidFill>
          <a:ln/>
        </p:spPr>
      </p:sp>
      <p:sp>
        <p:nvSpPr>
          <p:cNvPr id="24" name="card-icon-3-bg"/>
          <p:cNvSpPr/>
          <p:nvPr/>
        </p:nvSpPr>
        <p:spPr>
          <a:xfrm>
            <a:off x="9349511" y="21488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card-icon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10446" y="2309774"/>
            <a:ext cx="409651" cy="409651"/>
          </a:xfrm>
          <a:prstGeom prst="rect">
            <a:avLst/>
          </a:prstGeom>
        </p:spPr>
      </p:pic>
      <p:sp>
        <p:nvSpPr>
          <p:cNvPr id="26" name="card-h-3"/>
          <p:cNvSpPr txBox="1"/>
          <p:nvPr/>
        </p:nvSpPr>
        <p:spPr>
          <a:xfrm>
            <a:off x="9349511" y="3108960"/>
            <a:ext cx="2019224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Эрсдэл</a:t>
            </a:r>
            <a:endParaRPr lang="en-US" sz="2000" dirty="0"/>
          </a:p>
        </p:txBody>
      </p:sp>
      <p:sp>
        <p:nvSpPr>
          <p:cNvPr id="27" name="card-sub-3"/>
          <p:cNvSpPr txBox="1"/>
          <p:nvPr/>
        </p:nvSpPr>
        <p:spPr>
          <a:xfrm>
            <a:off x="9349511" y="3550920"/>
            <a:ext cx="2019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3"/>
                </a:solidFill>
              </a:rPr>
              <a:t>Risk</a:t>
            </a:r>
            <a:endParaRPr lang="en-US" sz="1400" dirty="0"/>
          </a:p>
        </p:txBody>
      </p:sp>
      <p:sp>
        <p:nvSpPr>
          <p:cNvPr id="28" name="card-t-3"/>
          <p:cNvSpPr txBox="1"/>
          <p:nvPr/>
        </p:nvSpPr>
        <p:spPr>
          <a:xfrm>
            <a:off x="9349511" y="3962400"/>
            <a:ext cx="2019224" cy="198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Хохирол учрах магадлал ба түүний үр дагавар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Хэн халддаг вэ: халдагчид ба тэдний сэдэл</a:t>
            </a:r>
            <a:endParaRPr lang="en-US" sz="2800" dirty="0"/>
          </a:p>
        </p:txBody>
      </p:sp>
      <p:sp>
        <p:nvSpPr>
          <p:cNvPr id="4" name="card-0"/>
          <p:cNvSpPr/>
          <p:nvPr/>
        </p:nvSpPr>
        <p:spPr>
          <a:xfrm>
            <a:off x="548640" y="1325880"/>
            <a:ext cx="3515258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5" name="card-icon-0-bg"/>
          <p:cNvSpPr/>
          <p:nvPr/>
        </p:nvSpPr>
        <p:spPr>
          <a:xfrm>
            <a:off x="777240" y="15544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card-icon-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675181"/>
            <a:ext cx="307238" cy="307238"/>
          </a:xfrm>
          <a:prstGeom prst="rect">
            <a:avLst/>
          </a:prstGeom>
        </p:spPr>
      </p:pic>
      <p:sp>
        <p:nvSpPr>
          <p:cNvPr id="7" name="card-h-0"/>
          <p:cNvSpPr txBox="1"/>
          <p:nvPr/>
        </p:nvSpPr>
        <p:spPr>
          <a:xfrm>
            <a:off x="1463040" y="1527048"/>
            <a:ext cx="24179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Төрийн дэмжлэгтэй бүлэг</a:t>
            </a:r>
            <a:endParaRPr lang="en-US" sz="1800" dirty="0"/>
          </a:p>
        </p:txBody>
      </p:sp>
      <p:sp>
        <p:nvSpPr>
          <p:cNvPr id="8" name="card-t-0"/>
          <p:cNvSpPr txBox="1"/>
          <p:nvPr/>
        </p:nvSpPr>
        <p:spPr>
          <a:xfrm>
            <a:off x="777240" y="228600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APT. Тагнуул, стратегийн давуу тал, урт хугацааны халдлага</a:t>
            </a:r>
            <a:endParaRPr lang="en-US" sz="1600" dirty="0"/>
          </a:p>
        </p:txBody>
      </p:sp>
      <p:sp>
        <p:nvSpPr>
          <p:cNvPr id="9" name="card-1"/>
          <p:cNvSpPr/>
          <p:nvPr/>
        </p:nvSpPr>
        <p:spPr>
          <a:xfrm>
            <a:off x="4338218" y="1325880"/>
            <a:ext cx="3515258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10" name="card-icon-1-bg"/>
          <p:cNvSpPr/>
          <p:nvPr/>
        </p:nvSpPr>
        <p:spPr>
          <a:xfrm>
            <a:off x="4566818" y="15544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card-icon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7519" y="1675181"/>
            <a:ext cx="307238" cy="307238"/>
          </a:xfrm>
          <a:prstGeom prst="rect">
            <a:avLst/>
          </a:prstGeom>
        </p:spPr>
      </p:pic>
      <p:sp>
        <p:nvSpPr>
          <p:cNvPr id="12" name="card-h-1"/>
          <p:cNvSpPr txBox="1"/>
          <p:nvPr/>
        </p:nvSpPr>
        <p:spPr>
          <a:xfrm>
            <a:off x="5252618" y="1527048"/>
            <a:ext cx="24179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Кибер гэмт бүлэг</a:t>
            </a:r>
            <a:endParaRPr lang="en-US" sz="1800" dirty="0"/>
          </a:p>
        </p:txBody>
      </p:sp>
      <p:sp>
        <p:nvSpPr>
          <p:cNvPr id="13" name="card-t-1"/>
          <p:cNvSpPr txBox="1"/>
          <p:nvPr/>
        </p:nvSpPr>
        <p:spPr>
          <a:xfrm>
            <a:off x="4566818" y="228600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Санхүүгийн ашиг: ransomware, луйвар, мэдээлэл худалдах</a:t>
            </a:r>
            <a:endParaRPr lang="en-US" sz="1600" dirty="0"/>
          </a:p>
        </p:txBody>
      </p:sp>
      <p:sp>
        <p:nvSpPr>
          <p:cNvPr id="14" name="card-2"/>
          <p:cNvSpPr/>
          <p:nvPr/>
        </p:nvSpPr>
        <p:spPr>
          <a:xfrm>
            <a:off x="8127797" y="1325880"/>
            <a:ext cx="3515258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15" name="card-icon-2-bg"/>
          <p:cNvSpPr/>
          <p:nvPr/>
        </p:nvSpPr>
        <p:spPr>
          <a:xfrm>
            <a:off x="8356397" y="15544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card-icon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098" y="1675181"/>
            <a:ext cx="307238" cy="307238"/>
          </a:xfrm>
          <a:prstGeom prst="rect">
            <a:avLst/>
          </a:prstGeom>
        </p:spPr>
      </p:pic>
      <p:sp>
        <p:nvSpPr>
          <p:cNvPr id="17" name="card-h-2"/>
          <p:cNvSpPr txBox="1"/>
          <p:nvPr/>
        </p:nvSpPr>
        <p:spPr>
          <a:xfrm>
            <a:off x="9042197" y="1527048"/>
            <a:ext cx="24179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Хактивист</a:t>
            </a:r>
            <a:endParaRPr lang="en-US" sz="1800" dirty="0"/>
          </a:p>
        </p:txBody>
      </p:sp>
      <p:sp>
        <p:nvSpPr>
          <p:cNvPr id="18" name="card-t-2"/>
          <p:cNvSpPr txBox="1"/>
          <p:nvPr/>
        </p:nvSpPr>
        <p:spPr>
          <a:xfrm>
            <a:off x="8356397" y="228600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Улс төр, үзэл суртлын зорилгоор вэб гутаах, DDoS</a:t>
            </a:r>
            <a:endParaRPr lang="en-US" sz="1600" dirty="0"/>
          </a:p>
        </p:txBody>
      </p:sp>
      <p:sp>
        <p:nvSpPr>
          <p:cNvPr id="19" name="card-3"/>
          <p:cNvSpPr/>
          <p:nvPr/>
        </p:nvSpPr>
        <p:spPr>
          <a:xfrm>
            <a:off x="548640" y="3886200"/>
            <a:ext cx="3515258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20" name="card-icon-3-bg"/>
          <p:cNvSpPr/>
          <p:nvPr/>
        </p:nvSpPr>
        <p:spPr>
          <a:xfrm>
            <a:off x="777240" y="41148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card-icon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941" y="4235501"/>
            <a:ext cx="307238" cy="307238"/>
          </a:xfrm>
          <a:prstGeom prst="rect">
            <a:avLst/>
          </a:prstGeom>
        </p:spPr>
      </p:pic>
      <p:sp>
        <p:nvSpPr>
          <p:cNvPr id="22" name="card-h-3"/>
          <p:cNvSpPr txBox="1"/>
          <p:nvPr/>
        </p:nvSpPr>
        <p:spPr>
          <a:xfrm>
            <a:off x="1463040" y="4087368"/>
            <a:ext cx="24179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Дотоод этгээд</a:t>
            </a:r>
            <a:endParaRPr lang="en-US" sz="1800" dirty="0"/>
          </a:p>
        </p:txBody>
      </p:sp>
      <p:sp>
        <p:nvSpPr>
          <p:cNvPr id="23" name="card-t-3"/>
          <p:cNvSpPr txBox="1"/>
          <p:nvPr/>
        </p:nvSpPr>
        <p:spPr>
          <a:xfrm>
            <a:off x="777240" y="48463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Эрхээ буруугаар ашиглах эсвэл болгоомжгүй алдаа гаргах</a:t>
            </a:r>
            <a:endParaRPr lang="en-US" sz="1600" dirty="0"/>
          </a:p>
        </p:txBody>
      </p:sp>
      <p:sp>
        <p:nvSpPr>
          <p:cNvPr id="24" name="card-4"/>
          <p:cNvSpPr/>
          <p:nvPr/>
        </p:nvSpPr>
        <p:spPr>
          <a:xfrm>
            <a:off x="4338218" y="3886200"/>
            <a:ext cx="3515258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25" name="card-icon-4-bg"/>
          <p:cNvSpPr/>
          <p:nvPr/>
        </p:nvSpPr>
        <p:spPr>
          <a:xfrm>
            <a:off x="4566818" y="41148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6" name="card-icon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7519" y="4235501"/>
            <a:ext cx="307238" cy="307238"/>
          </a:xfrm>
          <a:prstGeom prst="rect">
            <a:avLst/>
          </a:prstGeom>
        </p:spPr>
      </p:pic>
      <p:sp>
        <p:nvSpPr>
          <p:cNvPr id="27" name="card-h-4"/>
          <p:cNvSpPr txBox="1"/>
          <p:nvPr/>
        </p:nvSpPr>
        <p:spPr>
          <a:xfrm>
            <a:off x="5252618" y="4087368"/>
            <a:ext cx="24179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Туршлагагүй халдагч</a:t>
            </a:r>
            <a:endParaRPr lang="en-US" sz="1800" dirty="0"/>
          </a:p>
        </p:txBody>
      </p:sp>
      <p:sp>
        <p:nvSpPr>
          <p:cNvPr id="28" name="card-t-4"/>
          <p:cNvSpPr txBox="1"/>
          <p:nvPr/>
        </p:nvSpPr>
        <p:spPr>
          <a:xfrm>
            <a:off x="4566818" y="48463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Бэлэн хэрэгсэл ашиглан сонирхлоор, хохирлыг үл ойлгон халдах</a:t>
            </a:r>
            <a:endParaRPr lang="en-US" sz="1600" dirty="0"/>
          </a:p>
        </p:txBody>
      </p:sp>
      <p:sp>
        <p:nvSpPr>
          <p:cNvPr id="29" name="card-5"/>
          <p:cNvSpPr/>
          <p:nvPr/>
        </p:nvSpPr>
        <p:spPr>
          <a:xfrm>
            <a:off x="8127797" y="3886200"/>
            <a:ext cx="3515258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30" name="card-icon-5-bg"/>
          <p:cNvSpPr/>
          <p:nvPr/>
        </p:nvSpPr>
        <p:spPr>
          <a:xfrm>
            <a:off x="8356397" y="41148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1" name="card-icon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098" y="4235501"/>
            <a:ext cx="307238" cy="307238"/>
          </a:xfrm>
          <a:prstGeom prst="rect">
            <a:avLst/>
          </a:prstGeom>
        </p:spPr>
      </p:pic>
      <p:sp>
        <p:nvSpPr>
          <p:cNvPr id="32" name="card-h-5"/>
          <p:cNvSpPr txBox="1"/>
          <p:nvPr/>
        </p:nvSpPr>
        <p:spPr>
          <a:xfrm>
            <a:off x="9042197" y="4087368"/>
            <a:ext cx="24179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Террорист бүлэг</a:t>
            </a:r>
            <a:endParaRPr lang="en-US" sz="1800" dirty="0"/>
          </a:p>
        </p:txBody>
      </p:sp>
      <p:sp>
        <p:nvSpPr>
          <p:cNvPr id="33" name="card-t-5"/>
          <p:cNvSpPr txBox="1"/>
          <p:nvPr/>
        </p:nvSpPr>
        <p:spPr>
          <a:xfrm>
            <a:off x="8356397" y="48463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Айдас түгээх, чухал дэд бүтцэд хохирол учруулах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Халдлагын түгээмэл төрлүүд</a:t>
            </a:r>
            <a:endParaRPr lang="en-US" sz="2800" dirty="0"/>
          </a:p>
        </p:txBody>
      </p:sp>
      <p:graphicFrame>
        <p:nvGraphicFramePr>
          <p:cNvPr id="6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120640"/>
                <a:gridCol w="35661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Төрөл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Товч тайлбар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Хамгаалалт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Фишинг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Хуурамч и-мэйл, мессежээр нууц үг, мэдээлэл авах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Сэжигтэй холбоос шалгах, MFA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Хортой код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Вирус, өт, троян, тагнуулын программ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Антивирус, шинэчлэлт, EDR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Ransomware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Өгөгдлийг шифрлэж, золиос нэхэх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Нөөцлөлт, сегментчлэл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DoS / DDoS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Үйлчилгээг ачаалж, хүртээмжгүй болгох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Урсгал шүүх, CDN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Нууц үг таах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Brute force, нууц үг дахин ашиглалт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Урт нууц үг, MFA, түгжих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Вэб халдлага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SQL injection, XSS гэх мэт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Аюулгүй код, WAF, OWASP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Нийлүүлэлтийн сүлжээ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Итгэмжлэгдсэн нийлүүлэгчээр дамжин халдах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Нийлүүлэгчийн үнэлгээ, хяналт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Түүхэн томоохон кибер халдлагууд</a:t>
            </a:r>
            <a:endParaRPr lang="en-US" sz="2800" dirty="0"/>
          </a:p>
        </p:txBody>
      </p:sp>
      <p:sp>
        <p:nvSpPr>
          <p:cNvPr id="4" name="timeline-axis"/>
          <p:cNvSpPr/>
          <p:nvPr/>
        </p:nvSpPr>
        <p:spPr>
          <a:xfrm>
            <a:off x="1658082" y="2560320"/>
            <a:ext cx="8875532" cy="0"/>
          </a:xfrm>
          <a:prstGeom prst="line">
            <a:avLst/>
          </a:prstGeom>
          <a:noFill/>
          <a:ln w="38100">
            <a:solidFill>
              <a:srgbClr val="8FD3C1"/>
            </a:solidFill>
            <a:prstDash val="solid"/>
          </a:ln>
        </p:spPr>
      </p:sp>
      <p:sp>
        <p:nvSpPr>
          <p:cNvPr id="5" name="tl-year-0"/>
          <p:cNvSpPr txBox="1"/>
          <p:nvPr/>
        </p:nvSpPr>
        <p:spPr>
          <a:xfrm>
            <a:off x="640080" y="1417320"/>
            <a:ext cx="203600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1988</a:t>
            </a:r>
            <a:endParaRPr lang="en-US" sz="2800" dirty="0"/>
          </a:p>
        </p:txBody>
      </p:sp>
      <p:sp>
        <p:nvSpPr>
          <p:cNvPr id="6" name="tl-dot-0"/>
          <p:cNvSpPr/>
          <p:nvPr/>
        </p:nvSpPr>
        <p:spPr>
          <a:xfrm>
            <a:off x="1475202" y="2377440"/>
            <a:ext cx="365760" cy="365760"/>
          </a:xfrm>
          <a:prstGeom prst="ellipse">
            <a:avLst/>
          </a:prstGeom>
          <a:solidFill>
            <a:schemeClr val="tx2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7" name="tl-card-0"/>
          <p:cNvSpPr/>
          <p:nvPr/>
        </p:nvSpPr>
        <p:spPr>
          <a:xfrm>
            <a:off x="658368" y="2971800"/>
            <a:ext cx="1999427" cy="3200400"/>
          </a:xfrm>
          <a:prstGeom prst="roundRect">
            <a:avLst>
              <a:gd name="adj" fmla="val 4573"/>
            </a:avLst>
          </a:prstGeom>
          <a:solidFill>
            <a:schemeClr val="bg2"/>
          </a:solidFill>
          <a:ln/>
        </p:spPr>
      </p:sp>
      <p:sp>
        <p:nvSpPr>
          <p:cNvPr id="8" name="tl-text-0"/>
          <p:cNvSpPr txBox="1"/>
          <p:nvPr/>
        </p:nvSpPr>
        <p:spPr>
          <a:xfrm>
            <a:off x="841248" y="3200400"/>
            <a:ext cx="1633667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Morris worm: интернетийн анхны өргөн тархсан өт, мянга мянган компьютерийг саатуулсан</a:t>
            </a:r>
            <a:endParaRPr lang="en-US" sz="1500" dirty="0"/>
          </a:p>
        </p:txBody>
      </p:sp>
      <p:sp>
        <p:nvSpPr>
          <p:cNvPr id="9" name="tl-year-1"/>
          <p:cNvSpPr txBox="1"/>
          <p:nvPr/>
        </p:nvSpPr>
        <p:spPr>
          <a:xfrm>
            <a:off x="2858963" y="1417320"/>
            <a:ext cx="203600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2010</a:t>
            </a:r>
            <a:endParaRPr lang="en-US" sz="2800" dirty="0"/>
          </a:p>
        </p:txBody>
      </p:sp>
      <p:sp>
        <p:nvSpPr>
          <p:cNvPr id="10" name="tl-dot-1"/>
          <p:cNvSpPr/>
          <p:nvPr/>
        </p:nvSpPr>
        <p:spPr>
          <a:xfrm>
            <a:off x="3694085" y="2377440"/>
            <a:ext cx="365760" cy="365760"/>
          </a:xfrm>
          <a:prstGeom prst="ellipse">
            <a:avLst/>
          </a:prstGeom>
          <a:solidFill>
            <a:schemeClr val="tx2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1" name="tl-card-1"/>
          <p:cNvSpPr/>
          <p:nvPr/>
        </p:nvSpPr>
        <p:spPr>
          <a:xfrm>
            <a:off x="2877251" y="2971800"/>
            <a:ext cx="1999427" cy="3200400"/>
          </a:xfrm>
          <a:prstGeom prst="roundRect">
            <a:avLst>
              <a:gd name="adj" fmla="val 4573"/>
            </a:avLst>
          </a:prstGeom>
          <a:solidFill>
            <a:schemeClr val="bg2"/>
          </a:solidFill>
          <a:ln/>
        </p:spPr>
      </p:sp>
      <p:sp>
        <p:nvSpPr>
          <p:cNvPr id="12" name="tl-text-1"/>
          <p:cNvSpPr txBox="1"/>
          <p:nvPr/>
        </p:nvSpPr>
        <p:spPr>
          <a:xfrm>
            <a:off x="3060131" y="3200400"/>
            <a:ext cx="1633667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Stuxnet: үйлдвэрийн хяналтын системд физик гэмтэл учруулсан кибер зэвсэг</a:t>
            </a:r>
            <a:endParaRPr lang="en-US" sz="1500" dirty="0"/>
          </a:p>
        </p:txBody>
      </p:sp>
      <p:sp>
        <p:nvSpPr>
          <p:cNvPr id="13" name="tl-year-2"/>
          <p:cNvSpPr txBox="1"/>
          <p:nvPr/>
        </p:nvSpPr>
        <p:spPr>
          <a:xfrm>
            <a:off x="5077846" y="1417320"/>
            <a:ext cx="203600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2017</a:t>
            </a:r>
            <a:endParaRPr lang="en-US" sz="2800" dirty="0"/>
          </a:p>
        </p:txBody>
      </p:sp>
      <p:sp>
        <p:nvSpPr>
          <p:cNvPr id="14" name="tl-dot-2"/>
          <p:cNvSpPr/>
          <p:nvPr/>
        </p:nvSpPr>
        <p:spPr>
          <a:xfrm>
            <a:off x="5912968" y="2377440"/>
            <a:ext cx="365760" cy="365760"/>
          </a:xfrm>
          <a:prstGeom prst="ellipse">
            <a:avLst/>
          </a:prstGeom>
          <a:solidFill>
            <a:schemeClr val="tx2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5" name="tl-card-2"/>
          <p:cNvSpPr/>
          <p:nvPr/>
        </p:nvSpPr>
        <p:spPr>
          <a:xfrm>
            <a:off x="5096134" y="2971800"/>
            <a:ext cx="1999427" cy="3200400"/>
          </a:xfrm>
          <a:prstGeom prst="roundRect">
            <a:avLst>
              <a:gd name="adj" fmla="val 4573"/>
            </a:avLst>
          </a:prstGeom>
          <a:solidFill>
            <a:schemeClr val="bg2"/>
          </a:solidFill>
          <a:ln/>
        </p:spPr>
      </p:sp>
      <p:sp>
        <p:nvSpPr>
          <p:cNvPr id="16" name="tl-text-2"/>
          <p:cNvSpPr txBox="1"/>
          <p:nvPr/>
        </p:nvSpPr>
        <p:spPr>
          <a:xfrm>
            <a:off x="5279014" y="3200400"/>
            <a:ext cx="1633667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WannaCry, NotPetya: 150 гаруй оронд тархсан ransomware, тэрбумаар хэмжигдэх хохирол</a:t>
            </a:r>
            <a:endParaRPr lang="en-US" sz="1500" dirty="0"/>
          </a:p>
        </p:txBody>
      </p:sp>
      <p:sp>
        <p:nvSpPr>
          <p:cNvPr id="17" name="tl-year-3"/>
          <p:cNvSpPr txBox="1"/>
          <p:nvPr/>
        </p:nvSpPr>
        <p:spPr>
          <a:xfrm>
            <a:off x="7296729" y="1417320"/>
            <a:ext cx="203600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2020</a:t>
            </a:r>
            <a:endParaRPr lang="en-US" sz="2800" dirty="0"/>
          </a:p>
        </p:txBody>
      </p:sp>
      <p:sp>
        <p:nvSpPr>
          <p:cNvPr id="18" name="tl-dot-3"/>
          <p:cNvSpPr/>
          <p:nvPr/>
        </p:nvSpPr>
        <p:spPr>
          <a:xfrm>
            <a:off x="8131851" y="2377440"/>
            <a:ext cx="365760" cy="365760"/>
          </a:xfrm>
          <a:prstGeom prst="ellipse">
            <a:avLst/>
          </a:prstGeom>
          <a:solidFill>
            <a:schemeClr val="tx2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9" name="tl-card-3"/>
          <p:cNvSpPr/>
          <p:nvPr/>
        </p:nvSpPr>
        <p:spPr>
          <a:xfrm>
            <a:off x="7315017" y="2971800"/>
            <a:ext cx="1999427" cy="3200400"/>
          </a:xfrm>
          <a:prstGeom prst="roundRect">
            <a:avLst>
              <a:gd name="adj" fmla="val 4573"/>
            </a:avLst>
          </a:prstGeom>
          <a:solidFill>
            <a:schemeClr val="bg2"/>
          </a:solidFill>
          <a:ln/>
        </p:spPr>
      </p:sp>
      <p:sp>
        <p:nvSpPr>
          <p:cNvPr id="20" name="tl-text-3"/>
          <p:cNvSpPr txBox="1"/>
          <p:nvPr/>
        </p:nvSpPr>
        <p:spPr>
          <a:xfrm>
            <a:off x="7497897" y="3200400"/>
            <a:ext cx="1633667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SolarWinds: программын шинэчлэлээр дамжсан нийлүүлэлтийн сүлжээний халдлага</a:t>
            </a:r>
            <a:endParaRPr lang="en-US" sz="1500" dirty="0"/>
          </a:p>
        </p:txBody>
      </p:sp>
      <p:sp>
        <p:nvSpPr>
          <p:cNvPr id="21" name="tl-year-4"/>
          <p:cNvSpPr txBox="1"/>
          <p:nvPr/>
        </p:nvSpPr>
        <p:spPr>
          <a:xfrm>
            <a:off x="9515612" y="1417320"/>
            <a:ext cx="203600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2021</a:t>
            </a:r>
            <a:endParaRPr lang="en-US" sz="2800" dirty="0"/>
          </a:p>
        </p:txBody>
      </p:sp>
      <p:sp>
        <p:nvSpPr>
          <p:cNvPr id="22" name="tl-dot-4"/>
          <p:cNvSpPr/>
          <p:nvPr/>
        </p:nvSpPr>
        <p:spPr>
          <a:xfrm>
            <a:off x="10350734" y="2377440"/>
            <a:ext cx="365760" cy="365760"/>
          </a:xfrm>
          <a:prstGeom prst="ellipse">
            <a:avLst/>
          </a:prstGeom>
          <a:solidFill>
            <a:schemeClr val="tx2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3" name="tl-card-4"/>
          <p:cNvSpPr/>
          <p:nvPr/>
        </p:nvSpPr>
        <p:spPr>
          <a:xfrm>
            <a:off x="9533900" y="2971800"/>
            <a:ext cx="1999427" cy="3200400"/>
          </a:xfrm>
          <a:prstGeom prst="roundRect">
            <a:avLst>
              <a:gd name="adj" fmla="val 4573"/>
            </a:avLst>
          </a:prstGeom>
          <a:solidFill>
            <a:schemeClr val="bg2"/>
          </a:solidFill>
          <a:ln/>
        </p:spPr>
      </p:sp>
      <p:sp>
        <p:nvSpPr>
          <p:cNvPr id="24" name="tl-text-4"/>
          <p:cNvSpPr txBox="1"/>
          <p:nvPr/>
        </p:nvSpPr>
        <p:spPr>
          <a:xfrm>
            <a:off x="9716780" y="3200400"/>
            <a:ext cx="1633667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Colonial Pipeline: ransomware-ийн улмаас АНУ-ын түлшний хоолой зогссон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Cyber Kill Chain: халдлагын үе шатууд</a:t>
            </a:r>
            <a:endParaRPr lang="en-US" sz="2800" dirty="0"/>
          </a:p>
        </p:txBody>
      </p:sp>
      <p:sp>
        <p:nvSpPr>
          <p:cNvPr id="4" name="lead"/>
          <p:cNvSpPr txBox="1"/>
          <p:nvPr/>
        </p:nvSpPr>
        <p:spPr>
          <a:xfrm>
            <a:off x="548640" y="11430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3"/>
                </a:solidFill>
              </a:rPr>
              <a:t>Халдлагыг аль ч үе шатанд нь тасалж чадвал хамгаалагч ялна (Lockheed Martin загвар)</a:t>
            </a:r>
            <a:endParaRPr lang="en-US" sz="1600" dirty="0"/>
          </a:p>
        </p:txBody>
      </p:sp>
      <p:sp>
        <p:nvSpPr>
          <p:cNvPr id="5" name="step-0"/>
          <p:cNvSpPr/>
          <p:nvPr/>
        </p:nvSpPr>
        <p:spPr>
          <a:xfrm>
            <a:off x="548640" y="1965960"/>
            <a:ext cx="1349785" cy="4023360"/>
          </a:xfrm>
          <a:prstGeom prst="roundRect">
            <a:avLst>
              <a:gd name="adj" fmla="val 6774"/>
            </a:avLst>
          </a:prstGeom>
          <a:solidFill>
            <a:schemeClr val="bg2"/>
          </a:solidFill>
          <a:ln/>
        </p:spPr>
      </p:sp>
      <p:sp>
        <p:nvSpPr>
          <p:cNvPr id="6" name="step-dot-0"/>
          <p:cNvSpPr/>
          <p:nvPr/>
        </p:nvSpPr>
        <p:spPr>
          <a:xfrm>
            <a:off x="731520" y="21945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step-num-0"/>
          <p:cNvSpPr txBox="1"/>
          <p:nvPr/>
        </p:nvSpPr>
        <p:spPr>
          <a:xfrm>
            <a:off x="73152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step-h-0"/>
          <p:cNvSpPr txBox="1"/>
          <p:nvPr/>
        </p:nvSpPr>
        <p:spPr>
          <a:xfrm>
            <a:off x="731520" y="2880360"/>
            <a:ext cx="102974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Тагнах</a:t>
            </a:r>
            <a:endParaRPr lang="en-US" sz="1400" dirty="0"/>
          </a:p>
        </p:txBody>
      </p:sp>
      <p:sp>
        <p:nvSpPr>
          <p:cNvPr id="9" name="step-sub-0"/>
          <p:cNvSpPr txBox="1"/>
          <p:nvPr/>
        </p:nvSpPr>
        <p:spPr>
          <a:xfrm>
            <a:off x="731520" y="3337560"/>
            <a:ext cx="107546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3"/>
                </a:solidFill>
              </a:rPr>
              <a:t>Recon</a:t>
            </a:r>
            <a:endParaRPr lang="en-US" sz="1100" dirty="0"/>
          </a:p>
        </p:txBody>
      </p:sp>
      <p:sp>
        <p:nvSpPr>
          <p:cNvPr id="10" name="step-t-0"/>
          <p:cNvSpPr txBox="1"/>
          <p:nvPr/>
        </p:nvSpPr>
        <p:spPr>
          <a:xfrm>
            <a:off x="731520" y="3749040"/>
            <a:ext cx="1029745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Бай сонгох, мэдээлэл цуглуулах</a:t>
            </a:r>
            <a:endParaRPr lang="en-US" sz="1400" dirty="0"/>
          </a:p>
        </p:txBody>
      </p:sp>
      <p:sp>
        <p:nvSpPr>
          <p:cNvPr id="11" name="step-arrow-0"/>
          <p:cNvSpPr/>
          <p:nvPr/>
        </p:nvSpPr>
        <p:spPr>
          <a:xfrm>
            <a:off x="1944145" y="3749040"/>
            <a:ext cx="182880" cy="457200"/>
          </a:xfrm>
          <a:prstGeom prst="chevron">
            <a:avLst/>
          </a:prstGeom>
          <a:solidFill>
            <a:schemeClr val="accent2"/>
          </a:solidFill>
          <a:ln/>
        </p:spPr>
      </p:sp>
      <p:sp>
        <p:nvSpPr>
          <p:cNvPr id="12" name="step-1"/>
          <p:cNvSpPr/>
          <p:nvPr/>
        </p:nvSpPr>
        <p:spPr>
          <a:xfrm>
            <a:off x="2172745" y="1965960"/>
            <a:ext cx="1349785" cy="4023360"/>
          </a:xfrm>
          <a:prstGeom prst="roundRect">
            <a:avLst>
              <a:gd name="adj" fmla="val 6774"/>
            </a:avLst>
          </a:prstGeom>
          <a:solidFill>
            <a:schemeClr val="bg2"/>
          </a:solidFill>
          <a:ln/>
        </p:spPr>
      </p:sp>
      <p:sp>
        <p:nvSpPr>
          <p:cNvPr id="13" name="step-dot-1"/>
          <p:cNvSpPr/>
          <p:nvPr/>
        </p:nvSpPr>
        <p:spPr>
          <a:xfrm>
            <a:off x="2355625" y="21945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step-num-1"/>
          <p:cNvSpPr txBox="1"/>
          <p:nvPr/>
        </p:nvSpPr>
        <p:spPr>
          <a:xfrm>
            <a:off x="2355625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5" name="step-h-1"/>
          <p:cNvSpPr txBox="1"/>
          <p:nvPr/>
        </p:nvSpPr>
        <p:spPr>
          <a:xfrm>
            <a:off x="2355625" y="2880360"/>
            <a:ext cx="102974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Зэвсэглэх</a:t>
            </a:r>
            <a:endParaRPr lang="en-US" sz="1400" dirty="0"/>
          </a:p>
        </p:txBody>
      </p:sp>
      <p:sp>
        <p:nvSpPr>
          <p:cNvPr id="16" name="step-sub-1"/>
          <p:cNvSpPr txBox="1"/>
          <p:nvPr/>
        </p:nvSpPr>
        <p:spPr>
          <a:xfrm>
            <a:off x="2355625" y="3337560"/>
            <a:ext cx="107546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3"/>
                </a:solidFill>
              </a:rPr>
              <a:t>Weaponize</a:t>
            </a:r>
            <a:endParaRPr lang="en-US" sz="1100" dirty="0"/>
          </a:p>
        </p:txBody>
      </p:sp>
      <p:sp>
        <p:nvSpPr>
          <p:cNvPr id="17" name="step-t-1"/>
          <p:cNvSpPr txBox="1"/>
          <p:nvPr/>
        </p:nvSpPr>
        <p:spPr>
          <a:xfrm>
            <a:off x="2355625" y="3749040"/>
            <a:ext cx="1029745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Хортой код, exploit бэлтгэх</a:t>
            </a:r>
            <a:endParaRPr lang="en-US" sz="1400" dirty="0"/>
          </a:p>
        </p:txBody>
      </p:sp>
      <p:sp>
        <p:nvSpPr>
          <p:cNvPr id="18" name="step-arrow-1"/>
          <p:cNvSpPr/>
          <p:nvPr/>
        </p:nvSpPr>
        <p:spPr>
          <a:xfrm>
            <a:off x="3568250" y="3749040"/>
            <a:ext cx="182880" cy="457200"/>
          </a:xfrm>
          <a:prstGeom prst="chevron">
            <a:avLst/>
          </a:prstGeom>
          <a:solidFill>
            <a:schemeClr val="accent2"/>
          </a:solidFill>
          <a:ln/>
        </p:spPr>
      </p:sp>
      <p:sp>
        <p:nvSpPr>
          <p:cNvPr id="19" name="step-2"/>
          <p:cNvSpPr/>
          <p:nvPr/>
        </p:nvSpPr>
        <p:spPr>
          <a:xfrm>
            <a:off x="3796850" y="1965960"/>
            <a:ext cx="1349785" cy="4023360"/>
          </a:xfrm>
          <a:prstGeom prst="roundRect">
            <a:avLst>
              <a:gd name="adj" fmla="val 6774"/>
            </a:avLst>
          </a:prstGeom>
          <a:solidFill>
            <a:schemeClr val="bg2"/>
          </a:solidFill>
          <a:ln/>
        </p:spPr>
      </p:sp>
      <p:sp>
        <p:nvSpPr>
          <p:cNvPr id="20" name="step-dot-2"/>
          <p:cNvSpPr/>
          <p:nvPr/>
        </p:nvSpPr>
        <p:spPr>
          <a:xfrm>
            <a:off x="3979730" y="21945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step-num-2"/>
          <p:cNvSpPr txBox="1"/>
          <p:nvPr/>
        </p:nvSpPr>
        <p:spPr>
          <a:xfrm>
            <a:off x="397973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22" name="step-h-2"/>
          <p:cNvSpPr txBox="1"/>
          <p:nvPr/>
        </p:nvSpPr>
        <p:spPr>
          <a:xfrm>
            <a:off x="3979730" y="2880360"/>
            <a:ext cx="102974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Хүргэх</a:t>
            </a:r>
            <a:endParaRPr lang="en-US" sz="1400" dirty="0"/>
          </a:p>
        </p:txBody>
      </p:sp>
      <p:sp>
        <p:nvSpPr>
          <p:cNvPr id="23" name="step-sub-2"/>
          <p:cNvSpPr txBox="1"/>
          <p:nvPr/>
        </p:nvSpPr>
        <p:spPr>
          <a:xfrm>
            <a:off x="3979730" y="3337560"/>
            <a:ext cx="107546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3"/>
                </a:solidFill>
              </a:rPr>
              <a:t>Delivery</a:t>
            </a:r>
            <a:endParaRPr lang="en-US" sz="1100" dirty="0"/>
          </a:p>
        </p:txBody>
      </p:sp>
      <p:sp>
        <p:nvSpPr>
          <p:cNvPr id="24" name="step-t-2"/>
          <p:cNvSpPr txBox="1"/>
          <p:nvPr/>
        </p:nvSpPr>
        <p:spPr>
          <a:xfrm>
            <a:off x="3979730" y="3749040"/>
            <a:ext cx="1029745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И-мэйл, USB, вэбээр хүргэх</a:t>
            </a:r>
            <a:endParaRPr lang="en-US" sz="1400" dirty="0"/>
          </a:p>
        </p:txBody>
      </p:sp>
      <p:sp>
        <p:nvSpPr>
          <p:cNvPr id="25" name="step-arrow-2"/>
          <p:cNvSpPr/>
          <p:nvPr/>
        </p:nvSpPr>
        <p:spPr>
          <a:xfrm>
            <a:off x="5192355" y="3749040"/>
            <a:ext cx="182880" cy="457200"/>
          </a:xfrm>
          <a:prstGeom prst="chevron">
            <a:avLst/>
          </a:prstGeom>
          <a:solidFill>
            <a:schemeClr val="accent2"/>
          </a:solidFill>
          <a:ln/>
        </p:spPr>
      </p:sp>
      <p:sp>
        <p:nvSpPr>
          <p:cNvPr id="26" name="step-3"/>
          <p:cNvSpPr/>
          <p:nvPr/>
        </p:nvSpPr>
        <p:spPr>
          <a:xfrm>
            <a:off x="5420955" y="1965960"/>
            <a:ext cx="1349785" cy="4023360"/>
          </a:xfrm>
          <a:prstGeom prst="roundRect">
            <a:avLst>
              <a:gd name="adj" fmla="val 6774"/>
            </a:avLst>
          </a:prstGeom>
          <a:solidFill>
            <a:schemeClr val="bg2"/>
          </a:solidFill>
          <a:ln/>
        </p:spPr>
      </p:sp>
      <p:sp>
        <p:nvSpPr>
          <p:cNvPr id="27" name="step-dot-3"/>
          <p:cNvSpPr/>
          <p:nvPr/>
        </p:nvSpPr>
        <p:spPr>
          <a:xfrm>
            <a:off x="5603835" y="21945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8" name="step-num-3"/>
          <p:cNvSpPr txBox="1"/>
          <p:nvPr/>
        </p:nvSpPr>
        <p:spPr>
          <a:xfrm>
            <a:off x="5603835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9" name="step-h-3"/>
          <p:cNvSpPr txBox="1"/>
          <p:nvPr/>
        </p:nvSpPr>
        <p:spPr>
          <a:xfrm>
            <a:off x="5603835" y="2880360"/>
            <a:ext cx="102974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Ашиглах</a:t>
            </a:r>
            <a:endParaRPr lang="en-US" sz="1400" dirty="0"/>
          </a:p>
        </p:txBody>
      </p:sp>
      <p:sp>
        <p:nvSpPr>
          <p:cNvPr id="30" name="step-sub-3"/>
          <p:cNvSpPr txBox="1"/>
          <p:nvPr/>
        </p:nvSpPr>
        <p:spPr>
          <a:xfrm>
            <a:off x="5603835" y="3337560"/>
            <a:ext cx="107546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3"/>
                </a:solidFill>
              </a:rPr>
              <a:t>Exploit</a:t>
            </a:r>
            <a:endParaRPr lang="en-US" sz="1100" dirty="0"/>
          </a:p>
        </p:txBody>
      </p:sp>
      <p:sp>
        <p:nvSpPr>
          <p:cNvPr id="31" name="step-t-3"/>
          <p:cNvSpPr txBox="1"/>
          <p:nvPr/>
        </p:nvSpPr>
        <p:spPr>
          <a:xfrm>
            <a:off x="5603835" y="3749040"/>
            <a:ext cx="1029745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Эмзэг байдлыг ашиглах</a:t>
            </a:r>
            <a:endParaRPr lang="en-US" sz="1400" dirty="0"/>
          </a:p>
        </p:txBody>
      </p:sp>
      <p:sp>
        <p:nvSpPr>
          <p:cNvPr id="32" name="step-arrow-3"/>
          <p:cNvSpPr/>
          <p:nvPr/>
        </p:nvSpPr>
        <p:spPr>
          <a:xfrm>
            <a:off x="6816460" y="3749040"/>
            <a:ext cx="182880" cy="457200"/>
          </a:xfrm>
          <a:prstGeom prst="chevron">
            <a:avLst/>
          </a:prstGeom>
          <a:solidFill>
            <a:schemeClr val="accent2"/>
          </a:solidFill>
          <a:ln/>
        </p:spPr>
      </p:sp>
      <p:sp>
        <p:nvSpPr>
          <p:cNvPr id="33" name="step-4"/>
          <p:cNvSpPr/>
          <p:nvPr/>
        </p:nvSpPr>
        <p:spPr>
          <a:xfrm>
            <a:off x="7045060" y="1965960"/>
            <a:ext cx="1349785" cy="4023360"/>
          </a:xfrm>
          <a:prstGeom prst="roundRect">
            <a:avLst>
              <a:gd name="adj" fmla="val 6774"/>
            </a:avLst>
          </a:prstGeom>
          <a:solidFill>
            <a:schemeClr val="bg2"/>
          </a:solidFill>
          <a:ln/>
        </p:spPr>
      </p:sp>
      <p:sp>
        <p:nvSpPr>
          <p:cNvPr id="34" name="step-dot-4"/>
          <p:cNvSpPr/>
          <p:nvPr/>
        </p:nvSpPr>
        <p:spPr>
          <a:xfrm>
            <a:off x="7227940" y="21945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5" name="step-num-4"/>
          <p:cNvSpPr txBox="1"/>
          <p:nvPr/>
        </p:nvSpPr>
        <p:spPr>
          <a:xfrm>
            <a:off x="722794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36" name="step-h-4"/>
          <p:cNvSpPr txBox="1"/>
          <p:nvPr/>
        </p:nvSpPr>
        <p:spPr>
          <a:xfrm>
            <a:off x="7227940" y="2880360"/>
            <a:ext cx="102974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Суулгах</a:t>
            </a:r>
            <a:endParaRPr lang="en-US" sz="1400" dirty="0"/>
          </a:p>
        </p:txBody>
      </p:sp>
      <p:sp>
        <p:nvSpPr>
          <p:cNvPr id="37" name="step-sub-4"/>
          <p:cNvSpPr txBox="1"/>
          <p:nvPr/>
        </p:nvSpPr>
        <p:spPr>
          <a:xfrm>
            <a:off x="7227940" y="3337560"/>
            <a:ext cx="107546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3"/>
                </a:solidFill>
              </a:rPr>
              <a:t>Install</a:t>
            </a:r>
            <a:endParaRPr lang="en-US" sz="1100" dirty="0"/>
          </a:p>
        </p:txBody>
      </p:sp>
      <p:sp>
        <p:nvSpPr>
          <p:cNvPr id="38" name="step-t-4"/>
          <p:cNvSpPr txBox="1"/>
          <p:nvPr/>
        </p:nvSpPr>
        <p:spPr>
          <a:xfrm>
            <a:off x="7227940" y="3749040"/>
            <a:ext cx="1029745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Байнгын хандалт тогтоох</a:t>
            </a:r>
            <a:endParaRPr lang="en-US" sz="1400" dirty="0"/>
          </a:p>
        </p:txBody>
      </p:sp>
      <p:sp>
        <p:nvSpPr>
          <p:cNvPr id="39" name="step-arrow-4"/>
          <p:cNvSpPr/>
          <p:nvPr/>
        </p:nvSpPr>
        <p:spPr>
          <a:xfrm>
            <a:off x="8440565" y="3749040"/>
            <a:ext cx="182880" cy="457200"/>
          </a:xfrm>
          <a:prstGeom prst="chevron">
            <a:avLst/>
          </a:prstGeom>
          <a:solidFill>
            <a:schemeClr val="accent2"/>
          </a:solidFill>
          <a:ln/>
        </p:spPr>
      </p:sp>
      <p:sp>
        <p:nvSpPr>
          <p:cNvPr id="40" name="step-5"/>
          <p:cNvSpPr/>
          <p:nvPr/>
        </p:nvSpPr>
        <p:spPr>
          <a:xfrm>
            <a:off x="8669165" y="1965960"/>
            <a:ext cx="1349785" cy="4023360"/>
          </a:xfrm>
          <a:prstGeom prst="roundRect">
            <a:avLst>
              <a:gd name="adj" fmla="val 6774"/>
            </a:avLst>
          </a:prstGeom>
          <a:solidFill>
            <a:schemeClr val="bg2"/>
          </a:solidFill>
          <a:ln/>
        </p:spPr>
      </p:sp>
      <p:sp>
        <p:nvSpPr>
          <p:cNvPr id="41" name="step-dot-5"/>
          <p:cNvSpPr/>
          <p:nvPr/>
        </p:nvSpPr>
        <p:spPr>
          <a:xfrm>
            <a:off x="8852045" y="21945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2" name="step-num-5"/>
          <p:cNvSpPr txBox="1"/>
          <p:nvPr/>
        </p:nvSpPr>
        <p:spPr>
          <a:xfrm>
            <a:off x="8852045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6</a:t>
            </a:r>
            <a:endParaRPr lang="en-US" sz="1800" dirty="0"/>
          </a:p>
        </p:txBody>
      </p:sp>
      <p:sp>
        <p:nvSpPr>
          <p:cNvPr id="43" name="step-h-5"/>
          <p:cNvSpPr txBox="1"/>
          <p:nvPr/>
        </p:nvSpPr>
        <p:spPr>
          <a:xfrm>
            <a:off x="8852045" y="2880360"/>
            <a:ext cx="102974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Удирдах</a:t>
            </a:r>
            <a:endParaRPr lang="en-US" sz="1400" dirty="0"/>
          </a:p>
        </p:txBody>
      </p:sp>
      <p:sp>
        <p:nvSpPr>
          <p:cNvPr id="44" name="step-sub-5"/>
          <p:cNvSpPr txBox="1"/>
          <p:nvPr/>
        </p:nvSpPr>
        <p:spPr>
          <a:xfrm>
            <a:off x="8852045" y="3337560"/>
            <a:ext cx="107546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3"/>
                </a:solidFill>
              </a:rPr>
              <a:t>C2</a:t>
            </a:r>
            <a:endParaRPr lang="en-US" sz="1100" dirty="0"/>
          </a:p>
        </p:txBody>
      </p:sp>
      <p:sp>
        <p:nvSpPr>
          <p:cNvPr id="45" name="step-t-5"/>
          <p:cNvSpPr txBox="1"/>
          <p:nvPr/>
        </p:nvSpPr>
        <p:spPr>
          <a:xfrm>
            <a:off x="8852045" y="3749040"/>
            <a:ext cx="1029745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Алсаас удирдах суваг</a:t>
            </a:r>
            <a:endParaRPr lang="en-US" sz="1400" dirty="0"/>
          </a:p>
        </p:txBody>
      </p:sp>
      <p:sp>
        <p:nvSpPr>
          <p:cNvPr id="46" name="step-arrow-5"/>
          <p:cNvSpPr/>
          <p:nvPr/>
        </p:nvSpPr>
        <p:spPr>
          <a:xfrm>
            <a:off x="10064670" y="3749040"/>
            <a:ext cx="182880" cy="457200"/>
          </a:xfrm>
          <a:prstGeom prst="chevron">
            <a:avLst/>
          </a:prstGeom>
          <a:solidFill>
            <a:schemeClr val="accent2"/>
          </a:solidFill>
          <a:ln/>
        </p:spPr>
      </p:sp>
      <p:sp>
        <p:nvSpPr>
          <p:cNvPr id="47" name="step-6"/>
          <p:cNvSpPr/>
          <p:nvPr/>
        </p:nvSpPr>
        <p:spPr>
          <a:xfrm>
            <a:off x="10293270" y="1965960"/>
            <a:ext cx="1349785" cy="4023360"/>
          </a:xfrm>
          <a:prstGeom prst="roundRect">
            <a:avLst>
              <a:gd name="adj" fmla="val 6774"/>
            </a:avLst>
          </a:prstGeom>
          <a:solidFill>
            <a:schemeClr val="bg2"/>
          </a:solidFill>
          <a:ln/>
        </p:spPr>
      </p:sp>
      <p:sp>
        <p:nvSpPr>
          <p:cNvPr id="48" name="step-dot-6"/>
          <p:cNvSpPr/>
          <p:nvPr/>
        </p:nvSpPr>
        <p:spPr>
          <a:xfrm>
            <a:off x="10476150" y="21945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9" name="step-num-6"/>
          <p:cNvSpPr txBox="1"/>
          <p:nvPr/>
        </p:nvSpPr>
        <p:spPr>
          <a:xfrm>
            <a:off x="1047615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7</a:t>
            </a:r>
            <a:endParaRPr lang="en-US" sz="1800" dirty="0"/>
          </a:p>
        </p:txBody>
      </p:sp>
      <p:sp>
        <p:nvSpPr>
          <p:cNvPr id="50" name="step-h-6"/>
          <p:cNvSpPr txBox="1"/>
          <p:nvPr/>
        </p:nvSpPr>
        <p:spPr>
          <a:xfrm>
            <a:off x="10476150" y="2880360"/>
            <a:ext cx="102974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Зорилго</a:t>
            </a:r>
            <a:endParaRPr lang="en-US" sz="1400" dirty="0"/>
          </a:p>
        </p:txBody>
      </p:sp>
      <p:sp>
        <p:nvSpPr>
          <p:cNvPr id="51" name="step-sub-6"/>
          <p:cNvSpPr txBox="1"/>
          <p:nvPr/>
        </p:nvSpPr>
        <p:spPr>
          <a:xfrm>
            <a:off x="10476150" y="3337560"/>
            <a:ext cx="107546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3"/>
                </a:solidFill>
              </a:rPr>
              <a:t>Actions</a:t>
            </a:r>
            <a:endParaRPr lang="en-US" sz="1100" dirty="0"/>
          </a:p>
        </p:txBody>
      </p:sp>
      <p:sp>
        <p:nvSpPr>
          <p:cNvPr id="52" name="step-t-6"/>
          <p:cNvSpPr txBox="1"/>
          <p:nvPr/>
        </p:nvSpPr>
        <p:spPr>
          <a:xfrm>
            <a:off x="10476150" y="3749040"/>
            <a:ext cx="1029745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Мэдээлэл хулгайлах, устгах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Хамгаалалтын үндсэн зарчмууд</a:t>
            </a:r>
            <a:endParaRPr lang="en-US" sz="2800" dirty="0"/>
          </a:p>
        </p:txBody>
      </p:sp>
      <p:sp>
        <p:nvSpPr>
          <p:cNvPr id="4" name="card-0"/>
          <p:cNvSpPr/>
          <p:nvPr/>
        </p:nvSpPr>
        <p:spPr>
          <a:xfrm>
            <a:off x="548640" y="1325880"/>
            <a:ext cx="2567864" cy="4846320"/>
          </a:xfrm>
          <a:prstGeom prst="roundRect">
            <a:avLst>
              <a:gd name="adj" fmla="val 3561"/>
            </a:avLst>
          </a:prstGeom>
          <a:solidFill>
            <a:schemeClr val="bg2"/>
          </a:solidFill>
          <a:ln/>
        </p:spPr>
      </p:sp>
      <p:sp>
        <p:nvSpPr>
          <p:cNvPr id="5" name="card-icon-0-bg"/>
          <p:cNvSpPr/>
          <p:nvPr/>
        </p:nvSpPr>
        <p:spPr>
          <a:xfrm>
            <a:off x="822960" y="16459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card-icon-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3894" y="1806854"/>
            <a:ext cx="409651" cy="409651"/>
          </a:xfrm>
          <a:prstGeom prst="rect">
            <a:avLst/>
          </a:prstGeom>
        </p:spPr>
      </p:pic>
      <p:sp>
        <p:nvSpPr>
          <p:cNvPr id="7" name="card-h-0"/>
          <p:cNvSpPr txBox="1"/>
          <p:nvPr/>
        </p:nvSpPr>
        <p:spPr>
          <a:xfrm>
            <a:off x="822960" y="2606040"/>
            <a:ext cx="2019224" cy="655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Гүнзгий хамгаалалт</a:t>
            </a:r>
            <a:endParaRPr lang="en-US" sz="2000" dirty="0"/>
          </a:p>
        </p:txBody>
      </p:sp>
      <p:sp>
        <p:nvSpPr>
          <p:cNvPr id="8" name="card-sub-0"/>
          <p:cNvSpPr txBox="1"/>
          <p:nvPr/>
        </p:nvSpPr>
        <p:spPr>
          <a:xfrm>
            <a:off x="822960" y="3352800"/>
            <a:ext cx="2019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3"/>
                </a:solidFill>
              </a:rPr>
              <a:t>Defense in Depth</a:t>
            </a:r>
            <a:endParaRPr lang="en-US" sz="1400" dirty="0"/>
          </a:p>
        </p:txBody>
      </p:sp>
      <p:sp>
        <p:nvSpPr>
          <p:cNvPr id="9" name="card-t-0"/>
          <p:cNvSpPr txBox="1"/>
          <p:nvPr/>
        </p:nvSpPr>
        <p:spPr>
          <a:xfrm>
            <a:off x="822960" y="3764280"/>
            <a:ext cx="2019224" cy="2179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Олон давхар хамгаалалт: нэг нь алдвал нөгөө нь хамгаална</a:t>
            </a:r>
            <a:endParaRPr lang="en-US" sz="1800" dirty="0"/>
          </a:p>
        </p:txBody>
      </p:sp>
      <p:sp>
        <p:nvSpPr>
          <p:cNvPr id="10" name="card-1"/>
          <p:cNvSpPr/>
          <p:nvPr/>
        </p:nvSpPr>
        <p:spPr>
          <a:xfrm>
            <a:off x="3390824" y="1325880"/>
            <a:ext cx="2567864" cy="4846320"/>
          </a:xfrm>
          <a:prstGeom prst="roundRect">
            <a:avLst>
              <a:gd name="adj" fmla="val 3561"/>
            </a:avLst>
          </a:prstGeom>
          <a:solidFill>
            <a:schemeClr val="bg2"/>
          </a:solidFill>
          <a:ln/>
        </p:spPr>
      </p:sp>
      <p:sp>
        <p:nvSpPr>
          <p:cNvPr id="11" name="card-icon-1-bg"/>
          <p:cNvSpPr/>
          <p:nvPr/>
        </p:nvSpPr>
        <p:spPr>
          <a:xfrm>
            <a:off x="3665144" y="16459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card-icon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6078" y="1806854"/>
            <a:ext cx="409651" cy="409651"/>
          </a:xfrm>
          <a:prstGeom prst="rect">
            <a:avLst/>
          </a:prstGeom>
        </p:spPr>
      </p:pic>
      <p:sp>
        <p:nvSpPr>
          <p:cNvPr id="13" name="card-h-1"/>
          <p:cNvSpPr txBox="1"/>
          <p:nvPr/>
        </p:nvSpPr>
        <p:spPr>
          <a:xfrm>
            <a:off x="3665144" y="2606040"/>
            <a:ext cx="2019224" cy="655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Хамгийн бага эрх</a:t>
            </a:r>
            <a:endParaRPr lang="en-US" sz="2000" dirty="0"/>
          </a:p>
        </p:txBody>
      </p:sp>
      <p:sp>
        <p:nvSpPr>
          <p:cNvPr id="14" name="card-sub-1"/>
          <p:cNvSpPr txBox="1"/>
          <p:nvPr/>
        </p:nvSpPr>
        <p:spPr>
          <a:xfrm>
            <a:off x="3665144" y="3352800"/>
            <a:ext cx="2019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3"/>
                </a:solidFill>
              </a:rPr>
              <a:t>Least Privilege</a:t>
            </a:r>
            <a:endParaRPr lang="en-US" sz="1400" dirty="0"/>
          </a:p>
        </p:txBody>
      </p:sp>
      <p:sp>
        <p:nvSpPr>
          <p:cNvPr id="15" name="card-t-1"/>
          <p:cNvSpPr txBox="1"/>
          <p:nvPr/>
        </p:nvSpPr>
        <p:spPr>
          <a:xfrm>
            <a:off x="3665144" y="3764280"/>
            <a:ext cx="2019224" cy="2179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Хэрэглэгч, программд зөвхөн шаардлагатай эрхийг олгох</a:t>
            </a:r>
            <a:endParaRPr lang="en-US" sz="1800" dirty="0"/>
          </a:p>
        </p:txBody>
      </p:sp>
      <p:sp>
        <p:nvSpPr>
          <p:cNvPr id="16" name="card-2"/>
          <p:cNvSpPr/>
          <p:nvPr/>
        </p:nvSpPr>
        <p:spPr>
          <a:xfrm>
            <a:off x="6233008" y="1325880"/>
            <a:ext cx="2567864" cy="4846320"/>
          </a:xfrm>
          <a:prstGeom prst="roundRect">
            <a:avLst>
              <a:gd name="adj" fmla="val 3561"/>
            </a:avLst>
          </a:prstGeom>
          <a:solidFill>
            <a:schemeClr val="bg2"/>
          </a:solidFill>
          <a:ln/>
        </p:spPr>
      </p:sp>
      <p:sp>
        <p:nvSpPr>
          <p:cNvPr id="17" name="card-icon-2-bg"/>
          <p:cNvSpPr/>
          <p:nvPr/>
        </p:nvSpPr>
        <p:spPr>
          <a:xfrm>
            <a:off x="6507328" y="16459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card-icon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8262" y="1806854"/>
            <a:ext cx="409651" cy="409651"/>
          </a:xfrm>
          <a:prstGeom prst="rect">
            <a:avLst/>
          </a:prstGeom>
        </p:spPr>
      </p:pic>
      <p:sp>
        <p:nvSpPr>
          <p:cNvPr id="19" name="card-h-2"/>
          <p:cNvSpPr txBox="1"/>
          <p:nvPr/>
        </p:nvSpPr>
        <p:spPr>
          <a:xfrm>
            <a:off x="6507328" y="2606040"/>
            <a:ext cx="2019224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Тэг итгэлцэл</a:t>
            </a:r>
            <a:endParaRPr lang="en-US" sz="2000" dirty="0"/>
          </a:p>
        </p:txBody>
      </p:sp>
      <p:sp>
        <p:nvSpPr>
          <p:cNvPr id="20" name="card-sub-2"/>
          <p:cNvSpPr txBox="1"/>
          <p:nvPr/>
        </p:nvSpPr>
        <p:spPr>
          <a:xfrm>
            <a:off x="6507328" y="3048000"/>
            <a:ext cx="2019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3"/>
                </a:solidFill>
              </a:rPr>
              <a:t>Zero Trust</a:t>
            </a:r>
            <a:endParaRPr lang="en-US" sz="1400" dirty="0"/>
          </a:p>
        </p:txBody>
      </p:sp>
      <p:sp>
        <p:nvSpPr>
          <p:cNvPr id="21" name="card-t-2"/>
          <p:cNvSpPr txBox="1"/>
          <p:nvPr/>
        </p:nvSpPr>
        <p:spPr>
          <a:xfrm>
            <a:off x="6507328" y="3459480"/>
            <a:ext cx="2019224" cy="2484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«Хэзээ ч бүү итгэ, үргэлж шалга»: хүсэлт бүрийг баталгаажуулах</a:t>
            </a:r>
            <a:endParaRPr lang="en-US" sz="1800" dirty="0"/>
          </a:p>
        </p:txBody>
      </p:sp>
      <p:sp>
        <p:nvSpPr>
          <p:cNvPr id="22" name="card-3"/>
          <p:cNvSpPr/>
          <p:nvPr/>
        </p:nvSpPr>
        <p:spPr>
          <a:xfrm>
            <a:off x="9075191" y="1325880"/>
            <a:ext cx="2567864" cy="4846320"/>
          </a:xfrm>
          <a:prstGeom prst="roundRect">
            <a:avLst>
              <a:gd name="adj" fmla="val 3561"/>
            </a:avLst>
          </a:prstGeom>
          <a:solidFill>
            <a:schemeClr val="bg2"/>
          </a:solidFill>
          <a:ln/>
        </p:spPr>
      </p:sp>
      <p:sp>
        <p:nvSpPr>
          <p:cNvPr id="23" name="card-icon-3-bg"/>
          <p:cNvSpPr/>
          <p:nvPr/>
        </p:nvSpPr>
        <p:spPr>
          <a:xfrm>
            <a:off x="9349511" y="16459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4" name="card-icon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10446" y="1806854"/>
            <a:ext cx="409651" cy="409651"/>
          </a:xfrm>
          <a:prstGeom prst="rect">
            <a:avLst/>
          </a:prstGeom>
        </p:spPr>
      </p:pic>
      <p:sp>
        <p:nvSpPr>
          <p:cNvPr id="25" name="card-h-3"/>
          <p:cNvSpPr txBox="1"/>
          <p:nvPr/>
        </p:nvSpPr>
        <p:spPr>
          <a:xfrm>
            <a:off x="9349511" y="2606040"/>
            <a:ext cx="2019224" cy="655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Загвараас нь аюулгүй</a:t>
            </a:r>
            <a:endParaRPr lang="en-US" sz="2000" dirty="0"/>
          </a:p>
        </p:txBody>
      </p:sp>
      <p:sp>
        <p:nvSpPr>
          <p:cNvPr id="26" name="card-sub-3"/>
          <p:cNvSpPr txBox="1"/>
          <p:nvPr/>
        </p:nvSpPr>
        <p:spPr>
          <a:xfrm>
            <a:off x="9349511" y="3352800"/>
            <a:ext cx="2019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3"/>
                </a:solidFill>
              </a:rPr>
              <a:t>Security by Design</a:t>
            </a:r>
            <a:endParaRPr lang="en-US" sz="1400" dirty="0"/>
          </a:p>
        </p:txBody>
      </p:sp>
      <p:sp>
        <p:nvSpPr>
          <p:cNvPr id="27" name="card-t-3"/>
          <p:cNvSpPr txBox="1"/>
          <p:nvPr/>
        </p:nvSpPr>
        <p:spPr>
          <a:xfrm>
            <a:off x="9349511" y="3764280"/>
            <a:ext cx="2019224" cy="2179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Аюулгүй байдлыг системийг зохион бүтээх үеэс тусгах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Хүн: хамгийн сул ба хамгийн хүчтэй холбоос</a:t>
            </a:r>
            <a:endParaRPr lang="en-US" sz="2800" dirty="0"/>
          </a:p>
        </p:txBody>
      </p:sp>
      <p:sp>
        <p:nvSpPr>
          <p:cNvPr id="4" name="col-0"/>
          <p:cNvSpPr/>
          <p:nvPr/>
        </p:nvSpPr>
        <p:spPr>
          <a:xfrm>
            <a:off x="548640" y="1325880"/>
            <a:ext cx="3901288" cy="4846320"/>
          </a:xfrm>
          <a:prstGeom prst="roundRect">
            <a:avLst>
              <a:gd name="adj" fmla="val 2344"/>
            </a:avLst>
          </a:prstGeom>
          <a:solidFill>
            <a:schemeClr val="bg2"/>
          </a:solidFill>
          <a:ln/>
        </p:spPr>
      </p:sp>
      <p:sp>
        <p:nvSpPr>
          <p:cNvPr id="5" name="col-icon-0-bg"/>
          <p:cNvSpPr/>
          <p:nvPr/>
        </p:nvSpPr>
        <p:spPr>
          <a:xfrm>
            <a:off x="822960" y="160020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6" name="col-icon-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602" y="1710842"/>
            <a:ext cx="281635" cy="281635"/>
          </a:xfrm>
          <a:prstGeom prst="rect">
            <a:avLst/>
          </a:prstGeom>
        </p:spPr>
      </p:pic>
      <p:sp>
        <p:nvSpPr>
          <p:cNvPr id="7" name="col-h-0"/>
          <p:cNvSpPr txBox="1"/>
          <p:nvPr/>
        </p:nvSpPr>
        <p:spPr>
          <a:xfrm>
            <a:off x="1508760" y="1600200"/>
            <a:ext cx="2712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Нийгмийн инженерчлэлийн аргууд</a:t>
            </a:r>
            <a:endParaRPr lang="en-US" sz="1800" dirty="0"/>
          </a:p>
        </p:txBody>
      </p:sp>
      <p:sp>
        <p:nvSpPr>
          <p:cNvPr id="8" name="col-list-0"/>
          <p:cNvSpPr txBox="1"/>
          <p:nvPr/>
        </p:nvSpPr>
        <p:spPr>
          <a:xfrm>
            <a:off x="822960" y="2377440"/>
            <a:ext cx="33526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Фишинг, утсаар залилах (vishing)</a:t>
            </a:r>
            <a:endParaRPr lang="en-US" sz="1800" dirty="0"/>
          </a:p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Албан тушаалтны нэрийг ашиглах</a:t>
            </a:r>
            <a:endParaRPr lang="en-US" sz="1800" dirty="0"/>
          </a:p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Яаруулах, айлгах, сонирхол татах</a:t>
            </a:r>
            <a:endParaRPr lang="en-US" sz="1800" dirty="0"/>
          </a:p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Хаягдсан USB, QR код</a:t>
            </a:r>
            <a:endParaRPr lang="en-US" sz="1800" dirty="0"/>
          </a:p>
        </p:txBody>
      </p:sp>
      <p:sp>
        <p:nvSpPr>
          <p:cNvPr id="9" name="col-1"/>
          <p:cNvSpPr/>
          <p:nvPr/>
        </p:nvSpPr>
        <p:spPr>
          <a:xfrm>
            <a:off x="7741768" y="1325880"/>
            <a:ext cx="3901288" cy="4846320"/>
          </a:xfrm>
          <a:prstGeom prst="roundRect">
            <a:avLst>
              <a:gd name="adj" fmla="val 2344"/>
            </a:avLst>
          </a:prstGeom>
          <a:solidFill>
            <a:schemeClr val="bg2"/>
          </a:solidFill>
          <a:ln/>
        </p:spPr>
      </p:sp>
      <p:sp>
        <p:nvSpPr>
          <p:cNvPr id="10" name="col-icon-1-bg"/>
          <p:cNvSpPr/>
          <p:nvPr/>
        </p:nvSpPr>
        <p:spPr>
          <a:xfrm>
            <a:off x="8016088" y="16002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col-icon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6730" y="1710842"/>
            <a:ext cx="281635" cy="281635"/>
          </a:xfrm>
          <a:prstGeom prst="rect">
            <a:avLst/>
          </a:prstGeom>
        </p:spPr>
      </p:pic>
      <p:sp>
        <p:nvSpPr>
          <p:cNvPr id="12" name="col-h-1"/>
          <p:cNvSpPr txBox="1"/>
          <p:nvPr/>
        </p:nvSpPr>
        <p:spPr>
          <a:xfrm>
            <a:off x="8701888" y="1600200"/>
            <a:ext cx="2712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Кибер эрүүл ахуй</a:t>
            </a:r>
            <a:endParaRPr lang="en-US" sz="1800" dirty="0"/>
          </a:p>
        </p:txBody>
      </p:sp>
      <p:sp>
        <p:nvSpPr>
          <p:cNvPr id="13" name="col-list-1"/>
          <p:cNvSpPr txBox="1"/>
          <p:nvPr/>
        </p:nvSpPr>
        <p:spPr>
          <a:xfrm>
            <a:off x="8016088" y="2377440"/>
            <a:ext cx="33526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Урт, давтагдашгүй нууц үг ба нууц үгийн менежер</a:t>
            </a:r>
            <a:endParaRPr lang="en-US" sz="1800" dirty="0"/>
          </a:p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Олон хүчин зүйлийн баталгаажуулалт (MFA)</a:t>
            </a:r>
            <a:endParaRPr lang="en-US" sz="1800" dirty="0"/>
          </a:p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Программ, үйлдлийн системийг цаг тухайд нь шинэчлэх</a:t>
            </a:r>
            <a:endParaRPr lang="en-US" sz="1800" dirty="0"/>
          </a:p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Сэжигтэй мессежийг шалгаж, мэдээлэх</a:t>
            </a:r>
            <a:endParaRPr lang="en-US" sz="1800" dirty="0"/>
          </a:p>
        </p:txBody>
      </p:sp>
      <p:sp>
        <p:nvSpPr>
          <p:cNvPr id="14" name="callout"/>
          <p:cNvSpPr/>
          <p:nvPr/>
        </p:nvSpPr>
        <p:spPr>
          <a:xfrm>
            <a:off x="4769968" y="1325880"/>
            <a:ext cx="2651760" cy="4846320"/>
          </a:xfrm>
          <a:prstGeom prst="roundRect">
            <a:avLst>
              <a:gd name="adj" fmla="val 3448"/>
            </a:avLst>
          </a:prstGeom>
          <a:solidFill>
            <a:schemeClr val="tx2"/>
          </a:solidFill>
          <a:ln/>
        </p:spPr>
      </p:sp>
      <p:sp>
        <p:nvSpPr>
          <p:cNvPr id="15" name="callout-n"/>
          <p:cNvSpPr txBox="1"/>
          <p:nvPr/>
        </p:nvSpPr>
        <p:spPr>
          <a:xfrm>
            <a:off x="4952848" y="20574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68%</a:t>
            </a:r>
            <a:endParaRPr lang="en-US" sz="5400" dirty="0"/>
          </a:p>
        </p:txBody>
      </p:sp>
      <p:sp>
        <p:nvSpPr>
          <p:cNvPr id="16" name="callout-l"/>
          <p:cNvSpPr txBox="1"/>
          <p:nvPr/>
        </p:nvSpPr>
        <p:spPr>
          <a:xfrm>
            <a:off x="4998568" y="329184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мэдээлэл алдагдсан тохиолдлын хүний хүчин зүйлтэй холбоотой хувь</a:t>
            </a:r>
            <a:endParaRPr lang="en-US" sz="1500" dirty="0"/>
          </a:p>
        </p:txBody>
      </p:sp>
      <p:sp>
        <p:nvSpPr>
          <p:cNvPr id="17" name="callout-s"/>
          <p:cNvSpPr txBox="1"/>
          <p:nvPr/>
        </p:nvSpPr>
        <p:spPr>
          <a:xfrm>
            <a:off x="4998568" y="5440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Verizon DBIR, 2024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q-kicker"/>
          <p:cNvSpPr txBox="1"/>
          <p:nvPr/>
        </p:nvSpPr>
        <p:spPr>
          <a:xfrm>
            <a:off x="548640" y="914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КЕЙС</a:t>
            </a:r>
            <a:endParaRPr lang="en-US" sz="2000" dirty="0"/>
          </a:p>
        </p:txBody>
      </p:sp>
      <p:sp>
        <p:nvSpPr>
          <p:cNvPr id="4" name="q-text"/>
          <p:cNvSpPr txBox="1"/>
          <p:nvPr/>
        </p:nvSpPr>
        <p:spPr>
          <a:xfrm>
            <a:off x="548640" y="1645920"/>
            <a:ext cx="81381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«Сургуулийн цахим системийн нууц үгээ 24 цагийн дотор шинэчилнэ үү» гэсэн и-мэйл ирэв. Үүнийг фишинг эсэхийг ямар шинжээр нь ялгах вэ?</a:t>
            </a:r>
            <a:endParaRPr lang="en-US" sz="3000" dirty="0"/>
          </a:p>
        </p:txBody>
      </p:sp>
      <p:sp>
        <p:nvSpPr>
          <p:cNvPr id="5" name="q-ring"/>
          <p:cNvSpPr/>
          <p:nvPr/>
        </p:nvSpPr>
        <p:spPr>
          <a:xfrm>
            <a:off x="9144000" y="2103120"/>
            <a:ext cx="2377440" cy="2377440"/>
          </a:xfrm>
          <a:prstGeom prst="ellipse">
            <a:avLst/>
          </a:prstGeom>
          <a:solidFill>
            <a:schemeClr val="accent3">
              <a:alpha val="60000"/>
            </a:schemeClr>
          </a:solidFill>
          <a:ln w="25400">
            <a:solidFill>
              <a:schemeClr val="accent1"/>
            </a:solidFill>
            <a:prstDash val="solid"/>
          </a:ln>
        </p:spPr>
      </p:sp>
      <p:pic>
        <p:nvPicPr>
          <p:cNvPr id="6" name="q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0" y="2651760"/>
            <a:ext cx="1280160" cy="12801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Гол санаа</a:t>
            </a:r>
            <a:endParaRPr lang="en-US" sz="2800" dirty="0"/>
          </a:p>
        </p:txBody>
      </p:sp>
      <p:sp>
        <p:nvSpPr>
          <p:cNvPr id="3" name="take-card-0"/>
          <p:cNvSpPr/>
          <p:nvPr/>
        </p:nvSpPr>
        <p:spPr>
          <a:xfrm>
            <a:off x="548640" y="1463040"/>
            <a:ext cx="3454298" cy="4480560"/>
          </a:xfrm>
          <a:prstGeom prst="roundRect">
            <a:avLst>
              <a:gd name="adj" fmla="val 3177"/>
            </a:avLst>
          </a:prstGeom>
          <a:solidFill>
            <a:schemeClr val="bg2"/>
          </a:solidFill>
          <a:ln/>
        </p:spPr>
      </p:sp>
      <p:sp>
        <p:nvSpPr>
          <p:cNvPr id="4" name="take-n-0"/>
          <p:cNvSpPr txBox="1"/>
          <p:nvPr/>
        </p:nvSpPr>
        <p:spPr>
          <a:xfrm>
            <a:off x="914400" y="1783080"/>
            <a:ext cx="27227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4800" dirty="0"/>
          </a:p>
        </p:txBody>
      </p:sp>
      <p:sp>
        <p:nvSpPr>
          <p:cNvPr id="5" name="take-0"/>
          <p:cNvSpPr txBox="1"/>
          <p:nvPr/>
        </p:nvSpPr>
        <p:spPr>
          <a:xfrm>
            <a:off x="914400" y="2926080"/>
            <a:ext cx="272277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Эрсдэл нь аюул занал, эмзэг байдал, үр дагаврын нийлбэр: тэдгээрийг бууруулж удирдана</a:t>
            </a:r>
            <a:endParaRPr lang="en-US" sz="1800" dirty="0"/>
          </a:p>
        </p:txBody>
      </p:sp>
      <p:sp>
        <p:nvSpPr>
          <p:cNvPr id="6" name="take-card-1"/>
          <p:cNvSpPr/>
          <p:nvPr/>
        </p:nvSpPr>
        <p:spPr>
          <a:xfrm>
            <a:off x="4368698" y="1463040"/>
            <a:ext cx="3454298" cy="4480560"/>
          </a:xfrm>
          <a:prstGeom prst="roundRect">
            <a:avLst>
              <a:gd name="adj" fmla="val 3177"/>
            </a:avLst>
          </a:prstGeom>
          <a:solidFill>
            <a:schemeClr val="bg2"/>
          </a:solidFill>
          <a:ln/>
        </p:spPr>
      </p:sp>
      <p:sp>
        <p:nvSpPr>
          <p:cNvPr id="7" name="take-n-1"/>
          <p:cNvSpPr txBox="1"/>
          <p:nvPr/>
        </p:nvSpPr>
        <p:spPr>
          <a:xfrm>
            <a:off x="4734458" y="1783080"/>
            <a:ext cx="27227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4800" dirty="0"/>
          </a:p>
        </p:txBody>
      </p:sp>
      <p:sp>
        <p:nvSpPr>
          <p:cNvPr id="8" name="take-1"/>
          <p:cNvSpPr txBox="1"/>
          <p:nvPr/>
        </p:nvSpPr>
        <p:spPr>
          <a:xfrm>
            <a:off x="4734458" y="2926080"/>
            <a:ext cx="272277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Халдагчийн сэдэл, аргыг ойлгох нь зөв хамгаалалтын суурь</a:t>
            </a:r>
            <a:endParaRPr lang="en-US" sz="1800" dirty="0"/>
          </a:p>
        </p:txBody>
      </p:sp>
      <p:sp>
        <p:nvSpPr>
          <p:cNvPr id="9" name="take-card-2"/>
          <p:cNvSpPr/>
          <p:nvPr/>
        </p:nvSpPr>
        <p:spPr>
          <a:xfrm>
            <a:off x="8188757" y="1463040"/>
            <a:ext cx="3454298" cy="4480560"/>
          </a:xfrm>
          <a:prstGeom prst="roundRect">
            <a:avLst>
              <a:gd name="adj" fmla="val 3177"/>
            </a:avLst>
          </a:prstGeom>
          <a:solidFill>
            <a:schemeClr val="bg2"/>
          </a:solidFill>
          <a:ln/>
        </p:spPr>
      </p:sp>
      <p:sp>
        <p:nvSpPr>
          <p:cNvPr id="10" name="take-n-2"/>
          <p:cNvSpPr txBox="1"/>
          <p:nvPr/>
        </p:nvSpPr>
        <p:spPr>
          <a:xfrm>
            <a:off x="8554517" y="1783080"/>
            <a:ext cx="27227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4800" dirty="0"/>
          </a:p>
        </p:txBody>
      </p:sp>
      <p:sp>
        <p:nvSpPr>
          <p:cNvPr id="11" name="take-2"/>
          <p:cNvSpPr txBox="1"/>
          <p:nvPr/>
        </p:nvSpPr>
        <p:spPr>
          <a:xfrm>
            <a:off x="8554517" y="2926080"/>
            <a:ext cx="272277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Гүнзгий хамгаалалт, хамгийн бага эрх, тэг итгэлцэл бол үндсэн зарчмууд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Бие даалт ба дараагийн дадлага</a:t>
            </a:r>
            <a:endParaRPr lang="en-US" sz="2800" dirty="0"/>
          </a:p>
        </p:txBody>
      </p:sp>
      <p:sp>
        <p:nvSpPr>
          <p:cNvPr id="3" name="hw-icon-bg"/>
          <p:cNvSpPr/>
          <p:nvPr/>
        </p:nvSpPr>
        <p:spPr>
          <a:xfrm>
            <a:off x="548640" y="14173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hw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1538021"/>
            <a:ext cx="307238" cy="307238"/>
          </a:xfrm>
          <a:prstGeom prst="rect">
            <a:avLst/>
          </a:prstGeom>
        </p:spPr>
      </p:pic>
      <p:sp>
        <p:nvSpPr>
          <p:cNvPr id="5" name="hw-h"/>
          <p:cNvSpPr txBox="1"/>
          <p:nvPr/>
        </p:nvSpPr>
        <p:spPr>
          <a:xfrm>
            <a:off x="1280160" y="14630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Бие даалтын даалгавар</a:t>
            </a:r>
            <a:endParaRPr lang="en-US" sz="2000" dirty="0"/>
          </a:p>
        </p:txBody>
      </p:sp>
      <p:sp>
        <p:nvSpPr>
          <p:cNvPr id="6" name="hw-list"/>
          <p:cNvSpPr txBox="1"/>
          <p:nvPr/>
        </p:nvSpPr>
        <p:spPr>
          <a:xfrm>
            <a:off x="548640" y="214884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Хувийн кибер эрүүл ахуйн хяналтын хуудсыг бөглөж, 3 сайжруулалт хийх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picoCTF эсвэл TryHackMe платформд бүртгүүлж, анхан шатны 2 даалгавар гүйцэтгэх</a:t>
            </a:r>
            <a:endParaRPr lang="en-US" sz="1600" dirty="0"/>
          </a:p>
        </p:txBody>
      </p:sp>
      <p:sp>
        <p:nvSpPr>
          <p:cNvPr id="7" name="next-card"/>
          <p:cNvSpPr/>
          <p:nvPr/>
        </p:nvSpPr>
        <p:spPr>
          <a:xfrm>
            <a:off x="6583680" y="1417320"/>
            <a:ext cx="5059375" cy="3108960"/>
          </a:xfrm>
          <a:prstGeom prst="roundRect">
            <a:avLst>
              <a:gd name="adj" fmla="val 3529"/>
            </a:avLst>
          </a:prstGeom>
          <a:solidFill>
            <a:schemeClr val="accent3"/>
          </a:solidFill>
          <a:ln/>
        </p:spPr>
      </p:sp>
      <p:sp>
        <p:nvSpPr>
          <p:cNvPr id="8" name="next-kicker"/>
          <p:cNvSpPr txBox="1"/>
          <p:nvPr/>
        </p:nvSpPr>
        <p:spPr>
          <a:xfrm>
            <a:off x="6949440" y="1691640"/>
            <a:ext cx="4327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ДАДЛАГА_02</a:t>
            </a:r>
            <a:endParaRPr lang="en-US" sz="1800" dirty="0"/>
          </a:p>
        </p:txBody>
      </p:sp>
      <p:sp>
        <p:nvSpPr>
          <p:cNvPr id="9" name="next-title"/>
          <p:cNvSpPr txBox="1"/>
          <p:nvPr/>
        </p:nvSpPr>
        <p:spPr>
          <a:xfrm>
            <a:off x="6949440" y="2240280"/>
            <a:ext cx="432785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Аюул заналыг таних: фишинг ба нууц үгийн аюулгүй байдал</a:t>
            </a:r>
            <a:endParaRPr lang="en-US" sz="2000" dirty="0"/>
          </a:p>
        </p:txBody>
      </p:sp>
      <p:sp>
        <p:nvSpPr>
          <p:cNvPr id="10" name="next-meta"/>
          <p:cNvSpPr txBox="1"/>
          <p:nvPr/>
        </p:nvSpPr>
        <p:spPr>
          <a:xfrm>
            <a:off x="6949440" y="3703320"/>
            <a:ext cx="4327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4 цаг · лаборатори · дэлгэрэнгүй төлөвлөгөөг дадлагын гарын авлагаас үзнэ</a:t>
            </a:r>
            <a:endParaRPr lang="en-US" sz="1400" dirty="0"/>
          </a:p>
        </p:txBody>
      </p:sp>
      <p:sp>
        <p:nvSpPr>
          <p:cNvPr id="11" name="src-h"/>
          <p:cNvSpPr txBox="1"/>
          <p:nvPr/>
        </p:nvSpPr>
        <p:spPr>
          <a:xfrm>
            <a:off x="548640" y="4846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Эх сурвалж</a:t>
            </a:r>
            <a:endParaRPr lang="en-US" sz="1400" dirty="0"/>
          </a:p>
        </p:txBody>
      </p:sp>
      <p:sp>
        <p:nvSpPr>
          <p:cNvPr id="12" name="src"/>
          <p:cNvSpPr txBox="1"/>
          <p:nvPr/>
        </p:nvSpPr>
        <p:spPr>
          <a:xfrm>
            <a:off x="548640" y="52120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Verizon Data Breach Investigations Report (DBIR), 2024   ·   Lockheed Martin, Cyber Kill Chain   ·   NIST SP 800-207, Zero Trust Architecture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SBC101 Signal">
  <a:themeElements>
    <a:clrScheme name="CSBC101 Signal">
      <a:dk1>
        <a:srgbClr val="17262A"/>
      </a:dk1>
      <a:lt1>
        <a:srgbClr val="FFFFFF"/>
      </a:lt1>
      <a:dk2>
        <a:srgbClr val="0F3B3F"/>
      </a:dk2>
      <a:lt2>
        <a:srgbClr val="EAF4F1"/>
      </a:lt2>
      <a:accent1>
        <a:srgbClr val="12A37F"/>
      </a:accent1>
      <a:accent2>
        <a:srgbClr val="E89B3C"/>
      </a:accent2>
      <a:accent3>
        <a:srgbClr val="2E6F73"/>
      </a:accent3>
      <a:accent4>
        <a:srgbClr val="8FD3C1"/>
      </a:accent4>
      <a:accent5>
        <a:srgbClr val="C4553B"/>
      </a:accent5>
      <a:accent6>
        <a:srgbClr val="5B6B6E"/>
      </a:accent6>
      <a:hlink>
        <a:srgbClr val="12A37F"/>
      </a:hlink>
      <a:folHlink>
        <a:srgbClr val="2E6F73"/>
      </a:folHlink>
    </a:clrScheme>
    <a:fontScheme name="CSBC101 Signal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ҮБХИС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 2. Кибер орчны аюул занал ба хамгаалалтын зарчим</dc:title>
  <dc:subject>CSBC101 Мэргэжлийн удиртгал</dc:subject>
  <dc:creator>Дэслэгч Ч.Энхбаатар</dc:creator>
  <cp:lastModifiedBy>Дэслэгч Ч.Энхбаатар</cp:lastModifiedBy>
  <cp:revision>1</cp:revision>
  <dcterms:created xsi:type="dcterms:W3CDTF">2026-10-26T09:26:44Z</dcterms:created>
  <dcterms:modified xsi:type="dcterms:W3CDTF">2026-10-26T09:26:44Z</dcterms:modified>
</cp:coreProperties>
</file>