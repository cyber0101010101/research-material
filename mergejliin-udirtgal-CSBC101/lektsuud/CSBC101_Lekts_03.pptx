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b4ec711c-9843-1e79-9756-393fbdc0ef16}">
          <p14:sldIdLst>
            <p14:sldId id="256"/>
          </p14:sldIdLst>
        </p14:section>
        <p14:section name="Зорилго" id="{af6fba31-e259-3b68-a7ba-57e2b018731b}">
          <p14:sldIdLst>
            <p14:sldId id="257"/>
          </p14:sldIdLst>
        </p14:section>
        <p14:section name="Агуулга" id="{6ac9052b-e44e-ef17-6f18-efc2b9ff87c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Дүгнэлт" id="{6df1a8f1-6b02-6386-eb55-87062bcd6f8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3. Мэдлэгийн салбар, мэргэших чиглэл ба ажлын үүрэг.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Салбар бүрт хөтөлбөрийн аль хичээл хамаарахыг дараагийн слайдуудад харуулна.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Хөтөлбөрийн зорилт 4: Red Team / Blue Team үйл ажиллагаанд оролцох чадвартай болох.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NICE Framework (NIST SP 800-181 Rev.1) нь ажлын үүрэг бүрт шаардагдах мэдлэг, ур чадвар, даалгаврыг тодорхойлдог. Дадлага 7-д ажлын зар шинжлэхэд ашиглана.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Дадлага 3-т эдгээр чиглэлийн жижиг даалгаврыг станц тус бүрээр турших болно.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Хичээлийн курсыг хөтөлбөрийн санал болгох төлөвлөгөөнөөс авсан. Сонсогч бүр өөрийн сонирхсон чиглэлийн 'хичээлийн зам'-ыг тэмдэглэж авна.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Нэг сонголт бүх насны шийдвэр биш. Эхний 2 жилд өргөн суурь, 3–4-р курст мэргэших чиглэлээ тодорхойлох нь зөв.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Хариулт: зөвшөөрөл, хамрах хүрээ, зорилго, тайлагнал. Лекц 6-д хууль, ёс зүйн талаас нь дэлгэрүүлнэ.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ЛЕКЦ_03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Мэдлэгийн салбар, мэргэших чиглэл ба ажлын үүрэг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CLO-2</a:t>
            </a:r>
            <a:endParaRPr lang="en-US" sz="1200" dirty="0"/>
          </a:p>
        </p:txBody>
      </p:sp>
      <p:sp>
        <p:nvSpPr>
          <p:cNvPr id="5" name="clo-chip-1"/>
          <p:cNvSpPr/>
          <p:nvPr/>
        </p:nvSpPr>
        <p:spPr>
          <a:xfrm>
            <a:off x="173736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clo-text-1"/>
          <p:cNvSpPr txBox="1"/>
          <p:nvPr/>
        </p:nvSpPr>
        <p:spPr>
          <a:xfrm>
            <a:off x="173736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CLO-7</a:t>
            </a:r>
            <a:endParaRPr lang="en-US" sz="1200" dirty="0"/>
          </a:p>
        </p:txBody>
      </p:sp>
      <p:sp>
        <p:nvSpPr>
          <p:cNvPr id="7" name="clo-label"/>
          <p:cNvSpPr txBox="1"/>
          <p:nvPr/>
        </p:nvSpPr>
        <p:spPr>
          <a:xfrm>
            <a:off x="297180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8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9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11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аюулгүй байдлын мэдлэгийн үндсэн салбаруудыг ялгах</a:t>
            </a:r>
            <a:endParaRPr lang="en-US" sz="1600" dirty="0"/>
          </a:p>
        </p:txBody>
      </p:sp>
      <p:sp>
        <p:nvSpPr>
          <p:cNvPr id="12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4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Red, Blue, Purple Team-ийн үүргийг тайлбарлах</a:t>
            </a:r>
            <a:endParaRPr lang="en-US" sz="1600" dirty="0"/>
          </a:p>
        </p:txBody>
      </p:sp>
      <p:sp>
        <p:nvSpPr>
          <p:cNvPr id="15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7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NICE Framework-ийн ажлын үүргийн ангиллыг ойлгох</a:t>
            </a:r>
            <a:endParaRPr lang="en-US" sz="1600" dirty="0"/>
          </a:p>
        </p:txBody>
      </p:sp>
      <p:sp>
        <p:nvSpPr>
          <p:cNvPr id="18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9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20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Мэдлэгийн үндсэн салбарууд</a:t>
            </a:r>
            <a:endParaRPr lang="en-US" sz="1600" dirty="0"/>
          </a:p>
        </p:txBody>
      </p:sp>
      <p:sp>
        <p:nvSpPr>
          <p:cNvPr id="22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Red, Blue, Purple Team</a:t>
            </a:r>
            <a:endParaRPr lang="en-US" sz="1600" dirty="0"/>
          </a:p>
        </p:txBody>
      </p:sp>
      <p:sp>
        <p:nvSpPr>
          <p:cNvPr id="24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NICE Framework: ажлын үүргийн ангилал</a:t>
            </a:r>
            <a:endParaRPr lang="en-US" sz="1600" dirty="0"/>
          </a:p>
        </p:txBody>
      </p:sp>
      <p:sp>
        <p:nvSpPr>
          <p:cNvPr id="26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Мэргэших чиглэл бүрийн өдөр тутмын ажил</a:t>
            </a:r>
            <a:endParaRPr lang="en-US" sz="1600" dirty="0"/>
          </a:p>
        </p:txBody>
      </p:sp>
      <p:sp>
        <p:nvSpPr>
          <p:cNvPr id="28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Аль чиглэл надад тохирох вэ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аюулгүй байдлын мэдлэгийн салбарууд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Сүлжээний аюулгүй байдал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Firewall, IDS/IPS, VPN, сүлжээний сегментчлэл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Систем, үйлдлийн систем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Windows, Linux-ийн хатууруулалт, эрхийн удирдлага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Программ, вэб аюулгүй байдал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Аюулгүй код, OWASP Top 10, эмзэг байдлын тест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Криптографи, өгөгдөл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Шифрлэлт, хэш, PKI, тоон гарын үсэг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Аюулгүй байдлын ажиллагаа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SOC, SIEM, инцидентийн хариу арга хэмжээ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Засаглал, эрсдэл, нийцэл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Бодлого, стандарт (ISO/IEC 27001), аудит, хууль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Red Team, Blue Team, Purple Team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Red Team</a:t>
            </a:r>
            <a:endParaRPr lang="en-US" sz="2000" dirty="0"/>
          </a:p>
        </p:txBody>
      </p:sp>
      <p:sp>
        <p:nvSpPr>
          <p:cNvPr id="8" name="card-sub-0"/>
          <p:cNvSpPr txBox="1"/>
          <p:nvPr/>
        </p:nvSpPr>
        <p:spPr>
          <a:xfrm>
            <a:off x="822960" y="3048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Халдагчийн байр суурь</a:t>
            </a:r>
            <a:endParaRPr lang="en-US" sz="14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459480"/>
            <a:ext cx="2966618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Зөвшөөрөлтэйгээр бодит халдагчийг дуурайж, сул талыг илрүүлнэ</a:t>
            </a:r>
            <a:endParaRPr lang="en-US" sz="1800" dirty="0"/>
          </a:p>
        </p:txBody>
      </p:sp>
      <p:sp>
        <p:nvSpPr>
          <p:cNvPr id="10" name="card-1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461253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473" y="180685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4612538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Blue Team</a:t>
            </a:r>
            <a:endParaRPr lang="en-US" sz="2000" dirty="0"/>
          </a:p>
        </p:txBody>
      </p:sp>
      <p:sp>
        <p:nvSpPr>
          <p:cNvPr id="14" name="card-sub-1"/>
          <p:cNvSpPr txBox="1"/>
          <p:nvPr/>
        </p:nvSpPr>
        <p:spPr>
          <a:xfrm>
            <a:off x="4612538" y="3048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Хамгаалагчийн байр суурь</a:t>
            </a:r>
            <a:endParaRPr lang="en-US" sz="1400" dirty="0"/>
          </a:p>
        </p:txBody>
      </p:sp>
      <p:sp>
        <p:nvSpPr>
          <p:cNvPr id="15" name="card-t-1"/>
          <p:cNvSpPr txBox="1"/>
          <p:nvPr/>
        </p:nvSpPr>
        <p:spPr>
          <a:xfrm>
            <a:off x="4612538" y="3459480"/>
            <a:ext cx="2966618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Системийг хамгаалж, халдлагыг илрүүлж, хариу арга хэмжээ авна</a:t>
            </a:r>
            <a:endParaRPr lang="en-US" sz="1800" dirty="0"/>
          </a:p>
        </p:txBody>
      </p:sp>
      <p:sp>
        <p:nvSpPr>
          <p:cNvPr id="16" name="card-2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7" name="card-icon-2-bg"/>
          <p:cNvSpPr/>
          <p:nvPr/>
        </p:nvSpPr>
        <p:spPr>
          <a:xfrm>
            <a:off x="8402117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051" y="1806854"/>
            <a:ext cx="409651" cy="409651"/>
          </a:xfrm>
          <a:prstGeom prst="rect">
            <a:avLst/>
          </a:prstGeom>
        </p:spPr>
      </p:pic>
      <p:sp>
        <p:nvSpPr>
          <p:cNvPr id="19" name="card-h-2"/>
          <p:cNvSpPr txBox="1"/>
          <p:nvPr/>
        </p:nvSpPr>
        <p:spPr>
          <a:xfrm>
            <a:off x="8402117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Purple Team</a:t>
            </a:r>
            <a:endParaRPr lang="en-US" sz="2000" dirty="0"/>
          </a:p>
        </p:txBody>
      </p:sp>
      <p:sp>
        <p:nvSpPr>
          <p:cNvPr id="20" name="card-sub-2"/>
          <p:cNvSpPr txBox="1"/>
          <p:nvPr/>
        </p:nvSpPr>
        <p:spPr>
          <a:xfrm>
            <a:off x="8402117" y="3048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Хамтын ажиллагаа</a:t>
            </a:r>
            <a:endParaRPr lang="en-US" sz="1400" dirty="0"/>
          </a:p>
        </p:txBody>
      </p:sp>
      <p:sp>
        <p:nvSpPr>
          <p:cNvPr id="21" name="card-t-2"/>
          <p:cNvSpPr txBox="1"/>
          <p:nvPr/>
        </p:nvSpPr>
        <p:spPr>
          <a:xfrm>
            <a:off x="8402117" y="3459480"/>
            <a:ext cx="2966618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Red ба Blue багийн мэдлэгийг нэгтгэж, хамгаалалтыг сайжруулна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NICE Framework: ажлын үүргийн ангилал</a:t>
            </a:r>
            <a:endParaRPr lang="en-US" sz="2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Ангилал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Агуулга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Ажлын үүргийн жишээ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Oversight &amp; Governance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Бодлого, удирдлага, эрх зүй, сургалт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CISO, аудитор, эрх зүйн зөвлөх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&amp; Development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Аюулгүй систем, программ зохион бүтээх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Аюулгүй байдлын архитектор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&amp; Operation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Систем, сүлжээг суулгах, ажиллуулах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Сүлжээ, системийн администратор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&amp; Defense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Хамгаалах, илрүүлэх, хариу өгөх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шинжээч, инцидентийн мэргэжилтэн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гэмт хэрэг, тоон нотлох баримт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Тоон ул мөрийн шинжээч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Cyberspace Intelligence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тагнуул, аюул заналын шинжилгээ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intelligence шинжээч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Cyberspace Effects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орон зайд ажиллагаа явуулах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ажиллагааны төлөвлөгч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Мэргэших чиглэлүүдийн өдөр тутмын ажил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SOC шинжээч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SIEM дээрх анхааруулгыг шалгаж, лог шинжилж, инцидентийг ангилна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Нэвтрэлтийн тестийн мэргэжилтэн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Зөвшөөрөлтэй халдлагын туршилт хийж, тайлан бичнэ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Тоон ул мөрийн шинжээч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Нотлох баримт цуглуулж, хадгалж, шинжилж дүгнэлт гаргана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Хортой кодын шинжээч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Хортой программыг задлан шинжилж, илрүүлэх дүрэм бичнэ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Сүлжээний аюулгүй байдлын инженер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Firewall, IDS/IPS, VPN тохируулж, сүлжээг хамгаална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Аудитор, GRC мэргэжилтэн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Бодлого, стандартын нийцлийг шалгаж, эрсдэлийг үнэлнэ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Мэргэших чиглэл ба хөтөлбөрийн хичээлүүд</a:t>
            </a:r>
            <a:endParaRPr lang="en-US" sz="2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Чиглэл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 хичээлүүд (курс)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SOC, Blue Team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Компьютерийн сүлжээ-1 (II), Үйлдлийн систем ба АБ (III), Кибер аюулгүй байдлын хяналтын менежмент (IV)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Team, VAPT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Програмчлалын үндэс (II), Веб програмчлал (III), Эмзэг байдлын үнэлгээ ба нэвтрэлтийн тест (IV)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DFIR, хортой код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Үйлдлийн систем ба АБ (III), Тоон ул мөр шинжилгээ (IV), Хортой кодын шинжилгээ (IV)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Сүлжээний аюулгүй байдал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Компьютерийн сүлжээ-1, 2 (II–III), Сүлжээний аюулгүй байдал (III)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Криптографи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Математик-1, 2 (I), Дискрет математик (III), Өгөгдлийн АБ ба криптографи (III)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GRC, аудит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Мэдээллийн АБ ба хууль эрх зүй (III), МАБ-ын аудит (IV), Өгөгдлийн сангийн АБ (IV)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цэргийн ажиллагаа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Ерөнхий тактик-1, 2 (I–II), Кибер цэргийн ажиллагаа (IV)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Аль чиглэл надад тохирох вэ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Сонирхол, зан чанараа мэргэших чиглэлтэй холбож үзээрэй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Задалж, эвдэж үзэх дуртай</a:t>
            </a:r>
            <a:endParaRPr lang="en-US" sz="20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Red Team, нэвтрэлтийн тест, хортой кодын шинжилгээ</a:t>
            </a:r>
            <a:endParaRPr lang="en-US" sz="1800" dirty="0"/>
          </a:p>
        </p:txBody>
      </p:sp>
      <p:sp>
        <p:nvSpPr>
          <p:cNvPr id="10" name="card-1"/>
          <p:cNvSpPr/>
          <p:nvPr/>
        </p:nvSpPr>
        <p:spPr>
          <a:xfrm>
            <a:off x="3390824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3665144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230977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3665144" y="310896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Хэв маяг, гажуудал анзаардаг</a:t>
            </a:r>
            <a:endParaRPr lang="en-US" sz="2000" dirty="0"/>
          </a:p>
        </p:txBody>
      </p:sp>
      <p:sp>
        <p:nvSpPr>
          <p:cNvPr id="14" name="card-t-1"/>
          <p:cNvSpPr txBox="1"/>
          <p:nvPr/>
        </p:nvSpPr>
        <p:spPr>
          <a:xfrm>
            <a:off x="3665144" y="4160520"/>
            <a:ext cx="2019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SOC шинжээч, threat hunting</a:t>
            </a:r>
            <a:endParaRPr lang="en-US" sz="1800" dirty="0"/>
          </a:p>
        </p:txBody>
      </p:sp>
      <p:sp>
        <p:nvSpPr>
          <p:cNvPr id="15" name="card-2"/>
          <p:cNvSpPr/>
          <p:nvPr/>
        </p:nvSpPr>
        <p:spPr>
          <a:xfrm>
            <a:off x="6233008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6" name="card-icon-2-bg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18" name="card-h-2"/>
          <p:cNvSpPr txBox="1"/>
          <p:nvPr/>
        </p:nvSpPr>
        <p:spPr>
          <a:xfrm>
            <a:off x="6507328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Мөрдөгчийн сэтгэлгээтэй</a:t>
            </a:r>
            <a:endParaRPr lang="en-US" sz="2000" dirty="0"/>
          </a:p>
        </p:txBody>
      </p:sp>
      <p:sp>
        <p:nvSpPr>
          <p:cNvPr id="19" name="card-t-2"/>
          <p:cNvSpPr txBox="1"/>
          <p:nvPr/>
        </p:nvSpPr>
        <p:spPr>
          <a:xfrm>
            <a:off x="6507328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Тоон ул мөр, инцидентийн шинжилгээ</a:t>
            </a:r>
            <a:endParaRPr lang="en-US" sz="1800" dirty="0"/>
          </a:p>
        </p:txBody>
      </p:sp>
      <p:sp>
        <p:nvSpPr>
          <p:cNvPr id="20" name="card-3"/>
          <p:cNvSpPr/>
          <p:nvPr/>
        </p:nvSpPr>
        <p:spPr>
          <a:xfrm>
            <a:off x="9075191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1" name="card-icon-3-bg"/>
          <p:cNvSpPr/>
          <p:nvPr/>
        </p:nvSpPr>
        <p:spPr>
          <a:xfrm>
            <a:off x="9349511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2309774"/>
            <a:ext cx="409651" cy="409651"/>
          </a:xfrm>
          <a:prstGeom prst="rect">
            <a:avLst/>
          </a:prstGeom>
        </p:spPr>
      </p:pic>
      <p:sp>
        <p:nvSpPr>
          <p:cNvPr id="23" name="card-h-3"/>
          <p:cNvSpPr txBox="1"/>
          <p:nvPr/>
        </p:nvSpPr>
        <p:spPr>
          <a:xfrm>
            <a:off x="9349511" y="3108960"/>
            <a:ext cx="2019224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Систем, зохион байгуулалтад дуртай</a:t>
            </a:r>
            <a:endParaRPr lang="en-US" sz="2000" dirty="0"/>
          </a:p>
        </p:txBody>
      </p:sp>
      <p:sp>
        <p:nvSpPr>
          <p:cNvPr id="24" name="card-t-3"/>
          <p:cNvSpPr txBox="1"/>
          <p:nvPr/>
        </p:nvSpPr>
        <p:spPr>
          <a:xfrm>
            <a:off x="9349511" y="4465320"/>
            <a:ext cx="2019224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→ Сүлжээний инженер, архитектор, GRC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ХЭЛЭЛЦҮҮЛЭГ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Халдагчийн аргыг судалдаг Red Team мэргэжилтэн ба гэмт хэрэгтэн хакер хоёрын үндсэн ялгаа юу вэ?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Кибер аюулгүй байдал олон салбартай: сүлжээ, систем, программ, криптографи, SOC, GRC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NICE Framework нь ажлын үүрэг бүрт шаардлагатай мэдлэг, ур чадварыг тодорхойлдог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Хөтөлбөрийн хичээл бүр тодорхой мэргэших чиглэлийн суурь болдог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NICE Framework-ээс 2 ажлын үүрэг сонгож, шаардагдах мэдлэг, ур чадварыг харьцуулсан хүснэгт гаргах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Сонирхсон чиглэлийн мэргэжилтэнтэй (ахлах курсын сонсогч, төгсөгч) 15 минут ярилцаж тэмдэглэх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ДАДЛАГА_03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Мэргэших чиглэлүүдийг турших: станцын дадлага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NIST SP 800-181 Rev.1, NICE Workforce Framework for Cybersecurity   ·   Кибер аюулгүй байдлын бакалаврын хөтөлбөр (103103), 2.5.4 хэсэг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3. Мэдлэгийн салбар, мэргэших чиглэл ба ажлын үүрэг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