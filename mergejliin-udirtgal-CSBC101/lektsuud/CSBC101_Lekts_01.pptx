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02c982a1-004b-9db2-3144-52651dac204c}">
          <p14:sldIdLst>
            <p14:sldId id="256"/>
          </p14:sldIdLst>
        </p14:section>
        <p14:section name="Зорилго" id="{68deba3c-74e6-bdc9-cb31-1f8e939900fc}">
          <p14:sldIdLst>
            <p14:sldId id="257"/>
          </p14:sldIdLst>
        </p14:section>
        <p14:section name="Агуулга" id="{eb1c8ed4-3636-f31e-4dad-c423299b71e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Дүгнэлт" id="{d6595e5e-874f-7a1c-7ae8-66dd81521c6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1. Кибер аюулгүй байдал — мэргэжлийн танилцуулга.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Хичээлийн цагийн хуваарилалт, үнэлгээний бүтцийг танилцуулна. Лекц бүрийн дараа тухайн сэдэвтэй уялдсан 4 цагийн дадлага болно.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Кибер орон зай нь зөвхөн техник биш, хүн ба процессыг агуулдаг гэдгийг онцлох. Сонсогчдоос өдөр тутам ашигладаг цахим үйлчилгээг асууж жишээ болгох.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Жишээ асуулт: Банкны апп ажиллахгүй болбол аль шинж зөрчигдсөн бэ? (хүртээмж). Дүн өөрчлөгдвөл? (бүрэн бүтэн байдал).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CSF 2.0 (2024) нь өмнөх 5 чиг үүрэг дээр 'Govern'-ийг нэмсэн. Хөтөлбөрийн хичээлүүд эдгээр чиг үүрэг тус бүрт мэргэжилтэн бэлтгэдэг.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Тоонууд нь эх сурвалжтай. Монголд цахим шилжилт эрчимжиж, төрийн үйлчилгээ, банк, батлан хамгаалах систем цахимжиж байгаа нь мэргэжилтний эрэлтийг өсгөж байгааг тайлбарлах.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Кибер аюулгүй байдлын бакалаврын хөтөлбөр (индекс 103103), 'Тэнхимийн сургалт явуулж ирсэн түүх' хэсэг.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Мэргэжилтний ажил 'хакердах' гэдгээр хязгаарлагдахгүй. Ихэнх ажил хамгаалах, илрүүлэх, тайлагнахад чиглэдгийг онцлох.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Хөтөлбөрийн зорилго: төрийн цэргийн болон хууль сахиулах байгууллагад мэргэжлийн түвшинд ажиллах чадвартай, ёс зүйтэй мэргэжилтэн бэлтгэх.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5–7 минутын хос хэлэлцүүлэг. 2–3 хосоос хариулт сонсож, CIA гурвалтай холбож дүгнэнэ.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ЛЕКЦ_01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Кибер аюулгүй байдал — мэргэжлийн танилцуулга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CLO-1</a:t>
            </a:r>
            <a:endParaRPr lang="en-US" sz="1200" dirty="0"/>
          </a:p>
        </p:txBody>
      </p:sp>
      <p:sp>
        <p:nvSpPr>
          <p:cNvPr id="5" name="clo-chip-1"/>
          <p:cNvSpPr/>
          <p:nvPr/>
        </p:nvSpPr>
        <p:spPr>
          <a:xfrm>
            <a:off x="173736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clo-text-1"/>
          <p:cNvSpPr txBox="1"/>
          <p:nvPr/>
        </p:nvSpPr>
        <p:spPr>
          <a:xfrm>
            <a:off x="173736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CLO-8</a:t>
            </a:r>
            <a:endParaRPr lang="en-US" sz="1200" dirty="0"/>
          </a:p>
        </p:txBody>
      </p:sp>
      <p:sp>
        <p:nvSpPr>
          <p:cNvPr id="7" name="clo-label"/>
          <p:cNvSpPr txBox="1"/>
          <p:nvPr/>
        </p:nvSpPr>
        <p:spPr>
          <a:xfrm>
            <a:off x="297180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8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9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11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орон зай, кибер аюулгүй байдлын үндсэн ойлголттой танилцах</a:t>
            </a:r>
            <a:endParaRPr lang="en-US" sz="1600" dirty="0"/>
          </a:p>
        </p:txBody>
      </p:sp>
      <p:sp>
        <p:nvSpPr>
          <p:cNvPr id="12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4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нийгэм, батлан хамгаалахад гүйцэтгэх үүргийг ойлгох</a:t>
            </a:r>
            <a:endParaRPr lang="en-US" sz="1600" dirty="0"/>
          </a:p>
        </p:txBody>
      </p:sp>
      <p:sp>
        <p:nvSpPr>
          <p:cNvPr id="15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7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Хичээлийн бүтэц, үнэлгээ, дадлагын зохион байгуулалтыг мэдэх</a:t>
            </a:r>
            <a:endParaRPr lang="en-US" sz="1600" dirty="0"/>
          </a:p>
        </p:txBody>
      </p:sp>
      <p:sp>
        <p:nvSpPr>
          <p:cNvPr id="18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9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20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Хичээлийн бүтэц ба үнэлгээ</a:t>
            </a:r>
            <a:endParaRPr lang="en-US" sz="1600" dirty="0"/>
          </a:p>
        </p:txBody>
      </p:sp>
      <p:sp>
        <p:nvSpPr>
          <p:cNvPr id="22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орон зай ба кибер аюулгүй байдал</a:t>
            </a:r>
            <a:endParaRPr lang="en-US" sz="1600" dirty="0"/>
          </a:p>
        </p:txBody>
      </p:sp>
      <p:sp>
        <p:nvSpPr>
          <p:cNvPr id="24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CIA гурвал ба NIST CSF 2.0</a:t>
            </a:r>
            <a:endParaRPr lang="en-US" sz="1600" dirty="0"/>
          </a:p>
        </p:txBody>
      </p:sp>
      <p:sp>
        <p:nvSpPr>
          <p:cNvPr id="26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Яагаад энэ мэргэжил чухал вэ</a:t>
            </a:r>
            <a:endParaRPr lang="en-US" sz="1600" dirty="0"/>
          </a:p>
        </p:txBody>
      </p:sp>
      <p:sp>
        <p:nvSpPr>
          <p:cNvPr id="28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Монгол Улс ба ҮБХИС дахь кибер аюулгүй байдал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Хичээлийн бүтэц: 2 кредит, 96 цаг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548640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stat-n-0"/>
          <p:cNvSpPr txBox="1"/>
          <p:nvPr/>
        </p:nvSpPr>
        <p:spPr>
          <a:xfrm>
            <a:off x="822960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</a:t>
            </a:r>
            <a:endParaRPr lang="en-US" sz="4400" dirty="0"/>
          </a:p>
        </p:txBody>
      </p:sp>
      <p:sp>
        <p:nvSpPr>
          <p:cNvPr id="6" name="stat-l-0"/>
          <p:cNvSpPr txBox="1"/>
          <p:nvPr/>
        </p:nvSpPr>
        <p:spPr>
          <a:xfrm>
            <a:off x="822960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цаг лекц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(2 цагаар 8 удаа)</a:t>
            </a:r>
            <a:endParaRPr lang="en-US" sz="2000" dirty="0"/>
          </a:p>
        </p:txBody>
      </p:sp>
      <p:sp>
        <p:nvSpPr>
          <p:cNvPr id="7" name="stat-card-1"/>
          <p:cNvSpPr/>
          <p:nvPr/>
        </p:nvSpPr>
        <p:spPr>
          <a:xfrm>
            <a:off x="3390824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8" name="stat-n-1"/>
          <p:cNvSpPr txBox="1"/>
          <p:nvPr/>
        </p:nvSpPr>
        <p:spPr>
          <a:xfrm>
            <a:off x="3665144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32</a:t>
            </a:r>
            <a:endParaRPr lang="en-US" sz="4400" dirty="0"/>
          </a:p>
        </p:txBody>
      </p:sp>
      <p:sp>
        <p:nvSpPr>
          <p:cNvPr id="9" name="stat-l-1"/>
          <p:cNvSpPr txBox="1"/>
          <p:nvPr/>
        </p:nvSpPr>
        <p:spPr>
          <a:xfrm>
            <a:off x="3665144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цаг дадлага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(4 цагаар 8 удаа)</a:t>
            </a:r>
            <a:endParaRPr lang="en-US" sz="2000" dirty="0"/>
          </a:p>
        </p:txBody>
      </p:sp>
      <p:sp>
        <p:nvSpPr>
          <p:cNvPr id="10" name="stat-card-2"/>
          <p:cNvSpPr/>
          <p:nvPr/>
        </p:nvSpPr>
        <p:spPr>
          <a:xfrm>
            <a:off x="6233008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1" name="stat-n-2"/>
          <p:cNvSpPr txBox="1"/>
          <p:nvPr/>
        </p:nvSpPr>
        <p:spPr>
          <a:xfrm>
            <a:off x="6507328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48</a:t>
            </a:r>
            <a:endParaRPr lang="en-US" sz="4400" dirty="0"/>
          </a:p>
        </p:txBody>
      </p:sp>
      <p:sp>
        <p:nvSpPr>
          <p:cNvPr id="12" name="stat-l-2"/>
          <p:cNvSpPr txBox="1"/>
          <p:nvPr/>
        </p:nvSpPr>
        <p:spPr>
          <a:xfrm>
            <a:off x="6507328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цаг бие даалт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(2 бие даалтын ажил)</a:t>
            </a:r>
            <a:endParaRPr lang="en-US" sz="2000" dirty="0"/>
          </a:p>
        </p:txBody>
      </p:sp>
      <p:sp>
        <p:nvSpPr>
          <p:cNvPr id="13" name="stat-card-3"/>
          <p:cNvSpPr/>
          <p:nvPr/>
        </p:nvSpPr>
        <p:spPr>
          <a:xfrm>
            <a:off x="9075191" y="1325880"/>
            <a:ext cx="2567864" cy="41148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4" name="stat-n-3"/>
          <p:cNvSpPr txBox="1"/>
          <p:nvPr/>
        </p:nvSpPr>
        <p:spPr>
          <a:xfrm>
            <a:off x="9349511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100</a:t>
            </a:r>
            <a:endParaRPr lang="en-US" sz="4400" dirty="0"/>
          </a:p>
        </p:txBody>
      </p:sp>
      <p:sp>
        <p:nvSpPr>
          <p:cNvPr id="15" name="stat-l-3"/>
          <p:cNvSpPr txBox="1"/>
          <p:nvPr/>
        </p:nvSpPr>
        <p:spPr>
          <a:xfrm>
            <a:off x="9349511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онооны үнэлгээ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(явц + шалгалт)</a:t>
            </a:r>
            <a:endParaRPr lang="en-US" sz="2000" dirty="0"/>
          </a:p>
        </p:txBody>
      </p:sp>
      <p:sp>
        <p:nvSpPr>
          <p:cNvPr id="16" name="stat-note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Үнэлгээ: ирц, идэвх 10 · дадлагын ажил 40 · бие даалт 20 · явцын шалгалт 30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орон зай гэж юу вэ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Мэдээллийн технологийн дэд бүтэц, түүгээр дамжих өгөгдөл, түүнийг ашиглах хүмүүсийн харилцан уялдаатай орчин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Төхөөрөмж, дэд бүтэц</a:t>
            </a:r>
            <a:endParaRPr lang="en-US" sz="20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Компьютер, сервер, утас, IoT, сүлжээний тоног төхөөрөмж</a:t>
            </a:r>
            <a:endParaRPr lang="en-US" sz="1800" dirty="0"/>
          </a:p>
        </p:txBody>
      </p:sp>
      <p:sp>
        <p:nvSpPr>
          <p:cNvPr id="10" name="card-1"/>
          <p:cNvSpPr/>
          <p:nvPr/>
        </p:nvSpPr>
        <p:spPr>
          <a:xfrm>
            <a:off x="3390824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3665144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230977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3665144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Программ, үйлчилгээ</a:t>
            </a:r>
            <a:endParaRPr lang="en-US" sz="2000" dirty="0"/>
          </a:p>
        </p:txBody>
      </p:sp>
      <p:sp>
        <p:nvSpPr>
          <p:cNvPr id="14" name="card-t-1"/>
          <p:cNvSpPr txBox="1"/>
          <p:nvPr/>
        </p:nvSpPr>
        <p:spPr>
          <a:xfrm>
            <a:off x="3665144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Үйлдлийн систем, хэрэглээний программ, вэб, үүлэн үйлчилгээ</a:t>
            </a:r>
            <a:endParaRPr lang="en-US" sz="1800" dirty="0"/>
          </a:p>
        </p:txBody>
      </p:sp>
      <p:sp>
        <p:nvSpPr>
          <p:cNvPr id="15" name="card-2"/>
          <p:cNvSpPr/>
          <p:nvPr/>
        </p:nvSpPr>
        <p:spPr>
          <a:xfrm>
            <a:off x="6233008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6" name="card-icon-2-bg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18" name="card-h-2"/>
          <p:cNvSpPr txBox="1"/>
          <p:nvPr/>
        </p:nvSpPr>
        <p:spPr>
          <a:xfrm>
            <a:off x="6507328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Өгөгдөл, мэдээлэл</a:t>
            </a:r>
            <a:endParaRPr lang="en-US" sz="2000" dirty="0"/>
          </a:p>
        </p:txBody>
      </p:sp>
      <p:sp>
        <p:nvSpPr>
          <p:cNvPr id="19" name="card-t-2"/>
          <p:cNvSpPr txBox="1"/>
          <p:nvPr/>
        </p:nvSpPr>
        <p:spPr>
          <a:xfrm>
            <a:off x="6507328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Хувийн, байгууллагын, төрийн болон цэргийн нууц мэдээлэл</a:t>
            </a:r>
            <a:endParaRPr lang="en-US" sz="1800" dirty="0"/>
          </a:p>
        </p:txBody>
      </p:sp>
      <p:sp>
        <p:nvSpPr>
          <p:cNvPr id="20" name="card-3"/>
          <p:cNvSpPr/>
          <p:nvPr/>
        </p:nvSpPr>
        <p:spPr>
          <a:xfrm>
            <a:off x="9075191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1" name="card-icon-3-bg"/>
          <p:cNvSpPr/>
          <p:nvPr/>
        </p:nvSpPr>
        <p:spPr>
          <a:xfrm>
            <a:off x="9349511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2309774"/>
            <a:ext cx="409651" cy="409651"/>
          </a:xfrm>
          <a:prstGeom prst="rect">
            <a:avLst/>
          </a:prstGeom>
        </p:spPr>
      </p:pic>
      <p:sp>
        <p:nvSpPr>
          <p:cNvPr id="23" name="card-h-3"/>
          <p:cNvSpPr txBox="1"/>
          <p:nvPr/>
        </p:nvSpPr>
        <p:spPr>
          <a:xfrm>
            <a:off x="9349511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Хүн ба процесс</a:t>
            </a:r>
            <a:endParaRPr lang="en-US" sz="2000" dirty="0"/>
          </a:p>
        </p:txBody>
      </p:sp>
      <p:sp>
        <p:nvSpPr>
          <p:cNvPr id="24" name="card-t-3"/>
          <p:cNvSpPr txBox="1"/>
          <p:nvPr/>
        </p:nvSpPr>
        <p:spPr>
          <a:xfrm>
            <a:off x="9349511" y="3855720"/>
            <a:ext cx="2019224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Хэрэглэгч, админ, дүрэм журам, ажлын үйл явц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аюулгүй байдлын суурь: CIA гурвал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Мэдээллийн аюулгүй байдлын бүх арга хэмжээ эдгээр гурван шинжийг хамгаалахад чиглэнэ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Нууцлал</a:t>
            </a:r>
            <a:endParaRPr lang="en-US" sz="2000" dirty="0"/>
          </a:p>
        </p:txBody>
      </p:sp>
      <p:sp>
        <p:nvSpPr>
          <p:cNvPr id="9" name="card-sub-0"/>
          <p:cNvSpPr txBox="1"/>
          <p:nvPr/>
        </p:nvSpPr>
        <p:spPr>
          <a:xfrm>
            <a:off x="822960" y="35509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Confidentiality</a:t>
            </a:r>
            <a:endParaRPr lang="en-US" sz="1400" dirty="0"/>
          </a:p>
        </p:txBody>
      </p:sp>
      <p:sp>
        <p:nvSpPr>
          <p:cNvPr id="10" name="card-t-0"/>
          <p:cNvSpPr txBox="1"/>
          <p:nvPr/>
        </p:nvSpPr>
        <p:spPr>
          <a:xfrm>
            <a:off x="822960" y="3962400"/>
            <a:ext cx="296661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Мэдээлэлд зөвхөн эрх бүхий этгээд хандана. Жишээ: шифрлэлт, хандалтын хяналт</a:t>
            </a:r>
            <a:endParaRPr lang="en-US" sz="1800" dirty="0"/>
          </a:p>
        </p:txBody>
      </p:sp>
      <p:sp>
        <p:nvSpPr>
          <p:cNvPr id="11" name="card-1"/>
          <p:cNvSpPr/>
          <p:nvPr/>
        </p:nvSpPr>
        <p:spPr>
          <a:xfrm>
            <a:off x="4338218" y="182880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2" name="card-icon-1-bg"/>
          <p:cNvSpPr/>
          <p:nvPr/>
        </p:nvSpPr>
        <p:spPr>
          <a:xfrm>
            <a:off x="461253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473" y="2309774"/>
            <a:ext cx="409651" cy="409651"/>
          </a:xfrm>
          <a:prstGeom prst="rect">
            <a:avLst/>
          </a:prstGeom>
        </p:spPr>
      </p:pic>
      <p:sp>
        <p:nvSpPr>
          <p:cNvPr id="14" name="card-h-1"/>
          <p:cNvSpPr txBox="1"/>
          <p:nvPr/>
        </p:nvSpPr>
        <p:spPr>
          <a:xfrm>
            <a:off x="4612538" y="310896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Бүрэн бүтэн байдал</a:t>
            </a:r>
            <a:endParaRPr lang="en-US" sz="2000" dirty="0"/>
          </a:p>
        </p:txBody>
      </p:sp>
      <p:sp>
        <p:nvSpPr>
          <p:cNvPr id="15" name="card-sub-1"/>
          <p:cNvSpPr txBox="1"/>
          <p:nvPr/>
        </p:nvSpPr>
        <p:spPr>
          <a:xfrm>
            <a:off x="4612538" y="35509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Integrity</a:t>
            </a:r>
            <a:endParaRPr lang="en-US" sz="1400" dirty="0"/>
          </a:p>
        </p:txBody>
      </p:sp>
      <p:sp>
        <p:nvSpPr>
          <p:cNvPr id="16" name="card-t-1"/>
          <p:cNvSpPr txBox="1"/>
          <p:nvPr/>
        </p:nvSpPr>
        <p:spPr>
          <a:xfrm>
            <a:off x="4612538" y="3962400"/>
            <a:ext cx="296661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Мэдээлэл зөвшөөрөлгүй өөрчлөгдөхгүй. Жишээ: хэш, тоон гарын үсэг</a:t>
            </a:r>
            <a:endParaRPr lang="en-US" sz="1800" dirty="0"/>
          </a:p>
        </p:txBody>
      </p:sp>
      <p:sp>
        <p:nvSpPr>
          <p:cNvPr id="17" name="card-2"/>
          <p:cNvSpPr/>
          <p:nvPr/>
        </p:nvSpPr>
        <p:spPr>
          <a:xfrm>
            <a:off x="8127797" y="182880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8" name="card-icon-2-bg"/>
          <p:cNvSpPr/>
          <p:nvPr/>
        </p:nvSpPr>
        <p:spPr>
          <a:xfrm>
            <a:off x="8402117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051" y="2309774"/>
            <a:ext cx="409651" cy="409651"/>
          </a:xfrm>
          <a:prstGeom prst="rect">
            <a:avLst/>
          </a:prstGeom>
        </p:spPr>
      </p:pic>
      <p:sp>
        <p:nvSpPr>
          <p:cNvPr id="20" name="card-h-2"/>
          <p:cNvSpPr txBox="1"/>
          <p:nvPr/>
        </p:nvSpPr>
        <p:spPr>
          <a:xfrm>
            <a:off x="8402117" y="310896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Хүртээмж</a:t>
            </a:r>
            <a:endParaRPr lang="en-US" sz="2000" dirty="0"/>
          </a:p>
        </p:txBody>
      </p:sp>
      <p:sp>
        <p:nvSpPr>
          <p:cNvPr id="21" name="card-sub-2"/>
          <p:cNvSpPr txBox="1"/>
          <p:nvPr/>
        </p:nvSpPr>
        <p:spPr>
          <a:xfrm>
            <a:off x="8402117" y="35509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22" name="card-t-2"/>
          <p:cNvSpPr txBox="1"/>
          <p:nvPr/>
        </p:nvSpPr>
        <p:spPr>
          <a:xfrm>
            <a:off x="8402117" y="3962400"/>
            <a:ext cx="296661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Хэрэгтэй үед систем, мэдээлэл ашиглах боломжтой. Жишээ: нөөцлөлт, DDoS хамгаалалт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NIST Cybersecurity Framework 2.0: зургаан үндсэн чиг үүрэг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Кибер аюулгүй байдал бол нэг удаагийн ажил биш, тасралтгүй мөчлөг</a:t>
            </a:r>
            <a:endParaRPr lang="en-US" sz="1600" dirty="0"/>
          </a:p>
        </p:txBody>
      </p:sp>
      <p:sp>
        <p:nvSpPr>
          <p:cNvPr id="5" name="step-0"/>
          <p:cNvSpPr/>
          <p:nvPr/>
        </p:nvSpPr>
        <p:spPr>
          <a:xfrm>
            <a:off x="548640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6" name="step-dot-0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-num-0"/>
          <p:cNvSpPr txBox="1"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tep-h-0"/>
          <p:cNvSpPr txBox="1"/>
          <p:nvPr/>
        </p:nvSpPr>
        <p:spPr>
          <a:xfrm>
            <a:off x="731520" y="2880360"/>
            <a:ext cx="1193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Засаглах</a:t>
            </a:r>
            <a:endParaRPr lang="en-US" sz="1800" dirty="0"/>
          </a:p>
        </p:txBody>
      </p:sp>
      <p:sp>
        <p:nvSpPr>
          <p:cNvPr id="9" name="step-sub-0"/>
          <p:cNvSpPr txBox="1"/>
          <p:nvPr/>
        </p:nvSpPr>
        <p:spPr>
          <a:xfrm>
            <a:off x="731520" y="33375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Govern</a:t>
            </a:r>
            <a:endParaRPr lang="en-US" sz="1200" dirty="0"/>
          </a:p>
        </p:txBody>
      </p:sp>
      <p:sp>
        <p:nvSpPr>
          <p:cNvPr id="10" name="step-t-0"/>
          <p:cNvSpPr txBox="1"/>
          <p:nvPr/>
        </p:nvSpPr>
        <p:spPr>
          <a:xfrm>
            <a:off x="731520" y="3749040"/>
            <a:ext cx="119374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Стратеги, бодлого, үүрэг хариуцлага</a:t>
            </a:r>
            <a:endParaRPr lang="en-US" sz="1600" dirty="0"/>
          </a:p>
        </p:txBody>
      </p:sp>
      <p:sp>
        <p:nvSpPr>
          <p:cNvPr id="11" name="step-arrow-0"/>
          <p:cNvSpPr/>
          <p:nvPr/>
        </p:nvSpPr>
        <p:spPr>
          <a:xfrm>
            <a:off x="2135581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2" name="step-1"/>
          <p:cNvSpPr/>
          <p:nvPr/>
        </p:nvSpPr>
        <p:spPr>
          <a:xfrm>
            <a:off x="2464765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13" name="step-dot-1"/>
          <p:cNvSpPr/>
          <p:nvPr/>
        </p:nvSpPr>
        <p:spPr>
          <a:xfrm>
            <a:off x="2647645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1"/>
          <p:cNvSpPr txBox="1"/>
          <p:nvPr/>
        </p:nvSpPr>
        <p:spPr>
          <a:xfrm>
            <a:off x="264764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tep-h-1"/>
          <p:cNvSpPr txBox="1"/>
          <p:nvPr/>
        </p:nvSpPr>
        <p:spPr>
          <a:xfrm>
            <a:off x="2647645" y="2880360"/>
            <a:ext cx="1193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Тодорхойлох</a:t>
            </a:r>
            <a:endParaRPr lang="en-US" sz="1400" dirty="0"/>
          </a:p>
        </p:txBody>
      </p:sp>
      <p:sp>
        <p:nvSpPr>
          <p:cNvPr id="16" name="step-sub-1"/>
          <p:cNvSpPr txBox="1"/>
          <p:nvPr/>
        </p:nvSpPr>
        <p:spPr>
          <a:xfrm>
            <a:off x="2647645" y="33375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Identify</a:t>
            </a:r>
            <a:endParaRPr lang="en-US" sz="1200" dirty="0"/>
          </a:p>
        </p:txBody>
      </p:sp>
      <p:sp>
        <p:nvSpPr>
          <p:cNvPr id="17" name="step-t-1"/>
          <p:cNvSpPr txBox="1"/>
          <p:nvPr/>
        </p:nvSpPr>
        <p:spPr>
          <a:xfrm>
            <a:off x="2647645" y="3749040"/>
            <a:ext cx="119374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Хөрөнгө, эрсдэлийг тодорхойлох</a:t>
            </a:r>
            <a:endParaRPr lang="en-US" sz="1600" dirty="0"/>
          </a:p>
        </p:txBody>
      </p:sp>
      <p:sp>
        <p:nvSpPr>
          <p:cNvPr id="18" name="step-arrow-1"/>
          <p:cNvSpPr/>
          <p:nvPr/>
        </p:nvSpPr>
        <p:spPr>
          <a:xfrm>
            <a:off x="4051706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tep-2"/>
          <p:cNvSpPr/>
          <p:nvPr/>
        </p:nvSpPr>
        <p:spPr>
          <a:xfrm>
            <a:off x="4380890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20" name="step-dot-2"/>
          <p:cNvSpPr/>
          <p:nvPr/>
        </p:nvSpPr>
        <p:spPr>
          <a:xfrm>
            <a:off x="456377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-num-2"/>
          <p:cNvSpPr txBox="1"/>
          <p:nvPr/>
        </p:nvSpPr>
        <p:spPr>
          <a:xfrm>
            <a:off x="456377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tep-h-2"/>
          <p:cNvSpPr txBox="1"/>
          <p:nvPr/>
        </p:nvSpPr>
        <p:spPr>
          <a:xfrm>
            <a:off x="4563770" y="2880360"/>
            <a:ext cx="1193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Хамгаалах</a:t>
            </a:r>
            <a:endParaRPr lang="en-US" sz="1700" dirty="0"/>
          </a:p>
        </p:txBody>
      </p:sp>
      <p:sp>
        <p:nvSpPr>
          <p:cNvPr id="23" name="step-sub-2"/>
          <p:cNvSpPr txBox="1"/>
          <p:nvPr/>
        </p:nvSpPr>
        <p:spPr>
          <a:xfrm>
            <a:off x="4563770" y="33375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Protect</a:t>
            </a:r>
            <a:endParaRPr lang="en-US" sz="1200" dirty="0"/>
          </a:p>
        </p:txBody>
      </p:sp>
      <p:sp>
        <p:nvSpPr>
          <p:cNvPr id="24" name="step-t-2"/>
          <p:cNvSpPr txBox="1"/>
          <p:nvPr/>
        </p:nvSpPr>
        <p:spPr>
          <a:xfrm>
            <a:off x="4563770" y="3749040"/>
            <a:ext cx="119374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Хандалт, шифрлэлт, сургалт</a:t>
            </a:r>
            <a:endParaRPr lang="en-US" sz="1600" dirty="0"/>
          </a:p>
        </p:txBody>
      </p:sp>
      <p:sp>
        <p:nvSpPr>
          <p:cNvPr id="25" name="step-arrow-2"/>
          <p:cNvSpPr/>
          <p:nvPr/>
        </p:nvSpPr>
        <p:spPr>
          <a:xfrm>
            <a:off x="5967832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6" name="step-3"/>
          <p:cNvSpPr/>
          <p:nvPr/>
        </p:nvSpPr>
        <p:spPr>
          <a:xfrm>
            <a:off x="6297016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27" name="step-dot-3"/>
          <p:cNvSpPr/>
          <p:nvPr/>
        </p:nvSpPr>
        <p:spPr>
          <a:xfrm>
            <a:off x="6479896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step-num-3"/>
          <p:cNvSpPr txBox="1"/>
          <p:nvPr/>
        </p:nvSpPr>
        <p:spPr>
          <a:xfrm>
            <a:off x="647989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tep-h-3"/>
          <p:cNvSpPr txBox="1"/>
          <p:nvPr/>
        </p:nvSpPr>
        <p:spPr>
          <a:xfrm>
            <a:off x="6479896" y="2880360"/>
            <a:ext cx="1193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Илрүүлэх</a:t>
            </a:r>
            <a:endParaRPr lang="en-US" sz="1800" dirty="0"/>
          </a:p>
        </p:txBody>
      </p:sp>
      <p:sp>
        <p:nvSpPr>
          <p:cNvPr id="30" name="step-sub-3"/>
          <p:cNvSpPr txBox="1"/>
          <p:nvPr/>
        </p:nvSpPr>
        <p:spPr>
          <a:xfrm>
            <a:off x="6479896" y="33375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Detect</a:t>
            </a:r>
            <a:endParaRPr lang="en-US" sz="1200" dirty="0"/>
          </a:p>
        </p:txBody>
      </p:sp>
      <p:sp>
        <p:nvSpPr>
          <p:cNvPr id="31" name="step-t-3"/>
          <p:cNvSpPr txBox="1"/>
          <p:nvPr/>
        </p:nvSpPr>
        <p:spPr>
          <a:xfrm>
            <a:off x="6479896" y="3749040"/>
            <a:ext cx="119374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Хяналт, лог, аномали илрүүлэлт</a:t>
            </a:r>
            <a:endParaRPr lang="en-US" sz="1600" dirty="0"/>
          </a:p>
        </p:txBody>
      </p:sp>
      <p:sp>
        <p:nvSpPr>
          <p:cNvPr id="32" name="step-arrow-3"/>
          <p:cNvSpPr/>
          <p:nvPr/>
        </p:nvSpPr>
        <p:spPr>
          <a:xfrm>
            <a:off x="7883957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3" name="step-4"/>
          <p:cNvSpPr/>
          <p:nvPr/>
        </p:nvSpPr>
        <p:spPr>
          <a:xfrm>
            <a:off x="8213141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34" name="step-dot-4"/>
          <p:cNvSpPr/>
          <p:nvPr/>
        </p:nvSpPr>
        <p:spPr>
          <a:xfrm>
            <a:off x="8396021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tep-num-4"/>
          <p:cNvSpPr txBox="1"/>
          <p:nvPr/>
        </p:nvSpPr>
        <p:spPr>
          <a:xfrm>
            <a:off x="8396021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tep-h-4"/>
          <p:cNvSpPr txBox="1"/>
          <p:nvPr/>
        </p:nvSpPr>
        <p:spPr>
          <a:xfrm>
            <a:off x="8396021" y="2880360"/>
            <a:ext cx="1193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Хариу өгөх</a:t>
            </a:r>
            <a:endParaRPr lang="en-US" sz="1800" dirty="0"/>
          </a:p>
        </p:txBody>
      </p:sp>
      <p:sp>
        <p:nvSpPr>
          <p:cNvPr id="37" name="step-sub-4"/>
          <p:cNvSpPr txBox="1"/>
          <p:nvPr/>
        </p:nvSpPr>
        <p:spPr>
          <a:xfrm>
            <a:off x="8396021" y="35661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Respond</a:t>
            </a:r>
            <a:endParaRPr lang="en-US" sz="1200" dirty="0"/>
          </a:p>
        </p:txBody>
      </p:sp>
      <p:sp>
        <p:nvSpPr>
          <p:cNvPr id="38" name="step-t-4"/>
          <p:cNvSpPr txBox="1"/>
          <p:nvPr/>
        </p:nvSpPr>
        <p:spPr>
          <a:xfrm>
            <a:off x="8396021" y="3977640"/>
            <a:ext cx="11937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Инцидентийг хязгаарлах, шинжлэх</a:t>
            </a:r>
            <a:endParaRPr lang="en-US" sz="1600" dirty="0"/>
          </a:p>
        </p:txBody>
      </p:sp>
      <p:sp>
        <p:nvSpPr>
          <p:cNvPr id="39" name="step-arrow-4"/>
          <p:cNvSpPr/>
          <p:nvPr/>
        </p:nvSpPr>
        <p:spPr>
          <a:xfrm>
            <a:off x="9800082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40" name="step-5"/>
          <p:cNvSpPr/>
          <p:nvPr/>
        </p:nvSpPr>
        <p:spPr>
          <a:xfrm>
            <a:off x="10129266" y="1965960"/>
            <a:ext cx="1513789" cy="4023360"/>
          </a:xfrm>
          <a:prstGeom prst="roundRect">
            <a:avLst>
              <a:gd name="adj" fmla="val 6040"/>
            </a:avLst>
          </a:prstGeom>
          <a:solidFill>
            <a:schemeClr val="bg2"/>
          </a:solidFill>
          <a:ln/>
        </p:spPr>
      </p:sp>
      <p:sp>
        <p:nvSpPr>
          <p:cNvPr id="41" name="step-dot-5"/>
          <p:cNvSpPr/>
          <p:nvPr/>
        </p:nvSpPr>
        <p:spPr>
          <a:xfrm>
            <a:off x="10312146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step-num-5"/>
          <p:cNvSpPr txBox="1"/>
          <p:nvPr/>
        </p:nvSpPr>
        <p:spPr>
          <a:xfrm>
            <a:off x="1031214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43" name="step-h-5"/>
          <p:cNvSpPr txBox="1"/>
          <p:nvPr/>
        </p:nvSpPr>
        <p:spPr>
          <a:xfrm>
            <a:off x="10312146" y="2880360"/>
            <a:ext cx="11937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Сэргээх</a:t>
            </a:r>
            <a:endParaRPr lang="en-US" sz="1800" dirty="0"/>
          </a:p>
        </p:txBody>
      </p:sp>
      <p:sp>
        <p:nvSpPr>
          <p:cNvPr id="44" name="step-sub-5"/>
          <p:cNvSpPr txBox="1"/>
          <p:nvPr/>
        </p:nvSpPr>
        <p:spPr>
          <a:xfrm>
            <a:off x="10312146" y="3337560"/>
            <a:ext cx="1239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Recover</a:t>
            </a:r>
            <a:endParaRPr lang="en-US" sz="1200" dirty="0"/>
          </a:p>
        </p:txBody>
      </p:sp>
      <p:sp>
        <p:nvSpPr>
          <p:cNvPr id="45" name="step-t-5"/>
          <p:cNvSpPr txBox="1"/>
          <p:nvPr/>
        </p:nvSpPr>
        <p:spPr>
          <a:xfrm>
            <a:off x="10312146" y="3749040"/>
            <a:ext cx="119374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Үйл ажиллагааг сэргээх, сургамж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Яагаад энэ мэргэжил чухал вэ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tat-n-0"/>
          <p:cNvSpPr txBox="1"/>
          <p:nvPr/>
        </p:nvSpPr>
        <p:spPr>
          <a:xfrm>
            <a:off x="822960" y="17373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4.8 сая</a:t>
            </a:r>
            <a:endParaRPr lang="en-US" sz="5000" dirty="0"/>
          </a:p>
        </p:txBody>
      </p:sp>
      <p:sp>
        <p:nvSpPr>
          <p:cNvPr id="6" name="stat-l-0"/>
          <p:cNvSpPr txBox="1"/>
          <p:nvPr/>
        </p:nvSpPr>
        <p:spPr>
          <a:xfrm>
            <a:off x="822960" y="30175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дэлхийд дутагдаж буй кибер мэргэжилтний тоо</a:t>
            </a:r>
            <a:endParaRPr lang="en-US" sz="2000" dirty="0"/>
          </a:p>
        </p:txBody>
      </p:sp>
      <p:sp>
        <p:nvSpPr>
          <p:cNvPr id="7" name="stat-s-0"/>
          <p:cNvSpPr txBox="1"/>
          <p:nvPr/>
        </p:nvSpPr>
        <p:spPr>
          <a:xfrm>
            <a:off x="822960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ISC2 Workforce Study, 2024</a:t>
            </a:r>
            <a:endParaRPr lang="en-US" sz="1300" dirty="0"/>
          </a:p>
        </p:txBody>
      </p:sp>
      <p:sp>
        <p:nvSpPr>
          <p:cNvPr id="8" name="stat-card-1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9" name="stat-n-1"/>
          <p:cNvSpPr txBox="1"/>
          <p:nvPr/>
        </p:nvSpPr>
        <p:spPr>
          <a:xfrm>
            <a:off x="4612538" y="17373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$4.88 сая</a:t>
            </a:r>
            <a:endParaRPr lang="en-US" sz="5000" dirty="0"/>
          </a:p>
        </p:txBody>
      </p:sp>
      <p:sp>
        <p:nvSpPr>
          <p:cNvPr id="10" name="stat-l-1"/>
          <p:cNvSpPr txBox="1"/>
          <p:nvPr/>
        </p:nvSpPr>
        <p:spPr>
          <a:xfrm>
            <a:off x="4612538" y="30175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мэдээлэл алдагдах нэг тохиолдлын дундаж хохирол</a:t>
            </a:r>
            <a:endParaRPr lang="en-US" sz="2000" dirty="0"/>
          </a:p>
        </p:txBody>
      </p:sp>
      <p:sp>
        <p:nvSpPr>
          <p:cNvPr id="11" name="stat-s-1"/>
          <p:cNvSpPr txBox="1"/>
          <p:nvPr/>
        </p:nvSpPr>
        <p:spPr>
          <a:xfrm>
            <a:off x="4612538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IBM Cost of a Data Breach, 2024</a:t>
            </a:r>
            <a:endParaRPr lang="en-US" sz="1300" dirty="0"/>
          </a:p>
        </p:txBody>
      </p:sp>
      <p:sp>
        <p:nvSpPr>
          <p:cNvPr id="12" name="stat-card-2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3" name="stat-n-2"/>
          <p:cNvSpPr txBox="1"/>
          <p:nvPr/>
        </p:nvSpPr>
        <p:spPr>
          <a:xfrm>
            <a:off x="8402117" y="17373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100%</a:t>
            </a:r>
            <a:endParaRPr lang="en-US" sz="5000" dirty="0"/>
          </a:p>
        </p:txBody>
      </p:sp>
      <p:sp>
        <p:nvSpPr>
          <p:cNvPr id="14" name="stat-l-2"/>
          <p:cNvSpPr txBox="1"/>
          <p:nvPr/>
        </p:nvSpPr>
        <p:spPr>
          <a:xfrm>
            <a:off x="8402117" y="301752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ҮБХИС-ийн өмнөх төгсөгчдийн ажлын байраар хангагдсан хувь</a:t>
            </a:r>
            <a:endParaRPr lang="en-US" sz="2000" dirty="0"/>
          </a:p>
        </p:txBody>
      </p:sp>
      <p:sp>
        <p:nvSpPr>
          <p:cNvPr id="15" name="stat-s-2"/>
          <p:cNvSpPr txBox="1"/>
          <p:nvPr/>
        </p:nvSpPr>
        <p:spPr>
          <a:xfrm>
            <a:off x="8402117" y="51663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Хөтөлбөрийн баримт бичиг, 2021–2022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Монгол Улс ба ҮБХИС: кибер аюулгүй байдлын замнал</a:t>
            </a:r>
            <a:endParaRPr lang="en-US" sz="2800" dirty="0"/>
          </a:p>
        </p:txBody>
      </p:sp>
      <p:sp>
        <p:nvSpPr>
          <p:cNvPr id="4" name="timeline-axis"/>
          <p:cNvSpPr/>
          <p:nvPr/>
        </p:nvSpPr>
        <p:spPr>
          <a:xfrm>
            <a:off x="1658082" y="2560320"/>
            <a:ext cx="8875532" cy="0"/>
          </a:xfrm>
          <a:prstGeom prst="line">
            <a:avLst/>
          </a:prstGeom>
          <a:noFill/>
          <a:ln w="38100">
            <a:solidFill>
              <a:srgbClr val="8FD3C1"/>
            </a:solidFill>
            <a:prstDash val="solid"/>
          </a:ln>
        </p:spPr>
      </p:sp>
      <p:sp>
        <p:nvSpPr>
          <p:cNvPr id="5" name="tl-year-0"/>
          <p:cNvSpPr txBox="1"/>
          <p:nvPr/>
        </p:nvSpPr>
        <p:spPr>
          <a:xfrm>
            <a:off x="640080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2017</a:t>
            </a:r>
            <a:endParaRPr lang="en-US" sz="2800" dirty="0"/>
          </a:p>
        </p:txBody>
      </p:sp>
      <p:sp>
        <p:nvSpPr>
          <p:cNvPr id="6" name="tl-dot-0"/>
          <p:cNvSpPr/>
          <p:nvPr/>
        </p:nvSpPr>
        <p:spPr>
          <a:xfrm>
            <a:off x="1475202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l-card-0"/>
          <p:cNvSpPr/>
          <p:nvPr/>
        </p:nvSpPr>
        <p:spPr>
          <a:xfrm>
            <a:off x="658368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8" name="tl-text-0"/>
          <p:cNvSpPr txBox="1"/>
          <p:nvPr/>
        </p:nvSpPr>
        <p:spPr>
          <a:xfrm>
            <a:off x="841248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ҮБХИС-д Цэргийн холбоо, кибер аюулгүй байдлын тэнхим байгуулагдаж, Системийн аюулгүй байдлын хөтөлбөр эхэлсэн</a:t>
            </a:r>
            <a:endParaRPr lang="en-US" sz="1500" dirty="0"/>
          </a:p>
        </p:txBody>
      </p:sp>
      <p:sp>
        <p:nvSpPr>
          <p:cNvPr id="9" name="tl-year-1"/>
          <p:cNvSpPr txBox="1"/>
          <p:nvPr/>
        </p:nvSpPr>
        <p:spPr>
          <a:xfrm>
            <a:off x="2858963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2020</a:t>
            </a:r>
            <a:endParaRPr lang="en-US" sz="2800" dirty="0"/>
          </a:p>
        </p:txBody>
      </p:sp>
      <p:sp>
        <p:nvSpPr>
          <p:cNvPr id="10" name="tl-dot-1"/>
          <p:cNvSpPr/>
          <p:nvPr/>
        </p:nvSpPr>
        <p:spPr>
          <a:xfrm>
            <a:off x="3694085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l-card-1"/>
          <p:cNvSpPr/>
          <p:nvPr/>
        </p:nvSpPr>
        <p:spPr>
          <a:xfrm>
            <a:off x="2877251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2" name="tl-text-1"/>
          <p:cNvSpPr txBox="1"/>
          <p:nvPr/>
        </p:nvSpPr>
        <p:spPr>
          <a:xfrm>
            <a:off x="3060131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Зэвсэгт хүчний тухай хуульд нэмэлт оруулж, Кибер аюулгүй байдлын цэрэг байгуулагдсан</a:t>
            </a:r>
            <a:endParaRPr lang="en-US" sz="1500" dirty="0"/>
          </a:p>
        </p:txBody>
      </p:sp>
      <p:sp>
        <p:nvSpPr>
          <p:cNvPr id="13" name="tl-year-2"/>
          <p:cNvSpPr txBox="1"/>
          <p:nvPr/>
        </p:nvSpPr>
        <p:spPr>
          <a:xfrm>
            <a:off x="5077846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2021</a:t>
            </a:r>
            <a:endParaRPr lang="en-US" sz="2800" dirty="0"/>
          </a:p>
        </p:txBody>
      </p:sp>
      <p:sp>
        <p:nvSpPr>
          <p:cNvPr id="14" name="tl-dot-2"/>
          <p:cNvSpPr/>
          <p:nvPr/>
        </p:nvSpPr>
        <p:spPr>
          <a:xfrm>
            <a:off x="5912968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l-card-2"/>
          <p:cNvSpPr/>
          <p:nvPr/>
        </p:nvSpPr>
        <p:spPr>
          <a:xfrm>
            <a:off x="5096134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6" name="tl-text-2"/>
          <p:cNvSpPr txBox="1"/>
          <p:nvPr/>
        </p:nvSpPr>
        <p:spPr>
          <a:xfrm>
            <a:off x="5279014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УИХ Кибер аюулгүй байдлын тухай хуулийг баталсан (12-р сарын 17)</a:t>
            </a:r>
            <a:endParaRPr lang="en-US" sz="1500" dirty="0"/>
          </a:p>
        </p:txBody>
      </p:sp>
      <p:sp>
        <p:nvSpPr>
          <p:cNvPr id="17" name="tl-year-3"/>
          <p:cNvSpPr txBox="1"/>
          <p:nvPr/>
        </p:nvSpPr>
        <p:spPr>
          <a:xfrm>
            <a:off x="7296729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2022</a:t>
            </a:r>
            <a:endParaRPr lang="en-US" sz="2800" dirty="0"/>
          </a:p>
        </p:txBody>
      </p:sp>
      <p:sp>
        <p:nvSpPr>
          <p:cNvPr id="18" name="tl-dot-3"/>
          <p:cNvSpPr/>
          <p:nvPr/>
        </p:nvSpPr>
        <p:spPr>
          <a:xfrm>
            <a:off x="8131851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l-card-3"/>
          <p:cNvSpPr/>
          <p:nvPr/>
        </p:nvSpPr>
        <p:spPr>
          <a:xfrm>
            <a:off x="7315017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0" name="tl-text-3"/>
          <p:cNvSpPr txBox="1"/>
          <p:nvPr/>
        </p:nvSpPr>
        <p:spPr>
          <a:xfrm>
            <a:off x="7497897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БНЭУ-тай хамтран Кибер аюулгүй байдлын сургалтын төв байгуулагдсан</a:t>
            </a:r>
            <a:endParaRPr lang="en-US" sz="1500" dirty="0"/>
          </a:p>
        </p:txBody>
      </p:sp>
      <p:sp>
        <p:nvSpPr>
          <p:cNvPr id="21" name="tl-year-4"/>
          <p:cNvSpPr txBox="1"/>
          <p:nvPr/>
        </p:nvSpPr>
        <p:spPr>
          <a:xfrm>
            <a:off x="9515612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2025</a:t>
            </a:r>
            <a:endParaRPr lang="en-US" sz="2800" dirty="0"/>
          </a:p>
        </p:txBody>
      </p:sp>
      <p:sp>
        <p:nvSpPr>
          <p:cNvPr id="22" name="tl-dot-4"/>
          <p:cNvSpPr/>
          <p:nvPr/>
        </p:nvSpPr>
        <p:spPr>
          <a:xfrm>
            <a:off x="10350734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l-card-4"/>
          <p:cNvSpPr/>
          <p:nvPr/>
        </p:nvSpPr>
        <p:spPr>
          <a:xfrm>
            <a:off x="9533900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4" name="tl-text-4"/>
          <p:cNvSpPr txBox="1"/>
          <p:nvPr/>
        </p:nvSpPr>
        <p:spPr>
          <a:xfrm>
            <a:off x="9716780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Сургалтын төв Кибер аюулгүй байдлын тэнхим болж өргөжсөн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аюулгүй байдлын мэргэжилтэн юу хийдэг вэ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Хамгаалах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Систем, сүлжээг аюулгүй тохируулж, хатууруулах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3665144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Илрүүлэх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3665144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Лог, сүлжээний урсгалыг хянаж, халдлагыг илрүүлэх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6507328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Хариу өгөх</a:t>
            </a:r>
            <a:endParaRPr lang="en-US" sz="2000" dirty="0"/>
          </a:p>
        </p:txBody>
      </p:sp>
      <p:sp>
        <p:nvSpPr>
          <p:cNvPr id="18" name="card-t-2"/>
          <p:cNvSpPr txBox="1"/>
          <p:nvPr/>
        </p:nvSpPr>
        <p:spPr>
          <a:xfrm>
            <a:off x="6507328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Инцидентийг шийдвэрлэж, системийг сэргээх</a:t>
            </a:r>
            <a:endParaRPr lang="en-US" sz="1800" dirty="0"/>
          </a:p>
        </p:txBody>
      </p:sp>
      <p:sp>
        <p:nvSpPr>
          <p:cNvPr id="19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9349511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Үнэлэх</a:t>
            </a:r>
            <a:endParaRPr lang="en-US" sz="2000" dirty="0"/>
          </a:p>
        </p:txBody>
      </p:sp>
      <p:sp>
        <p:nvSpPr>
          <p:cNvPr id="23" name="card-t-3"/>
          <p:cNvSpPr txBox="1"/>
          <p:nvPr/>
        </p:nvSpPr>
        <p:spPr>
          <a:xfrm>
            <a:off x="9349511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Эмзэг байдлыг илрүүлж, аудит, эрсдэлийн үнэлгээ хийх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Батлан хамгаалах салбар дахь кибер мэргэжилтэн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Гүйцэтгэх үүрэг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Цэргийн мэдээллийн систем, холбооны сүлжээг хамгаалах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Кибер халдлагыг илрүүлж, хариу арга хэмжээ авах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Кибер ажиллагааны төлөвлөлтөд оролцох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Төрийн болон хууль сахиулах байгууллагатай хамтран ажиллах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Шаардагдах чадамж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Техникийн гүнзгий мэдлэг, практик ур чадвар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Цэргийн сахилга бат, удирдах чадвар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Нууцлал, ёс зүйн өндөр хариуцлага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Тасралтгүй суралцах, багаар ажиллах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ХЭЛЭЛЦҮҮЛЭГ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Өнөөдөр сэрснээсээ хойш та хэдэн цахим систем ашигласан бэ? Тэдгээрийн аль нь алдагдвал танд хамгийн их хохирол учрах вэ?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Кибер аюулгүй байдал нь мэдээллийн нууцлал, бүрэн бүтэн байдал, хүртээмжийг хамгаална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Энэ нь засаглах, тодорхойлох, хамгаалах, илрүүлэх, хариу өгөх, сэргээх тасралтгүй мөчлөг юм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Дэлхийд болон Монголд кибер мэргэжилтний эрэлт өндөр, батлан хамгаалахад стратегийн ач холбогдолтой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Бие даалт 1-ийг эхлүүлэх: «Би яагаад кибер аюулгүй байдлын мэргэжлийг сонгосон бэ» эссэ (2–3 нүүр)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Дадлага 1-д бэлтгэх: лабораторийн аюулгүй ажиллагааны зааврыг унших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ДАДЛАГА_01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Лабораторийн орчинтой танилцах ба хувийн кибер аюулгүй байдал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NIST Cybersecurity Framework (CSF) 2.0, 2024   ·   ISC2 Cybersecurity Workforce Study, 2024   ·   Кибер аюулгүй байдлын бакалаврын хөтөлбөр (103103), ҮБХИС,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1. Кибер аюулгүй байдал — мэргэжлийн танилцуулга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