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үүр" id="{239ae20e-e8af-78bf-8294-e3c53fd76ac8}">
          <p14:sldIdLst>
            <p14:sldId id="256"/>
          </p14:sldIdLst>
        </p14:section>
        <p14:section name="Зорилго" id="{cf00b641-d243-feaf-d7bc-c30963f6964c}">
          <p14:sldIdLst>
            <p14:sldId id="257"/>
          </p14:sldIdLst>
        </p14:section>
        <p14:section name="Агуулга" id="{7c6fb68e-cb5c-b68e-3b48-d4449f67deab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Дүгнэлт" id="{00a21440-f54b-0ce9-8184-331ec1ee5f15}">
          <p14:sldIdLst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8. Тасралтгүй суралцахуй ба хувийн хөгжлийн төлөвлөгөө. Хичээл 2 цаг (90 минут). Сонсогчдод лекцийн зорилго, дадлагатай уялдааг танилцуулна.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зорилго, суралцахуйн үр дүнг (CLO) танилцуулж, агуулгын дарааллыг тайлбарлана.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Хөтөлбөрийн 'Ирээдүйн чиг хандлагын судалгаа' хэсэгтэй уялдуулсан: AI, машин сургалт, квант, IoT, 5G, Zero Trust, кибер тэсвэржилт.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Кибер аюулгүй байдлын тэнхимийн клуб, тэмцээнд оролцох боломжийг танилцуулах.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Жижиг, тогтмол дадал удаан хугацаанд хамгийн том үр дүн өгдөг.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Сонсогчид өөрийн нэг зорилгыг SMART болгон хөршдөө шалгуулна.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Энэ нь жишээ. Сонсогч бүр өөрийн зорилтот ажлын үүрэгт тохируулан IDP-гээ гаргана.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 бүрийн гол санааг дурсан санаж, сонсогчдоос асуулт авна.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Хичээлийн эцсийн санал асуулга, сэдлийн дараах судалгааг бөглүүлнэ. Дадлага 8-д IDP хамгаалалт болно.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Лекцийн гол санааг сонсогчдоор давтуулж хэлүүлнэ: 'Өнөөдөр сурсан хамгийн чухал нэг зүйл юу вэ?'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Бие даалтын шаардлага, хугацааг тодорхой хэлж, дараагийн дадлагад юу бэлтгэж ирэхийг сануулна.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BLAN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CSBC101 · Мэргэжлийн удиртгал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640080" y="1417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ЛЕКЦ_08</a:t>
            </a:r>
            <a:endParaRPr lang="en-US" sz="2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148840"/>
            <a:ext cx="7863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Тасралтгүй суралцахуй ба хувийн хөгжлийн төлөвлөгөө</a:t>
            </a:r>
            <a:endParaRPr lang="en-US" sz="3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4251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CSBC101 · Мэргэжлийн удиртгал · I курс</a:t>
            </a:r>
            <a:endParaRPr lang="en-US" sz="1800" dirty="0"/>
          </a:p>
        </p:txBody>
      </p:sp>
      <p:sp>
        <p:nvSpPr>
          <p:cNvPr id="5" name="teacher"/>
          <p:cNvSpPr txBox="1"/>
          <p:nvPr/>
        </p:nvSpPr>
        <p:spPr>
          <a:xfrm>
            <a:off x="640080" y="53492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Дэслэгч Ч.Энхбаатар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ҮБХИС · ЦНС · Кибер аюулгүй байдлын тэнхим</a:t>
            </a:r>
            <a:endParaRPr lang="en-US" sz="1400" dirty="0"/>
          </a:p>
        </p:txBody>
      </p:sp>
      <p:sp>
        <p:nvSpPr>
          <p:cNvPr id="6" name="motif-ring"/>
          <p:cNvSpPr/>
          <p:nvPr/>
        </p:nvSpPr>
        <p:spPr>
          <a:xfrm>
            <a:off x="8732520" y="1691640"/>
            <a:ext cx="2926080" cy="292608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7" name="motif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0" y="2377440"/>
            <a:ext cx="1554480" cy="1554480"/>
          </a:xfrm>
          <a:prstGeom prst="rect">
            <a:avLst/>
          </a:prstGeom>
        </p:spPr>
      </p:pic>
      <p:sp>
        <p:nvSpPr>
          <p:cNvPr id="8" name="progress"/>
          <p:cNvSpPr txBox="1"/>
          <p:nvPr/>
        </p:nvSpPr>
        <p:spPr>
          <a:xfrm>
            <a:off x="8732520" y="48463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8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Лекцийн зорилго ба агуулга</a:t>
            </a:r>
            <a:endParaRPr lang="en-US" sz="2800" dirty="0"/>
          </a:p>
        </p:txBody>
      </p:sp>
      <p:sp>
        <p:nvSpPr>
          <p:cNvPr id="3" name="clo-chip-0"/>
          <p:cNvSpPr/>
          <p:nvPr/>
        </p:nvSpPr>
        <p:spPr>
          <a:xfrm>
            <a:off x="54864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" name="clo-text-0"/>
          <p:cNvSpPr txBox="1"/>
          <p:nvPr/>
        </p:nvSpPr>
        <p:spPr>
          <a:xfrm>
            <a:off x="54864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CLO-7</a:t>
            </a:r>
            <a:endParaRPr lang="en-US" sz="1200" dirty="0"/>
          </a:p>
        </p:txBody>
      </p:sp>
      <p:sp>
        <p:nvSpPr>
          <p:cNvPr id="5" name="clo-chip-1"/>
          <p:cNvSpPr/>
          <p:nvPr/>
        </p:nvSpPr>
        <p:spPr>
          <a:xfrm>
            <a:off x="1737360" y="1188720"/>
            <a:ext cx="1051560" cy="32918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clo-text-1"/>
          <p:cNvSpPr txBox="1"/>
          <p:nvPr/>
        </p:nvSpPr>
        <p:spPr>
          <a:xfrm>
            <a:off x="1737360" y="1188720"/>
            <a:ext cx="1051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CLO-8</a:t>
            </a:r>
            <a:endParaRPr lang="en-US" sz="1200" dirty="0"/>
          </a:p>
        </p:txBody>
      </p:sp>
      <p:sp>
        <p:nvSpPr>
          <p:cNvPr id="7" name="clo-label"/>
          <p:cNvSpPr txBox="1"/>
          <p:nvPr/>
        </p:nvSpPr>
        <p:spPr>
          <a:xfrm>
            <a:off x="2971800" y="118872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хичээлийн суралцахуйн үр дүнд хамаарна</a:t>
            </a:r>
            <a:endParaRPr lang="en-US" sz="1200" dirty="0"/>
          </a:p>
        </p:txBody>
      </p:sp>
      <p:sp>
        <p:nvSpPr>
          <p:cNvPr id="8" name="goals-h"/>
          <p:cNvSpPr txBox="1"/>
          <p:nvPr/>
        </p:nvSpPr>
        <p:spPr>
          <a:xfrm>
            <a:off x="548640" y="1828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Энэ лекцийн дараа та:</a:t>
            </a:r>
            <a:endParaRPr lang="en-US" sz="1800" dirty="0"/>
          </a:p>
        </p:txBody>
      </p:sp>
      <p:sp>
        <p:nvSpPr>
          <p:cNvPr id="9" name="goal-icon-0-bg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goal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478024"/>
            <a:ext cx="256032" cy="256032"/>
          </a:xfrm>
          <a:prstGeom prst="rect">
            <a:avLst/>
          </a:prstGeom>
        </p:spPr>
      </p:pic>
      <p:sp>
        <p:nvSpPr>
          <p:cNvPr id="11" name="goal-0"/>
          <p:cNvSpPr txBox="1"/>
          <p:nvPr/>
        </p:nvSpPr>
        <p:spPr>
          <a:xfrm>
            <a:off x="1188720" y="2359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аюулгүй байдлын ирээдүйн чиг хандлагыг ойлгох</a:t>
            </a:r>
            <a:endParaRPr lang="en-US" sz="1600" dirty="0"/>
          </a:p>
        </p:txBody>
      </p:sp>
      <p:sp>
        <p:nvSpPr>
          <p:cNvPr id="12" name="goal-icon-1-bg"/>
          <p:cNvSpPr/>
          <p:nvPr/>
        </p:nvSpPr>
        <p:spPr>
          <a:xfrm>
            <a:off x="54864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goal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" y="3621024"/>
            <a:ext cx="256032" cy="256032"/>
          </a:xfrm>
          <a:prstGeom prst="rect">
            <a:avLst/>
          </a:prstGeom>
        </p:spPr>
      </p:pic>
      <p:sp>
        <p:nvSpPr>
          <p:cNvPr id="14" name="goal-1"/>
          <p:cNvSpPr txBox="1"/>
          <p:nvPr/>
        </p:nvSpPr>
        <p:spPr>
          <a:xfrm>
            <a:off x="1188720" y="3502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тасралтгүй хөгжлийн эх сурвалж, дадлыг мэдэх</a:t>
            </a:r>
            <a:endParaRPr lang="en-US" sz="1600" dirty="0"/>
          </a:p>
        </p:txBody>
      </p:sp>
      <p:sp>
        <p:nvSpPr>
          <p:cNvPr id="15" name="goal-icon-2-bg"/>
          <p:cNvSpPr/>
          <p:nvPr/>
        </p:nvSpPr>
        <p:spPr>
          <a:xfrm>
            <a:off x="548640" y="4663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goal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4764024"/>
            <a:ext cx="256032" cy="256032"/>
          </a:xfrm>
          <a:prstGeom prst="rect">
            <a:avLst/>
          </a:prstGeom>
        </p:spPr>
      </p:pic>
      <p:sp>
        <p:nvSpPr>
          <p:cNvPr id="17" name="goal-2"/>
          <p:cNvSpPr txBox="1"/>
          <p:nvPr/>
        </p:nvSpPr>
        <p:spPr>
          <a:xfrm>
            <a:off x="1188720" y="4645152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SMART зорилгод суурилсан хувийн хөгжлийн төлөвлөгөө боловсруулах</a:t>
            </a:r>
            <a:endParaRPr lang="en-US" sz="1600" dirty="0"/>
          </a:p>
        </p:txBody>
      </p:sp>
      <p:sp>
        <p:nvSpPr>
          <p:cNvPr id="18" name="agenda-panel"/>
          <p:cNvSpPr/>
          <p:nvPr/>
        </p:nvSpPr>
        <p:spPr>
          <a:xfrm>
            <a:off x="6400800" y="1828800"/>
            <a:ext cx="5242255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9" name="agenda-h"/>
          <p:cNvSpPr txBox="1"/>
          <p:nvPr/>
        </p:nvSpPr>
        <p:spPr>
          <a:xfrm>
            <a:off x="6720840" y="2057400"/>
            <a:ext cx="46021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Агуулга</a:t>
            </a:r>
            <a:endParaRPr lang="en-US" sz="1800" dirty="0"/>
          </a:p>
        </p:txBody>
      </p:sp>
      <p:sp>
        <p:nvSpPr>
          <p:cNvPr id="20" name="agenda-n-0"/>
          <p:cNvSpPr txBox="1"/>
          <p:nvPr/>
        </p:nvSpPr>
        <p:spPr>
          <a:xfrm>
            <a:off x="6720840" y="26060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800" dirty="0"/>
          </a:p>
        </p:txBody>
      </p:sp>
      <p:sp>
        <p:nvSpPr>
          <p:cNvPr id="21" name="agenda-0"/>
          <p:cNvSpPr txBox="1"/>
          <p:nvPr/>
        </p:nvSpPr>
        <p:spPr>
          <a:xfrm>
            <a:off x="7315200" y="2624328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Ирээдүйн чиг хандлага</a:t>
            </a:r>
            <a:endParaRPr lang="en-US" sz="1600" dirty="0"/>
          </a:p>
        </p:txBody>
      </p:sp>
      <p:sp>
        <p:nvSpPr>
          <p:cNvPr id="22" name="agenda-n-1"/>
          <p:cNvSpPr txBox="1"/>
          <p:nvPr/>
        </p:nvSpPr>
        <p:spPr>
          <a:xfrm>
            <a:off x="6720840" y="3282696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800" dirty="0"/>
          </a:p>
        </p:txBody>
      </p:sp>
      <p:sp>
        <p:nvSpPr>
          <p:cNvPr id="23" name="agenda-1"/>
          <p:cNvSpPr txBox="1"/>
          <p:nvPr/>
        </p:nvSpPr>
        <p:spPr>
          <a:xfrm>
            <a:off x="7315200" y="3300984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Мэргэжлийн хөгжлийн эх сурвалж</a:t>
            </a:r>
            <a:endParaRPr lang="en-US" sz="1600" dirty="0"/>
          </a:p>
        </p:txBody>
      </p:sp>
      <p:sp>
        <p:nvSpPr>
          <p:cNvPr id="24" name="agenda-n-2"/>
          <p:cNvSpPr txBox="1"/>
          <p:nvPr/>
        </p:nvSpPr>
        <p:spPr>
          <a:xfrm>
            <a:off x="6720840" y="395935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800" dirty="0"/>
          </a:p>
        </p:txBody>
      </p:sp>
      <p:sp>
        <p:nvSpPr>
          <p:cNvPr id="25" name="agenda-2"/>
          <p:cNvSpPr txBox="1"/>
          <p:nvPr/>
        </p:nvSpPr>
        <p:spPr>
          <a:xfrm>
            <a:off x="7315200" y="3977640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Тасралтгүй суралцах дадал</a:t>
            </a:r>
            <a:endParaRPr lang="en-US" sz="1600" dirty="0"/>
          </a:p>
        </p:txBody>
      </p:sp>
      <p:sp>
        <p:nvSpPr>
          <p:cNvPr id="26" name="agenda-n-3"/>
          <p:cNvSpPr txBox="1"/>
          <p:nvPr/>
        </p:nvSpPr>
        <p:spPr>
          <a:xfrm>
            <a:off x="6720840" y="463600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agenda-3"/>
          <p:cNvSpPr txBox="1"/>
          <p:nvPr/>
        </p:nvSpPr>
        <p:spPr>
          <a:xfrm>
            <a:off x="7315200" y="4654296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SMART зорилго ба IDP</a:t>
            </a:r>
            <a:endParaRPr lang="en-US" sz="1600" dirty="0"/>
          </a:p>
        </p:txBody>
      </p:sp>
      <p:sp>
        <p:nvSpPr>
          <p:cNvPr id="28" name="agenda-n-4"/>
          <p:cNvSpPr txBox="1"/>
          <p:nvPr/>
        </p:nvSpPr>
        <p:spPr>
          <a:xfrm>
            <a:off x="6720840" y="5312664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agenda-4"/>
          <p:cNvSpPr txBox="1"/>
          <p:nvPr/>
        </p:nvSpPr>
        <p:spPr>
          <a:xfrm>
            <a:off x="7315200" y="5330952"/>
            <a:ext cx="4053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Хичээлийн дүгнэлт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Кибер аюулгүй байдлын ирээдүйн чиг хандлага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777240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1675181"/>
            <a:ext cx="307238" cy="307238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1463040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Хиймэл оюун</a:t>
            </a:r>
            <a:endParaRPr lang="en-US" sz="1800" dirty="0"/>
          </a:p>
        </p:txBody>
      </p:sp>
      <p:sp>
        <p:nvSpPr>
          <p:cNvPr id="8" name="card-t-0"/>
          <p:cNvSpPr txBox="1"/>
          <p:nvPr/>
        </p:nvSpPr>
        <p:spPr>
          <a:xfrm>
            <a:off x="777240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AI-д суурилсан халдлага ба хамгаалалт, автоматжуулалт</a:t>
            </a:r>
            <a:endParaRPr lang="en-US" sz="1600" dirty="0"/>
          </a:p>
        </p:txBody>
      </p:sp>
      <p:sp>
        <p:nvSpPr>
          <p:cNvPr id="9" name="card-1"/>
          <p:cNvSpPr/>
          <p:nvPr/>
        </p:nvSpPr>
        <p:spPr>
          <a:xfrm>
            <a:off x="4338218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4566818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1675181"/>
            <a:ext cx="307238" cy="307238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5252618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Үүлэн технологи</a:t>
            </a:r>
            <a:endParaRPr lang="en-US" sz="1800" dirty="0"/>
          </a:p>
        </p:txBody>
      </p:sp>
      <p:sp>
        <p:nvSpPr>
          <p:cNvPr id="13" name="card-t-1"/>
          <p:cNvSpPr txBox="1"/>
          <p:nvPr/>
        </p:nvSpPr>
        <p:spPr>
          <a:xfrm>
            <a:off x="4566818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Үүлэн орчны тохиргоо, хандалтын аюулгүй байдал</a:t>
            </a:r>
            <a:endParaRPr lang="en-US" sz="1600" dirty="0"/>
          </a:p>
        </p:txBody>
      </p:sp>
      <p:sp>
        <p:nvSpPr>
          <p:cNvPr id="14" name="card-2"/>
          <p:cNvSpPr/>
          <p:nvPr/>
        </p:nvSpPr>
        <p:spPr>
          <a:xfrm>
            <a:off x="8127797" y="132588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8356397" y="15544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1675181"/>
            <a:ext cx="307238" cy="307238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9042197" y="152704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OT / ICS</a:t>
            </a:r>
            <a:endParaRPr lang="en-US" sz="1800" dirty="0"/>
          </a:p>
        </p:txBody>
      </p:sp>
      <p:sp>
        <p:nvSpPr>
          <p:cNvPr id="18" name="card-t-2"/>
          <p:cNvSpPr txBox="1"/>
          <p:nvPr/>
        </p:nvSpPr>
        <p:spPr>
          <a:xfrm>
            <a:off x="8356397" y="228600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Эрчим хүч, үйлдвэрийн хяналтын системийн хамгаалалт</a:t>
            </a:r>
            <a:endParaRPr lang="en-US" sz="1600" dirty="0"/>
          </a:p>
        </p:txBody>
      </p:sp>
      <p:sp>
        <p:nvSpPr>
          <p:cNvPr id="19" name="card-3"/>
          <p:cNvSpPr/>
          <p:nvPr/>
        </p:nvSpPr>
        <p:spPr>
          <a:xfrm>
            <a:off x="548640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777240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941" y="4235501"/>
            <a:ext cx="307238" cy="307238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1463040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IoT ба 5G</a:t>
            </a:r>
            <a:endParaRPr lang="en-US" sz="1800" dirty="0"/>
          </a:p>
        </p:txBody>
      </p:sp>
      <p:sp>
        <p:nvSpPr>
          <p:cNvPr id="23" name="card-t-3"/>
          <p:cNvSpPr txBox="1"/>
          <p:nvPr/>
        </p:nvSpPr>
        <p:spPr>
          <a:xfrm>
            <a:off x="777240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Олон тэрбум төхөөрөмж — халдлагын шинэ гадаргуу</a:t>
            </a:r>
            <a:endParaRPr lang="en-US" sz="1600" dirty="0"/>
          </a:p>
        </p:txBody>
      </p:sp>
      <p:sp>
        <p:nvSpPr>
          <p:cNvPr id="24" name="card-4"/>
          <p:cNvSpPr/>
          <p:nvPr/>
        </p:nvSpPr>
        <p:spPr>
          <a:xfrm>
            <a:off x="4338218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5" name="card-icon-4-bg"/>
          <p:cNvSpPr/>
          <p:nvPr/>
        </p:nvSpPr>
        <p:spPr>
          <a:xfrm>
            <a:off x="4566818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card-icon-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7519" y="4235501"/>
            <a:ext cx="307238" cy="307238"/>
          </a:xfrm>
          <a:prstGeom prst="rect">
            <a:avLst/>
          </a:prstGeom>
        </p:spPr>
      </p:pic>
      <p:sp>
        <p:nvSpPr>
          <p:cNvPr id="27" name="card-h-4"/>
          <p:cNvSpPr txBox="1"/>
          <p:nvPr/>
        </p:nvSpPr>
        <p:spPr>
          <a:xfrm>
            <a:off x="5252618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Квант тооцоолол</a:t>
            </a:r>
            <a:endParaRPr lang="en-US" sz="1800" dirty="0"/>
          </a:p>
        </p:txBody>
      </p:sp>
      <p:sp>
        <p:nvSpPr>
          <p:cNvPr id="28" name="card-t-4"/>
          <p:cNvSpPr txBox="1"/>
          <p:nvPr/>
        </p:nvSpPr>
        <p:spPr>
          <a:xfrm>
            <a:off x="4566818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Квантын дараах криптографи (PQC) руу шилжилт</a:t>
            </a:r>
            <a:endParaRPr lang="en-US" sz="1600" dirty="0"/>
          </a:p>
        </p:txBody>
      </p:sp>
      <p:sp>
        <p:nvSpPr>
          <p:cNvPr id="29" name="card-5"/>
          <p:cNvSpPr/>
          <p:nvPr/>
        </p:nvSpPr>
        <p:spPr>
          <a:xfrm>
            <a:off x="8127797" y="3886200"/>
            <a:ext cx="3515258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30" name="card-icon-5-bg"/>
          <p:cNvSpPr/>
          <p:nvPr/>
        </p:nvSpPr>
        <p:spPr>
          <a:xfrm>
            <a:off x="8356397" y="41148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card-icon-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098" y="4235501"/>
            <a:ext cx="307238" cy="307238"/>
          </a:xfrm>
          <a:prstGeom prst="rect">
            <a:avLst/>
          </a:prstGeom>
        </p:spPr>
      </p:pic>
      <p:sp>
        <p:nvSpPr>
          <p:cNvPr id="32" name="card-h-5"/>
          <p:cNvSpPr txBox="1"/>
          <p:nvPr/>
        </p:nvSpPr>
        <p:spPr>
          <a:xfrm>
            <a:off x="9042197" y="4087368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Кибер батлан хамгаалалт</a:t>
            </a:r>
            <a:endParaRPr lang="en-US" sz="1800" dirty="0"/>
          </a:p>
        </p:txBody>
      </p:sp>
      <p:sp>
        <p:nvSpPr>
          <p:cNvPr id="33" name="card-t-5"/>
          <p:cNvSpPr txBox="1"/>
          <p:nvPr/>
        </p:nvSpPr>
        <p:spPr>
          <a:xfrm>
            <a:off x="8356397" y="4846320"/>
            <a:ext cx="305805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Эрлийз дайн, кибер тэсвэржилт, олон улсын эрх зүй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Мэргэжлийн хөгжлийн эх сурвалжууд</a:t>
            </a:r>
            <a:endParaRPr lang="en-US" sz="2800" dirty="0"/>
          </a:p>
        </p:txBody>
      </p:sp>
      <p:sp>
        <p:nvSpPr>
          <p:cNvPr id="4" name="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card-icon-0-bg"/>
          <p:cNvSpPr/>
          <p:nvPr/>
        </p:nvSpPr>
        <p:spPr>
          <a:xfrm>
            <a:off x="8229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card-icon-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" y="1806854"/>
            <a:ext cx="409651" cy="409651"/>
          </a:xfrm>
          <a:prstGeom prst="rect">
            <a:avLst/>
          </a:prstGeom>
        </p:spPr>
      </p:pic>
      <p:sp>
        <p:nvSpPr>
          <p:cNvPr id="7" name="card-h-0"/>
          <p:cNvSpPr txBox="1"/>
          <p:nvPr/>
        </p:nvSpPr>
        <p:spPr>
          <a:xfrm>
            <a:off x="822960" y="2606040"/>
            <a:ext cx="2019224" cy="35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CTF тэмцээн</a:t>
            </a:r>
            <a:endParaRPr lang="en-US" sz="2000" dirty="0"/>
          </a:p>
        </p:txBody>
      </p:sp>
      <p:sp>
        <p:nvSpPr>
          <p:cNvPr id="8" name="card-t-0"/>
          <p:cNvSpPr txBox="1"/>
          <p:nvPr/>
        </p:nvSpPr>
        <p:spPr>
          <a:xfrm>
            <a:off x="822960" y="3048000"/>
            <a:ext cx="2019224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picoCTF, сургууль, улсын болон олон улсын тэмцээн</a:t>
            </a:r>
            <a:endParaRPr lang="en-US" sz="1800" dirty="0"/>
          </a:p>
        </p:txBody>
      </p:sp>
      <p:sp>
        <p:nvSpPr>
          <p:cNvPr id="9" name="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0" name="card-icon-1-bg"/>
          <p:cNvSpPr/>
          <p:nvPr/>
        </p:nvSpPr>
        <p:spPr>
          <a:xfrm>
            <a:off x="3665144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card-icon-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078" y="1806854"/>
            <a:ext cx="409651" cy="409651"/>
          </a:xfrm>
          <a:prstGeom prst="rect">
            <a:avLst/>
          </a:prstGeom>
        </p:spPr>
      </p:pic>
      <p:sp>
        <p:nvSpPr>
          <p:cNvPr id="12" name="card-h-1"/>
          <p:cNvSpPr txBox="1"/>
          <p:nvPr/>
        </p:nvSpPr>
        <p:spPr>
          <a:xfrm>
            <a:off x="3665144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Нийгэмлэг, клуб</a:t>
            </a:r>
            <a:endParaRPr lang="en-US" sz="2000" dirty="0"/>
          </a:p>
        </p:txBody>
      </p:sp>
      <p:sp>
        <p:nvSpPr>
          <p:cNvPr id="13" name="card-t-1"/>
          <p:cNvSpPr txBox="1"/>
          <p:nvPr/>
        </p:nvSpPr>
        <p:spPr>
          <a:xfrm>
            <a:off x="3665144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Сургуулийн кибер клуб, OWASP бүлэг, мэргэжлийн холбоод</a:t>
            </a:r>
            <a:endParaRPr lang="en-US" sz="1800" dirty="0"/>
          </a:p>
        </p:txBody>
      </p:sp>
      <p:sp>
        <p:nvSpPr>
          <p:cNvPr id="14" name="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5" name="card-icon-2-bg"/>
          <p:cNvSpPr/>
          <p:nvPr/>
        </p:nvSpPr>
        <p:spPr>
          <a:xfrm>
            <a:off x="6507328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card-icon-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8262" y="1806854"/>
            <a:ext cx="409651" cy="409651"/>
          </a:xfrm>
          <a:prstGeom prst="rect">
            <a:avLst/>
          </a:prstGeom>
        </p:spPr>
      </p:pic>
      <p:sp>
        <p:nvSpPr>
          <p:cNvPr id="17" name="card-h-2"/>
          <p:cNvSpPr txBox="1"/>
          <p:nvPr/>
        </p:nvSpPr>
        <p:spPr>
          <a:xfrm>
            <a:off x="6507328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Хурал, вебинар</a:t>
            </a:r>
            <a:endParaRPr lang="en-US" sz="2000" dirty="0"/>
          </a:p>
        </p:txBody>
      </p:sp>
      <p:sp>
        <p:nvSpPr>
          <p:cNvPr id="18" name="card-t-2"/>
          <p:cNvSpPr txBox="1"/>
          <p:nvPr/>
        </p:nvSpPr>
        <p:spPr>
          <a:xfrm>
            <a:off x="6507328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Мэргэжлийн хурал, онлайн илтгэл, семинар</a:t>
            </a:r>
            <a:endParaRPr lang="en-US" sz="1800" dirty="0"/>
          </a:p>
        </p:txBody>
      </p:sp>
      <p:sp>
        <p:nvSpPr>
          <p:cNvPr id="19" name="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20" name="card-icon-3-bg"/>
          <p:cNvSpPr/>
          <p:nvPr/>
        </p:nvSpPr>
        <p:spPr>
          <a:xfrm>
            <a:off x="9349511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card-icon-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0446" y="1806854"/>
            <a:ext cx="409651" cy="409651"/>
          </a:xfrm>
          <a:prstGeom prst="rect">
            <a:avLst/>
          </a:prstGeom>
        </p:spPr>
      </p:pic>
      <p:sp>
        <p:nvSpPr>
          <p:cNvPr id="22" name="card-h-3"/>
          <p:cNvSpPr txBox="1"/>
          <p:nvPr/>
        </p:nvSpPr>
        <p:spPr>
          <a:xfrm>
            <a:off x="9349511" y="2606040"/>
            <a:ext cx="2019224" cy="655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Мэдээллийн эх сурвалж</a:t>
            </a:r>
            <a:endParaRPr lang="en-US" sz="2000" dirty="0"/>
          </a:p>
        </p:txBody>
      </p:sp>
      <p:sp>
        <p:nvSpPr>
          <p:cNvPr id="23" name="card-t-3"/>
          <p:cNvSpPr txBox="1"/>
          <p:nvPr/>
        </p:nvSpPr>
        <p:spPr>
          <a:xfrm>
            <a:off x="9349511" y="3352800"/>
            <a:ext cx="2019224" cy="2590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CISA зөвлөмж, SANS ISC, мэргэжлийн мэдээний сайт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Тасралтгүй суралцах дадал</a:t>
            </a:r>
            <a:endParaRPr lang="en-US" sz="2800" dirty="0"/>
          </a:p>
        </p:txBody>
      </p:sp>
      <p:sp>
        <p:nvSpPr>
          <p:cNvPr id="4" name="stat-card-0"/>
          <p:cNvSpPr/>
          <p:nvPr/>
        </p:nvSpPr>
        <p:spPr>
          <a:xfrm>
            <a:off x="548640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5" name="stat-n-0"/>
          <p:cNvSpPr txBox="1"/>
          <p:nvPr/>
        </p:nvSpPr>
        <p:spPr>
          <a:xfrm>
            <a:off x="822960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15 мин</a:t>
            </a:r>
            <a:endParaRPr lang="en-US" sz="4400" dirty="0"/>
          </a:p>
        </p:txBody>
      </p:sp>
      <p:sp>
        <p:nvSpPr>
          <p:cNvPr id="6" name="stat-l-0"/>
          <p:cNvSpPr txBox="1"/>
          <p:nvPr/>
        </p:nvSpPr>
        <p:spPr>
          <a:xfrm>
            <a:off x="822960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өдөр бүр</a:t>
            </a:r>
            <a:endParaRPr lang="en-US" sz="2000" dirty="0"/>
          </a:p>
        </p:txBody>
      </p:sp>
      <p:sp>
        <p:nvSpPr>
          <p:cNvPr id="7" name="stat-s-0"/>
          <p:cNvSpPr txBox="1"/>
          <p:nvPr/>
        </p:nvSpPr>
        <p:spPr>
          <a:xfrm>
            <a:off x="822960" y="516636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аюулгүй байдлын мэдээ, зөвлөмж унших</a:t>
            </a:r>
            <a:endParaRPr lang="en-US" sz="1300" dirty="0"/>
          </a:p>
        </p:txBody>
      </p:sp>
      <p:sp>
        <p:nvSpPr>
          <p:cNvPr id="8" name="stat-card-1"/>
          <p:cNvSpPr/>
          <p:nvPr/>
        </p:nvSpPr>
        <p:spPr>
          <a:xfrm>
            <a:off x="3390824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9" name="stat-n-1"/>
          <p:cNvSpPr txBox="1"/>
          <p:nvPr/>
        </p:nvSpPr>
        <p:spPr>
          <a:xfrm>
            <a:off x="3665144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0" name="stat-l-1"/>
          <p:cNvSpPr txBox="1"/>
          <p:nvPr/>
        </p:nvSpPr>
        <p:spPr>
          <a:xfrm>
            <a:off x="3665144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долоо хоног бүр</a:t>
            </a:r>
            <a:endParaRPr lang="en-US" sz="2000" dirty="0"/>
          </a:p>
        </p:txBody>
      </p:sp>
      <p:sp>
        <p:nvSpPr>
          <p:cNvPr id="11" name="stat-s-1"/>
          <p:cNvSpPr txBox="1"/>
          <p:nvPr/>
        </p:nvSpPr>
        <p:spPr>
          <a:xfrm>
            <a:off x="3665144" y="516636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лабораторийн даалгавар эсвэл CTF бодлого</a:t>
            </a:r>
            <a:endParaRPr lang="en-US" sz="1300" dirty="0"/>
          </a:p>
        </p:txBody>
      </p:sp>
      <p:sp>
        <p:nvSpPr>
          <p:cNvPr id="12" name="stat-card-2"/>
          <p:cNvSpPr/>
          <p:nvPr/>
        </p:nvSpPr>
        <p:spPr>
          <a:xfrm>
            <a:off x="6233008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3" name="stat-n-2"/>
          <p:cNvSpPr txBox="1"/>
          <p:nvPr/>
        </p:nvSpPr>
        <p:spPr>
          <a:xfrm>
            <a:off x="6507328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4" name="stat-l-2"/>
          <p:cNvSpPr txBox="1"/>
          <p:nvPr/>
        </p:nvSpPr>
        <p:spPr>
          <a:xfrm>
            <a:off x="6507328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сар бүр</a:t>
            </a:r>
            <a:endParaRPr lang="en-US" sz="2000" dirty="0"/>
          </a:p>
        </p:txBody>
      </p:sp>
      <p:sp>
        <p:nvSpPr>
          <p:cNvPr id="15" name="stat-s-2"/>
          <p:cNvSpPr txBox="1"/>
          <p:nvPr/>
        </p:nvSpPr>
        <p:spPr>
          <a:xfrm>
            <a:off x="6507328" y="516636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сурсан зүйлийн тайлбар (write-up) бичих</a:t>
            </a:r>
            <a:endParaRPr lang="en-US" sz="1300" dirty="0"/>
          </a:p>
        </p:txBody>
      </p:sp>
      <p:sp>
        <p:nvSpPr>
          <p:cNvPr id="16" name="stat-card-3"/>
          <p:cNvSpPr/>
          <p:nvPr/>
        </p:nvSpPr>
        <p:spPr>
          <a:xfrm>
            <a:off x="9075191" y="1325880"/>
            <a:ext cx="2567864" cy="4846320"/>
          </a:xfrm>
          <a:prstGeom prst="roundRect">
            <a:avLst>
              <a:gd name="adj" fmla="val 3561"/>
            </a:avLst>
          </a:prstGeom>
          <a:solidFill>
            <a:schemeClr val="bg2"/>
          </a:solidFill>
          <a:ln/>
        </p:spPr>
      </p:sp>
      <p:sp>
        <p:nvSpPr>
          <p:cNvPr id="17" name="stat-n-3"/>
          <p:cNvSpPr txBox="1"/>
          <p:nvPr/>
        </p:nvSpPr>
        <p:spPr>
          <a:xfrm>
            <a:off x="9349511" y="1737360"/>
            <a:ext cx="201922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1</a:t>
            </a:r>
            <a:endParaRPr lang="en-US" sz="4400" dirty="0"/>
          </a:p>
        </p:txBody>
      </p:sp>
      <p:sp>
        <p:nvSpPr>
          <p:cNvPr id="18" name="stat-l-3"/>
          <p:cNvSpPr txBox="1"/>
          <p:nvPr/>
        </p:nvSpPr>
        <p:spPr>
          <a:xfrm>
            <a:off x="9349511" y="3017520"/>
            <a:ext cx="201922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улирал бүр</a:t>
            </a:r>
            <a:endParaRPr lang="en-US" sz="2000" dirty="0"/>
          </a:p>
        </p:txBody>
      </p:sp>
      <p:sp>
        <p:nvSpPr>
          <p:cNvPr id="19" name="stat-s-3"/>
          <p:cNvSpPr txBox="1"/>
          <p:nvPr/>
        </p:nvSpPr>
        <p:spPr>
          <a:xfrm>
            <a:off x="9349511" y="5166360"/>
            <a:ext cx="20192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6"/>
                </a:solidFill>
              </a:rPr>
              <a:t>шинэ хэрэгсэл, ур чадвар эзэмших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SMART зорилго</a:t>
            </a:r>
            <a:endParaRPr lang="en-US" sz="2800" dirty="0"/>
          </a:p>
        </p:txBody>
      </p:sp>
      <p:sp>
        <p:nvSpPr>
          <p:cNvPr id="4" name="lead"/>
          <p:cNvSpPr txBox="1"/>
          <p:nvPr/>
        </p:nvSpPr>
        <p:spPr>
          <a:xfrm>
            <a:off x="548640" y="11430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3"/>
                </a:solidFill>
              </a:rPr>
              <a:t>Жишээ: «3 дугаар сарын 31 гэхэд TryHackMe Pre Security замналыг 100% дуусгана»</a:t>
            </a:r>
            <a:endParaRPr lang="en-US" sz="1600" dirty="0"/>
          </a:p>
        </p:txBody>
      </p:sp>
      <p:sp>
        <p:nvSpPr>
          <p:cNvPr id="5" name="step-0"/>
          <p:cNvSpPr/>
          <p:nvPr/>
        </p:nvSpPr>
        <p:spPr>
          <a:xfrm>
            <a:off x="54864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6" name="step-h-0"/>
          <p:cNvSpPr txBox="1"/>
          <p:nvPr/>
        </p:nvSpPr>
        <p:spPr>
          <a:xfrm>
            <a:off x="548640" y="2240280"/>
            <a:ext cx="18970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S</a:t>
            </a:r>
            <a:endParaRPr lang="en-US" sz="6000" dirty="0"/>
          </a:p>
        </p:txBody>
      </p:sp>
      <p:sp>
        <p:nvSpPr>
          <p:cNvPr id="7" name="step-sub-0"/>
          <p:cNvSpPr txBox="1"/>
          <p:nvPr/>
        </p:nvSpPr>
        <p:spPr>
          <a:xfrm>
            <a:off x="685800" y="3429000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Specific</a:t>
            </a:r>
            <a:endParaRPr lang="en-US" sz="1500" dirty="0"/>
          </a:p>
        </p:txBody>
      </p:sp>
      <p:sp>
        <p:nvSpPr>
          <p:cNvPr id="8" name="step-t-0"/>
          <p:cNvSpPr txBox="1"/>
          <p:nvPr/>
        </p:nvSpPr>
        <p:spPr>
          <a:xfrm>
            <a:off x="731520" y="3977640"/>
            <a:ext cx="1531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Тодорхой: юуг хийх вэ</a:t>
            </a:r>
            <a:endParaRPr lang="en-US" sz="1500" dirty="0"/>
          </a:p>
        </p:txBody>
      </p:sp>
      <p:sp>
        <p:nvSpPr>
          <p:cNvPr id="9" name="step-arrow-0"/>
          <p:cNvSpPr/>
          <p:nvPr/>
        </p:nvSpPr>
        <p:spPr>
          <a:xfrm>
            <a:off x="2518806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0" name="step-1"/>
          <p:cNvSpPr/>
          <p:nvPr/>
        </p:nvSpPr>
        <p:spPr>
          <a:xfrm>
            <a:off x="284799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1" name="step-h-1"/>
          <p:cNvSpPr txBox="1"/>
          <p:nvPr/>
        </p:nvSpPr>
        <p:spPr>
          <a:xfrm>
            <a:off x="2847990" y="2240280"/>
            <a:ext cx="18970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M</a:t>
            </a:r>
            <a:endParaRPr lang="en-US" sz="6000" dirty="0"/>
          </a:p>
        </p:txBody>
      </p:sp>
      <p:sp>
        <p:nvSpPr>
          <p:cNvPr id="12" name="step-sub-1"/>
          <p:cNvSpPr txBox="1"/>
          <p:nvPr/>
        </p:nvSpPr>
        <p:spPr>
          <a:xfrm>
            <a:off x="2985150" y="3429000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Measurable</a:t>
            </a:r>
            <a:endParaRPr lang="en-US" sz="1500" dirty="0"/>
          </a:p>
        </p:txBody>
      </p:sp>
      <p:sp>
        <p:nvSpPr>
          <p:cNvPr id="13" name="step-t-1"/>
          <p:cNvSpPr txBox="1"/>
          <p:nvPr/>
        </p:nvSpPr>
        <p:spPr>
          <a:xfrm>
            <a:off x="3030870" y="3977640"/>
            <a:ext cx="1531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Хэмжигдэхүйц: яаж мэдэх вэ</a:t>
            </a:r>
            <a:endParaRPr lang="en-US" sz="1500" dirty="0"/>
          </a:p>
        </p:txBody>
      </p:sp>
      <p:sp>
        <p:nvSpPr>
          <p:cNvPr id="14" name="step-arrow-1"/>
          <p:cNvSpPr/>
          <p:nvPr/>
        </p:nvSpPr>
        <p:spPr>
          <a:xfrm>
            <a:off x="4818156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15" name="step-2"/>
          <p:cNvSpPr/>
          <p:nvPr/>
        </p:nvSpPr>
        <p:spPr>
          <a:xfrm>
            <a:off x="5147340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16" name="step-h-2"/>
          <p:cNvSpPr txBox="1"/>
          <p:nvPr/>
        </p:nvSpPr>
        <p:spPr>
          <a:xfrm>
            <a:off x="5147340" y="2240280"/>
            <a:ext cx="18970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A</a:t>
            </a:r>
            <a:endParaRPr lang="en-US" sz="6000" dirty="0"/>
          </a:p>
        </p:txBody>
      </p:sp>
      <p:sp>
        <p:nvSpPr>
          <p:cNvPr id="17" name="step-sub-2"/>
          <p:cNvSpPr txBox="1"/>
          <p:nvPr/>
        </p:nvSpPr>
        <p:spPr>
          <a:xfrm>
            <a:off x="5284500" y="3429000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Achievable</a:t>
            </a:r>
            <a:endParaRPr lang="en-US" sz="1500" dirty="0"/>
          </a:p>
        </p:txBody>
      </p:sp>
      <p:sp>
        <p:nvSpPr>
          <p:cNvPr id="18" name="step-t-2"/>
          <p:cNvSpPr txBox="1"/>
          <p:nvPr/>
        </p:nvSpPr>
        <p:spPr>
          <a:xfrm>
            <a:off x="5330220" y="3977640"/>
            <a:ext cx="1531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Хүрэх боломжтой</a:t>
            </a:r>
            <a:endParaRPr lang="en-US" sz="1500" dirty="0"/>
          </a:p>
        </p:txBody>
      </p:sp>
      <p:sp>
        <p:nvSpPr>
          <p:cNvPr id="19" name="step-arrow-2"/>
          <p:cNvSpPr/>
          <p:nvPr/>
        </p:nvSpPr>
        <p:spPr>
          <a:xfrm>
            <a:off x="7117507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0" name="step-3"/>
          <p:cNvSpPr/>
          <p:nvPr/>
        </p:nvSpPr>
        <p:spPr>
          <a:xfrm>
            <a:off x="7446691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21" name="step-h-3"/>
          <p:cNvSpPr txBox="1"/>
          <p:nvPr/>
        </p:nvSpPr>
        <p:spPr>
          <a:xfrm>
            <a:off x="7446691" y="2240280"/>
            <a:ext cx="18970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R</a:t>
            </a:r>
            <a:endParaRPr lang="en-US" sz="6000" dirty="0"/>
          </a:p>
        </p:txBody>
      </p:sp>
      <p:sp>
        <p:nvSpPr>
          <p:cNvPr id="22" name="step-sub-3"/>
          <p:cNvSpPr txBox="1"/>
          <p:nvPr/>
        </p:nvSpPr>
        <p:spPr>
          <a:xfrm>
            <a:off x="7583851" y="3429000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Relevant</a:t>
            </a:r>
            <a:endParaRPr lang="en-US" sz="1500" dirty="0"/>
          </a:p>
        </p:txBody>
      </p:sp>
      <p:sp>
        <p:nvSpPr>
          <p:cNvPr id="23" name="step-t-3"/>
          <p:cNvSpPr txBox="1"/>
          <p:nvPr/>
        </p:nvSpPr>
        <p:spPr>
          <a:xfrm>
            <a:off x="7629571" y="3977640"/>
            <a:ext cx="1531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Карьерын зорилготой хамааралтай</a:t>
            </a:r>
            <a:endParaRPr lang="en-US" sz="1500" dirty="0"/>
          </a:p>
        </p:txBody>
      </p:sp>
      <p:sp>
        <p:nvSpPr>
          <p:cNvPr id="24" name="step-arrow-3"/>
          <p:cNvSpPr/>
          <p:nvPr/>
        </p:nvSpPr>
        <p:spPr>
          <a:xfrm>
            <a:off x="9416857" y="3749040"/>
            <a:ext cx="256032" cy="457200"/>
          </a:xfrm>
          <a:prstGeom prst="chevron">
            <a:avLst/>
          </a:prstGeom>
          <a:solidFill>
            <a:schemeClr val="accent2"/>
          </a:solidFill>
          <a:ln/>
        </p:spPr>
      </p:sp>
      <p:sp>
        <p:nvSpPr>
          <p:cNvPr id="25" name="step-4"/>
          <p:cNvSpPr/>
          <p:nvPr/>
        </p:nvSpPr>
        <p:spPr>
          <a:xfrm>
            <a:off x="9746041" y="1965960"/>
            <a:ext cx="1897014" cy="4023360"/>
          </a:xfrm>
          <a:prstGeom prst="roundRect">
            <a:avLst>
              <a:gd name="adj" fmla="val 4820"/>
            </a:avLst>
          </a:prstGeom>
          <a:solidFill>
            <a:schemeClr val="bg2"/>
          </a:solidFill>
          <a:ln/>
        </p:spPr>
      </p:sp>
      <p:sp>
        <p:nvSpPr>
          <p:cNvPr id="26" name="step-h-4"/>
          <p:cNvSpPr txBox="1"/>
          <p:nvPr/>
        </p:nvSpPr>
        <p:spPr>
          <a:xfrm>
            <a:off x="9746041" y="2240280"/>
            <a:ext cx="18970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T</a:t>
            </a:r>
            <a:endParaRPr lang="en-US" sz="6000" dirty="0"/>
          </a:p>
        </p:txBody>
      </p:sp>
      <p:sp>
        <p:nvSpPr>
          <p:cNvPr id="27" name="step-sub-4"/>
          <p:cNvSpPr txBox="1"/>
          <p:nvPr/>
        </p:nvSpPr>
        <p:spPr>
          <a:xfrm>
            <a:off x="9883201" y="3429000"/>
            <a:ext cx="162269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Time-bound</a:t>
            </a:r>
            <a:endParaRPr lang="en-US" sz="1500" dirty="0"/>
          </a:p>
        </p:txBody>
      </p:sp>
      <p:sp>
        <p:nvSpPr>
          <p:cNvPr id="28" name="step-t-4"/>
          <p:cNvSpPr txBox="1"/>
          <p:nvPr/>
        </p:nvSpPr>
        <p:spPr>
          <a:xfrm>
            <a:off x="9928921" y="3977640"/>
            <a:ext cx="153125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Хугацаатай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Хувийн хөгжлийн төлөвлөгөөний (IDP) жишээ</a:t>
            </a:r>
            <a:endParaRPr lang="en-US" sz="2800" dirty="0"/>
          </a:p>
        </p:txBody>
      </p:sp>
      <p:graphicFrame>
        <p:nvGraphicFramePr>
          <p:cNvPr id="8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3108960"/>
                <a:gridCol w="3931920"/>
                <a:gridCol w="23774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Хугацаа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Зорилго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Арга хэмжээ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Хэмжүүр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Мэргэжлийн суурь, суралцах дадал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 Security замнал, Linux үндэс, англи хэл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Платформын ахиц 100%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 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Сүлжээ, программчлал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CCNA түвшний сүлжээ, Python скрипт, CTF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CTF-д оролцох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III 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Мэргэших чиглэл сонгох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Төслийн ажил, Security+ бэлтгэл, клуб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Сертификат 1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 курс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Мэргэшил, дипломын судалгаа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Мэргэжлийн дадлага, CySA+ / OSCP бэлтгэл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Диплом, портфолио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09728" marR="109728" marT="45720" marB="45720"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Хичээлийн тойм: 8 лекцийн гол санаа</a:t>
            </a:r>
            <a:endParaRPr lang="en-US" sz="2800" dirty="0"/>
          </a:p>
        </p:txBody>
      </p:sp>
      <p:sp>
        <p:nvSpPr>
          <p:cNvPr id="4" name="recap-0"/>
          <p:cNvSpPr/>
          <p:nvPr/>
        </p:nvSpPr>
        <p:spPr>
          <a:xfrm>
            <a:off x="548640" y="132588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5" name="recap-n-0"/>
          <p:cNvSpPr txBox="1"/>
          <p:nvPr/>
        </p:nvSpPr>
        <p:spPr>
          <a:xfrm>
            <a:off x="822960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Л1</a:t>
            </a:r>
            <a:endParaRPr lang="en-US" sz="2200" dirty="0"/>
          </a:p>
        </p:txBody>
      </p:sp>
      <p:sp>
        <p:nvSpPr>
          <p:cNvPr id="6" name="recap-t-0"/>
          <p:cNvSpPr txBox="1"/>
          <p:nvPr/>
        </p:nvSpPr>
        <p:spPr>
          <a:xfrm>
            <a:off x="822960" y="219456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Кибер аюулгүй байдал CIA гурвалыг хамгаална</a:t>
            </a:r>
            <a:endParaRPr lang="en-US" sz="1600" dirty="0"/>
          </a:p>
        </p:txBody>
      </p:sp>
      <p:sp>
        <p:nvSpPr>
          <p:cNvPr id="7" name="recap-1"/>
          <p:cNvSpPr/>
          <p:nvPr/>
        </p:nvSpPr>
        <p:spPr>
          <a:xfrm>
            <a:off x="3390824" y="132588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8" name="recap-n-1"/>
          <p:cNvSpPr txBox="1"/>
          <p:nvPr/>
        </p:nvSpPr>
        <p:spPr>
          <a:xfrm>
            <a:off x="3665144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Л2</a:t>
            </a:r>
            <a:endParaRPr lang="en-US" sz="2200" dirty="0"/>
          </a:p>
        </p:txBody>
      </p:sp>
      <p:sp>
        <p:nvSpPr>
          <p:cNvPr id="9" name="recap-t-1"/>
          <p:cNvSpPr txBox="1"/>
          <p:nvPr/>
        </p:nvSpPr>
        <p:spPr>
          <a:xfrm>
            <a:off x="3665144" y="219456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Эрсдэл = аюул занал × эмзэг байдал × үр дагавар</a:t>
            </a:r>
            <a:endParaRPr lang="en-US" sz="1600" dirty="0"/>
          </a:p>
        </p:txBody>
      </p:sp>
      <p:sp>
        <p:nvSpPr>
          <p:cNvPr id="10" name="recap-2"/>
          <p:cNvSpPr/>
          <p:nvPr/>
        </p:nvSpPr>
        <p:spPr>
          <a:xfrm>
            <a:off x="6233008" y="132588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1" name="recap-n-2"/>
          <p:cNvSpPr txBox="1"/>
          <p:nvPr/>
        </p:nvSpPr>
        <p:spPr>
          <a:xfrm>
            <a:off x="6507328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Л3</a:t>
            </a:r>
            <a:endParaRPr lang="en-US" sz="2200" dirty="0"/>
          </a:p>
        </p:txBody>
      </p:sp>
      <p:sp>
        <p:nvSpPr>
          <p:cNvPr id="12" name="recap-t-2"/>
          <p:cNvSpPr txBox="1"/>
          <p:nvPr/>
        </p:nvSpPr>
        <p:spPr>
          <a:xfrm>
            <a:off x="6507328" y="219456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Мэргэжил олон салбар, ажлын үүрэгтэй</a:t>
            </a:r>
            <a:endParaRPr lang="en-US" sz="1600" dirty="0"/>
          </a:p>
        </p:txBody>
      </p:sp>
      <p:sp>
        <p:nvSpPr>
          <p:cNvPr id="13" name="recap-3"/>
          <p:cNvSpPr/>
          <p:nvPr/>
        </p:nvSpPr>
        <p:spPr>
          <a:xfrm>
            <a:off x="9075191" y="132588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4" name="recap-n-3"/>
          <p:cNvSpPr txBox="1"/>
          <p:nvPr/>
        </p:nvSpPr>
        <p:spPr>
          <a:xfrm>
            <a:off x="9349511" y="155448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Л4</a:t>
            </a:r>
            <a:endParaRPr lang="en-US" sz="2200" dirty="0"/>
          </a:p>
        </p:txBody>
      </p:sp>
      <p:sp>
        <p:nvSpPr>
          <p:cNvPr id="15" name="recap-t-3"/>
          <p:cNvSpPr txBox="1"/>
          <p:nvPr/>
        </p:nvSpPr>
        <p:spPr>
          <a:xfrm>
            <a:off x="9349511" y="219456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Хичээл бүр дараагийнхаа суурь</a:t>
            </a:r>
            <a:endParaRPr lang="en-US" sz="1600" dirty="0"/>
          </a:p>
        </p:txBody>
      </p:sp>
      <p:sp>
        <p:nvSpPr>
          <p:cNvPr id="16" name="recap-4"/>
          <p:cNvSpPr/>
          <p:nvPr/>
        </p:nvSpPr>
        <p:spPr>
          <a:xfrm>
            <a:off x="548640" y="388620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17" name="recap-n-4"/>
          <p:cNvSpPr txBox="1"/>
          <p:nvPr/>
        </p:nvSpPr>
        <p:spPr>
          <a:xfrm>
            <a:off x="822960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Л5</a:t>
            </a:r>
            <a:endParaRPr lang="en-US" sz="2200" dirty="0"/>
          </a:p>
        </p:txBody>
      </p:sp>
      <p:sp>
        <p:nvSpPr>
          <p:cNvPr id="18" name="recap-t-4"/>
          <p:cNvSpPr txBox="1"/>
          <p:nvPr/>
        </p:nvSpPr>
        <p:spPr>
          <a:xfrm>
            <a:off x="822960" y="475488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Идэвхтэй, тогтмол суралцах нь амжилтын түлхүүр</a:t>
            </a:r>
            <a:endParaRPr lang="en-US" sz="1600" dirty="0"/>
          </a:p>
        </p:txBody>
      </p:sp>
      <p:sp>
        <p:nvSpPr>
          <p:cNvPr id="19" name="recap-5"/>
          <p:cNvSpPr/>
          <p:nvPr/>
        </p:nvSpPr>
        <p:spPr>
          <a:xfrm>
            <a:off x="3390824" y="388620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0" name="recap-n-5"/>
          <p:cNvSpPr txBox="1"/>
          <p:nvPr/>
        </p:nvSpPr>
        <p:spPr>
          <a:xfrm>
            <a:off x="3665144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Л6</a:t>
            </a:r>
            <a:endParaRPr lang="en-US" sz="2200" dirty="0"/>
          </a:p>
        </p:txBody>
      </p:sp>
      <p:sp>
        <p:nvSpPr>
          <p:cNvPr id="21" name="recap-t-5"/>
          <p:cNvSpPr txBox="1"/>
          <p:nvPr/>
        </p:nvSpPr>
        <p:spPr>
          <a:xfrm>
            <a:off x="3665144" y="475488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Зөвшөөрөл, ёс зүй, нууцлал — улаан шугам</a:t>
            </a:r>
            <a:endParaRPr lang="en-US" sz="1600" dirty="0"/>
          </a:p>
        </p:txBody>
      </p:sp>
      <p:sp>
        <p:nvSpPr>
          <p:cNvPr id="22" name="recap-6"/>
          <p:cNvSpPr/>
          <p:nvPr/>
        </p:nvSpPr>
        <p:spPr>
          <a:xfrm>
            <a:off x="6233008" y="388620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3" name="recap-n-6"/>
          <p:cNvSpPr txBox="1"/>
          <p:nvPr/>
        </p:nvSpPr>
        <p:spPr>
          <a:xfrm>
            <a:off x="6507328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Л7</a:t>
            </a:r>
            <a:endParaRPr lang="en-US" sz="2200" dirty="0"/>
          </a:p>
        </p:txBody>
      </p:sp>
      <p:sp>
        <p:nvSpPr>
          <p:cNvPr id="24" name="recap-t-6"/>
          <p:cNvSpPr txBox="1"/>
          <p:nvPr/>
        </p:nvSpPr>
        <p:spPr>
          <a:xfrm>
            <a:off x="6507328" y="475488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Карьер бол төлөвлөж болох замнал</a:t>
            </a:r>
            <a:endParaRPr lang="en-US" sz="1600" dirty="0"/>
          </a:p>
        </p:txBody>
      </p:sp>
      <p:sp>
        <p:nvSpPr>
          <p:cNvPr id="25" name="recap-7"/>
          <p:cNvSpPr/>
          <p:nvPr/>
        </p:nvSpPr>
        <p:spPr>
          <a:xfrm>
            <a:off x="9075191" y="3886200"/>
            <a:ext cx="2567864" cy="22860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26" name="recap-n-7"/>
          <p:cNvSpPr txBox="1"/>
          <p:nvPr/>
        </p:nvSpPr>
        <p:spPr>
          <a:xfrm>
            <a:off x="9349511" y="411480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Л8</a:t>
            </a:r>
            <a:endParaRPr lang="en-US" sz="2200" dirty="0"/>
          </a:p>
        </p:txBody>
      </p:sp>
      <p:sp>
        <p:nvSpPr>
          <p:cNvPr id="27" name="recap-t-7"/>
          <p:cNvSpPr txBox="1"/>
          <p:nvPr/>
        </p:nvSpPr>
        <p:spPr>
          <a:xfrm>
            <a:off x="9349511" y="4754880"/>
            <a:ext cx="2019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Тасралтгүй суралцахуй — мэргэжлийн хэв маяг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q-kicker"/>
          <p:cNvSpPr txBox="1"/>
          <p:nvPr/>
        </p:nvSpPr>
        <p:spPr>
          <a:xfrm>
            <a:off x="548640" y="914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ТӨГСГӨЛИЙН АСУУЛТ</a:t>
            </a:r>
            <a:endParaRPr lang="en-US" sz="2000" dirty="0"/>
          </a:p>
        </p:txBody>
      </p:sp>
      <p:sp>
        <p:nvSpPr>
          <p:cNvPr id="4" name="q-text"/>
          <p:cNvSpPr txBox="1"/>
          <p:nvPr/>
        </p:nvSpPr>
        <p:spPr>
          <a:xfrm>
            <a:off x="548640" y="1645920"/>
            <a:ext cx="81381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4 жилийн дараах «та» өнөөдрийн танд ямар зөвлөгөө өгөх вэ? Түүнийгээ өнөөдрөөс хэрэгжүүлж эхэлцгээе.</a:t>
            </a:r>
            <a:endParaRPr lang="en-US" sz="3000" dirty="0"/>
          </a:p>
        </p:txBody>
      </p:sp>
      <p:sp>
        <p:nvSpPr>
          <p:cNvPr id="5" name="q-ring"/>
          <p:cNvSpPr/>
          <p:nvPr/>
        </p:nvSpPr>
        <p:spPr>
          <a:xfrm>
            <a:off x="9144000" y="2103120"/>
            <a:ext cx="2377440" cy="2377440"/>
          </a:xfrm>
          <a:prstGeom prst="ellipse">
            <a:avLst/>
          </a:prstGeom>
          <a:solidFill>
            <a:schemeClr val="accent3">
              <a:alpha val="60000"/>
            </a:schemeClr>
          </a:solidFill>
          <a:ln w="25400">
            <a:solidFill>
              <a:schemeClr val="accent1"/>
            </a:solidFill>
            <a:prstDash val="solid"/>
          </a:ln>
        </p:spPr>
      </p:sp>
      <p:pic>
        <p:nvPicPr>
          <p:cNvPr id="6" name="q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2651760"/>
            <a:ext cx="1280160" cy="1280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Гол санаа</a:t>
            </a:r>
            <a:endParaRPr lang="en-US" sz="2800" dirty="0"/>
          </a:p>
        </p:txBody>
      </p:sp>
      <p:sp>
        <p:nvSpPr>
          <p:cNvPr id="3" name="take-card-0"/>
          <p:cNvSpPr/>
          <p:nvPr/>
        </p:nvSpPr>
        <p:spPr>
          <a:xfrm>
            <a:off x="548640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4" name="take-n-0"/>
          <p:cNvSpPr txBox="1"/>
          <p:nvPr/>
        </p:nvSpPr>
        <p:spPr>
          <a:xfrm>
            <a:off x="914400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4800" dirty="0"/>
          </a:p>
        </p:txBody>
      </p:sp>
      <p:sp>
        <p:nvSpPr>
          <p:cNvPr id="5" name="take-0"/>
          <p:cNvSpPr txBox="1"/>
          <p:nvPr/>
        </p:nvSpPr>
        <p:spPr>
          <a:xfrm>
            <a:off x="914400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Технологи хурдан өөрчлөгддөг тул тасралтгүй суралцах нь мэргэжлийн үүрэг</a:t>
            </a:r>
            <a:endParaRPr lang="en-US" sz="1800" dirty="0"/>
          </a:p>
        </p:txBody>
      </p:sp>
      <p:sp>
        <p:nvSpPr>
          <p:cNvPr id="6" name="take-card-1"/>
          <p:cNvSpPr/>
          <p:nvPr/>
        </p:nvSpPr>
        <p:spPr>
          <a:xfrm>
            <a:off x="4368698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7" name="take-n-1"/>
          <p:cNvSpPr txBox="1"/>
          <p:nvPr/>
        </p:nvSpPr>
        <p:spPr>
          <a:xfrm>
            <a:off x="4734458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4800" dirty="0"/>
          </a:p>
        </p:txBody>
      </p:sp>
      <p:sp>
        <p:nvSpPr>
          <p:cNvPr id="8" name="take-1"/>
          <p:cNvSpPr txBox="1"/>
          <p:nvPr/>
        </p:nvSpPr>
        <p:spPr>
          <a:xfrm>
            <a:off x="4734458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SMART зорилго, IDP нь карьерын зураглалыг бодит алхам болгоно</a:t>
            </a:r>
            <a:endParaRPr lang="en-US" sz="1800" dirty="0"/>
          </a:p>
        </p:txBody>
      </p:sp>
      <p:sp>
        <p:nvSpPr>
          <p:cNvPr id="9" name="take-card-2"/>
          <p:cNvSpPr/>
          <p:nvPr/>
        </p:nvSpPr>
        <p:spPr>
          <a:xfrm>
            <a:off x="8188757" y="1463040"/>
            <a:ext cx="3454298" cy="4480560"/>
          </a:xfrm>
          <a:prstGeom prst="roundRect">
            <a:avLst>
              <a:gd name="adj" fmla="val 3177"/>
            </a:avLst>
          </a:prstGeom>
          <a:solidFill>
            <a:schemeClr val="bg2"/>
          </a:solidFill>
          <a:ln/>
        </p:spPr>
      </p:sp>
      <p:sp>
        <p:nvSpPr>
          <p:cNvPr id="10" name="take-n-2"/>
          <p:cNvSpPr txBox="1"/>
          <p:nvPr/>
        </p:nvSpPr>
        <p:spPr>
          <a:xfrm>
            <a:off x="8554517" y="1783080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4800" dirty="0"/>
          </a:p>
        </p:txBody>
      </p:sp>
      <p:sp>
        <p:nvSpPr>
          <p:cNvPr id="11" name="take-2"/>
          <p:cNvSpPr txBox="1"/>
          <p:nvPr/>
        </p:nvSpPr>
        <p:spPr>
          <a:xfrm>
            <a:off x="8554517" y="2926080"/>
            <a:ext cx="2722778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Мэргэжлийн замнал өнөөдрийн жижиг, тогтмол дадлаас эхэлдэг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Бие даалт ба дараагийн дадлага</a:t>
            </a:r>
            <a:endParaRPr lang="en-US" sz="2800" dirty="0"/>
          </a:p>
        </p:txBody>
      </p:sp>
      <p:sp>
        <p:nvSpPr>
          <p:cNvPr id="3" name="hw-icon-bg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4" name="hw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341" y="1538021"/>
            <a:ext cx="307238" cy="307238"/>
          </a:xfrm>
          <a:prstGeom prst="rect">
            <a:avLst/>
          </a:prstGeom>
        </p:spPr>
      </p:pic>
      <p:sp>
        <p:nvSpPr>
          <p:cNvPr id="5" name="hw-h"/>
          <p:cNvSpPr txBox="1"/>
          <p:nvPr/>
        </p:nvSpPr>
        <p:spPr>
          <a:xfrm>
            <a:off x="1280160" y="1463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Бие даалтын даалгавар</a:t>
            </a:r>
            <a:endParaRPr lang="en-US" sz="2000" dirty="0"/>
          </a:p>
        </p:txBody>
      </p:sp>
      <p:sp>
        <p:nvSpPr>
          <p:cNvPr id="6" name="hw-list"/>
          <p:cNvSpPr txBox="1"/>
          <p:nvPr/>
        </p:nvSpPr>
        <p:spPr>
          <a:xfrm>
            <a:off x="548640" y="2148840"/>
            <a:ext cx="5486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Бие даалт 2-ыг (карьерын зураглал + IDP) эцэслэж, Дадлага 8-д хамгаалах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Хичээлийн эцсийн санал асуулгыг бөглөх</a:t>
            </a:r>
            <a:endParaRPr lang="en-US" sz="1600" dirty="0"/>
          </a:p>
        </p:txBody>
      </p:sp>
      <p:sp>
        <p:nvSpPr>
          <p:cNvPr id="7" name="next-card"/>
          <p:cNvSpPr/>
          <p:nvPr/>
        </p:nvSpPr>
        <p:spPr>
          <a:xfrm>
            <a:off x="6583680" y="1417320"/>
            <a:ext cx="5059375" cy="3108960"/>
          </a:xfrm>
          <a:prstGeom prst="roundRect">
            <a:avLst>
              <a:gd name="adj" fmla="val 3529"/>
            </a:avLst>
          </a:prstGeom>
          <a:solidFill>
            <a:schemeClr val="accent3"/>
          </a:solidFill>
          <a:ln/>
        </p:spPr>
      </p:sp>
      <p:sp>
        <p:nvSpPr>
          <p:cNvPr id="8" name="next-kicker"/>
          <p:cNvSpPr txBox="1"/>
          <p:nvPr/>
        </p:nvSpPr>
        <p:spPr>
          <a:xfrm>
            <a:off x="6949440" y="1691640"/>
            <a:ext cx="43278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ДАДЛАГА_08</a:t>
            </a:r>
            <a:endParaRPr lang="en-US" sz="1800" dirty="0"/>
          </a:p>
        </p:txBody>
      </p:sp>
      <p:sp>
        <p:nvSpPr>
          <p:cNvPr id="9" name="next-title"/>
          <p:cNvSpPr txBox="1"/>
          <p:nvPr/>
        </p:nvSpPr>
        <p:spPr>
          <a:xfrm>
            <a:off x="6949440" y="2240280"/>
            <a:ext cx="432785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Анхан шатны CTF ба хувийн хөгжлийн төлөвлөгөө хамгаалах</a:t>
            </a:r>
            <a:endParaRPr lang="en-US" sz="2000" dirty="0"/>
          </a:p>
        </p:txBody>
      </p:sp>
      <p:sp>
        <p:nvSpPr>
          <p:cNvPr id="10" name="next-meta"/>
          <p:cNvSpPr txBox="1"/>
          <p:nvPr/>
        </p:nvSpPr>
        <p:spPr>
          <a:xfrm>
            <a:off x="6949440" y="3703320"/>
            <a:ext cx="43278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4 цаг · лаборатори · дэлгэрэнгүй төлөвлөгөөг дадлагын гарын авлагаас үзнэ</a:t>
            </a:r>
            <a:endParaRPr lang="en-US" sz="1400" dirty="0"/>
          </a:p>
        </p:txBody>
      </p:sp>
      <p:sp>
        <p:nvSpPr>
          <p:cNvPr id="11" name="src-h"/>
          <p:cNvSpPr txBox="1"/>
          <p:nvPr/>
        </p:nvSpPr>
        <p:spPr>
          <a:xfrm>
            <a:off x="548640" y="4846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Эх сурвалж</a:t>
            </a:r>
            <a:endParaRPr lang="en-US" sz="1400" dirty="0"/>
          </a:p>
        </p:txBody>
      </p:sp>
      <p:sp>
        <p:nvSpPr>
          <p:cNvPr id="12" name="src"/>
          <p:cNvSpPr txBox="1"/>
          <p:nvPr/>
        </p:nvSpPr>
        <p:spPr>
          <a:xfrm>
            <a:off x="548640" y="52120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Кибер аюулгүй байдлын бакалаврын хөтөлбөр (103103), 'Ирээдүйн чиг хандлагын судалгаа'   ·   NIST, Post-Quantum Cryptography standards (FIPS 203–205), 2024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40080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BC101 Signal">
  <a:themeElements>
    <a:clrScheme name="CSBC101 Signal">
      <a:dk1>
        <a:srgbClr val="17262A"/>
      </a:dk1>
      <a:lt1>
        <a:srgbClr val="FFFFFF"/>
      </a:lt1>
      <a:dk2>
        <a:srgbClr val="0F3B3F"/>
      </a:dk2>
      <a:lt2>
        <a:srgbClr val="EAF4F1"/>
      </a:lt2>
      <a:accent1>
        <a:srgbClr val="12A37F"/>
      </a:accent1>
      <a:accent2>
        <a:srgbClr val="E89B3C"/>
      </a:accent2>
      <a:accent3>
        <a:srgbClr val="2E6F73"/>
      </a:accent3>
      <a:accent4>
        <a:srgbClr val="8FD3C1"/>
      </a:accent4>
      <a:accent5>
        <a:srgbClr val="C4553B"/>
      </a:accent5>
      <a:accent6>
        <a:srgbClr val="5B6B6E"/>
      </a:accent6>
      <a:hlink>
        <a:srgbClr val="12A37F"/>
      </a:hlink>
      <a:folHlink>
        <a:srgbClr val="2E6F73"/>
      </a:folHlink>
    </a:clrScheme>
    <a:fontScheme name="CSBC101 Sign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ҮБХИС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 8. Тасралтгүй суралцахуй ба хувийн хөгжлийн төлөвлөгөө</dc:title>
  <dc:subject>CSBC101 Мэргэжлийн удиртгал</dc:subject>
  <dc:creator>Дэслэгч Ч.Энхбаатар</dc:creator>
  <cp:lastModifiedBy>Дэслэгч Ч.Энхбаатар</cp:lastModifiedBy>
  <cp:revision>1</cp:revision>
  <dcterms:created xsi:type="dcterms:W3CDTF">2026-10-26T09:26:45Z</dcterms:created>
  <dcterms:modified xsi:type="dcterms:W3CDTF">2026-10-26T09:26:45Z</dcterms:modified>
</cp:coreProperties>
</file>