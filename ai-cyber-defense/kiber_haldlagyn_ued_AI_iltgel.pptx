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Нээлт" id="{923cc60d-e357-8396-a2e1-7a84063ecc24}">
          <p14:sldIdLst>
            <p14:sldId id="256"/>
          </p14:sldIdLst>
        </p14:section>
        <p14:section name="Аюул заналын орчин" id="{2a7304fb-ecf9-cec0-7d65-214943220fa1}">
          <p14:sldIdLst>
            <p14:sldId id="257"/>
            <p14:sldId id="258"/>
            <p14:sldId id="259"/>
          </p14:sldIdLst>
        </p14:section>
        <p14:section name="AI ашиглах дөрвөн чиглэл" id="{02d650bd-42d7-bad2-b7c0-41c89a65608a}">
          <p14:sldIdLst>
            <p14:sldId id="260"/>
            <p14:sldId id="261"/>
            <p14:sldId id="262"/>
            <p14:sldId id="263"/>
            <p14:sldId id="264"/>
            <p14:sldId id="265"/>
          </p14:sldIdLst>
        </p14:section>
        <p14:section name="AI системийн аюулгүй байдал, туршлага" id="{2b0b5ef7-980f-3763-adab-5fd4408b0c62}">
          <p14:sldIdLst>
            <p14:sldId id="266"/>
            <p14:sldId id="267"/>
          </p14:sldIdLst>
        </p14:section>
        <p14:section name="Монгол Улс, санал зөвлөмж" id="{ff837b57-ed89-308d-18f0-8066c400df54}">
          <p14:sldIdLst>
            <p14:sldId id="268"/>
            <p14:sldId id="269"/>
            <p14:sldId id="270"/>
            <p14:sldId id="271"/>
            <p14:sldId id="272"/>
          </p14:sldIdLst>
        </p14:section>
        <p14:section name="Дүгнэлт" id="{5ef5b7a2-fc7e-0518-fda5-ffb22fab9dfc}">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mj-lt"/>
              </a:defRPr>
            </a:pPr>
            <a:r>
              <a:rPr sz="1300" b="0" i="0" u="none" strike="noStrike">
                <a:solidFill>
                  <a:srgbClr val="0B1F3A"/>
                </a:solidFill>
                <a:latin typeface="+mj-lt"/>
              </a:rPr>
              <a:t>DARPA AI Cyber Challenge: AI системийн үр дүн, %</a:t>
            </a:r>
          </a:p>
        </c:rich>
      </c:tx>
      <c:layout/>
      <c:overlay val="0"/>
    </c:title>
    <c:autoTitleDeleted val="0"/>
    <c:plotArea>
      <c:layout/>
      <c:barChart>
        <c:barDir val="col"/>
        <c:grouping val="clustered"/>
        <c:varyColors val="0"/>
        <c:ser>
          <c:idx val="0"/>
          <c:order val="0"/>
          <c:tx>
            <c:strRef>
              <c:f>Sheet1!$B$1</c:f>
              <c:strCache>
                <c:ptCount val="1"/>
                <c:pt idx="0">
                  <c:v>2024 (хагас финал)</c:v>
                </c:pt>
              </c:strCache>
            </c:strRef>
          </c:tx>
          <c:spPr>
            <a:solidFill>
              <a:srgbClr val="8A94A6"/>
            </a:solidFill>
            <a:effectLst/>
          </c:spPr>
          <c:invertIfNegative val="0"/>
          <c:dLbls>
            <c:numFmt formatCode="0&quot;%&quot;"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cat>
            <c:multiLvlStrRef>
              <c:f>Sheet1!$A$2:$A$3</c:f>
              <c:multiLvlStrCache>
                <c:ptCount val="2"/>
                <c:lvl>
                  <c:pt idx="0">
                    <c:v>Эмзэг байдал илрүүлэлт</c:v>
                  </c:pt>
                  <c:pt idx="1">
                    <c:v>Автомат засвар</c:v>
                  </c:pt>
                </c:lvl>
              </c:multiLvlStrCache>
            </c:multiLvlStrRef>
          </c:cat>
          <c:val>
            <c:numRef>
              <c:f>Sheet1!$B$2:$B$3</c:f>
              <c:numCache>
                <c:formatCode>General</c:formatCode>
                <c:ptCount val="2"/>
                <c:pt idx="0">
                  <c:v>37</c:v>
                </c:pt>
                <c:pt idx="1">
                  <c:v>25</c:v>
                </c:pt>
              </c:numCache>
            </c:numRef>
          </c:val>
        </c:ser>
        <c:ser>
          <c:idx val="1"/>
          <c:order val="1"/>
          <c:tx>
            <c:strRef>
              <c:f>Sheet1!$C$1</c:f>
              <c:strCache>
                <c:ptCount val="1"/>
                <c:pt idx="0">
                  <c:v>2025 (финал)</c:v>
                </c:pt>
              </c:strCache>
            </c:strRef>
          </c:tx>
          <c:spPr>
            <a:solidFill>
              <a:srgbClr val="0E7C86"/>
            </a:solidFill>
            <a:effectLst/>
          </c:spPr>
          <c:invertIfNegative val="0"/>
          <c:dLbls>
            <c:numFmt formatCode="0&quot;%&quot;"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cat>
            <c:multiLvlStrRef>
              <c:f>Sheet1!$A$2:$A$3</c:f>
              <c:multiLvlStrCache>
                <c:ptCount val="2"/>
                <c:lvl>
                  <c:pt idx="0">
                    <c:v>Эмзэг байдал илрүүлэлт</c:v>
                  </c:pt>
                  <c:pt idx="1">
                    <c:v>Автомат засвар</c:v>
                  </c:pt>
                </c:lvl>
              </c:multiLvlStrCache>
            </c:multiLvlStrRef>
          </c:cat>
          <c:val>
            <c:numRef>
              <c:f>Sheet1!$C$2:$C$3</c:f>
              <c:numCache>
                <c:formatCode>General</c:formatCode>
                <c:ptCount val="2"/>
                <c:pt idx="0">
                  <c:v>77</c:v>
                </c:pt>
                <c:pt idx="1">
                  <c:v>61</c:v>
                </c:pt>
              </c:numCache>
            </c:numRef>
          </c:val>
        </c:ser>
        <c:dLbls>
          <c:numFmt formatCode="0&quot;%&quot;"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EF2F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Эрхэм хүндэт Кибер аюулгүй байдлын цэргийн командлагч, хүндэт эрдэмтэн судлаачид, алба хаагчид аа! Хэлэлцүүлгийн удирдамжийн 1.2-т заасан «Кибер халдлагын үед хиймэл оюун ашиглах боломж» сэдвээр чиглүүлэх илтгэл тавьж байна. Өмнөх илтгэлд хурандаа Э.Батзориг хиймэл оюунд суурилсан аюул занал, эрсдэлийг дэлгэрэнгүй авч үзсэн тул би аюул заналыг зөвхөн хамгаалалтын хэрэгцээг тодорхойлох хэмжээнд хөндөж, үндсэн цагаа хамгаалалтын дөрвөн чиглэл болон Монголын нөхцөлд хэрэгжүүлэх санал, зөвлөмжид зориулна. Илтгэлийн суурь болсон 24 хуудас судалгааны материалыг хэлэлцүүлгийн материалд хавсаргасан.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Илтгэлийн гол санааг нэг үзүүлэлтээр эхлүүлье. CrowdStrike компанийн 2025 оны тайлангаар халдагч анх нэвтэрснээс хойш сүлжээний бусад систем рүү шилжих буюу «breakout» хугацааны дундаж 48 минут, хамгийн хурдан тохиолдол ердөө 51 секунд байв. Нөгөө талд Mandiant-ийн тайлангаар халдагч сүлжээнд илрэхгүй байх дундаж хугацаа 11 хоног. Өөрөөр хэлбэл халдагч минут, секундээр, хамгаалагч хоногоор ажиллаж байна. Үүн дээр илрүүлэлтийн 79 хувь нь хортой кодгүй, зөвхөн зан төлөвөөр л таних боломжтой халдлага байгааг нэмбэл гарын үсэг, дүрэмд суурилсан уламжлалт хамгаалалт яагаад хүрэлцэхгүй болсон нь тодорхой. Хиймэл оюун халдагчийн энэ хурдыг улам нэмж байгаа тул илрүүлэлт, анхан шатны хариу үйлдлийг машины хурдтай болгохоос өөр сонголт бидэнд үлдэхгүй байна.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Дөрвөн тоо хэлье. Microsoft-ийн 2025 оны Digital Defense тайлангаар хиймэл оюунаар бичсэн фишинг захидлын клик хийх хувь 54, гараар бичсэнийх 12 хувь, бараг дөрөв хагас дахин үр дүнтэй. IBM-ийн судалгаагаар мэдээллийн зөрчлийн 16 хувьд халдагч AI ашигласан, ихэвчлэн фишинг, deepfake дуурайлтад. Дуут фишинг буюу vishing 2024 оны хоёрдугаар хагаст 442 хувиар өссөн. Хамгийн чухал нь 2025 оны 11 дүгээр сард Anthropic компанийн нийтэлсэн GTG-1002 кампанит ажил: улсын дэмжлэгтэй бүлэг Claude Code хэмээх AI агентын олон хувийг оркестратор, гүйцэтгэгч болгон ажиллуулж, дэлхийн 30 орчим байгууллагын эсрэг халдлагын ажиллагааны 80–90 хувийг хүний оролцоогүй гүйцэтгүүлсэн. Хүн зөвхөн дөрөв, зургаан шийдвэрийн цэгт оролцсон. Мөн Google-ийн тайланд PROMPTFLUX зэрэг ажиллах явцдаа хэлний загвараар өөрийн кодоо дахин бичүүлдэг хортой кодын гэр бүлүүд баримтжсан. Гэхдээ нэг зүйлийг онцолъё: тэр AI агент нууц үг олсон гэж худал мэдээлэх, нээлттэй мэдээллийг нууц гэж андуурах зэрэг алдаа гаргаж, халдагч бүх үр дүнг гараар дахин шалгахад хүрсэн. AI-ийн энэ алдааны хэв маяг нь хамгаалагч бидний илрүүлэлтийн шинж тэмдэг болж чадна.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Энэ зураг халдлагын мөчлөгийн долоон үе шат бүрд AI хэрхэн ашиглагдаж буйг нэгтгэв. Тагнуулын шатанд нээлттэй эхийн мэдээллийг автоматаар цуглуулж бай хүн, системийн профайл үүсгэнэ. Зэвсэглэлийн шатанд хортой кодыг бичих, обфускаци хийх, өөрийгөө дахин бичих. Хүргэлтэд хувь хүнд чиглэсэн, алдаагүй, орон нутгийн хэлээр бичсэн фишинг, дуу хоолой, видео deepfake. Ашиглалтын шатанд эмзэг байдал олох, exploit бичих; DARPA-гийн тэмцээнд AI системүүд бодит кодоос 18 эмзэг байдал олсныг санацгаая, энэ чадвар давхар зориулалттай. Удирдлагын шатанд хортой код ажиллах явцдаа хэлний загвараас команд авна. Хажуу тийш шилжих, эрх ахиулах шатанд агентуудыг пентест багийн дүрээр зэрэгцүүлэн ажиллуулна. Эцэст нь хулгайлсан өгөгдлийг AI-аар ангилж, үнэ цэнтэйг ялгана. Хамгаалагчийн хариу мөн адил байх ёстой: мөчлөгийн үе шат бүрд AI-аар илрүүлэх, саатуулах, хариу үйлдэл үзүүлэх.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Удирдамжийн дагуу хамгаалалтад AI ашиглах боломжийг дөрвөн чиглэлээр авч үзье: нэг, халдлагыг илрүүлэх, шинжлэх; хоёр, SIEM болон SOC-ийн үйл ажиллагаа; гурав, зөрчилд хариу үйлдэл үзүүлэх; дөрөв, аюул заналын мэдээлэл, урьдчилан сэргийлэлт. Эдгээрийн суурь нөхцөл нь AI системийг өөрийг нь хамгаалах, хүн шийдвэрийн гогцоонд байх, өгөгдлийн бүрэн эрхт байдал, мэргэшсэн хүний нөөц гэсэн дөрвөн зүйл бөгөөд тэдгээргүйгээр аль ч чиглэл бодит үр дүн өгөхгүй.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Эхний чиглэл. Уламжлалт илрүүлэлт гарын үсэг, дүрэмд суурилдаг тул урьд өмнө үзэгдээгүй, өөрчлөгдөж байдаг, хортой кодгүй халдлагыг алддаг. AI үүнийг зан төлөвийн шинжилгээгээр нөхнө. Сүлжээний урсгал, нэвтрэлтийн цаг, байршил, өгөгдлийн хэмжээний хэвийн бус хазайлтыг хяналтгүй сургалтын загвараар илрүүлнэ. UEBA буюу хэрэглэгч, төхөөрөмж бүрийн суурь зан төлөвийг тогтоож, эрх ахиулалт, хулгайлсан нууц үгээр нэвтрэлт, дотоод аюул заналыг эрсдэлийн оноогоор таньна. Хортой кодыг статик, динамик шинжээр нь ангилах, AI-аар бичсэн фишинг, DGA домэйныг хэлний загвараар таних, deepfake дуу хоолой, видеог forensics-ээр илрүүлэх, мөн obfuscated PowerShell скрипт, нарийн төвөгтэй логийг хэлний загвараар хүний хэлээр тайлбарлуулах боломжтой. Үр нөлөө нь тодорхой: signature-д байхгүй халдлагыг барьж, 11 хоногийн dwell time-ийг богиносгож, шинжээч зөвхөн эрсдэлтэй үйл явдлыг шалгана. Гэхдээ хязгаарлалт бий. Суурь загвар буруу тохируулагдвал худал сэрэмжлүүлэгт живнэ; халдагч загварын хил хязгаарыг мэдэрч зайлсхийж болно, NIST-ийн AI 100-2 стандарт үүнийг evasion гэж ангилдаг; сүлжээ өөрчлөгдөхөд загварыг дахин сургах хэрэгтэй; цэргийн удирдлагад «яагаад» гэдгийг тайлбарлах чадвар шаардлагатай. Цэргийн орчны хувьд нэг зүйл шийдвэрлэх ач холбогдолтой: нууцлагдсан, тусгаарлагдсан сүлжээнд үүлэн AI ашиглах боломжгүй тул загварыг дотооддоо байршуулах ёстой. Харин цэргийн сүлжээний хэвийн үйл ажиллагаа тогтвортой, урьдчилан тодорхойлогдсон байдаг нь хэвийн бус байдлыг илрүүлэхэд давуу тал.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Хоёрдугаар чиглэл. Дундаж SOC өдөрт хэдэн арван мянган сэрэмжлүүлэг хүлээн авдаг, ихэнх нь худал эсвэл давхардсан. Шинжээчийн ядаргаа, нэгдүгээр түвшний давтагдах ажил, мэргэшсэн хүний хомсдол манайд ч хамгийн хурц асуудал. AI SOC-ийн үйл явц бүрд ордог: бүтэцгүй логийг автоматаар бүтэцлэх, олон эх сурвалжийн үйл явдлыг нэг халдлагын түүх болгон холбох, сэрэмжлүүлэг бүрт эрсдэлийн оноо өгч давхардлыг нэгтгэх, IP, hash, домэйны талаарх мэдээллийг автоматаар татаж товчлох, шинжээчийг энгийн хэлээр асуухад SIEM-ийн хүсэлт үүсгэдэг copilot, тайланг автоматаар бичих. IBM-ийн 2025 оны тайлангаар AI, автоматжуулалтыг өргөн ашигласан байгууллага нэг зөрчилд 1.9 сая ам.доллар бага зарцуулж, зөрчлийн мөчлөг 80 хоногоор богиноссон. 2025–2026 онд «агент SOC» загвар гарч ирлээ: эрэмбэлэх, хайх, хариу үйлдлийн агентууд хоорондоо ажил хуваарилж, хүн батлах, хянах үүрэгтэй ажиллана. Энэ бол GTG-1002-ын халдлагын оркестраторын яг толин тусгал: халдагч агентуудын эсрэг хамгаалагч агентууд. Гэхдээ агент SOC өөрөө шинэ халдлагын талбай: AI-тай холбоотой зөрчлийн найман тутмын нэг нь агент системтэй холбоотой гэсэн судалгаа бий. Цэргийн SOC-д дөрвөн эрсдэлийг онцолъё: хэлний загварын худал дүгнэлт тул эх сурвалж заавал ишлүүлэх; халдагч логт зориуд оруулсан текстээр SOC-ийн загварыг удирдах prompt injection; үүлэн copilot-д нууц лог илгээх нь нууцлалын зөрчил тул зөвхөн дотоод байршуулалт; вендороос хараат байдал, лицензийн зардал.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Гуравдугаар чиглэл. NIST-ийн 800-61 стандартын 2025 оны гуравдугаар хувилбар зөрчилд хариу үйлдэл үзүүлэх мөчлөгийг CSF 2.0-той уялдуулсан. Үе шат бүрд AI юу хийж, хүн юу хийх вэ. Бэлтгэлд AI playbook боловсруулж, дасгалын хувилбар үүсгэж, актив, хамаарлын зураглал гаргана; хүн playbook-ийг батална. Илрүүлэлт, шинжилгээнд AI сэрэмжлүүлгийг зөрчил болгон нэгтгэж, хамрах хүрээг тогтоож, халдлагын цаг хугацааны дарааллыг сэргээнэ; хүн ангилал, хүндийн зэргийг батална. Хязгаарлалтад SOAR playbook-оор хост тусгаарлах, нууц үг хүчингүй болгох, хортой домэйн хаах зэрэг урьдчилан батлагдсан үйлдлийг секундын дотор гүйцэтгэнэ; харин цэргийн системийг салгах, үйл ажиллагаа зогсоох зэрэг өндөр эрсдэлтэй үйлдэлд хүн заавал батална. Устгалт, сэргээлтэд persistence механизмыг олж, сэргээлтийн дараалал, засварын эрэмбийг санал болгоно. Зөрчлийн дараа forensic шинжилгээ, хортой кодыг урвуу инженерчлэх, тайлан бичих, сургамжийг playbook-д тусгах ажлыг AI хурдасгана. Хязгаарлалтын хугацааг цагаас секунд руу буулгах нь 51 секундын breakout-той тэмцэх цорын ганц арга. Гэхдээ автомат хязгаарлалт буруу ажиллавал өөрөө үйлчилгээний тасалдал үүсгэж байлдааны бэлэн байдалд нөлөөлнө. Иймд playbook бүрт эрсдэлийн үнэлгээ, буцаах механизм, ажиллах горимыг заавал тодорхойлно; халдагч хуурамч сэрэмжлүүлгээр бидний автомат хариу үйлдлийг зориуд өдөөж болохыг ч тооцно.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Цэргийн системд AI-д хэр их эрх өгөх вэ гэдэг нь бодлогын гол асуудал. Автомат жолоодлогын түвшний адил таван зэрэглэл санал болгож байна. Тэг: гар ажиллагаа, одоогийн суурь. Нэг: AI туслах; товчилж, баяжуулж, санал болгоно, бүх үйлдлийг хүн хийнэ; бүх сүлжээнд нэвтрүүлж болно. Хоёр: хэсэгчилсэн автоматжуулалт; AI үйлдлийн төлөвлөгөө санал болгож, хүн нэг товчоор батална; энэ бол SOC-ийн үндсэн горим байх ёстой. Гурав: нөхцөлт автономи; урьдчилан батлагдсан, бага эрсдэлтэй playbook-ийг AI өөрөө гүйцэтгэж, хүн хянана; ажлын станц тусгаарлах, мэдэгдэж буй хортой домэйн хаах зэрэг хязгаарлагдмал хүрээнд л зөвшөөрнө. Дөрөв: өндөр автономи; хүний оролцоогүй шийдвэр; онц чухал, байлдааны системд одоогоор зөвлөхгүй. Зарчим нь энгийн: автоматжуулалтын эрх нь playbook-ийн эрсдэлийн үнэлгээ, буцаах механизм, хариуцлагын тодорхой хуваарилалттай хамт л олгогдоно.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Дөрөвдүгээр чиглэл. Аюул заналын мэдээллийн хувьд AI нээлттэй эх, харанхуй веб, вендорын тайлан, нийгмийн сүлжээг англи, орос, хятад, монгол хэлээр автоматаар хянаж, тайлангаас халдлагын шинж тэмдэг, тактик, техникийг олборлож MITRE ATT&amp;CK-д буулгаж, STIX форматаар хуваалцана. MISP, OpenCTI зэрэг нээлттэй платформ хэлний загвартай интеграцтай болсон тул өндөр зардалгүй эхлэх боломжтой. Урьдчилан сэргийлэлтэд эмзэг байдлыг зөвхөн CVSS оноогоор биш, бодитоор ашиглагдах магадлалыг тооцдог EPSS загвараар эрэмбэлж засварын дарааллыг оновчилно. Хамгийн сонирхолтой үр дүн бол DARPA-гийн AI Cyber Challenge. 2025 оны 8 дугаар сарын финалд AI системүүд 54 зохиомол эмзэг байдлаас 43-ыг автоматаар зассан, бодит 18 эмзэг байдал нэмж олсон, нэг даалгаврын дундаж зардал 152 доллар. 2024 оны хагас финалтай харьцуулахад илрүүлэлт 37-оос 77, засвар 25-аас 61 хувь болж өссөн. Энэ бүх системийг нээлттэй эхээр нийтэлсэн тул дотоодод хөгжүүлсэн цэргийн програм хангамжийг ашиглалтад оруулахаас өмнө AI-аар шалгах боломж бидэнд нээлттэй. Мөн хэлний загварын агентаар улаан багийн халдлагыг автоматжуулж хамгаалалтын хяналтыг тасралтгүй шалгах, энэ бол халдагчийн ашигласан яг тэр арга; AI-аар динамик honeypot, хуурамч нууц үг үүсгэж халдагчийн цагийг үрэх; ҮБХИС-ийн кибер полигонд AI дайсантай сургалт явуулах боломжтой.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Удирдамжид AI системийг өөрийг нь аюулгүй байлгах шаардлагыг онцолсон. Хамгаалалтад ашиглаж буй AI өөрөө бай болдог. NIST-ийн AI 100-2, MITRE ATLAS, OWASP-ийн ангиллаар: лог, имэйл, вэб хуудсанд нуусан заавраар SOC-ийн загварыг удирдах prompt injection; сургалтын өгөгдөлд хортой жишээ оруулж загварыг тодорхой халдлагад сохор болгох poisoning; оролтыг бага өөрчилж хортой кодыг цэвэр гэж ангилуулах evasion; хордсон нээлттэй загвар, сангаар арын хаалга суулгах нийлүүлэлтийн гинжин хэлхээ; хэт их эрхтэй агентын автомат үйлдлийг халдагч ашиглах; AI-ийн хамгаалалтын хязгаарлалтыг «CTF тэмцээний оюутан», «судлаач» гэж хуурч, даалгаврыг жижиг хэсэгт хувааж тойрох, Anthropic, Google хоёулаа сүүлийнхийг баримтжуулсан. Мөн сүүдрийн AI: IBM-ийн судалгаагаар байгууллагын тав тутмын нэг нь ажилтны зөвшөөрөлгүй ашигласан AI-аас үүдэлтэй зөрчилд өртөж, нэг зөрчилд 670 мянган долларын нэмэлт хохирол амссан, зөвхөн 37 хувь нь AI ашиглалтын бодлоготой. Цэргийн албан хаагч нууцлалтай мэдээллийг нийтийн AI үйлчилгээнд оруулах нь шууд эрсдэл тул Зэвсэгт хүчинд AI ашиглалтын журам нэн тэргүүнд хэрэгтэй. Хамгаалах арга нь стандарт, NIST AI RMF, ISO 42001, болон техник: оролт, гаралтын шүүлт, агентад хамгийн бага эрх, хэрэгслийн дуудлагыг бүртгэх, AI-г өөрийг нь red team-ээр шалгах, загварын гарал үүслийг баталгаажуулах.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Олон улсын туршлагаас товчхон. АНУ DARPA-гийн тэмцээнээр AI-аар эмзэг байдал олж засах нээлттэй системүүдийг бий болгож, NIST стандартаа гаргасан. NATO 2021 онд AI стратеги, 2024 онд Хариуцлагатай AI-ийн хэрэгжилтийн стратеги баталж, 2025 онд AI платформыг сүлжээний бодит цагийн кибер мэдээлэлд ашиглаж эхэлсэн; хууль ёсны, хариуцлагатай, тайлбарлагдахуйц, найдвартай, засаглалтай, хазайлт багатай гэсэн зургаан зарчмыг манай цэргийн журамд тусгах боломжтой. Европын холбоо ENISA-гийн тайланд AI-г халдлагын оновчлол, шинэ эмзэг байдал гэж хоёр талаас нь үнэлж, AI Act-аар өндөр эрсдэлтэй системд шаардлага тавьсан. Технологийн компаниуд хортой хэрэглээний тайланг тогтмол нийтэлж байгаа тул тэдэнтэй аюул заналын мэдээлэл солилцох суваг нээх хэрэгтэй. Нийтлэг сургамж дөрөв: туслахаас автономи руу үе шаттай; засаглалын бодлогоос эхлэх; өгөгдөл, загварыг дотооддоо; хүний нөөцийг AI-тай хамтран ажиллах чиглэлээр дахин сургах.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Монголын нөхцөл. Кибер аюулгүй байдлын зөвлөлийн мэдээгээр 2024 онд 7,560 кибер гэмт хэрэг бүртгэгдсэний 83 хувь нь залилан, яг AI хамгийн хүчтэй нөлөөлж буй халдлагын төрөл. Төрийн 67 байгууллагын судалгаагаар 29 хувь нь халдлагад өртөж, 30 хувь нь эрсдэлийн үнэлгээ огт хийгээгүй байв. Хууль эрх зүйн хувьд 2021 оны Кибер аюулгүй байдлын тухай хууль эрсдэлийн үнэлгээ, аудит, хариу үйлдлийг зохицуулдаг ч хиймэл оюун, автоматжуулсан хариу үйлдлийн талаар тусгайлсан заалтгүй; хэлэлцэгдэж буй «Кибер сөрөн тэсвэрлэх тухай» хуулийн төсөл нь AI заалт оруулах боломжит цонх. УИХ-аас 2025 онд баталсан 2026–2030 оны таван жилийн үндсэн чиглэлийн найман бодлогын нэг нь шинжлэх ухаан, технологи, хиймэл оюун; «Өгөгдөл, хиймэл оюуны үндэсний стратеги» боловсруулагдаж байна; Их Британитай хамтарсан үндэсний кибер эрсдэлийн үнэлгээ хийгдэж байна. Батлан хамгаалах салбарын давуу тал: Кибер аюулгүй байдлын цэргийн командлал, ҮБХИС-ийн тэнхим гэсэн институцийн суурь, хаалттай тогтвортой сүлжээ, нээлттэй эхийн шийдлээр бага зардлаар эхлэх боломж. Сорилт: мэргэжилтэн ховор; тэмдэглэгдсэн өгөгдөл, монгол хэлний корпус байхгүй; GPU, өгөгдлийн сан хязгаарлагдмал; үүлэн AI боломжгүй; AI журам, эрх зүйн үндэс байхгүй; лицензийн зардал өндөр.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Дөрвөн чиглэлийг нэг системд нэгтгэсэн, бүхэлдээ дотоодод байршуулах боломжтой лавлагаа архитектурыг санал болгож байна. Доод давхаргад EDR, сүлжээний мэдрэгч, имэйлийн шүүлтүүр, нэвтрэлтийн лог; дараа нь нээлттэй эхийн SIEM буюу өгөгдлийн сан, стандарт схемтэй, 12-оос дээш сарын хадгалалттай; гуравдугаарт шинжилгээний хөдөлгүүр: хэвийн бус байдал, UEBA, график шинжилгээ, MLOps; дөрөвдүгээрт MISP, OpenCTI дээр суурилсан CTI платформ, CERT болон Кибер аюулгүй байдлын зөвлөлтэй солилцоотой; тавдугаарт SOAR: playbook сан, автономийн нэгээс гурав дахь түвшин; дээд давхаргад нууцлалтай сүлжээнд байршуулсан дотоод хэлний загвар буюу copilot. Хажуугийн хоёр багана бол засаглал (AI бодлого, загварын бүртгэл, AI red team, аудитын лог) болон хүн, сургалт: шинжээчид, threat hunter, ML инженер, ҮБХИС-ийн кибер полигон. Хүн шийдвэрийн гогцоонд байх зарчим энд бүтцийн хэмжээнд баталгааждаг.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Хэрэгжүүлэлтийг гурван үе шаттай санал болгож байна. Эхний үе шат, энэ оны дөрөвдүгээр улирлаас 2027 он: AI ашиглалтын түр журам батлах, Кибер аюулгүй байдлын цэргийн командлалд нээлттэй эхийн SIEM, CTI платформ байгуулж өгөгдөл хуримтлуулж эхлэх, монгол хэлний фишингийн өгөгдлийн багц бүрдүүлэх, AI SOC-ийн техник, эдийн засгийн үндэслэл боловсруулах. Хоёрдугаар үе шат, 2027–2028: нэг, хоёрдугаар түвшний AI-г тусгаарлагдсан туршилтын орчинд нэвтрүүлж худал сэрэмжлүүлэг, илрүүлэх, хариу үйлдлийн хугацааг хэмжих; кибер полигонд AI дайсны дуурайлт оруулах; DARPA-гийн нээлттэй системээр дотоод кодыг шалгах. Гуравдугаар үе шат, 2028–2030: AI SOC-ийг үйл ажиллагаанд оруулж гуравдугаар түвшний playbook-ийг хязгаарлагдмал хүрээнд зөвшөөрөх, төрийн CERT-тэй машин уншигдахуйц мэдээлэл солилцоо тогтоох, үр дүнг хэмжиж журам, сургалтыг шинэчлэх. Хэмжүүр нь илрүүлэх, хариу үйлдлийн дундаж хугацаа, худал сэрэмжлүүлгийн хувь, нэг шинжээчид ногдох хаасан зөрчил, AI-ийн саналыг хүн буцаасан хувь.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Технологи, чадавхын дөрвөн санал. Нэг: нууцлалтай сүлжээнд зориулсан GPU сервер, нээлттэй эхийн хэлний загвар, MLOps орчин бүхий дотоод дэд бүтэц. Хоёр: цэргийн сүлжээний хэвийн зан төлөвийн суурь өгөгдөл, тэмдэглэгдсэн зөрчлийн архив, монгол хэлний корпус; өгөгдөлгүйгээр AI үр дүнгүй гэдгийг онцолъё. Гурав: ҮБХИС-д «AI ба кибер хамгаалалт» хичээл, магистрын чиглэл нээх, SOC шинжээчдийг дахин сургах, ML инженерийн гурваас таван орон тоо, Батлан хамгаалахын эрдэм шинжилгээний хүрээлэнтэй хамтарсан судалгаа. Дөрөв: AI дайсантай кибер полигон, жил бүрийн дасгалд AI хувилбар.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Бодлого, журамд тусгах зургаан санал. Нэг: Батлан хамгаалахын сайдын тушаалаар салбарын AI ашиглалтын журам; зөвшөөрөгдсөн, хориглосон хэрэглээ, мэдээллийн ангилалтай уялдсан хязгаарлалт, AI системийн бүртгэл. Хоёр: автомат хариу үйлдлийн эрх зүйн үндэс; автономийн түвшин бүрт батлах эрх, онц чухал системд хүн заавал. Гурав: AI-тай холбоотой зөрчлийг тусад нь бүртгэж мэдээлэх журам. Дөрөв: худалдан авалтын стандарт; дотоод байршуулалт, өгөгдөл гадагш гарахгүй, загварын гарал үүсэл, тайлбарлах чадвар, NIST, MITRE-д нийцэл. Тав: Кибер аюулгүй байдлын тухай хууль, «Кибер сөрөн тэсвэрлэх» хуулийн төсөлд автоматжуулсан хамгаалалтын эрх зүйн статус, AI системийг онц чухал дэд бүтцийн бүрэлдэхүүн гэж тооцох, мэдээлэл солилцооны үүргийг тусгах. Зургаа: үндэсний стратегид батлан хамгаалахын бүлэг оруулж, 2026–2030 оны чиглэлд AI SOC төслийг санхүүжилттэй нь хамруулах, NATO-гийн Хариуцлагатай AI зарчим, NIST стандартыг нутагшуулах.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Дүгнэж хэлэхэд. Халдагч AI-г мөчлөгийн бүх үе шатад ашиглаж, автономи агентын түвшинд хүрсэн. Хариуд нь AI илрүүлэлт, SOC, хариу үйлдэл, аюул заналын мэдээлэлд хэмжигдэхүйц үр дүн өгч байна. Гэхдээ AI-г хамгаалахгүйгээр AI-аар хамгаалах боломжгүй. Цэргийн зөв зам бол дотоод, нээлттэй эх, автономийн зэрэглэл, хүн шийдвэрийн гогцоонд, өгөгдөл, хүний нөөцтэй зэрэгцүүлсэн үе шаттай нэвтрүүлэлт. Монголд институцийн суурь бий; дутагдаж буй журам, өгөгдөл, дэд бүтэц, хүний нөөц, санхүүжилтийг 2026–2030 онд шийдвэрлэх боломжтой гэж үзэж байна.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Хэлэлцүүлэгт таван асуулт дэвшүүлье: автономийн ямар түвшнийг хэн хариуцаж зөвшөөрөх вэ; AI-ийн өгөгдөл, дэд бүтцийг дотооддоо бүхэлд нь байгуулах уу, төрийн дата төвтэй хуваалцах уу; машин уншигдахуйц мэдээлэл солилцооны механизм ямар байх вэ; ҮБХИС-ийн сургалтын хөтөлбөр, орон тоо; арилжааны платформ уу, нээлттэй эх үү, санхүүжилт хаанаас вэ. Анхаарал хандуулсанд баярлалаа.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58952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703320"/>
            <a:ext cx="7589520" cy="219456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chemeClr val="tx2"/>
                </a:solidFill>
              </a:rPr>
              <a:t>«Хиймэл оюун – Кибер аюулгүй байдал» хэлэлцүүлэг • 2026.10.14 • Чиглүүлэх илтгэл-2</a:t>
            </a:r>
            <a:endParaRPr lang="en-US" sz="9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indent="0" marL="0">
              <a:buNone/>
              <a:defRPr lang="en-US" sz="2800" b="1" dirty="0">
                <a:solidFill>
                  <a:schemeClr val="bg1"/>
                </a:solidFill>
              </a:defRPr>
            </a:lvl1pPr>
          </a:lstStyle>
          <a:p>
            <a:pPr indent="0" marL="0">
              <a:buNone/>
            </a:pPr>
            <a:endParaRPr lang="en-US" sz="28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chemeClr val="accent5"/>
                </a:solidFill>
              </a:rPr>
              <a:t>«Хиймэл оюун – Кибер аюулгүй байдал» хэлэлцүүлэг • 2026.10.14 • Чиглүүлэх илтгэл-2</a:t>
            </a:r>
            <a:endParaRPr lang="en-US" sz="9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3.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589520" cy="2011680"/>
          </a:xfrm>
          <a:prstGeom prst="rect">
            <a:avLst/>
          </a:prstGeom>
          <a:noFill/>
          <a:ln/>
        </p:spPr>
        <p:txBody>
          <a:bodyPr wrap="square" lIns="0" tIns="0" rIns="0" bIns="0" rtlCol="0" anchor="b"/>
          <a:lstStyle/>
          <a:p>
            <a:pPr algn="l" indent="0" marL="0">
              <a:buNone/>
            </a:pPr>
            <a:r>
              <a:rPr lang="en-US" sz="3600" b="1" dirty="0">
                <a:solidFill>
                  <a:schemeClr val="bg1"/>
                </a:solidFill>
              </a:rPr>
              <a:t>Кибер халдлагын үед хиймэл оюуныг ашиглах боломж</a:t>
            </a:r>
            <a:endParaRPr lang="en-US" sz="3600" dirty="0"/>
          </a:p>
        </p:txBody>
      </p:sp>
      <p:sp>
        <p:nvSpPr>
          <p:cNvPr id="3" name="Text 0"/>
          <p:cNvSpPr/>
          <p:nvPr>
            <p:ph idx="101" type="body" hasCustomPrompt="1"/>
          </p:nvPr>
        </p:nvSpPr>
        <p:spPr>
          <a:xfrm>
            <a:off x="731520" y="3703320"/>
            <a:ext cx="7589520" cy="2194560"/>
          </a:xfrm>
          <a:prstGeom prst="rect">
            <a:avLst/>
          </a:prstGeom>
          <a:noFill/>
          <a:ln/>
        </p:spPr>
        <p:txBody>
          <a:bodyPr wrap="square" lIns="0" tIns="0" rIns="0" bIns="0" rtlCol="0" anchor="t"/>
          <a:lstStyle/>
          <a:p>
            <a:pPr indent="0" marL="0">
              <a:spcAft>
                <a:spcPts val="800"/>
              </a:spcAft>
              <a:buNone/>
            </a:pPr>
            <a:r>
              <a:rPr lang="en-US" sz="1600" b="1" dirty="0">
                <a:solidFill>
                  <a:schemeClr val="accent6"/>
                </a:solidFill>
              </a:rPr>
              <a:t>«Хиймэл оюун – Кибер аюулгүй байдал» сэдэвт хэлэлцүүлэг • Чиглүүлэх илтгэл-2</a:t>
            </a:r>
            <a:endParaRPr lang="en-US" sz="1600" dirty="0"/>
          </a:p>
          <a:p>
            <a:pPr indent="0" marL="0">
              <a:spcAft>
                <a:spcPts val="800"/>
              </a:spcAft>
              <a:buNone/>
            </a:pPr>
            <a:r>
              <a:rPr lang="en-US" sz="1600" dirty="0">
                <a:solidFill>
                  <a:schemeClr val="accent6"/>
                </a:solidFill>
              </a:rPr>
              <a:t>ҮБХИС-ийн Цэргийн нэгдсэн сургуулийн Кибер аюулгүй байдлын тэнхимийн дарга, ахмад С.Билэгт</a:t>
            </a:r>
            <a:endParaRPr lang="en-US" sz="1600" dirty="0"/>
          </a:p>
          <a:p>
            <a:pPr indent="0" marL="0">
              <a:spcAft>
                <a:spcPts val="800"/>
              </a:spcAft>
              <a:buNone/>
            </a:pPr>
            <a:r>
              <a:rPr lang="en-US" sz="1400" dirty="0">
                <a:solidFill>
                  <a:schemeClr val="accent5"/>
                </a:solidFill>
              </a:rPr>
              <a:t>Улаанбаатар хот, 2026 оны 10 дугаар сарын 14</a:t>
            </a:r>
            <a:endParaRPr lang="en-US" sz="1600" dirty="0"/>
          </a:p>
        </p:txBody>
      </p:sp>
      <p:sp>
        <p:nvSpPr>
          <p:cNvPr id="4" name="emblem ring"/>
          <p:cNvSpPr/>
          <p:nvPr/>
        </p:nvSpPr>
        <p:spPr>
          <a:xfrm>
            <a:off x="8732520" y="1600200"/>
            <a:ext cx="3017520" cy="3017520"/>
          </a:xfrm>
          <a:prstGeom prst="ellipse">
            <a:avLst/>
          </a:prstGeom>
          <a:ln w="19050">
            <a:solidFill>
              <a:schemeClr val="accent4"/>
            </a:solidFill>
            <a:prstDash val="solid"/>
          </a:ln>
        </p:spPr>
      </p:sp>
      <p:sp>
        <p:nvSpPr>
          <p:cNvPr id="5" name="emblem circle"/>
          <p:cNvSpPr/>
          <p:nvPr/>
        </p:nvSpPr>
        <p:spPr>
          <a:xfrm>
            <a:off x="9006840" y="1874520"/>
            <a:ext cx="2468880" cy="2468880"/>
          </a:xfrm>
          <a:prstGeom prst="ellipse">
            <a:avLst/>
          </a:prstGeom>
          <a:solidFill>
            <a:schemeClr val="accent1"/>
          </a:solidFill>
          <a:ln w="12700">
            <a:solidFill>
              <a:schemeClr val="accent1"/>
            </a:solidFill>
            <a:prstDash val="solid"/>
          </a:ln>
        </p:spPr>
      </p:sp>
      <p:pic>
        <p:nvPicPr>
          <p:cNvPr id="6" name="emblem shield" descr="preencoded.png">    </p:cNvPr>
          <p:cNvPicPr>
            <a:picLocks noChangeAspect="1"/>
          </p:cNvPicPr>
          <p:nvPr/>
        </p:nvPicPr>
        <p:blipFill>
          <a:blip r:embed="rId1"/>
          <a:stretch>
            <a:fillRect/>
          </a:stretch>
        </p:blipFill>
        <p:spPr>
          <a:xfrm>
            <a:off x="9555480" y="2331720"/>
            <a:ext cx="1371600" cy="1463040"/>
          </a:xfrm>
          <a:prstGeom prst="rect">
            <a:avLst/>
          </a:prstGeom>
        </p:spPr>
      </p:pic>
      <p:sp>
        <p:nvSpPr>
          <p:cNvPr id="7" name="emblem brain circle"/>
          <p:cNvSpPr/>
          <p:nvPr/>
        </p:nvSpPr>
        <p:spPr>
          <a:xfrm>
            <a:off x="10744200" y="3429000"/>
            <a:ext cx="868680" cy="868680"/>
          </a:xfrm>
          <a:prstGeom prst="ellipse">
            <a:avLst/>
          </a:prstGeom>
          <a:solidFill>
            <a:schemeClr val="tx1"/>
          </a:solidFill>
          <a:ln w="12700">
            <a:solidFill>
              <a:schemeClr val="tx1"/>
            </a:solidFill>
            <a:prstDash val="solid"/>
          </a:ln>
        </p:spPr>
      </p:sp>
      <p:pic>
        <p:nvPicPr>
          <p:cNvPr id="8" name="emblem brain" descr="preencoded.png">    </p:cNvPr>
          <p:cNvPicPr>
            <a:picLocks noChangeAspect="1"/>
          </p:cNvPicPr>
          <p:nvPr/>
        </p:nvPicPr>
        <p:blipFill>
          <a:blip r:embed="rId2"/>
          <a:stretch>
            <a:fillRect/>
          </a:stretch>
        </p:blipFill>
        <p:spPr>
          <a:xfrm>
            <a:off x="10908792" y="3593592"/>
            <a:ext cx="548640" cy="548640"/>
          </a:xfrm>
          <a:prstGeom prst="rect">
            <a:avLst/>
          </a:prstGeom>
        </p:spPr>
      </p:pic>
      <p:sp>
        <p:nvSpPr>
          <p:cNvPr id="9" name="organizers"/>
          <p:cNvSpPr txBox="1"/>
          <p:nvPr/>
        </p:nvSpPr>
        <p:spPr>
          <a:xfrm>
            <a:off x="731520" y="6126480"/>
            <a:ext cx="10789920" cy="320040"/>
          </a:xfrm>
          <a:prstGeom prst="rect">
            <a:avLst/>
          </a:prstGeom>
          <a:noFill/>
          <a:ln/>
        </p:spPr>
        <p:txBody>
          <a:bodyPr wrap="square" lIns="0" tIns="0" rIns="0" bIns="0" rtlCol="0" anchor="ctr"/>
          <a:lstStyle/>
          <a:p>
            <a:pPr indent="0" marL="0">
              <a:buNone/>
            </a:pPr>
            <a:r>
              <a:rPr lang="en-US" sz="1100" dirty="0">
                <a:solidFill>
                  <a:schemeClr val="accent5"/>
                </a:solidFill>
              </a:rPr>
              <a:t>Зэвсэгт хүчний Кибер аюулгүй байдлын цэргийн командлал • Батлан хамгаалахын эрдэм шинжилгээний хүрээлэн</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Хурдны асимметри: халдагч минутаар, хамгаалагч хоногоор</a:t>
            </a:r>
            <a:endParaRPr lang="en-US" sz="2800" dirty="0"/>
          </a:p>
        </p:txBody>
      </p:sp>
      <p:sp>
        <p:nvSpPr>
          <p:cNvPr id="3" name="stat1 card"/>
          <p:cNvSpPr/>
          <p:nvPr/>
        </p:nvSpPr>
        <p:spPr>
          <a:xfrm>
            <a:off x="548640" y="1325880"/>
            <a:ext cx="3520440" cy="1920240"/>
          </a:xfrm>
          <a:prstGeom prst="roundRect">
            <a:avLst>
              <a:gd name="adj" fmla="val 3810"/>
            </a:avLst>
          </a:prstGeom>
          <a:solidFill>
            <a:schemeClr val="bg2"/>
          </a:solidFill>
          <a:ln w="12700">
            <a:solidFill>
              <a:schemeClr val="bg2"/>
            </a:solidFill>
            <a:prstDash val="solid"/>
          </a:ln>
        </p:spPr>
      </p:sp>
      <p:sp>
        <p:nvSpPr>
          <p:cNvPr id="4" name="stat1 value"/>
          <p:cNvSpPr txBox="1"/>
          <p:nvPr/>
        </p:nvSpPr>
        <p:spPr>
          <a:xfrm>
            <a:off x="749808" y="1435608"/>
            <a:ext cx="3118104" cy="868680"/>
          </a:xfrm>
          <a:prstGeom prst="rect">
            <a:avLst/>
          </a:prstGeom>
          <a:noFill/>
          <a:ln/>
        </p:spPr>
        <p:txBody>
          <a:bodyPr wrap="square" lIns="0" tIns="0" rIns="0" bIns="0" rtlCol="0" anchor="ctr"/>
          <a:lstStyle/>
          <a:p>
            <a:pPr algn="l" indent="0" marL="0">
              <a:buNone/>
            </a:pPr>
            <a:r>
              <a:rPr lang="en-US" sz="4000" b="1" dirty="0">
                <a:solidFill>
                  <a:schemeClr val="accent2"/>
                </a:solidFill>
              </a:rPr>
              <a:t>51 сек</a:t>
            </a:r>
            <a:endParaRPr lang="en-US" sz="4000" dirty="0"/>
          </a:p>
        </p:txBody>
      </p:sp>
      <p:sp>
        <p:nvSpPr>
          <p:cNvPr id="5" name="stat1 label"/>
          <p:cNvSpPr txBox="1"/>
          <p:nvPr/>
        </p:nvSpPr>
        <p:spPr>
          <a:xfrm>
            <a:off x="749808" y="2313432"/>
            <a:ext cx="3118104" cy="585216"/>
          </a:xfrm>
          <a:prstGeom prst="rect">
            <a:avLst/>
          </a:prstGeom>
          <a:noFill/>
          <a:ln/>
        </p:spPr>
        <p:txBody>
          <a:bodyPr wrap="square" lIns="0" tIns="0" rIns="0" bIns="0" rtlCol="0" anchor="t"/>
          <a:lstStyle/>
          <a:p>
            <a:pPr indent="0" marL="0">
              <a:buNone/>
            </a:pPr>
            <a:r>
              <a:rPr lang="en-US" sz="1300" dirty="0">
                <a:solidFill>
                  <a:schemeClr val="tx1"/>
                </a:solidFill>
              </a:rPr>
              <a:t>Хамгийн хурдан «breakout»: нэвтэрснээс хажуу тийш шилжих хүртэл</a:t>
            </a:r>
            <a:endParaRPr lang="en-US" sz="1300" dirty="0"/>
          </a:p>
        </p:txBody>
      </p:sp>
      <p:sp>
        <p:nvSpPr>
          <p:cNvPr id="6" name="stat1 source"/>
          <p:cNvSpPr txBox="1"/>
          <p:nvPr/>
        </p:nvSpPr>
        <p:spPr>
          <a:xfrm>
            <a:off x="749808" y="2898648"/>
            <a:ext cx="3118104" cy="274320"/>
          </a:xfrm>
          <a:prstGeom prst="rect">
            <a:avLst/>
          </a:prstGeom>
          <a:noFill/>
          <a:ln/>
        </p:spPr>
        <p:txBody>
          <a:bodyPr wrap="square" lIns="0" tIns="0" rIns="0" bIns="0" rtlCol="0" anchor="b"/>
          <a:lstStyle/>
          <a:p>
            <a:pPr indent="0" marL="0">
              <a:buNone/>
            </a:pPr>
            <a:r>
              <a:rPr lang="en-US" sz="1000" i="1" dirty="0">
                <a:solidFill>
                  <a:schemeClr val="tx2"/>
                </a:solidFill>
              </a:rPr>
              <a:t>CrowdStrike Global Threat Report 2025</a:t>
            </a:r>
            <a:endParaRPr lang="en-US" sz="1000" dirty="0"/>
          </a:p>
        </p:txBody>
      </p:sp>
      <p:sp>
        <p:nvSpPr>
          <p:cNvPr id="7" name="stat2 card"/>
          <p:cNvSpPr/>
          <p:nvPr/>
        </p:nvSpPr>
        <p:spPr>
          <a:xfrm>
            <a:off x="4335628" y="1325880"/>
            <a:ext cx="3520440" cy="1920240"/>
          </a:xfrm>
          <a:prstGeom prst="roundRect">
            <a:avLst>
              <a:gd name="adj" fmla="val 3810"/>
            </a:avLst>
          </a:prstGeom>
          <a:solidFill>
            <a:schemeClr val="bg2"/>
          </a:solidFill>
          <a:ln w="12700">
            <a:solidFill>
              <a:schemeClr val="bg2"/>
            </a:solidFill>
            <a:prstDash val="solid"/>
          </a:ln>
        </p:spPr>
      </p:sp>
      <p:sp>
        <p:nvSpPr>
          <p:cNvPr id="8" name="stat2 value"/>
          <p:cNvSpPr txBox="1"/>
          <p:nvPr/>
        </p:nvSpPr>
        <p:spPr>
          <a:xfrm>
            <a:off x="4536796" y="1435608"/>
            <a:ext cx="3118104" cy="868680"/>
          </a:xfrm>
          <a:prstGeom prst="rect">
            <a:avLst/>
          </a:prstGeom>
          <a:noFill/>
          <a:ln/>
        </p:spPr>
        <p:txBody>
          <a:bodyPr wrap="square" lIns="0" tIns="0" rIns="0" bIns="0" rtlCol="0" anchor="ctr"/>
          <a:lstStyle/>
          <a:p>
            <a:pPr algn="l" indent="0" marL="0">
              <a:buNone/>
            </a:pPr>
            <a:r>
              <a:rPr lang="en-US" sz="4000" b="1" dirty="0">
                <a:solidFill>
                  <a:schemeClr val="accent2"/>
                </a:solidFill>
              </a:rPr>
              <a:t>48 мин</a:t>
            </a:r>
            <a:endParaRPr lang="en-US" sz="4000" dirty="0"/>
          </a:p>
        </p:txBody>
      </p:sp>
      <p:sp>
        <p:nvSpPr>
          <p:cNvPr id="9" name="stat2 label"/>
          <p:cNvSpPr txBox="1"/>
          <p:nvPr/>
        </p:nvSpPr>
        <p:spPr>
          <a:xfrm>
            <a:off x="4536796" y="2313432"/>
            <a:ext cx="3118104" cy="585216"/>
          </a:xfrm>
          <a:prstGeom prst="rect">
            <a:avLst/>
          </a:prstGeom>
          <a:noFill/>
          <a:ln/>
        </p:spPr>
        <p:txBody>
          <a:bodyPr wrap="square" lIns="0" tIns="0" rIns="0" bIns="0" rtlCol="0" anchor="t"/>
          <a:lstStyle/>
          <a:p>
            <a:pPr indent="0" marL="0">
              <a:buNone/>
            </a:pPr>
            <a:r>
              <a:rPr lang="en-US" sz="1300" dirty="0">
                <a:solidFill>
                  <a:schemeClr val="tx1"/>
                </a:solidFill>
              </a:rPr>
              <a:t>Дундаж breakout хугацаа (2023 онд 62 мин байсан)</a:t>
            </a:r>
            <a:endParaRPr lang="en-US" sz="1300" dirty="0"/>
          </a:p>
        </p:txBody>
      </p:sp>
      <p:sp>
        <p:nvSpPr>
          <p:cNvPr id="10" name="stat2 source"/>
          <p:cNvSpPr txBox="1"/>
          <p:nvPr/>
        </p:nvSpPr>
        <p:spPr>
          <a:xfrm>
            <a:off x="4536796" y="2898648"/>
            <a:ext cx="3118104" cy="274320"/>
          </a:xfrm>
          <a:prstGeom prst="rect">
            <a:avLst/>
          </a:prstGeom>
          <a:noFill/>
          <a:ln/>
        </p:spPr>
        <p:txBody>
          <a:bodyPr wrap="square" lIns="0" tIns="0" rIns="0" bIns="0" rtlCol="0" anchor="b"/>
          <a:lstStyle/>
          <a:p>
            <a:pPr indent="0" marL="0">
              <a:buNone/>
            </a:pPr>
            <a:r>
              <a:rPr lang="en-US" sz="1000" i="1" dirty="0">
                <a:solidFill>
                  <a:schemeClr val="tx2"/>
                </a:solidFill>
              </a:rPr>
              <a:t>CrowdStrike 2025</a:t>
            </a:r>
            <a:endParaRPr lang="en-US" sz="1000" dirty="0"/>
          </a:p>
        </p:txBody>
      </p:sp>
      <p:sp>
        <p:nvSpPr>
          <p:cNvPr id="11" name="stat3 card"/>
          <p:cNvSpPr/>
          <p:nvPr/>
        </p:nvSpPr>
        <p:spPr>
          <a:xfrm>
            <a:off x="8122615" y="1325880"/>
            <a:ext cx="3520440" cy="1920240"/>
          </a:xfrm>
          <a:prstGeom prst="roundRect">
            <a:avLst>
              <a:gd name="adj" fmla="val 3810"/>
            </a:avLst>
          </a:prstGeom>
          <a:solidFill>
            <a:schemeClr val="bg2"/>
          </a:solidFill>
          <a:ln w="12700">
            <a:solidFill>
              <a:schemeClr val="bg2"/>
            </a:solidFill>
            <a:prstDash val="solid"/>
          </a:ln>
        </p:spPr>
      </p:sp>
      <p:sp>
        <p:nvSpPr>
          <p:cNvPr id="12" name="stat3 value"/>
          <p:cNvSpPr txBox="1"/>
          <p:nvPr/>
        </p:nvSpPr>
        <p:spPr>
          <a:xfrm>
            <a:off x="8323783" y="1435608"/>
            <a:ext cx="3118104" cy="868680"/>
          </a:xfrm>
          <a:prstGeom prst="rect">
            <a:avLst/>
          </a:prstGeom>
          <a:noFill/>
          <a:ln/>
        </p:spPr>
        <p:txBody>
          <a:bodyPr wrap="square" lIns="0" tIns="0" rIns="0" bIns="0" rtlCol="0" anchor="ctr"/>
          <a:lstStyle/>
          <a:p>
            <a:pPr algn="l" indent="0" marL="0">
              <a:buNone/>
            </a:pPr>
            <a:r>
              <a:rPr lang="en-US" sz="4000" b="1" dirty="0">
                <a:solidFill>
                  <a:schemeClr val="tx1"/>
                </a:solidFill>
              </a:rPr>
              <a:t>11 хоног</a:t>
            </a:r>
            <a:endParaRPr lang="en-US" sz="4000" dirty="0"/>
          </a:p>
        </p:txBody>
      </p:sp>
      <p:sp>
        <p:nvSpPr>
          <p:cNvPr id="13" name="stat3 label"/>
          <p:cNvSpPr txBox="1"/>
          <p:nvPr/>
        </p:nvSpPr>
        <p:spPr>
          <a:xfrm>
            <a:off x="8323783" y="2313432"/>
            <a:ext cx="3118104" cy="585216"/>
          </a:xfrm>
          <a:prstGeom prst="rect">
            <a:avLst/>
          </a:prstGeom>
          <a:noFill/>
          <a:ln/>
        </p:spPr>
        <p:txBody>
          <a:bodyPr wrap="square" lIns="0" tIns="0" rIns="0" bIns="0" rtlCol="0" anchor="t"/>
          <a:lstStyle/>
          <a:p>
            <a:pPr indent="0" marL="0">
              <a:buNone/>
            </a:pPr>
            <a:r>
              <a:rPr lang="en-US" sz="1300" dirty="0">
                <a:solidFill>
                  <a:schemeClr val="tx1"/>
                </a:solidFill>
              </a:rPr>
              <a:t>Халдагч сүлжээнд илрэхгүй байх дундаж хугацаа (dwell time)</a:t>
            </a:r>
            <a:endParaRPr lang="en-US" sz="1300" dirty="0"/>
          </a:p>
        </p:txBody>
      </p:sp>
      <p:sp>
        <p:nvSpPr>
          <p:cNvPr id="14" name="stat3 source"/>
          <p:cNvSpPr txBox="1"/>
          <p:nvPr/>
        </p:nvSpPr>
        <p:spPr>
          <a:xfrm>
            <a:off x="8323783" y="2898648"/>
            <a:ext cx="3118104" cy="274320"/>
          </a:xfrm>
          <a:prstGeom prst="rect">
            <a:avLst/>
          </a:prstGeom>
          <a:noFill/>
          <a:ln/>
        </p:spPr>
        <p:txBody>
          <a:bodyPr wrap="square" lIns="0" tIns="0" rIns="0" bIns="0" rtlCol="0" anchor="b"/>
          <a:lstStyle/>
          <a:p>
            <a:pPr indent="0" marL="0">
              <a:buNone/>
            </a:pPr>
            <a:r>
              <a:rPr lang="en-US" sz="1000" i="1" dirty="0">
                <a:solidFill>
                  <a:schemeClr val="tx2"/>
                </a:solidFill>
              </a:rPr>
              <a:t>Mandiant M-Trends 2025</a:t>
            </a:r>
            <a:endParaRPr lang="en-US" sz="1000" dirty="0"/>
          </a:p>
        </p:txBody>
      </p:sp>
      <p:sp>
        <p:nvSpPr>
          <p:cNvPr id="15" name="attacker card"/>
          <p:cNvSpPr/>
          <p:nvPr/>
        </p:nvSpPr>
        <p:spPr>
          <a:xfrm>
            <a:off x="548640" y="3520440"/>
            <a:ext cx="5364328" cy="2057400"/>
          </a:xfrm>
          <a:prstGeom prst="roundRect">
            <a:avLst>
              <a:gd name="adj" fmla="val 3556"/>
            </a:avLst>
          </a:prstGeom>
          <a:solidFill>
            <a:schemeClr val="bg2"/>
          </a:solidFill>
          <a:ln w="12700">
            <a:solidFill>
              <a:schemeClr val="bg2"/>
            </a:solidFill>
            <a:prstDash val="solid"/>
          </a:ln>
        </p:spPr>
      </p:sp>
      <p:sp>
        <p:nvSpPr>
          <p:cNvPr id="16" name="attacker circle"/>
          <p:cNvSpPr/>
          <p:nvPr/>
        </p:nvSpPr>
        <p:spPr>
          <a:xfrm>
            <a:off x="749808" y="3721608"/>
            <a:ext cx="548640" cy="548640"/>
          </a:xfrm>
          <a:prstGeom prst="ellipse">
            <a:avLst/>
          </a:prstGeom>
          <a:solidFill>
            <a:schemeClr val="accent2"/>
          </a:solidFill>
          <a:ln w="12700">
            <a:solidFill>
              <a:schemeClr val="accent2"/>
            </a:solidFill>
            <a:prstDash val="solid"/>
          </a:ln>
        </p:spPr>
      </p:sp>
      <p:pic>
        <p:nvPicPr>
          <p:cNvPr id="17" name="attacker icon" descr="preencoded.png">    </p:cNvPr>
          <p:cNvPicPr>
            <a:picLocks noChangeAspect="1"/>
          </p:cNvPicPr>
          <p:nvPr/>
        </p:nvPicPr>
        <p:blipFill>
          <a:blip r:embed="rId1"/>
          <a:stretch>
            <a:fillRect/>
          </a:stretch>
        </p:blipFill>
        <p:spPr>
          <a:xfrm>
            <a:off x="886968" y="3858768"/>
            <a:ext cx="274320" cy="274320"/>
          </a:xfrm>
          <a:prstGeom prst="rect">
            <a:avLst/>
          </a:prstGeom>
        </p:spPr>
      </p:pic>
      <p:sp>
        <p:nvSpPr>
          <p:cNvPr id="18" name="attacker head"/>
          <p:cNvSpPr txBox="1"/>
          <p:nvPr/>
        </p:nvSpPr>
        <p:spPr>
          <a:xfrm>
            <a:off x="1463040" y="3749040"/>
            <a:ext cx="4267048" cy="457200"/>
          </a:xfrm>
          <a:prstGeom prst="rect">
            <a:avLst/>
          </a:prstGeom>
          <a:noFill/>
          <a:ln/>
        </p:spPr>
        <p:txBody>
          <a:bodyPr wrap="square" lIns="0" tIns="0" rIns="0" bIns="0" rtlCol="0" anchor="ctr"/>
          <a:lstStyle/>
          <a:p>
            <a:pPr indent="0" marL="0">
              <a:buNone/>
            </a:pPr>
            <a:r>
              <a:rPr lang="en-US" sz="1600" b="1" dirty="0">
                <a:solidFill>
                  <a:schemeClr val="accent2"/>
                </a:solidFill>
              </a:rPr>
              <a:t>Халдагч (AI агент)</a:t>
            </a:r>
            <a:endParaRPr lang="en-US" sz="1600" dirty="0"/>
          </a:p>
        </p:txBody>
      </p:sp>
      <p:sp>
        <p:nvSpPr>
          <p:cNvPr id="19" name="attacker bullets"/>
          <p:cNvSpPr txBox="1"/>
          <p:nvPr/>
        </p:nvSpPr>
        <p:spPr>
          <a:xfrm>
            <a:off x="749808" y="4343400"/>
            <a:ext cx="4961992" cy="11430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Олон агент зэрэгцэн, цаг тутамд мянган хүсэлт</a:t>
            </a:r>
            <a:endParaRPr lang="en-US" sz="1300" dirty="0"/>
          </a:p>
          <a:p>
            <a:pPr marL="152400" indent="-152400">
              <a:spcAft>
                <a:spcPts val="500"/>
              </a:spcAft>
              <a:buSzPct val="100000"/>
              <a:buChar char="•"/>
            </a:pPr>
            <a:r>
              <a:rPr lang="en-US" sz="1300" dirty="0">
                <a:solidFill>
                  <a:schemeClr val="tx1"/>
                </a:solidFill>
              </a:rPr>
              <a:t>Минутын дотор хажуу тийш шилжих, эрх ахиулах</a:t>
            </a:r>
            <a:endParaRPr lang="en-US" sz="1300" dirty="0"/>
          </a:p>
          <a:p>
            <a:pPr marL="152400" indent="-152400">
              <a:spcAft>
                <a:spcPts val="500"/>
              </a:spcAft>
              <a:buSzPct val="100000"/>
              <a:buChar char="•"/>
            </a:pPr>
            <a:r>
              <a:rPr lang="en-US" sz="1300" dirty="0">
                <a:solidFill>
                  <a:schemeClr val="tx1"/>
                </a:solidFill>
              </a:rPr>
              <a:t>Илрүүлэлтийн 79% нь хортой кодгүй: зөвхөн зан төлөвөөр танигдана</a:t>
            </a:r>
            <a:endParaRPr lang="en-US" sz="1300" dirty="0"/>
          </a:p>
        </p:txBody>
      </p:sp>
      <p:sp>
        <p:nvSpPr>
          <p:cNvPr id="20" name="defender card"/>
          <p:cNvSpPr/>
          <p:nvPr/>
        </p:nvSpPr>
        <p:spPr>
          <a:xfrm>
            <a:off x="6278728" y="3520440"/>
            <a:ext cx="5364328" cy="2057400"/>
          </a:xfrm>
          <a:prstGeom prst="roundRect">
            <a:avLst>
              <a:gd name="adj" fmla="val 3556"/>
            </a:avLst>
          </a:prstGeom>
          <a:solidFill>
            <a:schemeClr val="bg2"/>
          </a:solidFill>
          <a:ln w="12700">
            <a:solidFill>
              <a:schemeClr val="bg2"/>
            </a:solidFill>
            <a:prstDash val="solid"/>
          </a:ln>
        </p:spPr>
      </p:sp>
      <p:sp>
        <p:nvSpPr>
          <p:cNvPr id="21" name="defender circle"/>
          <p:cNvSpPr/>
          <p:nvPr/>
        </p:nvSpPr>
        <p:spPr>
          <a:xfrm>
            <a:off x="6479896" y="3721608"/>
            <a:ext cx="548640" cy="548640"/>
          </a:xfrm>
          <a:prstGeom prst="ellipse">
            <a:avLst/>
          </a:prstGeom>
          <a:solidFill>
            <a:schemeClr val="accent1"/>
          </a:solidFill>
          <a:ln w="12700">
            <a:solidFill>
              <a:schemeClr val="accent1"/>
            </a:solidFill>
            <a:prstDash val="solid"/>
          </a:ln>
        </p:spPr>
      </p:sp>
      <p:pic>
        <p:nvPicPr>
          <p:cNvPr id="22" name="defender icon" descr="preencoded.png">    </p:cNvPr>
          <p:cNvPicPr>
            <a:picLocks noChangeAspect="1"/>
          </p:cNvPicPr>
          <p:nvPr/>
        </p:nvPicPr>
        <p:blipFill>
          <a:blip r:embed="rId2"/>
          <a:stretch>
            <a:fillRect/>
          </a:stretch>
        </p:blipFill>
        <p:spPr>
          <a:xfrm>
            <a:off x="6617056" y="3858768"/>
            <a:ext cx="274320" cy="274320"/>
          </a:xfrm>
          <a:prstGeom prst="rect">
            <a:avLst/>
          </a:prstGeom>
        </p:spPr>
      </p:pic>
      <p:sp>
        <p:nvSpPr>
          <p:cNvPr id="23" name="defender head"/>
          <p:cNvSpPr txBox="1"/>
          <p:nvPr/>
        </p:nvSpPr>
        <p:spPr>
          <a:xfrm>
            <a:off x="7193128" y="3749040"/>
            <a:ext cx="4267048" cy="457200"/>
          </a:xfrm>
          <a:prstGeom prst="rect">
            <a:avLst/>
          </a:prstGeom>
          <a:noFill/>
          <a:ln/>
        </p:spPr>
        <p:txBody>
          <a:bodyPr wrap="square" lIns="0" tIns="0" rIns="0" bIns="0" rtlCol="0" anchor="ctr"/>
          <a:lstStyle/>
          <a:p>
            <a:pPr indent="0" marL="0">
              <a:buNone/>
            </a:pPr>
            <a:r>
              <a:rPr lang="en-US" sz="1600" b="1" dirty="0">
                <a:solidFill>
                  <a:schemeClr val="accent1"/>
                </a:solidFill>
              </a:rPr>
              <a:t>Хамгаалагч (хүний шинжээч)</a:t>
            </a:r>
            <a:endParaRPr lang="en-US" sz="1600" dirty="0"/>
          </a:p>
        </p:txBody>
      </p:sp>
      <p:sp>
        <p:nvSpPr>
          <p:cNvPr id="24" name="defender bullets"/>
          <p:cNvSpPr txBox="1"/>
          <p:nvPr/>
        </p:nvSpPr>
        <p:spPr>
          <a:xfrm>
            <a:off x="6479896" y="4343400"/>
            <a:ext cx="4961992" cy="11430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Сэрэмжлүүлгийг цаг, хоногоор шалгадаг</a:t>
            </a:r>
            <a:endParaRPr lang="en-US" sz="1300" dirty="0"/>
          </a:p>
          <a:p>
            <a:pPr marL="152400" indent="-152400">
              <a:spcAft>
                <a:spcPts val="500"/>
              </a:spcAft>
              <a:buSzPct val="100000"/>
              <a:buChar char="•"/>
            </a:pPr>
            <a:r>
              <a:rPr lang="en-US" sz="1300" dirty="0">
                <a:solidFill>
                  <a:schemeClr val="tx1"/>
                </a:solidFill>
              </a:rPr>
              <a:t>Сэрэмжлүүлгийн ядаргаа, Tier-1 давтагдах ажил</a:t>
            </a:r>
            <a:endParaRPr lang="en-US" sz="1300" dirty="0"/>
          </a:p>
          <a:p>
            <a:pPr marL="152400" indent="-152400">
              <a:spcAft>
                <a:spcPts val="500"/>
              </a:spcAft>
              <a:buSzPct val="100000"/>
              <a:buChar char="•"/>
            </a:pPr>
            <a:r>
              <a:rPr lang="en-US" sz="1300" dirty="0">
                <a:solidFill>
                  <a:schemeClr val="tx1"/>
                </a:solidFill>
              </a:rPr>
              <a:t>Мэргэшсэн хүний нөөцийн хомсдол</a:t>
            </a:r>
            <a:endParaRPr lang="en-US" sz="1300" dirty="0"/>
          </a:p>
        </p:txBody>
      </p:sp>
      <p:sp>
        <p:nvSpPr>
          <p:cNvPr id="25" name="key message"/>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600" b="1" i="1" dirty="0">
                <a:solidFill>
                  <a:schemeClr val="accent1"/>
                </a:solidFill>
              </a:rPr>
              <a:t>Илрүүлэлт, анхан шатны хариу үйлдлийг машины хурдтай болгохоос өөр сонголтгүй.</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Халдагч аль хэдийн AI ашиглаж байна</a:t>
            </a:r>
            <a:endParaRPr lang="en-US" sz="2800" dirty="0"/>
          </a:p>
        </p:txBody>
      </p:sp>
      <p:sp>
        <p:nvSpPr>
          <p:cNvPr id="3" name="tile0 card"/>
          <p:cNvSpPr/>
          <p:nvPr/>
        </p:nvSpPr>
        <p:spPr>
          <a:xfrm>
            <a:off x="548640" y="1325880"/>
            <a:ext cx="2606040" cy="2103120"/>
          </a:xfrm>
          <a:prstGeom prst="roundRect">
            <a:avLst>
              <a:gd name="adj" fmla="val 3478"/>
            </a:avLst>
          </a:prstGeom>
          <a:solidFill>
            <a:schemeClr val="bg2"/>
          </a:solidFill>
          <a:ln w="12700">
            <a:solidFill>
              <a:schemeClr val="bg2"/>
            </a:solidFill>
            <a:prstDash val="solid"/>
          </a:ln>
        </p:spPr>
      </p:sp>
      <p:sp>
        <p:nvSpPr>
          <p:cNvPr id="4" name="tile0 value"/>
          <p:cNvSpPr txBox="1"/>
          <p:nvPr/>
        </p:nvSpPr>
        <p:spPr>
          <a:xfrm>
            <a:off x="749808" y="1435608"/>
            <a:ext cx="2203704" cy="868680"/>
          </a:xfrm>
          <a:prstGeom prst="rect">
            <a:avLst/>
          </a:prstGeom>
          <a:noFill/>
          <a:ln/>
        </p:spPr>
        <p:txBody>
          <a:bodyPr wrap="square" lIns="0" tIns="0" rIns="0" bIns="0" rtlCol="0" anchor="ctr"/>
          <a:lstStyle/>
          <a:p>
            <a:pPr algn="l" indent="0" marL="0">
              <a:buNone/>
            </a:pPr>
            <a:r>
              <a:rPr lang="en-US" sz="3600" b="1" dirty="0">
                <a:solidFill>
                  <a:schemeClr val="accent2"/>
                </a:solidFill>
              </a:rPr>
              <a:t>54%</a:t>
            </a:r>
            <a:endParaRPr lang="en-US" sz="3600" dirty="0"/>
          </a:p>
        </p:txBody>
      </p:sp>
      <p:sp>
        <p:nvSpPr>
          <p:cNvPr id="5" name="tile0 label"/>
          <p:cNvSpPr txBox="1"/>
          <p:nvPr/>
        </p:nvSpPr>
        <p:spPr>
          <a:xfrm>
            <a:off x="749808" y="2313432"/>
            <a:ext cx="2203704" cy="768096"/>
          </a:xfrm>
          <a:prstGeom prst="rect">
            <a:avLst/>
          </a:prstGeom>
          <a:noFill/>
          <a:ln/>
        </p:spPr>
        <p:txBody>
          <a:bodyPr wrap="square" lIns="0" tIns="0" rIns="0" bIns="0" rtlCol="0" anchor="t"/>
          <a:lstStyle/>
          <a:p>
            <a:pPr indent="0" marL="0">
              <a:buNone/>
            </a:pPr>
            <a:r>
              <a:rPr lang="en-US" sz="1300" dirty="0">
                <a:solidFill>
                  <a:schemeClr val="tx1"/>
                </a:solidFill>
              </a:rPr>
              <a:t>AI-аар бичсэн фишингийн клик хийх хувь (гараар бичсэн: 12%)</a:t>
            </a:r>
            <a:endParaRPr lang="en-US" sz="1300" dirty="0"/>
          </a:p>
        </p:txBody>
      </p:sp>
      <p:sp>
        <p:nvSpPr>
          <p:cNvPr id="6" name="tile0 source"/>
          <p:cNvSpPr txBox="1"/>
          <p:nvPr/>
        </p:nvSpPr>
        <p:spPr>
          <a:xfrm>
            <a:off x="749808" y="3081528"/>
            <a:ext cx="2203704" cy="274320"/>
          </a:xfrm>
          <a:prstGeom prst="rect">
            <a:avLst/>
          </a:prstGeom>
          <a:noFill/>
          <a:ln/>
        </p:spPr>
        <p:txBody>
          <a:bodyPr wrap="square" lIns="0" tIns="0" rIns="0" bIns="0" rtlCol="0" anchor="b"/>
          <a:lstStyle/>
          <a:p>
            <a:pPr indent="0" marL="0">
              <a:buNone/>
            </a:pPr>
            <a:r>
              <a:rPr lang="en-US" sz="1000" i="1" dirty="0">
                <a:solidFill>
                  <a:schemeClr val="tx2"/>
                </a:solidFill>
              </a:rPr>
              <a:t>Microsoft Digital Defense Report 2025</a:t>
            </a:r>
            <a:endParaRPr lang="en-US" sz="1000" dirty="0"/>
          </a:p>
        </p:txBody>
      </p:sp>
      <p:sp>
        <p:nvSpPr>
          <p:cNvPr id="7" name="tile1 card"/>
          <p:cNvSpPr/>
          <p:nvPr/>
        </p:nvSpPr>
        <p:spPr>
          <a:xfrm>
            <a:off x="3378098" y="1325880"/>
            <a:ext cx="2606040" cy="2103120"/>
          </a:xfrm>
          <a:prstGeom prst="roundRect">
            <a:avLst>
              <a:gd name="adj" fmla="val 3478"/>
            </a:avLst>
          </a:prstGeom>
          <a:solidFill>
            <a:schemeClr val="bg2"/>
          </a:solidFill>
          <a:ln w="12700">
            <a:solidFill>
              <a:schemeClr val="bg2"/>
            </a:solidFill>
            <a:prstDash val="solid"/>
          </a:ln>
        </p:spPr>
      </p:sp>
      <p:sp>
        <p:nvSpPr>
          <p:cNvPr id="8" name="tile1 value"/>
          <p:cNvSpPr txBox="1"/>
          <p:nvPr/>
        </p:nvSpPr>
        <p:spPr>
          <a:xfrm>
            <a:off x="3579266" y="1435608"/>
            <a:ext cx="2203704" cy="868680"/>
          </a:xfrm>
          <a:prstGeom prst="rect">
            <a:avLst/>
          </a:prstGeom>
          <a:noFill/>
          <a:ln/>
        </p:spPr>
        <p:txBody>
          <a:bodyPr wrap="square" lIns="0" tIns="0" rIns="0" bIns="0" rtlCol="0" anchor="ctr"/>
          <a:lstStyle/>
          <a:p>
            <a:pPr algn="l" indent="0" marL="0">
              <a:buNone/>
            </a:pPr>
            <a:r>
              <a:rPr lang="en-US" sz="3600" b="1" dirty="0">
                <a:solidFill>
                  <a:schemeClr val="accent2"/>
                </a:solidFill>
              </a:rPr>
              <a:t>16%</a:t>
            </a:r>
            <a:endParaRPr lang="en-US" sz="3600" dirty="0"/>
          </a:p>
        </p:txBody>
      </p:sp>
      <p:sp>
        <p:nvSpPr>
          <p:cNvPr id="9" name="tile1 label"/>
          <p:cNvSpPr txBox="1"/>
          <p:nvPr/>
        </p:nvSpPr>
        <p:spPr>
          <a:xfrm>
            <a:off x="3579266" y="2313432"/>
            <a:ext cx="2203704" cy="768096"/>
          </a:xfrm>
          <a:prstGeom prst="rect">
            <a:avLst/>
          </a:prstGeom>
          <a:noFill/>
          <a:ln/>
        </p:spPr>
        <p:txBody>
          <a:bodyPr wrap="square" lIns="0" tIns="0" rIns="0" bIns="0" rtlCol="0" anchor="t"/>
          <a:lstStyle/>
          <a:p>
            <a:pPr indent="0" marL="0">
              <a:buNone/>
            </a:pPr>
            <a:r>
              <a:rPr lang="en-US" sz="1300" dirty="0">
                <a:solidFill>
                  <a:schemeClr val="tx1"/>
                </a:solidFill>
              </a:rPr>
              <a:t>Мэдээллийн зөрчилд халдагч AI ашигласан (фишинг, deepfake)</a:t>
            </a:r>
            <a:endParaRPr lang="en-US" sz="1300" dirty="0"/>
          </a:p>
        </p:txBody>
      </p:sp>
      <p:sp>
        <p:nvSpPr>
          <p:cNvPr id="10" name="tile1 source"/>
          <p:cNvSpPr txBox="1"/>
          <p:nvPr/>
        </p:nvSpPr>
        <p:spPr>
          <a:xfrm>
            <a:off x="3579266" y="3081528"/>
            <a:ext cx="2203704" cy="274320"/>
          </a:xfrm>
          <a:prstGeom prst="rect">
            <a:avLst/>
          </a:prstGeom>
          <a:noFill/>
          <a:ln/>
        </p:spPr>
        <p:txBody>
          <a:bodyPr wrap="square" lIns="0" tIns="0" rIns="0" bIns="0" rtlCol="0" anchor="b"/>
          <a:lstStyle/>
          <a:p>
            <a:pPr indent="0" marL="0">
              <a:buNone/>
            </a:pPr>
            <a:r>
              <a:rPr lang="en-US" sz="1000" i="1" dirty="0">
                <a:solidFill>
                  <a:schemeClr val="tx2"/>
                </a:solidFill>
              </a:rPr>
              <a:t>IBM Cost of a Data Breach 2025</a:t>
            </a:r>
            <a:endParaRPr lang="en-US" sz="1000" dirty="0"/>
          </a:p>
        </p:txBody>
      </p:sp>
      <p:sp>
        <p:nvSpPr>
          <p:cNvPr id="11" name="tile2 card"/>
          <p:cNvSpPr/>
          <p:nvPr/>
        </p:nvSpPr>
        <p:spPr>
          <a:xfrm>
            <a:off x="6207557" y="1325880"/>
            <a:ext cx="2606040" cy="2103120"/>
          </a:xfrm>
          <a:prstGeom prst="roundRect">
            <a:avLst>
              <a:gd name="adj" fmla="val 3478"/>
            </a:avLst>
          </a:prstGeom>
          <a:solidFill>
            <a:schemeClr val="bg2"/>
          </a:solidFill>
          <a:ln w="12700">
            <a:solidFill>
              <a:schemeClr val="bg2"/>
            </a:solidFill>
            <a:prstDash val="solid"/>
          </a:ln>
        </p:spPr>
      </p:sp>
      <p:sp>
        <p:nvSpPr>
          <p:cNvPr id="12" name="tile2 value"/>
          <p:cNvSpPr txBox="1"/>
          <p:nvPr/>
        </p:nvSpPr>
        <p:spPr>
          <a:xfrm>
            <a:off x="6408725" y="1435608"/>
            <a:ext cx="2203704" cy="868680"/>
          </a:xfrm>
          <a:prstGeom prst="rect">
            <a:avLst/>
          </a:prstGeom>
          <a:noFill/>
          <a:ln/>
        </p:spPr>
        <p:txBody>
          <a:bodyPr wrap="square" lIns="0" tIns="0" rIns="0" bIns="0" rtlCol="0" anchor="ctr"/>
          <a:lstStyle/>
          <a:p>
            <a:pPr algn="l" indent="0" marL="0">
              <a:buNone/>
            </a:pPr>
            <a:r>
              <a:rPr lang="en-US" sz="3600" b="1" dirty="0">
                <a:solidFill>
                  <a:schemeClr val="accent2"/>
                </a:solidFill>
              </a:rPr>
              <a:t>80–90%</a:t>
            </a:r>
            <a:endParaRPr lang="en-US" sz="3600" dirty="0"/>
          </a:p>
        </p:txBody>
      </p:sp>
      <p:sp>
        <p:nvSpPr>
          <p:cNvPr id="13" name="tile2 label"/>
          <p:cNvSpPr txBox="1"/>
          <p:nvPr/>
        </p:nvSpPr>
        <p:spPr>
          <a:xfrm>
            <a:off x="6408725" y="2313432"/>
            <a:ext cx="2203704" cy="768096"/>
          </a:xfrm>
          <a:prstGeom prst="rect">
            <a:avLst/>
          </a:prstGeom>
          <a:noFill/>
          <a:ln/>
        </p:spPr>
        <p:txBody>
          <a:bodyPr wrap="square" lIns="0" tIns="0" rIns="0" bIns="0" rtlCol="0" anchor="t"/>
          <a:lstStyle/>
          <a:p>
            <a:pPr indent="0" marL="0">
              <a:buNone/>
            </a:pPr>
            <a:r>
              <a:rPr lang="en-US" sz="1300" dirty="0">
                <a:solidFill>
                  <a:schemeClr val="tx1"/>
                </a:solidFill>
              </a:rPr>
              <a:t>Кибер тагнуулын кампанит ажлын ажиллагааг AI автономи гүйцэтгэсэн</a:t>
            </a:r>
            <a:endParaRPr lang="en-US" sz="1300" dirty="0"/>
          </a:p>
        </p:txBody>
      </p:sp>
      <p:sp>
        <p:nvSpPr>
          <p:cNvPr id="14" name="tile2 source"/>
          <p:cNvSpPr txBox="1"/>
          <p:nvPr/>
        </p:nvSpPr>
        <p:spPr>
          <a:xfrm>
            <a:off x="6408725" y="3081528"/>
            <a:ext cx="2203704" cy="274320"/>
          </a:xfrm>
          <a:prstGeom prst="rect">
            <a:avLst/>
          </a:prstGeom>
          <a:noFill/>
          <a:ln/>
        </p:spPr>
        <p:txBody>
          <a:bodyPr wrap="square" lIns="0" tIns="0" rIns="0" bIns="0" rtlCol="0" anchor="b"/>
          <a:lstStyle/>
          <a:p>
            <a:pPr indent="0" marL="0">
              <a:buNone/>
            </a:pPr>
            <a:r>
              <a:rPr lang="en-US" sz="1000" i="1" dirty="0">
                <a:solidFill>
                  <a:schemeClr val="tx2"/>
                </a:solidFill>
              </a:rPr>
              <a:t>Anthropic, GTG-1002, 2025.11</a:t>
            </a:r>
            <a:endParaRPr lang="en-US" sz="1000" dirty="0"/>
          </a:p>
        </p:txBody>
      </p:sp>
      <p:sp>
        <p:nvSpPr>
          <p:cNvPr id="15" name="tile3 card"/>
          <p:cNvSpPr/>
          <p:nvPr/>
        </p:nvSpPr>
        <p:spPr>
          <a:xfrm>
            <a:off x="9037015" y="1325880"/>
            <a:ext cx="2606040" cy="2103120"/>
          </a:xfrm>
          <a:prstGeom prst="roundRect">
            <a:avLst>
              <a:gd name="adj" fmla="val 3478"/>
            </a:avLst>
          </a:prstGeom>
          <a:solidFill>
            <a:schemeClr val="bg2"/>
          </a:solidFill>
          <a:ln w="12700">
            <a:solidFill>
              <a:schemeClr val="bg2"/>
            </a:solidFill>
            <a:prstDash val="solid"/>
          </a:ln>
        </p:spPr>
      </p:sp>
      <p:sp>
        <p:nvSpPr>
          <p:cNvPr id="16" name="tile3 value"/>
          <p:cNvSpPr txBox="1"/>
          <p:nvPr/>
        </p:nvSpPr>
        <p:spPr>
          <a:xfrm>
            <a:off x="9238183" y="1435608"/>
            <a:ext cx="2203704" cy="868680"/>
          </a:xfrm>
          <a:prstGeom prst="rect">
            <a:avLst/>
          </a:prstGeom>
          <a:noFill/>
          <a:ln/>
        </p:spPr>
        <p:txBody>
          <a:bodyPr wrap="square" lIns="0" tIns="0" rIns="0" bIns="0" rtlCol="0" anchor="ctr"/>
          <a:lstStyle/>
          <a:p>
            <a:pPr algn="l" indent="0" marL="0">
              <a:buNone/>
            </a:pPr>
            <a:r>
              <a:rPr lang="en-US" sz="3600" b="1" dirty="0">
                <a:solidFill>
                  <a:schemeClr val="accent2"/>
                </a:solidFill>
              </a:rPr>
              <a:t>+442%</a:t>
            </a:r>
            <a:endParaRPr lang="en-US" sz="3600" dirty="0"/>
          </a:p>
        </p:txBody>
      </p:sp>
      <p:sp>
        <p:nvSpPr>
          <p:cNvPr id="17" name="tile3 label"/>
          <p:cNvSpPr txBox="1"/>
          <p:nvPr/>
        </p:nvSpPr>
        <p:spPr>
          <a:xfrm>
            <a:off x="9238183" y="2313432"/>
            <a:ext cx="2203704" cy="768096"/>
          </a:xfrm>
          <a:prstGeom prst="rect">
            <a:avLst/>
          </a:prstGeom>
          <a:noFill/>
          <a:ln/>
        </p:spPr>
        <p:txBody>
          <a:bodyPr wrap="square" lIns="0" tIns="0" rIns="0" bIns="0" rtlCol="0" anchor="t"/>
          <a:lstStyle/>
          <a:p>
            <a:pPr indent="0" marL="0">
              <a:buNone/>
            </a:pPr>
            <a:r>
              <a:rPr lang="en-US" sz="1300" dirty="0">
                <a:solidFill>
                  <a:schemeClr val="tx1"/>
                </a:solidFill>
              </a:rPr>
              <a:t>Дуут фишинг (vishing)-ийн өсөлт, 2024 оны I → II хагас</a:t>
            </a:r>
            <a:endParaRPr lang="en-US" sz="1300" dirty="0"/>
          </a:p>
        </p:txBody>
      </p:sp>
      <p:sp>
        <p:nvSpPr>
          <p:cNvPr id="18" name="tile3 source"/>
          <p:cNvSpPr txBox="1"/>
          <p:nvPr/>
        </p:nvSpPr>
        <p:spPr>
          <a:xfrm>
            <a:off x="9238183" y="3081528"/>
            <a:ext cx="2203704" cy="274320"/>
          </a:xfrm>
          <a:prstGeom prst="rect">
            <a:avLst/>
          </a:prstGeom>
          <a:noFill/>
          <a:ln/>
        </p:spPr>
        <p:txBody>
          <a:bodyPr wrap="square" lIns="0" tIns="0" rIns="0" bIns="0" rtlCol="0" anchor="b"/>
          <a:lstStyle/>
          <a:p>
            <a:pPr indent="0" marL="0">
              <a:buNone/>
            </a:pPr>
            <a:r>
              <a:rPr lang="en-US" sz="1000" i="1" dirty="0">
                <a:solidFill>
                  <a:schemeClr val="tx2"/>
                </a:solidFill>
              </a:rPr>
              <a:t>CrowdStrike 2025</a:t>
            </a:r>
            <a:endParaRPr lang="en-US" sz="1000" dirty="0"/>
          </a:p>
        </p:txBody>
      </p:sp>
      <p:sp>
        <p:nvSpPr>
          <p:cNvPr id="19" name="card0"/>
          <p:cNvSpPr/>
          <p:nvPr/>
        </p:nvSpPr>
        <p:spPr>
          <a:xfrm>
            <a:off x="548640" y="3657600"/>
            <a:ext cx="3520440" cy="2514600"/>
          </a:xfrm>
          <a:prstGeom prst="roundRect">
            <a:avLst>
              <a:gd name="adj" fmla="val 2909"/>
            </a:avLst>
          </a:prstGeom>
          <a:solidFill>
            <a:schemeClr val="bg2"/>
          </a:solidFill>
          <a:ln w="12700">
            <a:solidFill>
              <a:schemeClr val="bg2"/>
            </a:solidFill>
            <a:prstDash val="solid"/>
          </a:ln>
        </p:spPr>
      </p:sp>
      <p:sp>
        <p:nvSpPr>
          <p:cNvPr id="20" name="card0 circle"/>
          <p:cNvSpPr/>
          <p:nvPr/>
        </p:nvSpPr>
        <p:spPr>
          <a:xfrm>
            <a:off x="749808" y="3858768"/>
            <a:ext cx="548640" cy="548640"/>
          </a:xfrm>
          <a:prstGeom prst="ellipse">
            <a:avLst/>
          </a:prstGeom>
          <a:solidFill>
            <a:schemeClr val="accent2"/>
          </a:solidFill>
          <a:ln w="12700">
            <a:solidFill>
              <a:schemeClr val="accent2"/>
            </a:solidFill>
            <a:prstDash val="solid"/>
          </a:ln>
        </p:spPr>
      </p:sp>
      <p:pic>
        <p:nvPicPr>
          <p:cNvPr id="21" name="card0 icon" descr="preencoded.png">    </p:cNvPr>
          <p:cNvPicPr>
            <a:picLocks noChangeAspect="1"/>
          </p:cNvPicPr>
          <p:nvPr/>
        </p:nvPicPr>
        <p:blipFill>
          <a:blip r:embed="rId1"/>
          <a:stretch>
            <a:fillRect/>
          </a:stretch>
        </p:blipFill>
        <p:spPr>
          <a:xfrm>
            <a:off x="886968" y="3995928"/>
            <a:ext cx="274320" cy="274320"/>
          </a:xfrm>
          <a:prstGeom prst="rect">
            <a:avLst/>
          </a:prstGeom>
        </p:spPr>
      </p:pic>
      <p:sp>
        <p:nvSpPr>
          <p:cNvPr id="22" name="card0 head"/>
          <p:cNvSpPr txBox="1"/>
          <p:nvPr/>
        </p:nvSpPr>
        <p:spPr>
          <a:xfrm>
            <a:off x="1463040" y="3858768"/>
            <a:ext cx="2423160" cy="548640"/>
          </a:xfrm>
          <a:prstGeom prst="rect">
            <a:avLst/>
          </a:prstGeom>
          <a:noFill/>
          <a:ln/>
        </p:spPr>
        <p:txBody>
          <a:bodyPr wrap="square" lIns="0" tIns="0" rIns="0" bIns="0" rtlCol="0" anchor="ctr"/>
          <a:lstStyle/>
          <a:p>
            <a:pPr indent="0" marL="0">
              <a:buNone/>
            </a:pPr>
            <a:r>
              <a:rPr lang="en-US" sz="1400" b="1" dirty="0">
                <a:solidFill>
                  <a:schemeClr val="tx1"/>
                </a:solidFill>
              </a:rPr>
              <a:t>Өөрийгөө дахин бичдэг хортой код</a:t>
            </a:r>
            <a:endParaRPr lang="en-US" sz="1400" dirty="0"/>
          </a:p>
        </p:txBody>
      </p:sp>
      <p:sp>
        <p:nvSpPr>
          <p:cNvPr id="23" name="card0 body"/>
          <p:cNvSpPr txBox="1"/>
          <p:nvPr/>
        </p:nvSpPr>
        <p:spPr>
          <a:xfrm>
            <a:off x="749808" y="4526280"/>
            <a:ext cx="3118104" cy="1508760"/>
          </a:xfrm>
          <a:prstGeom prst="rect">
            <a:avLst/>
          </a:prstGeom>
          <a:noFill/>
          <a:ln/>
        </p:spPr>
        <p:txBody>
          <a:bodyPr wrap="square" lIns="0" tIns="0" rIns="0" bIns="0" rtlCol="0" anchor="t"/>
          <a:lstStyle/>
          <a:p>
            <a:pPr indent="0" marL="0">
              <a:buNone/>
            </a:pPr>
            <a:r>
              <a:rPr lang="en-US" sz="1200" dirty="0">
                <a:solidFill>
                  <a:schemeClr val="tx1"/>
                </a:solidFill>
              </a:rPr>
              <a:t>PROMPTFLUX: ажиллах явцдаа Gemini API-аар кодоо дахин бичиж, обфускаци хийдэг. PROMPTSTEAL, PROMPTLOCK, QUIETVAULT (Google GTIG, 2025.11)</a:t>
            </a:r>
            <a:endParaRPr lang="en-US" sz="1200" dirty="0"/>
          </a:p>
        </p:txBody>
      </p:sp>
      <p:sp>
        <p:nvSpPr>
          <p:cNvPr id="24" name="card1"/>
          <p:cNvSpPr/>
          <p:nvPr/>
        </p:nvSpPr>
        <p:spPr>
          <a:xfrm>
            <a:off x="4335628" y="3657600"/>
            <a:ext cx="3520440" cy="2514600"/>
          </a:xfrm>
          <a:prstGeom prst="roundRect">
            <a:avLst>
              <a:gd name="adj" fmla="val 2909"/>
            </a:avLst>
          </a:prstGeom>
          <a:solidFill>
            <a:schemeClr val="bg2"/>
          </a:solidFill>
          <a:ln w="12700">
            <a:solidFill>
              <a:schemeClr val="bg2"/>
            </a:solidFill>
            <a:prstDash val="solid"/>
          </a:ln>
        </p:spPr>
      </p:sp>
      <p:sp>
        <p:nvSpPr>
          <p:cNvPr id="25" name="card1 circle"/>
          <p:cNvSpPr/>
          <p:nvPr/>
        </p:nvSpPr>
        <p:spPr>
          <a:xfrm>
            <a:off x="4536796" y="3858768"/>
            <a:ext cx="548640" cy="548640"/>
          </a:xfrm>
          <a:prstGeom prst="ellipse">
            <a:avLst/>
          </a:prstGeom>
          <a:solidFill>
            <a:schemeClr val="accent2"/>
          </a:solidFill>
          <a:ln w="12700">
            <a:solidFill>
              <a:schemeClr val="accent2"/>
            </a:solidFill>
            <a:prstDash val="solid"/>
          </a:ln>
        </p:spPr>
      </p:sp>
      <p:pic>
        <p:nvPicPr>
          <p:cNvPr id="26" name="card1 icon" descr="preencoded.png">    </p:cNvPr>
          <p:cNvPicPr>
            <a:picLocks noChangeAspect="1"/>
          </p:cNvPicPr>
          <p:nvPr/>
        </p:nvPicPr>
        <p:blipFill>
          <a:blip r:embed="rId2"/>
          <a:stretch>
            <a:fillRect/>
          </a:stretch>
        </p:blipFill>
        <p:spPr>
          <a:xfrm>
            <a:off x="4673956" y="3995928"/>
            <a:ext cx="274320" cy="274320"/>
          </a:xfrm>
          <a:prstGeom prst="rect">
            <a:avLst/>
          </a:prstGeom>
        </p:spPr>
      </p:pic>
      <p:sp>
        <p:nvSpPr>
          <p:cNvPr id="27" name="card1 head"/>
          <p:cNvSpPr txBox="1"/>
          <p:nvPr/>
        </p:nvSpPr>
        <p:spPr>
          <a:xfrm>
            <a:off x="5250028" y="3858768"/>
            <a:ext cx="2423160" cy="548640"/>
          </a:xfrm>
          <a:prstGeom prst="rect">
            <a:avLst/>
          </a:prstGeom>
          <a:noFill/>
          <a:ln/>
        </p:spPr>
        <p:txBody>
          <a:bodyPr wrap="square" lIns="0" tIns="0" rIns="0" bIns="0" rtlCol="0" anchor="ctr"/>
          <a:lstStyle/>
          <a:p>
            <a:pPr indent="0" marL="0">
              <a:buNone/>
            </a:pPr>
            <a:r>
              <a:rPr lang="en-US" sz="1400" b="1" dirty="0">
                <a:solidFill>
                  <a:schemeClr val="tx1"/>
                </a:solidFill>
              </a:rPr>
              <a:t>Автономи халдлагын агент</a:t>
            </a:r>
            <a:endParaRPr lang="en-US" sz="1400" dirty="0"/>
          </a:p>
        </p:txBody>
      </p:sp>
      <p:sp>
        <p:nvSpPr>
          <p:cNvPr id="28" name="card1 body"/>
          <p:cNvSpPr txBox="1"/>
          <p:nvPr/>
        </p:nvSpPr>
        <p:spPr>
          <a:xfrm>
            <a:off x="4536796" y="4526280"/>
            <a:ext cx="3118104" cy="1508760"/>
          </a:xfrm>
          <a:prstGeom prst="rect">
            <a:avLst/>
          </a:prstGeom>
          <a:noFill/>
          <a:ln/>
        </p:spPr>
        <p:txBody>
          <a:bodyPr wrap="square" lIns="0" tIns="0" rIns="0" bIns="0" rtlCol="0" anchor="t"/>
          <a:lstStyle/>
          <a:p>
            <a:pPr indent="0" marL="0">
              <a:buNone/>
            </a:pPr>
            <a:r>
              <a:rPr lang="en-US" sz="1200" dirty="0">
                <a:solidFill>
                  <a:schemeClr val="tx1"/>
                </a:solidFill>
              </a:rPr>
              <a:t>GTG-1002: Claude Code-ийн олон хувийг оркестратор, агент болгон ~30 байгууллага руу; хүн зөвхөн 4–6 шийдвэрийн цэгт (Anthropic)</a:t>
            </a:r>
            <a:endParaRPr lang="en-US" sz="1200" dirty="0"/>
          </a:p>
        </p:txBody>
      </p:sp>
      <p:sp>
        <p:nvSpPr>
          <p:cNvPr id="29" name="card2"/>
          <p:cNvSpPr/>
          <p:nvPr/>
        </p:nvSpPr>
        <p:spPr>
          <a:xfrm>
            <a:off x="8122615" y="3657600"/>
            <a:ext cx="3520440" cy="2514600"/>
          </a:xfrm>
          <a:prstGeom prst="roundRect">
            <a:avLst>
              <a:gd name="adj" fmla="val 2909"/>
            </a:avLst>
          </a:prstGeom>
          <a:solidFill>
            <a:schemeClr val="bg2"/>
          </a:solidFill>
          <a:ln w="12700">
            <a:solidFill>
              <a:schemeClr val="bg2"/>
            </a:solidFill>
            <a:prstDash val="solid"/>
          </a:ln>
        </p:spPr>
      </p:sp>
      <p:sp>
        <p:nvSpPr>
          <p:cNvPr id="30" name="card2 circle"/>
          <p:cNvSpPr/>
          <p:nvPr/>
        </p:nvSpPr>
        <p:spPr>
          <a:xfrm>
            <a:off x="8323783" y="3858768"/>
            <a:ext cx="548640" cy="548640"/>
          </a:xfrm>
          <a:prstGeom prst="ellipse">
            <a:avLst/>
          </a:prstGeom>
          <a:solidFill>
            <a:schemeClr val="accent1"/>
          </a:solidFill>
          <a:ln w="12700">
            <a:solidFill>
              <a:schemeClr val="accent1"/>
            </a:solidFill>
            <a:prstDash val="solid"/>
          </a:ln>
        </p:spPr>
      </p:sp>
      <p:pic>
        <p:nvPicPr>
          <p:cNvPr id="31" name="card2 icon" descr="preencoded.png">    </p:cNvPr>
          <p:cNvPicPr>
            <a:picLocks noChangeAspect="1"/>
          </p:cNvPicPr>
          <p:nvPr/>
        </p:nvPicPr>
        <p:blipFill>
          <a:blip r:embed="rId3"/>
          <a:stretch>
            <a:fillRect/>
          </a:stretch>
        </p:blipFill>
        <p:spPr>
          <a:xfrm>
            <a:off x="8460943" y="3995928"/>
            <a:ext cx="274320" cy="274320"/>
          </a:xfrm>
          <a:prstGeom prst="rect">
            <a:avLst/>
          </a:prstGeom>
        </p:spPr>
      </p:pic>
      <p:sp>
        <p:nvSpPr>
          <p:cNvPr id="32" name="card2 head"/>
          <p:cNvSpPr txBox="1"/>
          <p:nvPr/>
        </p:nvSpPr>
        <p:spPr>
          <a:xfrm>
            <a:off x="9037015" y="3858768"/>
            <a:ext cx="2423160" cy="548640"/>
          </a:xfrm>
          <a:prstGeom prst="rect">
            <a:avLst/>
          </a:prstGeom>
          <a:noFill/>
          <a:ln/>
        </p:spPr>
        <p:txBody>
          <a:bodyPr wrap="square" lIns="0" tIns="0" rIns="0" bIns="0" rtlCol="0" anchor="ctr"/>
          <a:lstStyle/>
          <a:p>
            <a:pPr indent="0" marL="0">
              <a:buNone/>
            </a:pPr>
            <a:r>
              <a:rPr lang="en-US" sz="1400" b="1" dirty="0">
                <a:solidFill>
                  <a:schemeClr val="tx1"/>
                </a:solidFill>
              </a:rPr>
              <a:t>Хамгаалагчийн давуу тал</a:t>
            </a:r>
            <a:endParaRPr lang="en-US" sz="1400" dirty="0"/>
          </a:p>
        </p:txBody>
      </p:sp>
      <p:sp>
        <p:nvSpPr>
          <p:cNvPr id="33" name="card2 body"/>
          <p:cNvSpPr txBox="1"/>
          <p:nvPr/>
        </p:nvSpPr>
        <p:spPr>
          <a:xfrm>
            <a:off x="8323783" y="4526280"/>
            <a:ext cx="3118104" cy="1508760"/>
          </a:xfrm>
          <a:prstGeom prst="rect">
            <a:avLst/>
          </a:prstGeom>
          <a:noFill/>
          <a:ln/>
        </p:spPr>
        <p:txBody>
          <a:bodyPr wrap="square" lIns="0" tIns="0" rIns="0" bIns="0" rtlCol="0" anchor="t"/>
          <a:lstStyle/>
          <a:p>
            <a:pPr indent="0" marL="0">
              <a:buNone/>
            </a:pPr>
            <a:r>
              <a:rPr lang="en-US" sz="1200" dirty="0">
                <a:solidFill>
                  <a:schemeClr val="tx1"/>
                </a:solidFill>
              </a:rPr>
              <a:t>AI агент нууц үг «олсон» гэж худал мэдээлэх зэрэг алдаа гаргаж, халдагч гараар шалгахад хүрсэн. AI-ийн алдааны хэв маяг = илрүүлэлтийн шинж тэмдэг</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Халдлагын мөчлөгийн үе шат бүрд: халдагчийн AI ба хамгаалагчийн AI</a:t>
            </a:r>
            <a:endParaRPr lang="en-US" sz="2800" dirty="0"/>
          </a:p>
        </p:txBody>
      </p:sp>
      <p:sp>
        <p:nvSpPr>
          <p:cNvPr id="3" name="attack label"/>
          <p:cNvSpPr txBox="1"/>
          <p:nvPr/>
        </p:nvSpPr>
        <p:spPr>
          <a:xfrm>
            <a:off x="548640" y="2103120"/>
            <a:ext cx="5486400" cy="228600"/>
          </a:xfrm>
          <a:prstGeom prst="rect">
            <a:avLst/>
          </a:prstGeom>
          <a:noFill/>
          <a:ln/>
        </p:spPr>
        <p:txBody>
          <a:bodyPr wrap="square" lIns="0" tIns="0" rIns="0" bIns="0" rtlCol="0" anchor="ctr"/>
          <a:lstStyle/>
          <a:p>
            <a:pPr indent="0" marL="0">
              <a:buNone/>
            </a:pPr>
            <a:r>
              <a:rPr lang="en-US" sz="1050" b="1" dirty="0">
                <a:solidFill>
                  <a:schemeClr val="accent2"/>
                </a:solidFill>
              </a:rPr>
              <a:t>ХАЛДАГЧ: AI хэрэглээ</a:t>
            </a:r>
            <a:endParaRPr lang="en-US" sz="1050" dirty="0"/>
          </a:p>
        </p:txBody>
      </p:sp>
      <p:sp>
        <p:nvSpPr>
          <p:cNvPr id="4" name="defense label"/>
          <p:cNvSpPr txBox="1"/>
          <p:nvPr/>
        </p:nvSpPr>
        <p:spPr>
          <a:xfrm>
            <a:off x="548640" y="4069080"/>
            <a:ext cx="5486400" cy="228600"/>
          </a:xfrm>
          <a:prstGeom prst="rect">
            <a:avLst/>
          </a:prstGeom>
          <a:noFill/>
          <a:ln/>
        </p:spPr>
        <p:txBody>
          <a:bodyPr wrap="square" lIns="0" tIns="0" rIns="0" bIns="0" rtlCol="0" anchor="ctr"/>
          <a:lstStyle/>
          <a:p>
            <a:pPr indent="0" marL="0">
              <a:buNone/>
            </a:pPr>
            <a:r>
              <a:rPr lang="en-US" sz="1050" b="1" dirty="0">
                <a:solidFill>
                  <a:schemeClr val="accent1"/>
                </a:solidFill>
              </a:rPr>
              <a:t>ХАМГААЛАГЧ: AI хариу</a:t>
            </a:r>
            <a:endParaRPr lang="en-US" sz="1050" dirty="0"/>
          </a:p>
        </p:txBody>
      </p:sp>
      <p:sp>
        <p:nvSpPr>
          <p:cNvPr id="5" name="chevron 0"/>
          <p:cNvSpPr/>
          <p:nvPr/>
        </p:nvSpPr>
        <p:spPr>
          <a:xfrm>
            <a:off x="548640" y="1325880"/>
            <a:ext cx="1627632" cy="685800"/>
          </a:xfrm>
          <a:prstGeom prst="chevron">
            <a:avLst/>
          </a:prstGeom>
          <a:solidFill>
            <a:schemeClr val="tx1"/>
          </a:solidFill>
          <a:ln w="12700">
            <a:solidFill>
              <a:schemeClr val="bg1"/>
            </a:solidFill>
            <a:prstDash val="solid"/>
          </a:ln>
        </p:spPr>
      </p:sp>
      <p:sp>
        <p:nvSpPr>
          <p:cNvPr id="6" name="chevron text 0"/>
          <p:cNvSpPr txBox="1"/>
          <p:nvPr/>
        </p:nvSpPr>
        <p:spPr>
          <a:xfrm>
            <a:off x="804672"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Тагнуул</a:t>
            </a:r>
            <a:endParaRPr lang="en-US" sz="1050" dirty="0"/>
          </a:p>
        </p:txBody>
      </p:sp>
      <p:sp>
        <p:nvSpPr>
          <p:cNvPr id="7" name="attack 0 circle"/>
          <p:cNvSpPr/>
          <p:nvPr/>
        </p:nvSpPr>
        <p:spPr>
          <a:xfrm>
            <a:off x="1019556" y="2377440"/>
            <a:ext cx="502920" cy="502920"/>
          </a:xfrm>
          <a:prstGeom prst="ellipse">
            <a:avLst/>
          </a:prstGeom>
          <a:solidFill>
            <a:schemeClr val="accent2"/>
          </a:solidFill>
          <a:ln w="12700">
            <a:solidFill>
              <a:schemeClr val="accent2"/>
            </a:solidFill>
            <a:prstDash val="solid"/>
          </a:ln>
        </p:spPr>
      </p:sp>
      <p:pic>
        <p:nvPicPr>
          <p:cNvPr id="8" name="attack 0 icon" descr="preencoded.png">    </p:cNvPr>
          <p:cNvPicPr>
            <a:picLocks noChangeAspect="1"/>
          </p:cNvPicPr>
          <p:nvPr/>
        </p:nvPicPr>
        <p:blipFill>
          <a:blip r:embed="rId1"/>
          <a:stretch>
            <a:fillRect/>
          </a:stretch>
        </p:blipFill>
        <p:spPr>
          <a:xfrm>
            <a:off x="1145286" y="2503170"/>
            <a:ext cx="251460" cy="251460"/>
          </a:xfrm>
          <a:prstGeom prst="rect">
            <a:avLst/>
          </a:prstGeom>
        </p:spPr>
      </p:pic>
      <p:sp>
        <p:nvSpPr>
          <p:cNvPr id="9" name="attack desc 0"/>
          <p:cNvSpPr txBox="1"/>
          <p:nvPr/>
        </p:nvSpPr>
        <p:spPr>
          <a:xfrm>
            <a:off x="502920"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AI OSINT: бай хүн, системийн профайл; агент дэд бүтцийг өөрөө судална</a:t>
            </a:r>
            <a:endParaRPr lang="en-US" sz="1100" dirty="0"/>
          </a:p>
        </p:txBody>
      </p:sp>
      <p:sp>
        <p:nvSpPr>
          <p:cNvPr id="10" name="defense 0 circle"/>
          <p:cNvSpPr/>
          <p:nvPr/>
        </p:nvSpPr>
        <p:spPr>
          <a:xfrm>
            <a:off x="1019556" y="4343400"/>
            <a:ext cx="502920" cy="502920"/>
          </a:xfrm>
          <a:prstGeom prst="ellipse">
            <a:avLst/>
          </a:prstGeom>
          <a:solidFill>
            <a:schemeClr val="accent1"/>
          </a:solidFill>
          <a:ln w="12700">
            <a:solidFill>
              <a:schemeClr val="accent1"/>
            </a:solidFill>
            <a:prstDash val="solid"/>
          </a:ln>
        </p:spPr>
      </p:sp>
      <p:pic>
        <p:nvPicPr>
          <p:cNvPr id="11" name="defense 0 icon" descr="preencoded.png">    </p:cNvPr>
          <p:cNvPicPr>
            <a:picLocks noChangeAspect="1"/>
          </p:cNvPicPr>
          <p:nvPr/>
        </p:nvPicPr>
        <p:blipFill>
          <a:blip r:embed="rId2"/>
          <a:stretch>
            <a:fillRect/>
          </a:stretch>
        </p:blipFill>
        <p:spPr>
          <a:xfrm>
            <a:off x="1145286" y="4469130"/>
            <a:ext cx="251460" cy="251460"/>
          </a:xfrm>
          <a:prstGeom prst="rect">
            <a:avLst/>
          </a:prstGeom>
        </p:spPr>
      </p:pic>
      <p:sp>
        <p:nvSpPr>
          <p:cNvPr id="12" name="defense desc 0"/>
          <p:cNvSpPr txBox="1"/>
          <p:nvPr/>
        </p:nvSpPr>
        <p:spPr>
          <a:xfrm>
            <a:off x="502920"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Халдлагын талбайн менежмент (ASM), нээлттэй мэдээллийн хяналт</a:t>
            </a:r>
            <a:endParaRPr lang="en-US" sz="1100" dirty="0"/>
          </a:p>
        </p:txBody>
      </p:sp>
      <p:sp>
        <p:nvSpPr>
          <p:cNvPr id="13" name="chevron 1"/>
          <p:cNvSpPr/>
          <p:nvPr/>
        </p:nvSpPr>
        <p:spPr>
          <a:xfrm>
            <a:off x="2126437" y="1325880"/>
            <a:ext cx="1627632" cy="685800"/>
          </a:xfrm>
          <a:prstGeom prst="chevron">
            <a:avLst/>
          </a:prstGeom>
          <a:solidFill>
            <a:schemeClr val="tx1"/>
          </a:solidFill>
          <a:ln w="12700">
            <a:solidFill>
              <a:schemeClr val="bg1"/>
            </a:solidFill>
            <a:prstDash val="solid"/>
          </a:ln>
        </p:spPr>
      </p:sp>
      <p:sp>
        <p:nvSpPr>
          <p:cNvPr id="14" name="chevron text 1"/>
          <p:cNvSpPr txBox="1"/>
          <p:nvPr/>
        </p:nvSpPr>
        <p:spPr>
          <a:xfrm>
            <a:off x="2382469"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Зэвсэглэл</a:t>
            </a:r>
            <a:endParaRPr lang="en-US" sz="1050" dirty="0"/>
          </a:p>
        </p:txBody>
      </p:sp>
      <p:sp>
        <p:nvSpPr>
          <p:cNvPr id="15" name="attack 1 circle"/>
          <p:cNvSpPr/>
          <p:nvPr/>
        </p:nvSpPr>
        <p:spPr>
          <a:xfrm>
            <a:off x="2597353" y="2377440"/>
            <a:ext cx="502920" cy="502920"/>
          </a:xfrm>
          <a:prstGeom prst="ellipse">
            <a:avLst/>
          </a:prstGeom>
          <a:solidFill>
            <a:schemeClr val="accent2"/>
          </a:solidFill>
          <a:ln w="12700">
            <a:solidFill>
              <a:schemeClr val="accent2"/>
            </a:solidFill>
            <a:prstDash val="solid"/>
          </a:ln>
        </p:spPr>
      </p:sp>
      <p:pic>
        <p:nvPicPr>
          <p:cNvPr id="16" name="attack 1 icon" descr="preencoded.png">    </p:cNvPr>
          <p:cNvPicPr>
            <a:picLocks noChangeAspect="1"/>
          </p:cNvPicPr>
          <p:nvPr/>
        </p:nvPicPr>
        <p:blipFill>
          <a:blip r:embed="rId3"/>
          <a:stretch>
            <a:fillRect/>
          </a:stretch>
        </p:blipFill>
        <p:spPr>
          <a:xfrm>
            <a:off x="2723083" y="2503170"/>
            <a:ext cx="251460" cy="251460"/>
          </a:xfrm>
          <a:prstGeom prst="rect">
            <a:avLst/>
          </a:prstGeom>
        </p:spPr>
      </p:pic>
      <p:sp>
        <p:nvSpPr>
          <p:cNvPr id="17" name="attack desc 1"/>
          <p:cNvSpPr txBox="1"/>
          <p:nvPr/>
        </p:nvSpPr>
        <p:spPr>
          <a:xfrm>
            <a:off x="2080717"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LLM-ээр хортой код бичих, обфускаци; PROMPTFLUX өөрийгөө дахин бичдэг</a:t>
            </a:r>
            <a:endParaRPr lang="en-US" sz="1100" dirty="0"/>
          </a:p>
        </p:txBody>
      </p:sp>
      <p:sp>
        <p:nvSpPr>
          <p:cNvPr id="18" name="defense 1 circle"/>
          <p:cNvSpPr/>
          <p:nvPr/>
        </p:nvSpPr>
        <p:spPr>
          <a:xfrm>
            <a:off x="2597353" y="4343400"/>
            <a:ext cx="502920" cy="502920"/>
          </a:xfrm>
          <a:prstGeom prst="ellipse">
            <a:avLst/>
          </a:prstGeom>
          <a:solidFill>
            <a:schemeClr val="accent1"/>
          </a:solidFill>
          <a:ln w="12700">
            <a:solidFill>
              <a:schemeClr val="accent1"/>
            </a:solidFill>
            <a:prstDash val="solid"/>
          </a:ln>
        </p:spPr>
      </p:sp>
      <p:pic>
        <p:nvPicPr>
          <p:cNvPr id="19" name="defense 1 icon" descr="preencoded.png">    </p:cNvPr>
          <p:cNvPicPr>
            <a:picLocks noChangeAspect="1"/>
          </p:cNvPicPr>
          <p:nvPr/>
        </p:nvPicPr>
        <p:blipFill>
          <a:blip r:embed="rId4"/>
          <a:stretch>
            <a:fillRect/>
          </a:stretch>
        </p:blipFill>
        <p:spPr>
          <a:xfrm>
            <a:off x="2723083" y="4469130"/>
            <a:ext cx="251460" cy="251460"/>
          </a:xfrm>
          <a:prstGeom prst="rect">
            <a:avLst/>
          </a:prstGeom>
        </p:spPr>
      </p:pic>
      <p:sp>
        <p:nvSpPr>
          <p:cNvPr id="20" name="defense desc 1"/>
          <p:cNvSpPr txBox="1"/>
          <p:nvPr/>
        </p:nvSpPr>
        <p:spPr>
          <a:xfrm>
            <a:off x="2080717"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ML хортой код ангилал: статик, динамик шинж, зан төлөв</a:t>
            </a:r>
            <a:endParaRPr lang="en-US" sz="1100" dirty="0"/>
          </a:p>
        </p:txBody>
      </p:sp>
      <p:sp>
        <p:nvSpPr>
          <p:cNvPr id="21" name="chevron 2"/>
          <p:cNvSpPr/>
          <p:nvPr/>
        </p:nvSpPr>
        <p:spPr>
          <a:xfrm>
            <a:off x="3704234" y="1325880"/>
            <a:ext cx="1627632" cy="685800"/>
          </a:xfrm>
          <a:prstGeom prst="chevron">
            <a:avLst/>
          </a:prstGeom>
          <a:solidFill>
            <a:schemeClr val="tx1"/>
          </a:solidFill>
          <a:ln w="12700">
            <a:solidFill>
              <a:schemeClr val="bg1"/>
            </a:solidFill>
            <a:prstDash val="solid"/>
          </a:ln>
        </p:spPr>
      </p:sp>
      <p:sp>
        <p:nvSpPr>
          <p:cNvPr id="22" name="chevron text 2"/>
          <p:cNvSpPr txBox="1"/>
          <p:nvPr/>
        </p:nvSpPr>
        <p:spPr>
          <a:xfrm>
            <a:off x="3960266"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Хүргэлт</a:t>
            </a:r>
            <a:endParaRPr lang="en-US" sz="1050" dirty="0"/>
          </a:p>
        </p:txBody>
      </p:sp>
      <p:sp>
        <p:nvSpPr>
          <p:cNvPr id="23" name="attack 2 circle"/>
          <p:cNvSpPr/>
          <p:nvPr/>
        </p:nvSpPr>
        <p:spPr>
          <a:xfrm>
            <a:off x="4175150" y="2377440"/>
            <a:ext cx="502920" cy="502920"/>
          </a:xfrm>
          <a:prstGeom prst="ellipse">
            <a:avLst/>
          </a:prstGeom>
          <a:solidFill>
            <a:schemeClr val="accent2"/>
          </a:solidFill>
          <a:ln w="12700">
            <a:solidFill>
              <a:schemeClr val="accent2"/>
            </a:solidFill>
            <a:prstDash val="solid"/>
          </a:ln>
        </p:spPr>
      </p:sp>
      <p:pic>
        <p:nvPicPr>
          <p:cNvPr id="24" name="attack 2 icon" descr="preencoded.png">    </p:cNvPr>
          <p:cNvPicPr>
            <a:picLocks noChangeAspect="1"/>
          </p:cNvPicPr>
          <p:nvPr/>
        </p:nvPicPr>
        <p:blipFill>
          <a:blip r:embed="rId5"/>
          <a:stretch>
            <a:fillRect/>
          </a:stretch>
        </p:blipFill>
        <p:spPr>
          <a:xfrm>
            <a:off x="4300880" y="2503170"/>
            <a:ext cx="251460" cy="251460"/>
          </a:xfrm>
          <a:prstGeom prst="rect">
            <a:avLst/>
          </a:prstGeom>
        </p:spPr>
      </p:pic>
      <p:sp>
        <p:nvSpPr>
          <p:cNvPr id="25" name="attack desc 2"/>
          <p:cNvSpPr txBox="1"/>
          <p:nvPr/>
        </p:nvSpPr>
        <p:spPr>
          <a:xfrm>
            <a:off x="3658514"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Хувь хүнд чиглэсэн, алдаагүй фишинг (54% клик); дуу хоолой, видео deepfake</a:t>
            </a:r>
            <a:endParaRPr lang="en-US" sz="1100" dirty="0"/>
          </a:p>
        </p:txBody>
      </p:sp>
      <p:sp>
        <p:nvSpPr>
          <p:cNvPr id="26" name="defense 2 circle"/>
          <p:cNvSpPr/>
          <p:nvPr/>
        </p:nvSpPr>
        <p:spPr>
          <a:xfrm>
            <a:off x="4175150" y="4343400"/>
            <a:ext cx="502920" cy="502920"/>
          </a:xfrm>
          <a:prstGeom prst="ellipse">
            <a:avLst/>
          </a:prstGeom>
          <a:solidFill>
            <a:schemeClr val="accent1"/>
          </a:solidFill>
          <a:ln w="12700">
            <a:solidFill>
              <a:schemeClr val="accent1"/>
            </a:solidFill>
            <a:prstDash val="solid"/>
          </a:ln>
        </p:spPr>
      </p:sp>
      <p:pic>
        <p:nvPicPr>
          <p:cNvPr id="27" name="defense 2 icon" descr="preencoded.png">    </p:cNvPr>
          <p:cNvPicPr>
            <a:picLocks noChangeAspect="1"/>
          </p:cNvPicPr>
          <p:nvPr/>
        </p:nvPicPr>
        <p:blipFill>
          <a:blip r:embed="rId6"/>
          <a:stretch>
            <a:fillRect/>
          </a:stretch>
        </p:blipFill>
        <p:spPr>
          <a:xfrm>
            <a:off x="4300880" y="4469130"/>
            <a:ext cx="251460" cy="251460"/>
          </a:xfrm>
          <a:prstGeom prst="rect">
            <a:avLst/>
          </a:prstGeom>
        </p:spPr>
      </p:pic>
      <p:sp>
        <p:nvSpPr>
          <p:cNvPr id="28" name="defense desc 2"/>
          <p:cNvSpPr txBox="1"/>
          <p:nvPr/>
        </p:nvSpPr>
        <p:spPr>
          <a:xfrm>
            <a:off x="3658514"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NLP фишинг илрүүлэлт, deepfake аудио/видео forensics</a:t>
            </a:r>
            <a:endParaRPr lang="en-US" sz="1100" dirty="0"/>
          </a:p>
        </p:txBody>
      </p:sp>
      <p:sp>
        <p:nvSpPr>
          <p:cNvPr id="29" name="chevron 3"/>
          <p:cNvSpPr/>
          <p:nvPr/>
        </p:nvSpPr>
        <p:spPr>
          <a:xfrm>
            <a:off x="5282032" y="1325880"/>
            <a:ext cx="1627632" cy="685800"/>
          </a:xfrm>
          <a:prstGeom prst="chevron">
            <a:avLst/>
          </a:prstGeom>
          <a:solidFill>
            <a:schemeClr val="tx1"/>
          </a:solidFill>
          <a:ln w="12700">
            <a:solidFill>
              <a:schemeClr val="bg1"/>
            </a:solidFill>
            <a:prstDash val="solid"/>
          </a:ln>
        </p:spPr>
      </p:sp>
      <p:sp>
        <p:nvSpPr>
          <p:cNvPr id="30" name="chevron text 3"/>
          <p:cNvSpPr txBox="1"/>
          <p:nvPr/>
        </p:nvSpPr>
        <p:spPr>
          <a:xfrm>
            <a:off x="5538064"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Ашиглалт</a:t>
            </a:r>
            <a:endParaRPr lang="en-US" sz="1050" dirty="0"/>
          </a:p>
        </p:txBody>
      </p:sp>
      <p:sp>
        <p:nvSpPr>
          <p:cNvPr id="31" name="attack 3 circle"/>
          <p:cNvSpPr/>
          <p:nvPr/>
        </p:nvSpPr>
        <p:spPr>
          <a:xfrm>
            <a:off x="5752948" y="2377440"/>
            <a:ext cx="502920" cy="502920"/>
          </a:xfrm>
          <a:prstGeom prst="ellipse">
            <a:avLst/>
          </a:prstGeom>
          <a:solidFill>
            <a:schemeClr val="accent2"/>
          </a:solidFill>
          <a:ln w="12700">
            <a:solidFill>
              <a:schemeClr val="accent2"/>
            </a:solidFill>
            <a:prstDash val="solid"/>
          </a:ln>
        </p:spPr>
      </p:sp>
      <p:pic>
        <p:nvPicPr>
          <p:cNvPr id="32" name="attack 3 icon" descr="preencoded.png">    </p:cNvPr>
          <p:cNvPicPr>
            <a:picLocks noChangeAspect="1"/>
          </p:cNvPicPr>
          <p:nvPr/>
        </p:nvPicPr>
        <p:blipFill>
          <a:blip r:embed="rId7"/>
          <a:stretch>
            <a:fillRect/>
          </a:stretch>
        </p:blipFill>
        <p:spPr>
          <a:xfrm>
            <a:off x="5878678" y="2503170"/>
            <a:ext cx="251460" cy="251460"/>
          </a:xfrm>
          <a:prstGeom prst="rect">
            <a:avLst/>
          </a:prstGeom>
        </p:spPr>
      </p:pic>
      <p:sp>
        <p:nvSpPr>
          <p:cNvPr id="33" name="attack desc 3"/>
          <p:cNvSpPr txBox="1"/>
          <p:nvPr/>
        </p:nvSpPr>
        <p:spPr>
          <a:xfrm>
            <a:off x="5236312"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AI-аар эмзэг байдал олох, exploit бичих; AIxCC бодит 18 эмзэг байдал</a:t>
            </a:r>
            <a:endParaRPr lang="en-US" sz="1100" dirty="0"/>
          </a:p>
        </p:txBody>
      </p:sp>
      <p:sp>
        <p:nvSpPr>
          <p:cNvPr id="34" name="defense 3 circle"/>
          <p:cNvSpPr/>
          <p:nvPr/>
        </p:nvSpPr>
        <p:spPr>
          <a:xfrm>
            <a:off x="5752948" y="4343400"/>
            <a:ext cx="502920" cy="502920"/>
          </a:xfrm>
          <a:prstGeom prst="ellipse">
            <a:avLst/>
          </a:prstGeom>
          <a:solidFill>
            <a:schemeClr val="accent1"/>
          </a:solidFill>
          <a:ln w="12700">
            <a:solidFill>
              <a:schemeClr val="accent1"/>
            </a:solidFill>
            <a:prstDash val="solid"/>
          </a:ln>
        </p:spPr>
      </p:sp>
      <p:pic>
        <p:nvPicPr>
          <p:cNvPr id="35" name="defense 3 icon" descr="preencoded.png">    </p:cNvPr>
          <p:cNvPicPr>
            <a:picLocks noChangeAspect="1"/>
          </p:cNvPicPr>
          <p:nvPr/>
        </p:nvPicPr>
        <p:blipFill>
          <a:blip r:embed="rId8"/>
          <a:stretch>
            <a:fillRect/>
          </a:stretch>
        </p:blipFill>
        <p:spPr>
          <a:xfrm>
            <a:off x="5878678" y="4469130"/>
            <a:ext cx="251460" cy="251460"/>
          </a:xfrm>
          <a:prstGeom prst="rect">
            <a:avLst/>
          </a:prstGeom>
        </p:spPr>
      </p:pic>
      <p:sp>
        <p:nvSpPr>
          <p:cNvPr id="36" name="defense desc 3"/>
          <p:cNvSpPr txBox="1"/>
          <p:nvPr/>
        </p:nvSpPr>
        <p:spPr>
          <a:xfrm>
            <a:off x="5236312"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AI-аар эмзэг байдал урьдчилан олж засах (AIxCC), EPSS эрэмбэ</a:t>
            </a:r>
            <a:endParaRPr lang="en-US" sz="1100" dirty="0"/>
          </a:p>
        </p:txBody>
      </p:sp>
      <p:sp>
        <p:nvSpPr>
          <p:cNvPr id="37" name="chevron 4"/>
          <p:cNvSpPr/>
          <p:nvPr/>
        </p:nvSpPr>
        <p:spPr>
          <a:xfrm>
            <a:off x="6859829" y="1325880"/>
            <a:ext cx="1627632" cy="685800"/>
          </a:xfrm>
          <a:prstGeom prst="chevron">
            <a:avLst/>
          </a:prstGeom>
          <a:solidFill>
            <a:schemeClr val="tx1"/>
          </a:solidFill>
          <a:ln w="12700">
            <a:solidFill>
              <a:schemeClr val="bg1"/>
            </a:solidFill>
            <a:prstDash val="solid"/>
          </a:ln>
        </p:spPr>
      </p:sp>
      <p:sp>
        <p:nvSpPr>
          <p:cNvPr id="38" name="chevron text 4"/>
          <p:cNvSpPr txBox="1"/>
          <p:nvPr/>
        </p:nvSpPr>
        <p:spPr>
          <a:xfrm>
            <a:off x="7115861"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Удирдлага (C2)</a:t>
            </a:r>
            <a:endParaRPr lang="en-US" sz="1050" dirty="0"/>
          </a:p>
        </p:txBody>
      </p:sp>
      <p:sp>
        <p:nvSpPr>
          <p:cNvPr id="39" name="attack 4 circle"/>
          <p:cNvSpPr/>
          <p:nvPr/>
        </p:nvSpPr>
        <p:spPr>
          <a:xfrm>
            <a:off x="7330745" y="2377440"/>
            <a:ext cx="502920" cy="502920"/>
          </a:xfrm>
          <a:prstGeom prst="ellipse">
            <a:avLst/>
          </a:prstGeom>
          <a:solidFill>
            <a:schemeClr val="accent2"/>
          </a:solidFill>
          <a:ln w="12700">
            <a:solidFill>
              <a:schemeClr val="accent2"/>
            </a:solidFill>
            <a:prstDash val="solid"/>
          </a:ln>
        </p:spPr>
      </p:sp>
      <p:pic>
        <p:nvPicPr>
          <p:cNvPr id="40" name="attack 4 icon" descr="preencoded.png">    </p:cNvPr>
          <p:cNvPicPr>
            <a:picLocks noChangeAspect="1"/>
          </p:cNvPicPr>
          <p:nvPr/>
        </p:nvPicPr>
        <p:blipFill>
          <a:blip r:embed="rId9"/>
          <a:stretch>
            <a:fillRect/>
          </a:stretch>
        </p:blipFill>
        <p:spPr>
          <a:xfrm>
            <a:off x="7456475" y="2503170"/>
            <a:ext cx="251460" cy="251460"/>
          </a:xfrm>
          <a:prstGeom prst="rect">
            <a:avLst/>
          </a:prstGeom>
        </p:spPr>
      </p:pic>
      <p:sp>
        <p:nvSpPr>
          <p:cNvPr id="41" name="attack desc 4"/>
          <p:cNvSpPr txBox="1"/>
          <p:nvPr/>
        </p:nvSpPr>
        <p:spPr>
          <a:xfrm>
            <a:off x="6814109"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«Just-in-time» AI: хортой код ажиллах явцдаа LLM-ээс команд авна</a:t>
            </a:r>
            <a:endParaRPr lang="en-US" sz="1100" dirty="0"/>
          </a:p>
        </p:txBody>
      </p:sp>
      <p:sp>
        <p:nvSpPr>
          <p:cNvPr id="42" name="defense 4 circle"/>
          <p:cNvSpPr/>
          <p:nvPr/>
        </p:nvSpPr>
        <p:spPr>
          <a:xfrm>
            <a:off x="7330745" y="4343400"/>
            <a:ext cx="502920" cy="502920"/>
          </a:xfrm>
          <a:prstGeom prst="ellipse">
            <a:avLst/>
          </a:prstGeom>
          <a:solidFill>
            <a:schemeClr val="accent1"/>
          </a:solidFill>
          <a:ln w="12700">
            <a:solidFill>
              <a:schemeClr val="accent1"/>
            </a:solidFill>
            <a:prstDash val="solid"/>
          </a:ln>
        </p:spPr>
      </p:sp>
      <p:pic>
        <p:nvPicPr>
          <p:cNvPr id="43" name="defense 4 icon" descr="preencoded.png">    </p:cNvPr>
          <p:cNvPicPr>
            <a:picLocks noChangeAspect="1"/>
          </p:cNvPicPr>
          <p:nvPr/>
        </p:nvPicPr>
        <p:blipFill>
          <a:blip r:embed="rId10"/>
          <a:stretch>
            <a:fillRect/>
          </a:stretch>
        </p:blipFill>
        <p:spPr>
          <a:xfrm>
            <a:off x="7456475" y="4469130"/>
            <a:ext cx="251460" cy="251460"/>
          </a:xfrm>
          <a:prstGeom prst="rect">
            <a:avLst/>
          </a:prstGeom>
        </p:spPr>
      </p:pic>
      <p:sp>
        <p:nvSpPr>
          <p:cNvPr id="44" name="defense desc 4"/>
          <p:cNvSpPr txBox="1"/>
          <p:nvPr/>
        </p:nvSpPr>
        <p:spPr>
          <a:xfrm>
            <a:off x="6814109"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Сүлжээний anomaly, DGA домэйн, C2 урсгалын илрүүлэлт</a:t>
            </a:r>
            <a:endParaRPr lang="en-US" sz="1100" dirty="0"/>
          </a:p>
        </p:txBody>
      </p:sp>
      <p:sp>
        <p:nvSpPr>
          <p:cNvPr id="45" name="chevron 5"/>
          <p:cNvSpPr/>
          <p:nvPr/>
        </p:nvSpPr>
        <p:spPr>
          <a:xfrm>
            <a:off x="8437626" y="1325880"/>
            <a:ext cx="1627632" cy="685800"/>
          </a:xfrm>
          <a:prstGeom prst="chevron">
            <a:avLst/>
          </a:prstGeom>
          <a:solidFill>
            <a:schemeClr val="tx1"/>
          </a:solidFill>
          <a:ln w="12700">
            <a:solidFill>
              <a:schemeClr val="bg1"/>
            </a:solidFill>
            <a:prstDash val="solid"/>
          </a:ln>
        </p:spPr>
      </p:sp>
      <p:sp>
        <p:nvSpPr>
          <p:cNvPr id="46" name="chevron text 5"/>
          <p:cNvSpPr txBox="1"/>
          <p:nvPr/>
        </p:nvSpPr>
        <p:spPr>
          <a:xfrm>
            <a:off x="8693658"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Шилжилт</a:t>
            </a:r>
            <a:endParaRPr lang="en-US" sz="1050" dirty="0"/>
          </a:p>
        </p:txBody>
      </p:sp>
      <p:sp>
        <p:nvSpPr>
          <p:cNvPr id="47" name="attack 5 circle"/>
          <p:cNvSpPr/>
          <p:nvPr/>
        </p:nvSpPr>
        <p:spPr>
          <a:xfrm>
            <a:off x="8908542" y="2377440"/>
            <a:ext cx="502920" cy="502920"/>
          </a:xfrm>
          <a:prstGeom prst="ellipse">
            <a:avLst/>
          </a:prstGeom>
          <a:solidFill>
            <a:schemeClr val="accent2"/>
          </a:solidFill>
          <a:ln w="12700">
            <a:solidFill>
              <a:schemeClr val="accent2"/>
            </a:solidFill>
            <a:prstDash val="solid"/>
          </a:ln>
        </p:spPr>
      </p:sp>
      <p:pic>
        <p:nvPicPr>
          <p:cNvPr id="48" name="attack 5 icon" descr="preencoded.png">    </p:cNvPr>
          <p:cNvPicPr>
            <a:picLocks noChangeAspect="1"/>
          </p:cNvPicPr>
          <p:nvPr/>
        </p:nvPicPr>
        <p:blipFill>
          <a:blip r:embed="rId11"/>
          <a:stretch>
            <a:fillRect/>
          </a:stretch>
        </p:blipFill>
        <p:spPr>
          <a:xfrm>
            <a:off x="9034272" y="2503170"/>
            <a:ext cx="251460" cy="251460"/>
          </a:xfrm>
          <a:prstGeom prst="rect">
            <a:avLst/>
          </a:prstGeom>
        </p:spPr>
      </p:pic>
      <p:sp>
        <p:nvSpPr>
          <p:cNvPr id="49" name="attack desc 5"/>
          <p:cNvSpPr txBox="1"/>
          <p:nvPr/>
        </p:nvSpPr>
        <p:spPr>
          <a:xfrm>
            <a:off x="8391906"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Агентуудыг «пентест баг» шиг зэрэгцүүлэн; хүн 4–6 шийдвэрийн цэгт</a:t>
            </a:r>
            <a:endParaRPr lang="en-US" sz="1100" dirty="0"/>
          </a:p>
        </p:txBody>
      </p:sp>
      <p:sp>
        <p:nvSpPr>
          <p:cNvPr id="50" name="defense 5 circle"/>
          <p:cNvSpPr/>
          <p:nvPr/>
        </p:nvSpPr>
        <p:spPr>
          <a:xfrm>
            <a:off x="8908542" y="4343400"/>
            <a:ext cx="502920" cy="502920"/>
          </a:xfrm>
          <a:prstGeom prst="ellipse">
            <a:avLst/>
          </a:prstGeom>
          <a:solidFill>
            <a:schemeClr val="accent1"/>
          </a:solidFill>
          <a:ln w="12700">
            <a:solidFill>
              <a:schemeClr val="accent1"/>
            </a:solidFill>
            <a:prstDash val="solid"/>
          </a:ln>
        </p:spPr>
      </p:sp>
      <p:pic>
        <p:nvPicPr>
          <p:cNvPr id="51" name="defense 5 icon" descr="preencoded.png">    </p:cNvPr>
          <p:cNvPicPr>
            <a:picLocks noChangeAspect="1"/>
          </p:cNvPicPr>
          <p:nvPr/>
        </p:nvPicPr>
        <p:blipFill>
          <a:blip r:embed="rId12"/>
          <a:stretch>
            <a:fillRect/>
          </a:stretch>
        </p:blipFill>
        <p:spPr>
          <a:xfrm>
            <a:off x="9034272" y="4469130"/>
            <a:ext cx="251460" cy="251460"/>
          </a:xfrm>
          <a:prstGeom prst="rect">
            <a:avLst/>
          </a:prstGeom>
        </p:spPr>
      </p:pic>
      <p:sp>
        <p:nvSpPr>
          <p:cNvPr id="52" name="defense desc 5"/>
          <p:cNvSpPr txBox="1"/>
          <p:nvPr/>
        </p:nvSpPr>
        <p:spPr>
          <a:xfrm>
            <a:off x="8391906"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UEBA, график шинжилгээ; SOAR-оор секундын дотор тусгаарлах</a:t>
            </a:r>
            <a:endParaRPr lang="en-US" sz="1100" dirty="0"/>
          </a:p>
        </p:txBody>
      </p:sp>
      <p:sp>
        <p:nvSpPr>
          <p:cNvPr id="53" name="chevron 6"/>
          <p:cNvSpPr/>
          <p:nvPr/>
        </p:nvSpPr>
        <p:spPr>
          <a:xfrm>
            <a:off x="10015423" y="1325880"/>
            <a:ext cx="1627632" cy="685800"/>
          </a:xfrm>
          <a:prstGeom prst="chevron">
            <a:avLst/>
          </a:prstGeom>
          <a:solidFill>
            <a:schemeClr val="tx1"/>
          </a:solidFill>
          <a:ln w="12700">
            <a:solidFill>
              <a:schemeClr val="bg1"/>
            </a:solidFill>
            <a:prstDash val="solid"/>
          </a:ln>
        </p:spPr>
      </p:sp>
      <p:sp>
        <p:nvSpPr>
          <p:cNvPr id="54" name="chevron text 6"/>
          <p:cNvSpPr txBox="1"/>
          <p:nvPr/>
        </p:nvSpPr>
        <p:spPr>
          <a:xfrm>
            <a:off x="10271455" y="1325880"/>
            <a:ext cx="1170432" cy="685800"/>
          </a:xfrm>
          <a:prstGeom prst="rect">
            <a:avLst/>
          </a:prstGeom>
          <a:noFill/>
          <a:ln/>
        </p:spPr>
        <p:txBody>
          <a:bodyPr wrap="square" lIns="0" tIns="0" rIns="0" bIns="0" rtlCol="0" anchor="ctr"/>
          <a:lstStyle/>
          <a:p>
            <a:pPr algn="ctr" indent="0" marL="0">
              <a:buNone/>
            </a:pPr>
            <a:r>
              <a:rPr lang="en-US" sz="1050" b="1" dirty="0">
                <a:solidFill>
                  <a:schemeClr val="bg1"/>
                </a:solidFill>
              </a:rPr>
              <a:t>Зорилго</a:t>
            </a:r>
            <a:endParaRPr lang="en-US" sz="1050" dirty="0"/>
          </a:p>
        </p:txBody>
      </p:sp>
      <p:sp>
        <p:nvSpPr>
          <p:cNvPr id="55" name="attack 6 circle"/>
          <p:cNvSpPr/>
          <p:nvPr/>
        </p:nvSpPr>
        <p:spPr>
          <a:xfrm>
            <a:off x="10486339" y="2377440"/>
            <a:ext cx="502920" cy="502920"/>
          </a:xfrm>
          <a:prstGeom prst="ellipse">
            <a:avLst/>
          </a:prstGeom>
          <a:solidFill>
            <a:schemeClr val="accent2"/>
          </a:solidFill>
          <a:ln w="12700">
            <a:solidFill>
              <a:schemeClr val="accent2"/>
            </a:solidFill>
            <a:prstDash val="solid"/>
          </a:ln>
        </p:spPr>
      </p:sp>
      <p:pic>
        <p:nvPicPr>
          <p:cNvPr id="56" name="attack 6 icon" descr="preencoded.png">    </p:cNvPr>
          <p:cNvPicPr>
            <a:picLocks noChangeAspect="1"/>
          </p:cNvPicPr>
          <p:nvPr/>
        </p:nvPicPr>
        <p:blipFill>
          <a:blip r:embed="rId13"/>
          <a:stretch>
            <a:fillRect/>
          </a:stretch>
        </p:blipFill>
        <p:spPr>
          <a:xfrm>
            <a:off x="10612069" y="2503170"/>
            <a:ext cx="251460" cy="251460"/>
          </a:xfrm>
          <a:prstGeom prst="rect">
            <a:avLst/>
          </a:prstGeom>
        </p:spPr>
      </p:pic>
      <p:sp>
        <p:nvSpPr>
          <p:cNvPr id="57" name="attack desc 6"/>
          <p:cNvSpPr txBox="1"/>
          <p:nvPr/>
        </p:nvSpPr>
        <p:spPr>
          <a:xfrm>
            <a:off x="9969703" y="2944368"/>
            <a:ext cx="1536192" cy="1078992"/>
          </a:xfrm>
          <a:prstGeom prst="rect">
            <a:avLst/>
          </a:prstGeom>
          <a:noFill/>
          <a:ln/>
        </p:spPr>
        <p:txBody>
          <a:bodyPr wrap="square" lIns="0" tIns="0" rIns="0" bIns="0" rtlCol="0" anchor="t"/>
          <a:lstStyle/>
          <a:p>
            <a:pPr indent="0" marL="0">
              <a:buNone/>
            </a:pPr>
            <a:r>
              <a:rPr lang="en-US" sz="1100" dirty="0">
                <a:solidFill>
                  <a:schemeClr val="tx1"/>
                </a:solidFill>
              </a:rPr>
              <a:t>Хулгайлсан өгөгдлийг AI-аар ангилах; агент ransomware ~25 мин (симуляци)</a:t>
            </a:r>
            <a:endParaRPr lang="en-US" sz="1100" dirty="0"/>
          </a:p>
        </p:txBody>
      </p:sp>
      <p:sp>
        <p:nvSpPr>
          <p:cNvPr id="58" name="defense 6 circle"/>
          <p:cNvSpPr/>
          <p:nvPr/>
        </p:nvSpPr>
        <p:spPr>
          <a:xfrm>
            <a:off x="10486339" y="4343400"/>
            <a:ext cx="502920" cy="502920"/>
          </a:xfrm>
          <a:prstGeom prst="ellipse">
            <a:avLst/>
          </a:prstGeom>
          <a:solidFill>
            <a:schemeClr val="accent1"/>
          </a:solidFill>
          <a:ln w="12700">
            <a:solidFill>
              <a:schemeClr val="accent1"/>
            </a:solidFill>
            <a:prstDash val="solid"/>
          </a:ln>
        </p:spPr>
      </p:sp>
      <p:pic>
        <p:nvPicPr>
          <p:cNvPr id="59" name="defense 6 icon" descr="preencoded.png">    </p:cNvPr>
          <p:cNvPicPr>
            <a:picLocks noChangeAspect="1"/>
          </p:cNvPicPr>
          <p:nvPr/>
        </p:nvPicPr>
        <p:blipFill>
          <a:blip r:embed="rId14"/>
          <a:stretch>
            <a:fillRect/>
          </a:stretch>
        </p:blipFill>
        <p:spPr>
          <a:xfrm>
            <a:off x="10612069" y="4469130"/>
            <a:ext cx="251460" cy="251460"/>
          </a:xfrm>
          <a:prstGeom prst="rect">
            <a:avLst/>
          </a:prstGeom>
        </p:spPr>
      </p:pic>
      <p:sp>
        <p:nvSpPr>
          <p:cNvPr id="60" name="defense desc 6"/>
          <p:cNvSpPr txBox="1"/>
          <p:nvPr/>
        </p:nvSpPr>
        <p:spPr>
          <a:xfrm>
            <a:off x="9969703" y="4910328"/>
            <a:ext cx="1536192" cy="1234440"/>
          </a:xfrm>
          <a:prstGeom prst="rect">
            <a:avLst/>
          </a:prstGeom>
          <a:noFill/>
          <a:ln/>
        </p:spPr>
        <p:txBody>
          <a:bodyPr wrap="square" lIns="0" tIns="0" rIns="0" bIns="0" rtlCol="0" anchor="t"/>
          <a:lstStyle/>
          <a:p>
            <a:pPr indent="0" marL="0">
              <a:buNone/>
            </a:pPr>
            <a:r>
              <a:rPr lang="en-US" sz="1100" dirty="0">
                <a:solidFill>
                  <a:schemeClr val="tx1"/>
                </a:solidFill>
              </a:rPr>
              <a:t>Өгөгдөл гадагшлахыг (exfiltration) илрүүлэх, автомат хязгаарлалт</a:t>
            </a:r>
            <a:endParaRPr lang="en-US" sz="1100" dirty="0"/>
          </a:p>
        </p:txBody>
      </p:sp>
      <p:sp>
        <p:nvSpPr>
          <p:cNvPr id="61" name="divider"/>
          <p:cNvSpPr/>
          <p:nvPr/>
        </p:nvSpPr>
        <p:spPr>
          <a:xfrm>
            <a:off x="548640" y="4005072"/>
            <a:ext cx="11094415" cy="0"/>
          </a:xfrm>
          <a:prstGeom prst="line">
            <a:avLst/>
          </a:prstGeom>
          <a:noFill/>
          <a:ln w="9525">
            <a:solidFill>
              <a:schemeClr val="accent5"/>
            </a:solidFill>
            <a:prstDash val="dash"/>
          </a:ln>
        </p:spPr>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Хамгаалалтад AI ашиглах дөрвөн чиглэл (удирдамжийн 1.2)</a:t>
            </a:r>
            <a:endParaRPr lang="en-US" sz="2800" dirty="0"/>
          </a:p>
        </p:txBody>
      </p:sp>
      <p:sp>
        <p:nvSpPr>
          <p:cNvPr id="3" name="dir0"/>
          <p:cNvSpPr/>
          <p:nvPr/>
        </p:nvSpPr>
        <p:spPr>
          <a:xfrm>
            <a:off x="548640" y="1325880"/>
            <a:ext cx="2606040" cy="3931920"/>
          </a:xfrm>
          <a:prstGeom prst="roundRect">
            <a:avLst>
              <a:gd name="adj" fmla="val 2807"/>
            </a:avLst>
          </a:prstGeom>
          <a:solidFill>
            <a:schemeClr val="bg2"/>
          </a:solidFill>
          <a:ln w="12700">
            <a:solidFill>
              <a:schemeClr val="bg2"/>
            </a:solidFill>
            <a:prstDash val="solid"/>
          </a:ln>
        </p:spPr>
      </p:sp>
      <p:sp>
        <p:nvSpPr>
          <p:cNvPr id="4" name="dir0 circle"/>
          <p:cNvSpPr/>
          <p:nvPr/>
        </p:nvSpPr>
        <p:spPr>
          <a:xfrm>
            <a:off x="1394460" y="1645920"/>
            <a:ext cx="914400" cy="914400"/>
          </a:xfrm>
          <a:prstGeom prst="ellipse">
            <a:avLst/>
          </a:prstGeom>
          <a:solidFill>
            <a:schemeClr val="accent1"/>
          </a:solidFill>
          <a:ln w="12700">
            <a:solidFill>
              <a:schemeClr val="accent1"/>
            </a:solidFill>
            <a:prstDash val="solid"/>
          </a:ln>
        </p:spPr>
      </p:sp>
      <p:pic>
        <p:nvPicPr>
          <p:cNvPr id="5" name="dir0 icon" descr="preencoded.png">    </p:cNvPr>
          <p:cNvPicPr>
            <a:picLocks noChangeAspect="1"/>
          </p:cNvPicPr>
          <p:nvPr/>
        </p:nvPicPr>
        <p:blipFill>
          <a:blip r:embed="rId1"/>
          <a:stretch>
            <a:fillRect/>
          </a:stretch>
        </p:blipFill>
        <p:spPr>
          <a:xfrm>
            <a:off x="1623060" y="1874520"/>
            <a:ext cx="457200" cy="457200"/>
          </a:xfrm>
          <a:prstGeom prst="rect">
            <a:avLst/>
          </a:prstGeom>
        </p:spPr>
      </p:pic>
      <p:sp>
        <p:nvSpPr>
          <p:cNvPr id="6" name="dir0 num"/>
          <p:cNvSpPr txBox="1"/>
          <p:nvPr/>
        </p:nvSpPr>
        <p:spPr>
          <a:xfrm>
            <a:off x="731520" y="2697480"/>
            <a:ext cx="2240280" cy="457200"/>
          </a:xfrm>
          <a:prstGeom prst="rect">
            <a:avLst/>
          </a:prstGeom>
          <a:noFill/>
          <a:ln/>
        </p:spPr>
        <p:txBody>
          <a:bodyPr wrap="square" lIns="0" tIns="0" rIns="0" bIns="0" rtlCol="0" anchor="ctr"/>
          <a:lstStyle/>
          <a:p>
            <a:pPr algn="ctr" indent="0" marL="0">
              <a:buNone/>
            </a:pPr>
            <a:r>
              <a:rPr lang="en-US" sz="2400" b="1" dirty="0">
                <a:solidFill>
                  <a:schemeClr val="accent4"/>
                </a:solidFill>
              </a:rPr>
              <a:t>01</a:t>
            </a:r>
            <a:endParaRPr lang="en-US" sz="2400" dirty="0"/>
          </a:p>
        </p:txBody>
      </p:sp>
      <p:sp>
        <p:nvSpPr>
          <p:cNvPr id="7" name="dir0 head"/>
          <p:cNvSpPr txBox="1"/>
          <p:nvPr/>
        </p:nvSpPr>
        <p:spPr>
          <a:xfrm>
            <a:off x="731520" y="3200400"/>
            <a:ext cx="2240280" cy="731520"/>
          </a:xfrm>
          <a:prstGeom prst="rect">
            <a:avLst/>
          </a:prstGeom>
          <a:noFill/>
          <a:ln/>
        </p:spPr>
        <p:txBody>
          <a:bodyPr wrap="square" lIns="0" tIns="0" rIns="0" bIns="0" rtlCol="0" anchor="t"/>
          <a:lstStyle/>
          <a:p>
            <a:pPr algn="ctr" indent="0" marL="0">
              <a:buNone/>
            </a:pPr>
            <a:r>
              <a:rPr lang="en-US" sz="1600" b="1" dirty="0">
                <a:solidFill>
                  <a:schemeClr val="tx1"/>
                </a:solidFill>
              </a:rPr>
              <a:t>Илрүүлэх, шинжлэх</a:t>
            </a:r>
            <a:endParaRPr lang="en-US" sz="1600" dirty="0"/>
          </a:p>
        </p:txBody>
      </p:sp>
      <p:sp>
        <p:nvSpPr>
          <p:cNvPr id="8" name="dir0 desc"/>
          <p:cNvSpPr txBox="1"/>
          <p:nvPr/>
        </p:nvSpPr>
        <p:spPr>
          <a:xfrm>
            <a:off x="777240" y="3977640"/>
            <a:ext cx="2148840" cy="1188720"/>
          </a:xfrm>
          <a:prstGeom prst="rect">
            <a:avLst/>
          </a:prstGeom>
          <a:noFill/>
          <a:ln/>
        </p:spPr>
        <p:txBody>
          <a:bodyPr wrap="square" lIns="0" tIns="0" rIns="0" bIns="0" rtlCol="0" anchor="t"/>
          <a:lstStyle/>
          <a:p>
            <a:pPr algn="ctr" indent="0" marL="0">
              <a:buNone/>
            </a:pPr>
            <a:r>
              <a:rPr lang="en-US" sz="1200" dirty="0">
                <a:solidFill>
                  <a:schemeClr val="tx2"/>
                </a:solidFill>
              </a:rPr>
              <a:t>Хэвийн бус үйлдэл, UEBA, хортой код, фишинг, deepfake илрүүлэлт; LLM-ээр лог тайлбарлах</a:t>
            </a:r>
            <a:endParaRPr lang="en-US" sz="1200" dirty="0"/>
          </a:p>
        </p:txBody>
      </p:sp>
      <p:sp>
        <p:nvSpPr>
          <p:cNvPr id="9" name="dir1"/>
          <p:cNvSpPr/>
          <p:nvPr/>
        </p:nvSpPr>
        <p:spPr>
          <a:xfrm>
            <a:off x="3378098" y="1325880"/>
            <a:ext cx="2606040" cy="3931920"/>
          </a:xfrm>
          <a:prstGeom prst="roundRect">
            <a:avLst>
              <a:gd name="adj" fmla="val 2807"/>
            </a:avLst>
          </a:prstGeom>
          <a:solidFill>
            <a:schemeClr val="bg2"/>
          </a:solidFill>
          <a:ln w="12700">
            <a:solidFill>
              <a:schemeClr val="bg2"/>
            </a:solidFill>
            <a:prstDash val="solid"/>
          </a:ln>
        </p:spPr>
      </p:sp>
      <p:sp>
        <p:nvSpPr>
          <p:cNvPr id="10" name="dir1 circle"/>
          <p:cNvSpPr/>
          <p:nvPr/>
        </p:nvSpPr>
        <p:spPr>
          <a:xfrm>
            <a:off x="4223918" y="1645920"/>
            <a:ext cx="914400" cy="914400"/>
          </a:xfrm>
          <a:prstGeom prst="ellipse">
            <a:avLst/>
          </a:prstGeom>
          <a:solidFill>
            <a:schemeClr val="accent1"/>
          </a:solidFill>
          <a:ln w="12700">
            <a:solidFill>
              <a:schemeClr val="accent1"/>
            </a:solidFill>
            <a:prstDash val="solid"/>
          </a:ln>
        </p:spPr>
      </p:sp>
      <p:pic>
        <p:nvPicPr>
          <p:cNvPr id="11" name="dir1 icon" descr="preencoded.png">    </p:cNvPr>
          <p:cNvPicPr>
            <a:picLocks noChangeAspect="1"/>
          </p:cNvPicPr>
          <p:nvPr/>
        </p:nvPicPr>
        <p:blipFill>
          <a:blip r:embed="rId2"/>
          <a:stretch>
            <a:fillRect/>
          </a:stretch>
        </p:blipFill>
        <p:spPr>
          <a:xfrm>
            <a:off x="4452518" y="1874520"/>
            <a:ext cx="457200" cy="457200"/>
          </a:xfrm>
          <a:prstGeom prst="rect">
            <a:avLst/>
          </a:prstGeom>
        </p:spPr>
      </p:pic>
      <p:sp>
        <p:nvSpPr>
          <p:cNvPr id="12" name="dir1 num"/>
          <p:cNvSpPr txBox="1"/>
          <p:nvPr/>
        </p:nvSpPr>
        <p:spPr>
          <a:xfrm>
            <a:off x="3560978" y="2697480"/>
            <a:ext cx="2240280" cy="457200"/>
          </a:xfrm>
          <a:prstGeom prst="rect">
            <a:avLst/>
          </a:prstGeom>
          <a:noFill/>
          <a:ln/>
        </p:spPr>
        <p:txBody>
          <a:bodyPr wrap="square" lIns="0" tIns="0" rIns="0" bIns="0" rtlCol="0" anchor="ctr"/>
          <a:lstStyle/>
          <a:p>
            <a:pPr algn="ctr" indent="0" marL="0">
              <a:buNone/>
            </a:pPr>
            <a:r>
              <a:rPr lang="en-US" sz="2400" b="1" dirty="0">
                <a:solidFill>
                  <a:schemeClr val="accent4"/>
                </a:solidFill>
              </a:rPr>
              <a:t>02</a:t>
            </a:r>
            <a:endParaRPr lang="en-US" sz="2400" dirty="0"/>
          </a:p>
        </p:txBody>
      </p:sp>
      <p:sp>
        <p:nvSpPr>
          <p:cNvPr id="13" name="dir1 head"/>
          <p:cNvSpPr txBox="1"/>
          <p:nvPr/>
        </p:nvSpPr>
        <p:spPr>
          <a:xfrm>
            <a:off x="3560978" y="3200400"/>
            <a:ext cx="2240280" cy="731520"/>
          </a:xfrm>
          <a:prstGeom prst="rect">
            <a:avLst/>
          </a:prstGeom>
          <a:noFill/>
          <a:ln/>
        </p:spPr>
        <p:txBody>
          <a:bodyPr wrap="square" lIns="0" tIns="0" rIns="0" bIns="0" rtlCol="0" anchor="t"/>
          <a:lstStyle/>
          <a:p>
            <a:pPr algn="ctr" indent="0" marL="0">
              <a:buNone/>
            </a:pPr>
            <a:r>
              <a:rPr lang="en-US" sz="1600" b="1" dirty="0">
                <a:solidFill>
                  <a:schemeClr val="tx1"/>
                </a:solidFill>
              </a:rPr>
              <a:t>SIEM / SOC</a:t>
            </a:r>
            <a:endParaRPr lang="en-US" sz="1600" dirty="0"/>
          </a:p>
        </p:txBody>
      </p:sp>
      <p:sp>
        <p:nvSpPr>
          <p:cNvPr id="14" name="dir1 desc"/>
          <p:cNvSpPr txBox="1"/>
          <p:nvPr/>
        </p:nvSpPr>
        <p:spPr>
          <a:xfrm>
            <a:off x="3606698" y="3977640"/>
            <a:ext cx="2148840" cy="1188720"/>
          </a:xfrm>
          <a:prstGeom prst="rect">
            <a:avLst/>
          </a:prstGeom>
          <a:noFill/>
          <a:ln/>
        </p:spPr>
        <p:txBody>
          <a:bodyPr wrap="square" lIns="0" tIns="0" rIns="0" bIns="0" rtlCol="0" anchor="t"/>
          <a:lstStyle/>
          <a:p>
            <a:pPr algn="ctr" indent="0" marL="0">
              <a:buNone/>
            </a:pPr>
            <a:r>
              <a:rPr lang="en-US" sz="1200" dirty="0">
                <a:solidFill>
                  <a:schemeClr val="tx2"/>
                </a:solidFill>
              </a:rPr>
              <a:t>Эрэмбэлэлт, хамаарал, баяжуулалт, шинжээчийн copilot, «агент SOC»</a:t>
            </a:r>
            <a:endParaRPr lang="en-US" sz="1200" dirty="0"/>
          </a:p>
        </p:txBody>
      </p:sp>
      <p:sp>
        <p:nvSpPr>
          <p:cNvPr id="15" name="dir2"/>
          <p:cNvSpPr/>
          <p:nvPr/>
        </p:nvSpPr>
        <p:spPr>
          <a:xfrm>
            <a:off x="6207557" y="1325880"/>
            <a:ext cx="2606040" cy="3931920"/>
          </a:xfrm>
          <a:prstGeom prst="roundRect">
            <a:avLst>
              <a:gd name="adj" fmla="val 2807"/>
            </a:avLst>
          </a:prstGeom>
          <a:solidFill>
            <a:schemeClr val="bg2"/>
          </a:solidFill>
          <a:ln w="12700">
            <a:solidFill>
              <a:schemeClr val="bg2"/>
            </a:solidFill>
            <a:prstDash val="solid"/>
          </a:ln>
        </p:spPr>
      </p:sp>
      <p:sp>
        <p:nvSpPr>
          <p:cNvPr id="16" name="dir2 circle"/>
          <p:cNvSpPr/>
          <p:nvPr/>
        </p:nvSpPr>
        <p:spPr>
          <a:xfrm>
            <a:off x="7053377" y="1645920"/>
            <a:ext cx="914400" cy="914400"/>
          </a:xfrm>
          <a:prstGeom prst="ellipse">
            <a:avLst/>
          </a:prstGeom>
          <a:solidFill>
            <a:schemeClr val="accent1"/>
          </a:solidFill>
          <a:ln w="12700">
            <a:solidFill>
              <a:schemeClr val="accent1"/>
            </a:solidFill>
            <a:prstDash val="solid"/>
          </a:ln>
        </p:spPr>
      </p:sp>
      <p:pic>
        <p:nvPicPr>
          <p:cNvPr id="17" name="dir2 icon" descr="preencoded.png">    </p:cNvPr>
          <p:cNvPicPr>
            <a:picLocks noChangeAspect="1"/>
          </p:cNvPicPr>
          <p:nvPr/>
        </p:nvPicPr>
        <p:blipFill>
          <a:blip r:embed="rId3"/>
          <a:stretch>
            <a:fillRect/>
          </a:stretch>
        </p:blipFill>
        <p:spPr>
          <a:xfrm>
            <a:off x="7281977" y="1874520"/>
            <a:ext cx="457200" cy="457200"/>
          </a:xfrm>
          <a:prstGeom prst="rect">
            <a:avLst/>
          </a:prstGeom>
        </p:spPr>
      </p:pic>
      <p:sp>
        <p:nvSpPr>
          <p:cNvPr id="18" name="dir2 num"/>
          <p:cNvSpPr txBox="1"/>
          <p:nvPr/>
        </p:nvSpPr>
        <p:spPr>
          <a:xfrm>
            <a:off x="6390437" y="2697480"/>
            <a:ext cx="2240280" cy="457200"/>
          </a:xfrm>
          <a:prstGeom prst="rect">
            <a:avLst/>
          </a:prstGeom>
          <a:noFill/>
          <a:ln/>
        </p:spPr>
        <p:txBody>
          <a:bodyPr wrap="square" lIns="0" tIns="0" rIns="0" bIns="0" rtlCol="0" anchor="ctr"/>
          <a:lstStyle/>
          <a:p>
            <a:pPr algn="ctr" indent="0" marL="0">
              <a:buNone/>
            </a:pPr>
            <a:r>
              <a:rPr lang="en-US" sz="2400" b="1" dirty="0">
                <a:solidFill>
                  <a:schemeClr val="accent4"/>
                </a:solidFill>
              </a:rPr>
              <a:t>03</a:t>
            </a:r>
            <a:endParaRPr lang="en-US" sz="2400" dirty="0"/>
          </a:p>
        </p:txBody>
      </p:sp>
      <p:sp>
        <p:nvSpPr>
          <p:cNvPr id="19" name="dir2 head"/>
          <p:cNvSpPr txBox="1"/>
          <p:nvPr/>
        </p:nvSpPr>
        <p:spPr>
          <a:xfrm>
            <a:off x="6390437" y="3200400"/>
            <a:ext cx="2240280" cy="731520"/>
          </a:xfrm>
          <a:prstGeom prst="rect">
            <a:avLst/>
          </a:prstGeom>
          <a:noFill/>
          <a:ln/>
        </p:spPr>
        <p:txBody>
          <a:bodyPr wrap="square" lIns="0" tIns="0" rIns="0" bIns="0" rtlCol="0" anchor="t"/>
          <a:lstStyle/>
          <a:p>
            <a:pPr algn="ctr" indent="0" marL="0">
              <a:buNone/>
            </a:pPr>
            <a:r>
              <a:rPr lang="en-US" sz="1600" b="1" dirty="0">
                <a:solidFill>
                  <a:schemeClr val="tx1"/>
                </a:solidFill>
              </a:rPr>
              <a:t>Incident Response</a:t>
            </a:r>
            <a:endParaRPr lang="en-US" sz="1600" dirty="0"/>
          </a:p>
        </p:txBody>
      </p:sp>
      <p:sp>
        <p:nvSpPr>
          <p:cNvPr id="20" name="dir2 desc"/>
          <p:cNvSpPr txBox="1"/>
          <p:nvPr/>
        </p:nvSpPr>
        <p:spPr>
          <a:xfrm>
            <a:off x="6436157" y="3977640"/>
            <a:ext cx="2148840" cy="1188720"/>
          </a:xfrm>
          <a:prstGeom prst="rect">
            <a:avLst/>
          </a:prstGeom>
          <a:noFill/>
          <a:ln/>
        </p:spPr>
        <p:txBody>
          <a:bodyPr wrap="square" lIns="0" tIns="0" rIns="0" bIns="0" rtlCol="0" anchor="t"/>
          <a:lstStyle/>
          <a:p>
            <a:pPr algn="ctr" indent="0" marL="0">
              <a:buNone/>
            </a:pPr>
            <a:r>
              <a:rPr lang="en-US" sz="1200" dirty="0">
                <a:solidFill>
                  <a:schemeClr val="tx2"/>
                </a:solidFill>
              </a:rPr>
              <a:t>NIST SP 800-61r3 мөчлөг бүрд AI; SOAR playbook; автономийн түвшин</a:t>
            </a:r>
            <a:endParaRPr lang="en-US" sz="1200" dirty="0"/>
          </a:p>
        </p:txBody>
      </p:sp>
      <p:sp>
        <p:nvSpPr>
          <p:cNvPr id="21" name="dir3"/>
          <p:cNvSpPr/>
          <p:nvPr/>
        </p:nvSpPr>
        <p:spPr>
          <a:xfrm>
            <a:off x="9037015" y="1325880"/>
            <a:ext cx="2606040" cy="3931920"/>
          </a:xfrm>
          <a:prstGeom prst="roundRect">
            <a:avLst>
              <a:gd name="adj" fmla="val 2807"/>
            </a:avLst>
          </a:prstGeom>
          <a:solidFill>
            <a:schemeClr val="bg2"/>
          </a:solidFill>
          <a:ln w="12700">
            <a:solidFill>
              <a:schemeClr val="bg2"/>
            </a:solidFill>
            <a:prstDash val="solid"/>
          </a:ln>
        </p:spPr>
      </p:sp>
      <p:sp>
        <p:nvSpPr>
          <p:cNvPr id="22" name="dir3 circle"/>
          <p:cNvSpPr/>
          <p:nvPr/>
        </p:nvSpPr>
        <p:spPr>
          <a:xfrm>
            <a:off x="9882835" y="1645920"/>
            <a:ext cx="914400" cy="914400"/>
          </a:xfrm>
          <a:prstGeom prst="ellipse">
            <a:avLst/>
          </a:prstGeom>
          <a:solidFill>
            <a:schemeClr val="accent1"/>
          </a:solidFill>
          <a:ln w="12700">
            <a:solidFill>
              <a:schemeClr val="accent1"/>
            </a:solidFill>
            <a:prstDash val="solid"/>
          </a:ln>
        </p:spPr>
      </p:sp>
      <p:pic>
        <p:nvPicPr>
          <p:cNvPr id="23" name="dir3 icon" descr="preencoded.png">    </p:cNvPr>
          <p:cNvPicPr>
            <a:picLocks noChangeAspect="1"/>
          </p:cNvPicPr>
          <p:nvPr/>
        </p:nvPicPr>
        <p:blipFill>
          <a:blip r:embed="rId4"/>
          <a:stretch>
            <a:fillRect/>
          </a:stretch>
        </p:blipFill>
        <p:spPr>
          <a:xfrm>
            <a:off x="10111435" y="1874520"/>
            <a:ext cx="457200" cy="457200"/>
          </a:xfrm>
          <a:prstGeom prst="rect">
            <a:avLst/>
          </a:prstGeom>
        </p:spPr>
      </p:pic>
      <p:sp>
        <p:nvSpPr>
          <p:cNvPr id="24" name="dir3 num"/>
          <p:cNvSpPr txBox="1"/>
          <p:nvPr/>
        </p:nvSpPr>
        <p:spPr>
          <a:xfrm>
            <a:off x="9219895" y="2697480"/>
            <a:ext cx="2240280" cy="457200"/>
          </a:xfrm>
          <a:prstGeom prst="rect">
            <a:avLst/>
          </a:prstGeom>
          <a:noFill/>
          <a:ln/>
        </p:spPr>
        <p:txBody>
          <a:bodyPr wrap="square" lIns="0" tIns="0" rIns="0" bIns="0" rtlCol="0" anchor="ctr"/>
          <a:lstStyle/>
          <a:p>
            <a:pPr algn="ctr" indent="0" marL="0">
              <a:buNone/>
            </a:pPr>
            <a:r>
              <a:rPr lang="en-US" sz="2400" b="1" dirty="0">
                <a:solidFill>
                  <a:schemeClr val="accent4"/>
                </a:solidFill>
              </a:rPr>
              <a:t>04</a:t>
            </a:r>
            <a:endParaRPr lang="en-US" sz="2400" dirty="0"/>
          </a:p>
        </p:txBody>
      </p:sp>
      <p:sp>
        <p:nvSpPr>
          <p:cNvPr id="25" name="dir3 head"/>
          <p:cNvSpPr txBox="1"/>
          <p:nvPr/>
        </p:nvSpPr>
        <p:spPr>
          <a:xfrm>
            <a:off x="9219895" y="3200400"/>
            <a:ext cx="2240280" cy="731520"/>
          </a:xfrm>
          <a:prstGeom prst="rect">
            <a:avLst/>
          </a:prstGeom>
          <a:noFill/>
          <a:ln/>
        </p:spPr>
        <p:txBody>
          <a:bodyPr wrap="square" lIns="0" tIns="0" rIns="0" bIns="0" rtlCol="0" anchor="t"/>
          <a:lstStyle/>
          <a:p>
            <a:pPr algn="ctr" indent="0" marL="0">
              <a:buNone/>
            </a:pPr>
            <a:r>
              <a:rPr lang="en-US" sz="1600" b="1" dirty="0">
                <a:solidFill>
                  <a:schemeClr val="tx1"/>
                </a:solidFill>
              </a:rPr>
              <a:t>Threat Intelligence, урьдчилан сэргийлэлт</a:t>
            </a:r>
            <a:endParaRPr lang="en-US" sz="1600" dirty="0"/>
          </a:p>
        </p:txBody>
      </p:sp>
      <p:sp>
        <p:nvSpPr>
          <p:cNvPr id="26" name="dir3 desc"/>
          <p:cNvSpPr txBox="1"/>
          <p:nvPr/>
        </p:nvSpPr>
        <p:spPr>
          <a:xfrm>
            <a:off x="9265615" y="3977640"/>
            <a:ext cx="2148840" cy="1188720"/>
          </a:xfrm>
          <a:prstGeom prst="rect">
            <a:avLst/>
          </a:prstGeom>
          <a:noFill/>
          <a:ln/>
        </p:spPr>
        <p:txBody>
          <a:bodyPr wrap="square" lIns="0" tIns="0" rIns="0" bIns="0" rtlCol="0" anchor="t"/>
          <a:lstStyle/>
          <a:p>
            <a:pPr algn="ctr" indent="0" marL="0">
              <a:buNone/>
            </a:pPr>
            <a:r>
              <a:rPr lang="en-US" sz="1200" dirty="0">
                <a:solidFill>
                  <a:schemeClr val="tx2"/>
                </a:solidFill>
              </a:rPr>
              <a:t>CTI олборлолт, эмзэг байдлын эрэмбэ, AI-аар олж засах, дайсны дуурайлт</a:t>
            </a:r>
            <a:endParaRPr lang="en-US" sz="1200" dirty="0"/>
          </a:p>
        </p:txBody>
      </p:sp>
      <p:sp>
        <p:nvSpPr>
          <p:cNvPr id="27" name="basis strip"/>
          <p:cNvSpPr/>
          <p:nvPr/>
        </p:nvSpPr>
        <p:spPr>
          <a:xfrm>
            <a:off x="548640" y="5486400"/>
            <a:ext cx="11094415" cy="731520"/>
          </a:xfrm>
          <a:prstGeom prst="roundRect">
            <a:avLst>
              <a:gd name="adj" fmla="val 10000"/>
            </a:avLst>
          </a:prstGeom>
          <a:solidFill>
            <a:schemeClr val="accent6"/>
          </a:solidFill>
          <a:ln w="12700">
            <a:solidFill>
              <a:schemeClr val="accent6"/>
            </a:solidFill>
            <a:prstDash val="solid"/>
          </a:ln>
        </p:spPr>
      </p:sp>
      <p:sp>
        <p:nvSpPr>
          <p:cNvPr id="28" name="basis circle"/>
          <p:cNvSpPr/>
          <p:nvPr/>
        </p:nvSpPr>
        <p:spPr>
          <a:xfrm>
            <a:off x="731520" y="5577840"/>
            <a:ext cx="548640" cy="548640"/>
          </a:xfrm>
          <a:prstGeom prst="ellipse">
            <a:avLst/>
          </a:prstGeom>
          <a:solidFill>
            <a:schemeClr val="tx1"/>
          </a:solidFill>
          <a:ln w="12700">
            <a:solidFill>
              <a:schemeClr val="tx1"/>
            </a:solidFill>
            <a:prstDash val="solid"/>
          </a:ln>
        </p:spPr>
      </p:sp>
      <p:pic>
        <p:nvPicPr>
          <p:cNvPr id="29" name="basis icon" descr="preencoded.png">    </p:cNvPr>
          <p:cNvPicPr>
            <a:picLocks noChangeAspect="1"/>
          </p:cNvPicPr>
          <p:nvPr/>
        </p:nvPicPr>
        <p:blipFill>
          <a:blip r:embed="rId5"/>
          <a:stretch>
            <a:fillRect/>
          </a:stretch>
        </p:blipFill>
        <p:spPr>
          <a:xfrm>
            <a:off x="868680" y="5715000"/>
            <a:ext cx="274320" cy="274320"/>
          </a:xfrm>
          <a:prstGeom prst="rect">
            <a:avLst/>
          </a:prstGeom>
        </p:spPr>
      </p:pic>
      <p:sp>
        <p:nvSpPr>
          <p:cNvPr id="30" name="basis text"/>
          <p:cNvSpPr txBox="1"/>
          <p:nvPr/>
        </p:nvSpPr>
        <p:spPr>
          <a:xfrm>
            <a:off x="1463040" y="5486400"/>
            <a:ext cx="9997135" cy="731520"/>
          </a:xfrm>
          <a:prstGeom prst="rect">
            <a:avLst/>
          </a:prstGeom>
          <a:noFill/>
          <a:ln/>
        </p:spPr>
        <p:txBody>
          <a:bodyPr wrap="square" lIns="0" tIns="0" rIns="0" bIns="0" rtlCol="0" anchor="ctr"/>
          <a:lstStyle/>
          <a:p>
            <a:pPr indent="0" marL="0">
              <a:buNone/>
            </a:pPr>
            <a:r>
              <a:rPr lang="en-US" sz="1300" b="1" dirty="0">
                <a:solidFill>
                  <a:schemeClr val="tx1"/>
                </a:solidFill>
              </a:rPr>
              <a:t>Суурь нөхцөл: AI системийг өөрийг нь хамгаалах • хүн шийдвэрийн гогцоонд (human-in-the-loop) • өгөгдлийн бүрэн эрхт байдал • мэргэшсэн хүний нөөц</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1. Илрүүлэх, шинжлэх: гарын үсгээс зан төлөв рүү</a:t>
            </a:r>
            <a:endParaRPr lang="en-US" sz="2800" dirty="0"/>
          </a:p>
        </p:txBody>
      </p:sp>
      <p:sp>
        <p:nvSpPr>
          <p:cNvPr id="3" name="row0 circle"/>
          <p:cNvSpPr/>
          <p:nvPr/>
        </p:nvSpPr>
        <p:spPr>
          <a:xfrm>
            <a:off x="548640" y="1353312"/>
            <a:ext cx="502920" cy="502920"/>
          </a:xfrm>
          <a:prstGeom prst="ellipse">
            <a:avLst/>
          </a:prstGeom>
          <a:solidFill>
            <a:schemeClr val="accent1"/>
          </a:solidFill>
          <a:ln w="12700">
            <a:solidFill>
              <a:schemeClr val="accent1"/>
            </a:solidFill>
            <a:prstDash val="solid"/>
          </a:ln>
        </p:spPr>
      </p:sp>
      <p:pic>
        <p:nvPicPr>
          <p:cNvPr id="4" name="row0 icon" descr="preencoded.png">    </p:cNvPr>
          <p:cNvPicPr>
            <a:picLocks noChangeAspect="1"/>
          </p:cNvPicPr>
          <p:nvPr/>
        </p:nvPicPr>
        <p:blipFill>
          <a:blip r:embed="rId1"/>
          <a:stretch>
            <a:fillRect/>
          </a:stretch>
        </p:blipFill>
        <p:spPr>
          <a:xfrm>
            <a:off x="674370" y="1479042"/>
            <a:ext cx="251460" cy="251460"/>
          </a:xfrm>
          <a:prstGeom prst="rect">
            <a:avLst/>
          </a:prstGeom>
        </p:spPr>
      </p:pic>
      <p:sp>
        <p:nvSpPr>
          <p:cNvPr id="5" name="row0 head"/>
          <p:cNvSpPr txBox="1"/>
          <p:nvPr/>
        </p:nvSpPr>
        <p:spPr>
          <a:xfrm>
            <a:off x="1234440" y="1325880"/>
            <a:ext cx="5074920" cy="292608"/>
          </a:xfrm>
          <a:prstGeom prst="rect">
            <a:avLst/>
          </a:prstGeom>
          <a:noFill/>
          <a:ln/>
        </p:spPr>
        <p:txBody>
          <a:bodyPr wrap="square" lIns="0" tIns="0" rIns="0" bIns="0" rtlCol="0" anchor="t"/>
          <a:lstStyle/>
          <a:p>
            <a:pPr indent="0" marL="0">
              <a:buNone/>
            </a:pPr>
            <a:r>
              <a:rPr lang="en-US" sz="1400" b="1" dirty="0">
                <a:solidFill>
                  <a:schemeClr val="tx1"/>
                </a:solidFill>
              </a:rPr>
              <a:t>Хэвийн бус үйлдлийн илрүүлэлт</a:t>
            </a:r>
            <a:endParaRPr lang="en-US" sz="1400" dirty="0"/>
          </a:p>
        </p:txBody>
      </p:sp>
      <p:sp>
        <p:nvSpPr>
          <p:cNvPr id="6" name="row0 desc"/>
          <p:cNvSpPr txBox="1"/>
          <p:nvPr/>
        </p:nvSpPr>
        <p:spPr>
          <a:xfrm>
            <a:off x="1234440" y="1618488"/>
            <a:ext cx="5074920" cy="438912"/>
          </a:xfrm>
          <a:prstGeom prst="rect">
            <a:avLst/>
          </a:prstGeom>
          <a:noFill/>
          <a:ln/>
        </p:spPr>
        <p:txBody>
          <a:bodyPr wrap="square" lIns="0" tIns="0" rIns="0" bIns="0" rtlCol="0" anchor="t"/>
          <a:lstStyle/>
          <a:p>
            <a:pPr indent="0" marL="0">
              <a:buNone/>
            </a:pPr>
            <a:r>
              <a:rPr lang="en-US" sz="1200" dirty="0">
                <a:solidFill>
                  <a:schemeClr val="tx2"/>
                </a:solidFill>
              </a:rPr>
              <a:t>Урсгал, нэвтрэлт, өгөгдлийн хэмжээний хазайлт (autoencoder, Isolation Forest, LSTM)</a:t>
            </a:r>
            <a:endParaRPr lang="en-US" sz="1200" dirty="0"/>
          </a:p>
        </p:txBody>
      </p:sp>
      <p:sp>
        <p:nvSpPr>
          <p:cNvPr id="7" name="row1 circle"/>
          <p:cNvSpPr/>
          <p:nvPr/>
        </p:nvSpPr>
        <p:spPr>
          <a:xfrm>
            <a:off x="548640" y="2157984"/>
            <a:ext cx="502920" cy="502920"/>
          </a:xfrm>
          <a:prstGeom prst="ellipse">
            <a:avLst/>
          </a:prstGeom>
          <a:solidFill>
            <a:schemeClr val="accent1"/>
          </a:solidFill>
          <a:ln w="12700">
            <a:solidFill>
              <a:schemeClr val="accent1"/>
            </a:solidFill>
            <a:prstDash val="solid"/>
          </a:ln>
        </p:spPr>
      </p:sp>
      <p:pic>
        <p:nvPicPr>
          <p:cNvPr id="8" name="row1 icon" descr="preencoded.png">    </p:cNvPr>
          <p:cNvPicPr>
            <a:picLocks noChangeAspect="1"/>
          </p:cNvPicPr>
          <p:nvPr/>
        </p:nvPicPr>
        <p:blipFill>
          <a:blip r:embed="rId2"/>
          <a:stretch>
            <a:fillRect/>
          </a:stretch>
        </p:blipFill>
        <p:spPr>
          <a:xfrm>
            <a:off x="674370" y="2283714"/>
            <a:ext cx="251460" cy="251460"/>
          </a:xfrm>
          <a:prstGeom prst="rect">
            <a:avLst/>
          </a:prstGeom>
        </p:spPr>
      </p:pic>
      <p:sp>
        <p:nvSpPr>
          <p:cNvPr id="9" name="row1 head"/>
          <p:cNvSpPr txBox="1"/>
          <p:nvPr/>
        </p:nvSpPr>
        <p:spPr>
          <a:xfrm>
            <a:off x="1234440" y="2130552"/>
            <a:ext cx="5074920" cy="292608"/>
          </a:xfrm>
          <a:prstGeom prst="rect">
            <a:avLst/>
          </a:prstGeom>
          <a:noFill/>
          <a:ln/>
        </p:spPr>
        <p:txBody>
          <a:bodyPr wrap="square" lIns="0" tIns="0" rIns="0" bIns="0" rtlCol="0" anchor="t"/>
          <a:lstStyle/>
          <a:p>
            <a:pPr indent="0" marL="0">
              <a:buNone/>
            </a:pPr>
            <a:r>
              <a:rPr lang="en-US" sz="1400" b="1" dirty="0">
                <a:solidFill>
                  <a:schemeClr val="tx1"/>
                </a:solidFill>
              </a:rPr>
              <a:t>UEBA</a:t>
            </a:r>
            <a:endParaRPr lang="en-US" sz="1400" dirty="0"/>
          </a:p>
        </p:txBody>
      </p:sp>
      <p:sp>
        <p:nvSpPr>
          <p:cNvPr id="10" name="row1 desc"/>
          <p:cNvSpPr txBox="1"/>
          <p:nvPr/>
        </p:nvSpPr>
        <p:spPr>
          <a:xfrm>
            <a:off x="1234440" y="2423160"/>
            <a:ext cx="5074920" cy="438912"/>
          </a:xfrm>
          <a:prstGeom prst="rect">
            <a:avLst/>
          </a:prstGeom>
          <a:noFill/>
          <a:ln/>
        </p:spPr>
        <p:txBody>
          <a:bodyPr wrap="square" lIns="0" tIns="0" rIns="0" bIns="0" rtlCol="0" anchor="t"/>
          <a:lstStyle/>
          <a:p>
            <a:pPr indent="0" marL="0">
              <a:buNone/>
            </a:pPr>
            <a:r>
              <a:rPr lang="en-US" sz="1200" dirty="0">
                <a:solidFill>
                  <a:schemeClr val="tx2"/>
                </a:solidFill>
              </a:rPr>
              <a:t>Хэрэглэгч, төхөөрөмж бүрийн суурь зан төлөв + эрсдэлийн оноо: эрх ахиулалт, дотоод аюул</a:t>
            </a:r>
            <a:endParaRPr lang="en-US" sz="1200" dirty="0"/>
          </a:p>
        </p:txBody>
      </p:sp>
      <p:sp>
        <p:nvSpPr>
          <p:cNvPr id="11" name="row2 circle"/>
          <p:cNvSpPr/>
          <p:nvPr/>
        </p:nvSpPr>
        <p:spPr>
          <a:xfrm>
            <a:off x="548640" y="2962656"/>
            <a:ext cx="502920" cy="502920"/>
          </a:xfrm>
          <a:prstGeom prst="ellipse">
            <a:avLst/>
          </a:prstGeom>
          <a:solidFill>
            <a:schemeClr val="accent1"/>
          </a:solidFill>
          <a:ln w="12700">
            <a:solidFill>
              <a:schemeClr val="accent1"/>
            </a:solidFill>
            <a:prstDash val="solid"/>
          </a:ln>
        </p:spPr>
      </p:sp>
      <p:pic>
        <p:nvPicPr>
          <p:cNvPr id="12" name="row2 icon" descr="preencoded.png">    </p:cNvPr>
          <p:cNvPicPr>
            <a:picLocks noChangeAspect="1"/>
          </p:cNvPicPr>
          <p:nvPr/>
        </p:nvPicPr>
        <p:blipFill>
          <a:blip r:embed="rId3"/>
          <a:stretch>
            <a:fillRect/>
          </a:stretch>
        </p:blipFill>
        <p:spPr>
          <a:xfrm>
            <a:off x="674370" y="3088386"/>
            <a:ext cx="251460" cy="251460"/>
          </a:xfrm>
          <a:prstGeom prst="rect">
            <a:avLst/>
          </a:prstGeom>
        </p:spPr>
      </p:pic>
      <p:sp>
        <p:nvSpPr>
          <p:cNvPr id="13" name="row2 head"/>
          <p:cNvSpPr txBox="1"/>
          <p:nvPr/>
        </p:nvSpPr>
        <p:spPr>
          <a:xfrm>
            <a:off x="1234440" y="2935224"/>
            <a:ext cx="5074920" cy="292608"/>
          </a:xfrm>
          <a:prstGeom prst="rect">
            <a:avLst/>
          </a:prstGeom>
          <a:noFill/>
          <a:ln/>
        </p:spPr>
        <p:txBody>
          <a:bodyPr wrap="square" lIns="0" tIns="0" rIns="0" bIns="0" rtlCol="0" anchor="t"/>
          <a:lstStyle/>
          <a:p>
            <a:pPr indent="0" marL="0">
              <a:buNone/>
            </a:pPr>
            <a:r>
              <a:rPr lang="en-US" sz="1400" b="1" dirty="0">
                <a:solidFill>
                  <a:schemeClr val="tx1"/>
                </a:solidFill>
              </a:rPr>
              <a:t>Хортой код ангилал</a:t>
            </a:r>
            <a:endParaRPr lang="en-US" sz="1400" dirty="0"/>
          </a:p>
        </p:txBody>
      </p:sp>
      <p:sp>
        <p:nvSpPr>
          <p:cNvPr id="14" name="row2 desc"/>
          <p:cNvSpPr txBox="1"/>
          <p:nvPr/>
        </p:nvSpPr>
        <p:spPr>
          <a:xfrm>
            <a:off x="1234440" y="3227832"/>
            <a:ext cx="5074920" cy="438912"/>
          </a:xfrm>
          <a:prstGeom prst="rect">
            <a:avLst/>
          </a:prstGeom>
          <a:noFill/>
          <a:ln/>
        </p:spPr>
        <p:txBody>
          <a:bodyPr wrap="square" lIns="0" tIns="0" rIns="0" bIns="0" rtlCol="0" anchor="t"/>
          <a:lstStyle/>
          <a:p>
            <a:pPr indent="0" marL="0">
              <a:buNone/>
            </a:pPr>
            <a:r>
              <a:rPr lang="en-US" sz="1200" dirty="0">
                <a:solidFill>
                  <a:schemeClr val="tx2"/>
                </a:solidFill>
              </a:rPr>
              <a:t>Статик, динамик шинжээр шинэ, өөрчлөгдсөн кодыг таних (GBM, CNN, GNN)</a:t>
            </a:r>
            <a:endParaRPr lang="en-US" sz="1200" dirty="0"/>
          </a:p>
        </p:txBody>
      </p:sp>
      <p:sp>
        <p:nvSpPr>
          <p:cNvPr id="15" name="row3 circle"/>
          <p:cNvSpPr/>
          <p:nvPr/>
        </p:nvSpPr>
        <p:spPr>
          <a:xfrm>
            <a:off x="548640" y="3767328"/>
            <a:ext cx="502920" cy="502920"/>
          </a:xfrm>
          <a:prstGeom prst="ellipse">
            <a:avLst/>
          </a:prstGeom>
          <a:solidFill>
            <a:schemeClr val="accent1"/>
          </a:solidFill>
          <a:ln w="12700">
            <a:solidFill>
              <a:schemeClr val="accent1"/>
            </a:solidFill>
            <a:prstDash val="solid"/>
          </a:ln>
        </p:spPr>
      </p:sp>
      <p:pic>
        <p:nvPicPr>
          <p:cNvPr id="16" name="row3 icon" descr="preencoded.png">    </p:cNvPr>
          <p:cNvPicPr>
            <a:picLocks noChangeAspect="1"/>
          </p:cNvPicPr>
          <p:nvPr/>
        </p:nvPicPr>
        <p:blipFill>
          <a:blip r:embed="rId4"/>
          <a:stretch>
            <a:fillRect/>
          </a:stretch>
        </p:blipFill>
        <p:spPr>
          <a:xfrm>
            <a:off x="674370" y="3893058"/>
            <a:ext cx="251460" cy="251460"/>
          </a:xfrm>
          <a:prstGeom prst="rect">
            <a:avLst/>
          </a:prstGeom>
        </p:spPr>
      </p:pic>
      <p:sp>
        <p:nvSpPr>
          <p:cNvPr id="17" name="row3 head"/>
          <p:cNvSpPr txBox="1"/>
          <p:nvPr/>
        </p:nvSpPr>
        <p:spPr>
          <a:xfrm>
            <a:off x="1234440" y="3739896"/>
            <a:ext cx="5074920" cy="292608"/>
          </a:xfrm>
          <a:prstGeom prst="rect">
            <a:avLst/>
          </a:prstGeom>
          <a:noFill/>
          <a:ln/>
        </p:spPr>
        <p:txBody>
          <a:bodyPr wrap="square" lIns="0" tIns="0" rIns="0" bIns="0" rtlCol="0" anchor="t"/>
          <a:lstStyle/>
          <a:p>
            <a:pPr indent="0" marL="0">
              <a:buNone/>
            </a:pPr>
            <a:r>
              <a:rPr lang="en-US" sz="1400" b="1" dirty="0">
                <a:solidFill>
                  <a:schemeClr val="tx1"/>
                </a:solidFill>
              </a:rPr>
              <a:t>Фишинг, домэйн</a:t>
            </a:r>
            <a:endParaRPr lang="en-US" sz="1400" dirty="0"/>
          </a:p>
        </p:txBody>
      </p:sp>
      <p:sp>
        <p:nvSpPr>
          <p:cNvPr id="18" name="row3 desc"/>
          <p:cNvSpPr txBox="1"/>
          <p:nvPr/>
        </p:nvSpPr>
        <p:spPr>
          <a:xfrm>
            <a:off x="1234440" y="4032504"/>
            <a:ext cx="5074920" cy="438912"/>
          </a:xfrm>
          <a:prstGeom prst="rect">
            <a:avLst/>
          </a:prstGeom>
          <a:noFill/>
          <a:ln/>
        </p:spPr>
        <p:txBody>
          <a:bodyPr wrap="square" lIns="0" tIns="0" rIns="0" bIns="0" rtlCol="0" anchor="t"/>
          <a:lstStyle/>
          <a:p>
            <a:pPr indent="0" marL="0">
              <a:buNone/>
            </a:pPr>
            <a:r>
              <a:rPr lang="en-US" sz="1200" dirty="0">
                <a:solidFill>
                  <a:schemeClr val="tx2"/>
                </a:solidFill>
              </a:rPr>
              <a:t>NLP transformer: AI-аар бичсэн фишинг, DGA домэйн, typosquatting</a:t>
            </a:r>
            <a:endParaRPr lang="en-US" sz="1200" dirty="0"/>
          </a:p>
        </p:txBody>
      </p:sp>
      <p:sp>
        <p:nvSpPr>
          <p:cNvPr id="19" name="row4 circle"/>
          <p:cNvSpPr/>
          <p:nvPr/>
        </p:nvSpPr>
        <p:spPr>
          <a:xfrm>
            <a:off x="548640" y="4572000"/>
            <a:ext cx="502920" cy="502920"/>
          </a:xfrm>
          <a:prstGeom prst="ellipse">
            <a:avLst/>
          </a:prstGeom>
          <a:solidFill>
            <a:schemeClr val="accent1"/>
          </a:solidFill>
          <a:ln w="12700">
            <a:solidFill>
              <a:schemeClr val="accent1"/>
            </a:solidFill>
            <a:prstDash val="solid"/>
          </a:ln>
        </p:spPr>
      </p:sp>
      <p:pic>
        <p:nvPicPr>
          <p:cNvPr id="20" name="row4 icon" descr="preencoded.png">    </p:cNvPr>
          <p:cNvPicPr>
            <a:picLocks noChangeAspect="1"/>
          </p:cNvPicPr>
          <p:nvPr/>
        </p:nvPicPr>
        <p:blipFill>
          <a:blip r:embed="rId5"/>
          <a:stretch>
            <a:fillRect/>
          </a:stretch>
        </p:blipFill>
        <p:spPr>
          <a:xfrm>
            <a:off x="674370" y="4697730"/>
            <a:ext cx="251460" cy="251460"/>
          </a:xfrm>
          <a:prstGeom prst="rect">
            <a:avLst/>
          </a:prstGeom>
        </p:spPr>
      </p:pic>
      <p:sp>
        <p:nvSpPr>
          <p:cNvPr id="21" name="row4 head"/>
          <p:cNvSpPr txBox="1"/>
          <p:nvPr/>
        </p:nvSpPr>
        <p:spPr>
          <a:xfrm>
            <a:off x="1234440" y="4544568"/>
            <a:ext cx="5074920" cy="292608"/>
          </a:xfrm>
          <a:prstGeom prst="rect">
            <a:avLst/>
          </a:prstGeom>
          <a:noFill/>
          <a:ln/>
        </p:spPr>
        <p:txBody>
          <a:bodyPr wrap="square" lIns="0" tIns="0" rIns="0" bIns="0" rtlCol="0" anchor="t"/>
          <a:lstStyle/>
          <a:p>
            <a:pPr indent="0" marL="0">
              <a:buNone/>
            </a:pPr>
            <a:r>
              <a:rPr lang="en-US" sz="1400" b="1" dirty="0">
                <a:solidFill>
                  <a:schemeClr val="tx1"/>
                </a:solidFill>
              </a:rPr>
              <a:t>Deepfake, дуу хоолой</a:t>
            </a:r>
            <a:endParaRPr lang="en-US" sz="1400" dirty="0"/>
          </a:p>
        </p:txBody>
      </p:sp>
      <p:sp>
        <p:nvSpPr>
          <p:cNvPr id="22" name="row4 desc"/>
          <p:cNvSpPr txBox="1"/>
          <p:nvPr/>
        </p:nvSpPr>
        <p:spPr>
          <a:xfrm>
            <a:off x="1234440" y="4837176"/>
            <a:ext cx="5074920" cy="438912"/>
          </a:xfrm>
          <a:prstGeom prst="rect">
            <a:avLst/>
          </a:prstGeom>
          <a:noFill/>
          <a:ln/>
        </p:spPr>
        <p:txBody>
          <a:bodyPr wrap="square" lIns="0" tIns="0" rIns="0" bIns="0" rtlCol="0" anchor="t"/>
          <a:lstStyle/>
          <a:p>
            <a:pPr indent="0" marL="0">
              <a:buNone/>
            </a:pPr>
            <a:r>
              <a:rPr lang="en-US" sz="1200" dirty="0">
                <a:solidFill>
                  <a:schemeClr val="tx2"/>
                </a:solidFill>
              </a:rPr>
              <a:t>Vishing, видео дуурайлтыг аудио/видео forensics-ээр таних</a:t>
            </a:r>
            <a:endParaRPr lang="en-US" sz="1200" dirty="0"/>
          </a:p>
        </p:txBody>
      </p:sp>
      <p:sp>
        <p:nvSpPr>
          <p:cNvPr id="23" name="row5 circle"/>
          <p:cNvSpPr/>
          <p:nvPr/>
        </p:nvSpPr>
        <p:spPr>
          <a:xfrm>
            <a:off x="548640" y="5376672"/>
            <a:ext cx="502920" cy="502920"/>
          </a:xfrm>
          <a:prstGeom prst="ellipse">
            <a:avLst/>
          </a:prstGeom>
          <a:solidFill>
            <a:schemeClr val="accent1"/>
          </a:solidFill>
          <a:ln w="12700">
            <a:solidFill>
              <a:schemeClr val="accent1"/>
            </a:solidFill>
            <a:prstDash val="solid"/>
          </a:ln>
        </p:spPr>
      </p:sp>
      <p:pic>
        <p:nvPicPr>
          <p:cNvPr id="24" name="row5 icon" descr="preencoded.png">    </p:cNvPr>
          <p:cNvPicPr>
            <a:picLocks noChangeAspect="1"/>
          </p:cNvPicPr>
          <p:nvPr/>
        </p:nvPicPr>
        <p:blipFill>
          <a:blip r:embed="rId6"/>
          <a:stretch>
            <a:fillRect/>
          </a:stretch>
        </p:blipFill>
        <p:spPr>
          <a:xfrm>
            <a:off x="674370" y="5502402"/>
            <a:ext cx="251460" cy="251460"/>
          </a:xfrm>
          <a:prstGeom prst="rect">
            <a:avLst/>
          </a:prstGeom>
        </p:spPr>
      </p:pic>
      <p:sp>
        <p:nvSpPr>
          <p:cNvPr id="25" name="row5 head"/>
          <p:cNvSpPr txBox="1"/>
          <p:nvPr/>
        </p:nvSpPr>
        <p:spPr>
          <a:xfrm>
            <a:off x="1234440" y="5349240"/>
            <a:ext cx="5074920" cy="292608"/>
          </a:xfrm>
          <a:prstGeom prst="rect">
            <a:avLst/>
          </a:prstGeom>
          <a:noFill/>
          <a:ln/>
        </p:spPr>
        <p:txBody>
          <a:bodyPr wrap="square" lIns="0" tIns="0" rIns="0" bIns="0" rtlCol="0" anchor="t"/>
          <a:lstStyle/>
          <a:p>
            <a:pPr indent="0" marL="0">
              <a:buNone/>
            </a:pPr>
            <a:r>
              <a:rPr lang="en-US" sz="1400" b="1" dirty="0">
                <a:solidFill>
                  <a:schemeClr val="tx1"/>
                </a:solidFill>
              </a:rPr>
              <a:t>LLM-ээр лог тайлбарлах</a:t>
            </a:r>
            <a:endParaRPr lang="en-US" sz="1400" dirty="0"/>
          </a:p>
        </p:txBody>
      </p:sp>
      <p:sp>
        <p:nvSpPr>
          <p:cNvPr id="26" name="row5 desc"/>
          <p:cNvSpPr txBox="1"/>
          <p:nvPr/>
        </p:nvSpPr>
        <p:spPr>
          <a:xfrm>
            <a:off x="1234440" y="5641848"/>
            <a:ext cx="5074920" cy="438912"/>
          </a:xfrm>
          <a:prstGeom prst="rect">
            <a:avLst/>
          </a:prstGeom>
          <a:noFill/>
          <a:ln/>
        </p:spPr>
        <p:txBody>
          <a:bodyPr wrap="square" lIns="0" tIns="0" rIns="0" bIns="0" rtlCol="0" anchor="t"/>
          <a:lstStyle/>
          <a:p>
            <a:pPr indent="0" marL="0">
              <a:buNone/>
            </a:pPr>
            <a:r>
              <a:rPr lang="en-US" sz="1200" dirty="0">
                <a:solidFill>
                  <a:schemeClr val="tx2"/>
                </a:solidFill>
              </a:rPr>
              <a:t>Obfuscated PowerShell, скриптийн зорилгыг хүний хэлээр тайлбарлах (RAG)</a:t>
            </a:r>
            <a:endParaRPr lang="en-US" sz="1200" dirty="0"/>
          </a:p>
        </p:txBody>
      </p:sp>
      <p:sp>
        <p:nvSpPr>
          <p:cNvPr id="27" name="effect card"/>
          <p:cNvSpPr/>
          <p:nvPr/>
        </p:nvSpPr>
        <p:spPr>
          <a:xfrm>
            <a:off x="6629400" y="1325880"/>
            <a:ext cx="5013655" cy="1463040"/>
          </a:xfrm>
          <a:prstGeom prst="roundRect">
            <a:avLst>
              <a:gd name="adj" fmla="val 5000"/>
            </a:avLst>
          </a:prstGeom>
          <a:solidFill>
            <a:schemeClr val="accent6"/>
          </a:solidFill>
          <a:ln w="12700">
            <a:solidFill>
              <a:schemeClr val="accent6"/>
            </a:solidFill>
            <a:prstDash val="solid"/>
          </a:ln>
        </p:spPr>
      </p:sp>
      <p:sp>
        <p:nvSpPr>
          <p:cNvPr id="28" name="effect head"/>
          <p:cNvSpPr txBox="1"/>
          <p:nvPr/>
        </p:nvSpPr>
        <p:spPr>
          <a:xfrm>
            <a:off x="6830568" y="1490472"/>
            <a:ext cx="4611319" cy="310896"/>
          </a:xfrm>
          <a:prstGeom prst="rect">
            <a:avLst/>
          </a:prstGeom>
          <a:noFill/>
          <a:ln/>
        </p:spPr>
        <p:txBody>
          <a:bodyPr wrap="square" lIns="0" tIns="0" rIns="0" bIns="0" rtlCol="0" anchor="t"/>
          <a:lstStyle/>
          <a:p>
            <a:pPr indent="0" marL="0">
              <a:buNone/>
            </a:pPr>
            <a:r>
              <a:rPr lang="en-US" sz="1400" b="1" dirty="0">
                <a:solidFill>
                  <a:schemeClr val="tx1"/>
                </a:solidFill>
              </a:rPr>
              <a:t>Үр нөлөө</a:t>
            </a:r>
            <a:endParaRPr lang="en-US" sz="1400" dirty="0"/>
          </a:p>
        </p:txBody>
      </p:sp>
      <p:sp>
        <p:nvSpPr>
          <p:cNvPr id="29" name="effect body"/>
          <p:cNvSpPr txBox="1"/>
          <p:nvPr/>
        </p:nvSpPr>
        <p:spPr>
          <a:xfrm>
            <a:off x="6830568" y="1856232"/>
            <a:ext cx="4611319" cy="795528"/>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Signature-д байхгүй халдлагыг зан төлөвөөр илрүүлнэ (malware-free 79%)</a:t>
            </a:r>
            <a:endParaRPr lang="en-US" sz="1200" dirty="0"/>
          </a:p>
          <a:p>
            <a:pPr marL="152400" indent="-152400">
              <a:spcAft>
                <a:spcPts val="400"/>
              </a:spcAft>
              <a:buSzPct val="100000"/>
              <a:buChar char="•"/>
            </a:pPr>
            <a:r>
              <a:rPr lang="en-US" sz="1200" dirty="0">
                <a:solidFill>
                  <a:schemeClr val="tx1"/>
                </a:solidFill>
              </a:rPr>
              <a:t>Dwell time (11 хоног) богиносно; шинжээч зөвхөн эрсдэлтэйг шалгана</a:t>
            </a:r>
            <a:endParaRPr lang="en-US" sz="1200" dirty="0"/>
          </a:p>
        </p:txBody>
      </p:sp>
      <p:sp>
        <p:nvSpPr>
          <p:cNvPr id="30" name="limits card"/>
          <p:cNvSpPr/>
          <p:nvPr/>
        </p:nvSpPr>
        <p:spPr>
          <a:xfrm>
            <a:off x="6629400" y="2926080"/>
            <a:ext cx="5013655" cy="1600200"/>
          </a:xfrm>
          <a:prstGeom prst="roundRect">
            <a:avLst>
              <a:gd name="adj" fmla="val 4571"/>
            </a:avLst>
          </a:prstGeom>
          <a:solidFill>
            <a:schemeClr val="bg2"/>
          </a:solidFill>
          <a:ln w="12700">
            <a:solidFill>
              <a:schemeClr val="bg2"/>
            </a:solidFill>
            <a:prstDash val="solid"/>
          </a:ln>
        </p:spPr>
      </p:sp>
      <p:sp>
        <p:nvSpPr>
          <p:cNvPr id="31" name="limits head"/>
          <p:cNvSpPr txBox="1"/>
          <p:nvPr/>
        </p:nvSpPr>
        <p:spPr>
          <a:xfrm>
            <a:off x="6830568" y="3090672"/>
            <a:ext cx="4611319" cy="310896"/>
          </a:xfrm>
          <a:prstGeom prst="rect">
            <a:avLst/>
          </a:prstGeom>
          <a:noFill/>
          <a:ln/>
        </p:spPr>
        <p:txBody>
          <a:bodyPr wrap="square" lIns="0" tIns="0" rIns="0" bIns="0" rtlCol="0" anchor="t"/>
          <a:lstStyle/>
          <a:p>
            <a:pPr indent="0" marL="0">
              <a:buNone/>
            </a:pPr>
            <a:r>
              <a:rPr lang="en-US" sz="1400" b="1" dirty="0">
                <a:solidFill>
                  <a:schemeClr val="tx1"/>
                </a:solidFill>
              </a:rPr>
              <a:t>Хязгаарлалт, эрсдэл</a:t>
            </a:r>
            <a:endParaRPr lang="en-US" sz="1400" dirty="0"/>
          </a:p>
        </p:txBody>
      </p:sp>
      <p:sp>
        <p:nvSpPr>
          <p:cNvPr id="32" name="limits body"/>
          <p:cNvSpPr txBox="1"/>
          <p:nvPr/>
        </p:nvSpPr>
        <p:spPr>
          <a:xfrm>
            <a:off x="6830568" y="3456432"/>
            <a:ext cx="4611319" cy="932688"/>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Худал сэрэмжлүүлэг (суурь загварын тохиргоо)</a:t>
            </a:r>
            <a:endParaRPr lang="en-US" sz="1200" dirty="0"/>
          </a:p>
          <a:p>
            <a:pPr marL="152400" indent="-152400">
              <a:spcAft>
                <a:spcPts val="400"/>
              </a:spcAft>
              <a:buSzPct val="100000"/>
              <a:buChar char="•"/>
            </a:pPr>
            <a:r>
              <a:rPr lang="en-US" sz="1200" dirty="0">
                <a:solidFill>
                  <a:schemeClr val="tx1"/>
                </a:solidFill>
              </a:rPr>
              <a:t>Загварын эсрэг зайлсхийлт (adversarial evasion, NIST AI 100-2)</a:t>
            </a:r>
            <a:endParaRPr lang="en-US" sz="1200" dirty="0"/>
          </a:p>
          <a:p>
            <a:pPr marL="152400" indent="-152400">
              <a:spcAft>
                <a:spcPts val="400"/>
              </a:spcAft>
              <a:buSzPct val="100000"/>
              <a:buChar char="•"/>
            </a:pPr>
            <a:r>
              <a:rPr lang="en-US" sz="1200" dirty="0">
                <a:solidFill>
                  <a:schemeClr val="tx1"/>
                </a:solidFill>
              </a:rPr>
              <a:t>Өгөгдлийн хазайлт → дахин сургалт; тайлбарлах чадвар</a:t>
            </a:r>
            <a:endParaRPr lang="en-US" sz="1200" dirty="0"/>
          </a:p>
        </p:txBody>
      </p:sp>
      <p:sp>
        <p:nvSpPr>
          <p:cNvPr id="33" name="military card"/>
          <p:cNvSpPr/>
          <p:nvPr/>
        </p:nvSpPr>
        <p:spPr>
          <a:xfrm>
            <a:off x="6629400" y="4663440"/>
            <a:ext cx="5013655" cy="1554480"/>
          </a:xfrm>
          <a:prstGeom prst="roundRect">
            <a:avLst>
              <a:gd name="adj" fmla="val 4706"/>
            </a:avLst>
          </a:prstGeom>
          <a:solidFill>
            <a:schemeClr val="bg2"/>
          </a:solidFill>
          <a:ln w="12700">
            <a:solidFill>
              <a:schemeClr val="bg2"/>
            </a:solidFill>
            <a:prstDash val="solid"/>
          </a:ln>
        </p:spPr>
      </p:sp>
      <p:sp>
        <p:nvSpPr>
          <p:cNvPr id="34" name="military head"/>
          <p:cNvSpPr txBox="1"/>
          <p:nvPr/>
        </p:nvSpPr>
        <p:spPr>
          <a:xfrm>
            <a:off x="6830568" y="4828032"/>
            <a:ext cx="4611319" cy="310896"/>
          </a:xfrm>
          <a:prstGeom prst="rect">
            <a:avLst/>
          </a:prstGeom>
          <a:noFill/>
          <a:ln/>
        </p:spPr>
        <p:txBody>
          <a:bodyPr wrap="square" lIns="0" tIns="0" rIns="0" bIns="0" rtlCol="0" anchor="t"/>
          <a:lstStyle/>
          <a:p>
            <a:pPr indent="0" marL="0">
              <a:buNone/>
            </a:pPr>
            <a:r>
              <a:rPr lang="en-US" sz="1400" b="1" dirty="0">
                <a:solidFill>
                  <a:schemeClr val="tx1"/>
                </a:solidFill>
              </a:rPr>
              <a:t>Цэргийн орчны онцлог</a:t>
            </a:r>
            <a:endParaRPr lang="en-US" sz="1400" dirty="0"/>
          </a:p>
        </p:txBody>
      </p:sp>
      <p:sp>
        <p:nvSpPr>
          <p:cNvPr id="35" name="military body"/>
          <p:cNvSpPr txBox="1"/>
          <p:nvPr/>
        </p:nvSpPr>
        <p:spPr>
          <a:xfrm>
            <a:off x="6830568" y="5193792"/>
            <a:ext cx="4611319" cy="886968"/>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Air-gapped сүлжээ → дотоод (on-premise) загвар</a:t>
            </a:r>
            <a:endParaRPr lang="en-US" sz="1200" dirty="0"/>
          </a:p>
          <a:p>
            <a:pPr marL="152400" indent="-152400">
              <a:spcAft>
                <a:spcPts val="400"/>
              </a:spcAft>
              <a:buSzPct val="100000"/>
              <a:buChar char="•"/>
            </a:pPr>
            <a:r>
              <a:rPr lang="en-US" sz="1200" dirty="0">
                <a:solidFill>
                  <a:schemeClr val="tx1"/>
                </a:solidFill>
              </a:rPr>
              <a:t>Тогтвортой, тодорхойлогдсон сүлжээ = anomaly detection-д давуу</a:t>
            </a:r>
            <a:endParaRPr lang="en-US" sz="1200" dirty="0"/>
          </a:p>
          <a:p>
            <a:pPr marL="152400" indent="-152400">
              <a:spcAft>
                <a:spcPts val="400"/>
              </a:spcAft>
              <a:buSzPct val="100000"/>
              <a:buChar char="•"/>
            </a:pPr>
            <a:r>
              <a:rPr lang="en-US" sz="1200" dirty="0">
                <a:solidFill>
                  <a:schemeClr val="tx1"/>
                </a:solidFill>
              </a:rPr>
              <a:t>Тактикийн сүлжээнд хөнгөн edge загвар</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2. SIEM / SOC: шинжээчийн хүчийг үржүүлэх</a:t>
            </a:r>
            <a:endParaRPr lang="en-US" sz="2800" dirty="0"/>
          </a:p>
        </p:txBody>
      </p:sp>
      <p:sp>
        <p:nvSpPr>
          <p:cNvPr id="3" name="box0"/>
          <p:cNvSpPr/>
          <p:nvPr/>
        </p:nvSpPr>
        <p:spPr>
          <a:xfrm>
            <a:off x="548640" y="1371600"/>
            <a:ext cx="1600200" cy="868680"/>
          </a:xfrm>
          <a:prstGeom prst="roundRect">
            <a:avLst>
              <a:gd name="adj" fmla="val 8421"/>
            </a:avLst>
          </a:prstGeom>
          <a:solidFill>
            <a:schemeClr val="tx1"/>
          </a:solidFill>
          <a:ln w="12700">
            <a:solidFill>
              <a:schemeClr val="tx1"/>
            </a:solidFill>
            <a:prstDash val="solid"/>
          </a:ln>
        </p:spPr>
      </p:sp>
      <p:sp>
        <p:nvSpPr>
          <p:cNvPr id="4" name="box0 text"/>
          <p:cNvSpPr txBox="1"/>
          <p:nvPr/>
        </p:nvSpPr>
        <p:spPr>
          <a:xfrm>
            <a:off x="621792" y="1371600"/>
            <a:ext cx="1453896" cy="868680"/>
          </a:xfrm>
          <a:prstGeom prst="rect">
            <a:avLst/>
          </a:prstGeom>
          <a:noFill/>
          <a:ln/>
        </p:spPr>
        <p:txBody>
          <a:bodyPr wrap="square" lIns="0" tIns="0" rIns="0" bIns="0" rtlCol="0" anchor="ctr"/>
          <a:lstStyle/>
          <a:p>
            <a:pPr algn="ctr" indent="0" marL="0">
              <a:buNone/>
            </a:pPr>
            <a:r>
              <a:rPr lang="en-US" sz="1250" b="1" dirty="0">
                <a:solidFill>
                  <a:schemeClr val="bg1"/>
                </a:solidFill>
              </a:rPr>
              <a:t>Лог цуглуулалт</a:t>
            </a:r>
            <a:endParaRPr lang="en-US" sz="1250" dirty="0"/>
          </a:p>
        </p:txBody>
      </p:sp>
      <p:sp>
        <p:nvSpPr>
          <p:cNvPr id="5" name="arrow0"/>
          <p:cNvSpPr/>
          <p:nvPr/>
        </p:nvSpPr>
        <p:spPr>
          <a:xfrm>
            <a:off x="2185416" y="1664208"/>
            <a:ext cx="225491" cy="274320"/>
          </a:xfrm>
          <a:prstGeom prst="rightArrow">
            <a:avLst/>
          </a:prstGeom>
          <a:solidFill>
            <a:schemeClr val="accent1"/>
          </a:solidFill>
          <a:ln w="12700">
            <a:solidFill>
              <a:schemeClr val="accent1"/>
            </a:solidFill>
            <a:prstDash val="solid"/>
          </a:ln>
        </p:spPr>
      </p:sp>
      <p:sp>
        <p:nvSpPr>
          <p:cNvPr id="6" name="box0 ai"/>
          <p:cNvSpPr txBox="1"/>
          <p:nvPr/>
        </p:nvSpPr>
        <p:spPr>
          <a:xfrm>
            <a:off x="530352" y="2331720"/>
            <a:ext cx="1636776" cy="1097280"/>
          </a:xfrm>
          <a:prstGeom prst="rect">
            <a:avLst/>
          </a:prstGeom>
          <a:noFill/>
          <a:ln/>
        </p:spPr>
        <p:txBody>
          <a:bodyPr wrap="square" lIns="0" tIns="0" rIns="0" bIns="0" rtlCol="0" anchor="t"/>
          <a:lstStyle/>
          <a:p>
            <a:pPr algn="ctr" indent="0" marL="0">
              <a:buNone/>
            </a:pPr>
            <a:r>
              <a:rPr lang="en-US" sz="1150" b="1" dirty="0">
                <a:solidFill>
                  <a:schemeClr val="accent1"/>
                </a:solidFill>
              </a:rPr>
              <a:t>ML parser: бүтэцгүй логийг автоматаар бүтэцлэх</a:t>
            </a:r>
            <a:endParaRPr lang="en-US" sz="1150" dirty="0"/>
          </a:p>
        </p:txBody>
      </p:sp>
      <p:sp>
        <p:nvSpPr>
          <p:cNvPr id="7" name="box1"/>
          <p:cNvSpPr/>
          <p:nvPr/>
        </p:nvSpPr>
        <p:spPr>
          <a:xfrm>
            <a:off x="2447483" y="1371600"/>
            <a:ext cx="1600200" cy="868680"/>
          </a:xfrm>
          <a:prstGeom prst="roundRect">
            <a:avLst>
              <a:gd name="adj" fmla="val 8421"/>
            </a:avLst>
          </a:prstGeom>
          <a:solidFill>
            <a:schemeClr val="tx1"/>
          </a:solidFill>
          <a:ln w="12700">
            <a:solidFill>
              <a:schemeClr val="tx1"/>
            </a:solidFill>
            <a:prstDash val="solid"/>
          </a:ln>
        </p:spPr>
      </p:sp>
      <p:sp>
        <p:nvSpPr>
          <p:cNvPr id="8" name="box1 text"/>
          <p:cNvSpPr txBox="1"/>
          <p:nvPr/>
        </p:nvSpPr>
        <p:spPr>
          <a:xfrm>
            <a:off x="2520635" y="1371600"/>
            <a:ext cx="1453896" cy="868680"/>
          </a:xfrm>
          <a:prstGeom prst="rect">
            <a:avLst/>
          </a:prstGeom>
          <a:noFill/>
          <a:ln/>
        </p:spPr>
        <p:txBody>
          <a:bodyPr wrap="square" lIns="0" tIns="0" rIns="0" bIns="0" rtlCol="0" anchor="ctr"/>
          <a:lstStyle/>
          <a:p>
            <a:pPr algn="ctr" indent="0" marL="0">
              <a:buNone/>
            </a:pPr>
            <a:r>
              <a:rPr lang="en-US" sz="1250" b="1" dirty="0">
                <a:solidFill>
                  <a:schemeClr val="bg1"/>
                </a:solidFill>
              </a:rPr>
              <a:t>Нормчлол</a:t>
            </a:r>
            <a:endParaRPr lang="en-US" sz="1250" dirty="0"/>
          </a:p>
        </p:txBody>
      </p:sp>
      <p:sp>
        <p:nvSpPr>
          <p:cNvPr id="9" name="arrow1"/>
          <p:cNvSpPr/>
          <p:nvPr/>
        </p:nvSpPr>
        <p:spPr>
          <a:xfrm>
            <a:off x="4084259" y="1664208"/>
            <a:ext cx="225491" cy="274320"/>
          </a:xfrm>
          <a:prstGeom prst="rightArrow">
            <a:avLst/>
          </a:prstGeom>
          <a:solidFill>
            <a:schemeClr val="accent1"/>
          </a:solidFill>
          <a:ln w="12700">
            <a:solidFill>
              <a:schemeClr val="accent1"/>
            </a:solidFill>
            <a:prstDash val="solid"/>
          </a:ln>
        </p:spPr>
      </p:sp>
      <p:sp>
        <p:nvSpPr>
          <p:cNvPr id="10" name="box1 ai"/>
          <p:cNvSpPr txBox="1"/>
          <p:nvPr/>
        </p:nvSpPr>
        <p:spPr>
          <a:xfrm>
            <a:off x="2429195" y="2331720"/>
            <a:ext cx="1636776" cy="1097280"/>
          </a:xfrm>
          <a:prstGeom prst="rect">
            <a:avLst/>
          </a:prstGeom>
          <a:noFill/>
          <a:ln/>
        </p:spPr>
        <p:txBody>
          <a:bodyPr wrap="square" lIns="0" tIns="0" rIns="0" bIns="0" rtlCol="0" anchor="t"/>
          <a:lstStyle/>
          <a:p>
            <a:pPr algn="ctr" indent="0" marL="0">
              <a:buNone/>
            </a:pPr>
            <a:r>
              <a:rPr lang="en-US" sz="1150" b="1" dirty="0">
                <a:solidFill>
                  <a:schemeClr val="accent1"/>
                </a:solidFill>
              </a:rPr>
              <a:t>Схем таних, OCSF/ECS стандартад буулгах</a:t>
            </a:r>
            <a:endParaRPr lang="en-US" sz="1150" dirty="0"/>
          </a:p>
        </p:txBody>
      </p:sp>
      <p:sp>
        <p:nvSpPr>
          <p:cNvPr id="11" name="box2"/>
          <p:cNvSpPr/>
          <p:nvPr/>
        </p:nvSpPr>
        <p:spPr>
          <a:xfrm>
            <a:off x="4346326" y="1371600"/>
            <a:ext cx="1600200" cy="868680"/>
          </a:xfrm>
          <a:prstGeom prst="roundRect">
            <a:avLst>
              <a:gd name="adj" fmla="val 8421"/>
            </a:avLst>
          </a:prstGeom>
          <a:solidFill>
            <a:schemeClr val="tx1"/>
          </a:solidFill>
          <a:ln w="12700">
            <a:solidFill>
              <a:schemeClr val="tx1"/>
            </a:solidFill>
            <a:prstDash val="solid"/>
          </a:ln>
        </p:spPr>
      </p:sp>
      <p:sp>
        <p:nvSpPr>
          <p:cNvPr id="12" name="box2 text"/>
          <p:cNvSpPr txBox="1"/>
          <p:nvPr/>
        </p:nvSpPr>
        <p:spPr>
          <a:xfrm>
            <a:off x="4419478" y="1371600"/>
            <a:ext cx="1453896" cy="868680"/>
          </a:xfrm>
          <a:prstGeom prst="rect">
            <a:avLst/>
          </a:prstGeom>
          <a:noFill/>
          <a:ln/>
        </p:spPr>
        <p:txBody>
          <a:bodyPr wrap="square" lIns="0" tIns="0" rIns="0" bIns="0" rtlCol="0" anchor="ctr"/>
          <a:lstStyle/>
          <a:p>
            <a:pPr algn="ctr" indent="0" marL="0">
              <a:buNone/>
            </a:pPr>
            <a:r>
              <a:rPr lang="en-US" sz="1250" b="1" dirty="0">
                <a:solidFill>
                  <a:schemeClr val="bg1"/>
                </a:solidFill>
              </a:rPr>
              <a:t>Хамаарал</a:t>
            </a:r>
            <a:endParaRPr lang="en-US" sz="1250" dirty="0"/>
          </a:p>
        </p:txBody>
      </p:sp>
      <p:sp>
        <p:nvSpPr>
          <p:cNvPr id="13" name="arrow2"/>
          <p:cNvSpPr/>
          <p:nvPr/>
        </p:nvSpPr>
        <p:spPr>
          <a:xfrm>
            <a:off x="5983102" y="1664208"/>
            <a:ext cx="225491" cy="274320"/>
          </a:xfrm>
          <a:prstGeom prst="rightArrow">
            <a:avLst/>
          </a:prstGeom>
          <a:solidFill>
            <a:schemeClr val="accent1"/>
          </a:solidFill>
          <a:ln w="12700">
            <a:solidFill>
              <a:schemeClr val="accent1"/>
            </a:solidFill>
            <a:prstDash val="solid"/>
          </a:ln>
        </p:spPr>
      </p:sp>
      <p:sp>
        <p:nvSpPr>
          <p:cNvPr id="14" name="box2 ai"/>
          <p:cNvSpPr txBox="1"/>
          <p:nvPr/>
        </p:nvSpPr>
        <p:spPr>
          <a:xfrm>
            <a:off x="4328038" y="2331720"/>
            <a:ext cx="1636776" cy="1097280"/>
          </a:xfrm>
          <a:prstGeom prst="rect">
            <a:avLst/>
          </a:prstGeom>
          <a:noFill/>
          <a:ln/>
        </p:spPr>
        <p:txBody>
          <a:bodyPr wrap="square" lIns="0" tIns="0" rIns="0" bIns="0" rtlCol="0" anchor="t"/>
          <a:lstStyle/>
          <a:p>
            <a:pPr algn="ctr" indent="0" marL="0">
              <a:buNone/>
            </a:pPr>
            <a:r>
              <a:rPr lang="en-US" sz="1150" b="1" dirty="0">
                <a:solidFill>
                  <a:schemeClr val="accent1"/>
                </a:solidFill>
              </a:rPr>
              <a:t>Олон эх сурвалжийг нэг халдлагын «түүх» болгох, ATT&amp;CK</a:t>
            </a:r>
            <a:endParaRPr lang="en-US" sz="1150" dirty="0"/>
          </a:p>
        </p:txBody>
      </p:sp>
      <p:sp>
        <p:nvSpPr>
          <p:cNvPr id="15" name="box3"/>
          <p:cNvSpPr/>
          <p:nvPr/>
        </p:nvSpPr>
        <p:spPr>
          <a:xfrm>
            <a:off x="6245169" y="1371600"/>
            <a:ext cx="1600200" cy="868680"/>
          </a:xfrm>
          <a:prstGeom prst="roundRect">
            <a:avLst>
              <a:gd name="adj" fmla="val 8421"/>
            </a:avLst>
          </a:prstGeom>
          <a:solidFill>
            <a:schemeClr val="tx1"/>
          </a:solidFill>
          <a:ln w="12700">
            <a:solidFill>
              <a:schemeClr val="tx1"/>
            </a:solidFill>
            <a:prstDash val="solid"/>
          </a:ln>
        </p:spPr>
      </p:sp>
      <p:sp>
        <p:nvSpPr>
          <p:cNvPr id="16" name="box3 text"/>
          <p:cNvSpPr txBox="1"/>
          <p:nvPr/>
        </p:nvSpPr>
        <p:spPr>
          <a:xfrm>
            <a:off x="6318321" y="1371600"/>
            <a:ext cx="1453896" cy="868680"/>
          </a:xfrm>
          <a:prstGeom prst="rect">
            <a:avLst/>
          </a:prstGeom>
          <a:noFill/>
          <a:ln/>
        </p:spPr>
        <p:txBody>
          <a:bodyPr wrap="square" lIns="0" tIns="0" rIns="0" bIns="0" rtlCol="0" anchor="ctr"/>
          <a:lstStyle/>
          <a:p>
            <a:pPr algn="ctr" indent="0" marL="0">
              <a:buNone/>
            </a:pPr>
            <a:r>
              <a:rPr lang="en-US" sz="1250" b="1" dirty="0">
                <a:solidFill>
                  <a:schemeClr val="bg1"/>
                </a:solidFill>
              </a:rPr>
              <a:t>Эрэмбэлэлт (triage)</a:t>
            </a:r>
            <a:endParaRPr lang="en-US" sz="1250" dirty="0"/>
          </a:p>
        </p:txBody>
      </p:sp>
      <p:sp>
        <p:nvSpPr>
          <p:cNvPr id="17" name="arrow3"/>
          <p:cNvSpPr/>
          <p:nvPr/>
        </p:nvSpPr>
        <p:spPr>
          <a:xfrm>
            <a:off x="7881945" y="1664208"/>
            <a:ext cx="225491" cy="274320"/>
          </a:xfrm>
          <a:prstGeom prst="rightArrow">
            <a:avLst/>
          </a:prstGeom>
          <a:solidFill>
            <a:schemeClr val="accent1"/>
          </a:solidFill>
          <a:ln w="12700">
            <a:solidFill>
              <a:schemeClr val="accent1"/>
            </a:solidFill>
            <a:prstDash val="solid"/>
          </a:ln>
        </p:spPr>
      </p:sp>
      <p:sp>
        <p:nvSpPr>
          <p:cNvPr id="18" name="box3 ai"/>
          <p:cNvSpPr txBox="1"/>
          <p:nvPr/>
        </p:nvSpPr>
        <p:spPr>
          <a:xfrm>
            <a:off x="6226881" y="2331720"/>
            <a:ext cx="1636776" cy="1097280"/>
          </a:xfrm>
          <a:prstGeom prst="rect">
            <a:avLst/>
          </a:prstGeom>
          <a:noFill/>
          <a:ln/>
        </p:spPr>
        <p:txBody>
          <a:bodyPr wrap="square" lIns="0" tIns="0" rIns="0" bIns="0" rtlCol="0" anchor="t"/>
          <a:lstStyle/>
          <a:p>
            <a:pPr algn="ctr" indent="0" marL="0">
              <a:buNone/>
            </a:pPr>
            <a:r>
              <a:rPr lang="en-US" sz="1150" b="1" dirty="0">
                <a:solidFill>
                  <a:schemeClr val="accent1"/>
                </a:solidFill>
              </a:rPr>
              <a:t>Эрсдэлийн оноо, давхардал нэгтгэх, худал сэрэмжлүүлэг хаах</a:t>
            </a:r>
            <a:endParaRPr lang="en-US" sz="1150" dirty="0"/>
          </a:p>
        </p:txBody>
      </p:sp>
      <p:sp>
        <p:nvSpPr>
          <p:cNvPr id="19" name="box4"/>
          <p:cNvSpPr/>
          <p:nvPr/>
        </p:nvSpPr>
        <p:spPr>
          <a:xfrm>
            <a:off x="8144012" y="1371600"/>
            <a:ext cx="1600200" cy="868680"/>
          </a:xfrm>
          <a:prstGeom prst="roundRect">
            <a:avLst>
              <a:gd name="adj" fmla="val 8421"/>
            </a:avLst>
          </a:prstGeom>
          <a:solidFill>
            <a:schemeClr val="tx1"/>
          </a:solidFill>
          <a:ln w="12700">
            <a:solidFill>
              <a:schemeClr val="tx1"/>
            </a:solidFill>
            <a:prstDash val="solid"/>
          </a:ln>
        </p:spPr>
      </p:sp>
      <p:sp>
        <p:nvSpPr>
          <p:cNvPr id="20" name="box4 text"/>
          <p:cNvSpPr txBox="1"/>
          <p:nvPr/>
        </p:nvSpPr>
        <p:spPr>
          <a:xfrm>
            <a:off x="8217164" y="1371600"/>
            <a:ext cx="1453896" cy="868680"/>
          </a:xfrm>
          <a:prstGeom prst="rect">
            <a:avLst/>
          </a:prstGeom>
          <a:noFill/>
          <a:ln/>
        </p:spPr>
        <p:txBody>
          <a:bodyPr wrap="square" lIns="0" tIns="0" rIns="0" bIns="0" rtlCol="0" anchor="ctr"/>
          <a:lstStyle/>
          <a:p>
            <a:pPr algn="ctr" indent="0" marL="0">
              <a:buNone/>
            </a:pPr>
            <a:r>
              <a:rPr lang="en-US" sz="1250" b="1" dirty="0">
                <a:solidFill>
                  <a:schemeClr val="bg1"/>
                </a:solidFill>
              </a:rPr>
              <a:t>Баяжуулалт</a:t>
            </a:r>
            <a:endParaRPr lang="en-US" sz="1250" dirty="0"/>
          </a:p>
        </p:txBody>
      </p:sp>
      <p:sp>
        <p:nvSpPr>
          <p:cNvPr id="21" name="arrow4"/>
          <p:cNvSpPr/>
          <p:nvPr/>
        </p:nvSpPr>
        <p:spPr>
          <a:xfrm>
            <a:off x="9780788" y="1664208"/>
            <a:ext cx="225491" cy="274320"/>
          </a:xfrm>
          <a:prstGeom prst="rightArrow">
            <a:avLst/>
          </a:prstGeom>
          <a:solidFill>
            <a:schemeClr val="accent1"/>
          </a:solidFill>
          <a:ln w="12700">
            <a:solidFill>
              <a:schemeClr val="accent1"/>
            </a:solidFill>
            <a:prstDash val="solid"/>
          </a:ln>
        </p:spPr>
      </p:sp>
      <p:sp>
        <p:nvSpPr>
          <p:cNvPr id="22" name="box4 ai"/>
          <p:cNvSpPr txBox="1"/>
          <p:nvPr/>
        </p:nvSpPr>
        <p:spPr>
          <a:xfrm>
            <a:off x="8125724" y="2331720"/>
            <a:ext cx="1636776" cy="1097280"/>
          </a:xfrm>
          <a:prstGeom prst="rect">
            <a:avLst/>
          </a:prstGeom>
          <a:noFill/>
          <a:ln/>
        </p:spPr>
        <p:txBody>
          <a:bodyPr wrap="square" lIns="0" tIns="0" rIns="0" bIns="0" rtlCol="0" anchor="t"/>
          <a:lstStyle/>
          <a:p>
            <a:pPr algn="ctr" indent="0" marL="0">
              <a:buNone/>
            </a:pPr>
            <a:r>
              <a:rPr lang="en-US" sz="1150" b="1" dirty="0">
                <a:solidFill>
                  <a:schemeClr val="accent1"/>
                </a:solidFill>
              </a:rPr>
              <a:t>CTI, актив мэдээлэл автоматаар татах, товчлол (LLM + RAG)</a:t>
            </a:r>
            <a:endParaRPr lang="en-US" sz="1150" dirty="0"/>
          </a:p>
        </p:txBody>
      </p:sp>
      <p:sp>
        <p:nvSpPr>
          <p:cNvPr id="23" name="box5"/>
          <p:cNvSpPr/>
          <p:nvPr/>
        </p:nvSpPr>
        <p:spPr>
          <a:xfrm>
            <a:off x="10042855" y="1371600"/>
            <a:ext cx="1600200" cy="868680"/>
          </a:xfrm>
          <a:prstGeom prst="roundRect">
            <a:avLst>
              <a:gd name="adj" fmla="val 8421"/>
            </a:avLst>
          </a:prstGeom>
          <a:solidFill>
            <a:schemeClr val="tx1"/>
          </a:solidFill>
          <a:ln w="12700">
            <a:solidFill>
              <a:schemeClr val="tx1"/>
            </a:solidFill>
            <a:prstDash val="solid"/>
          </a:ln>
        </p:spPr>
      </p:sp>
      <p:sp>
        <p:nvSpPr>
          <p:cNvPr id="24" name="box5 text"/>
          <p:cNvSpPr txBox="1"/>
          <p:nvPr/>
        </p:nvSpPr>
        <p:spPr>
          <a:xfrm>
            <a:off x="10116007" y="1371600"/>
            <a:ext cx="1453896" cy="868680"/>
          </a:xfrm>
          <a:prstGeom prst="rect">
            <a:avLst/>
          </a:prstGeom>
          <a:noFill/>
          <a:ln/>
        </p:spPr>
        <p:txBody>
          <a:bodyPr wrap="square" lIns="0" tIns="0" rIns="0" bIns="0" rtlCol="0" anchor="ctr"/>
          <a:lstStyle/>
          <a:p>
            <a:pPr algn="ctr" indent="0" marL="0">
              <a:buNone/>
            </a:pPr>
            <a:r>
              <a:rPr lang="en-US" sz="1250" b="1" dirty="0">
                <a:solidFill>
                  <a:schemeClr val="bg1"/>
                </a:solidFill>
              </a:rPr>
              <a:t>Шинжээч, хариу</a:t>
            </a:r>
            <a:endParaRPr lang="en-US" sz="1250" dirty="0"/>
          </a:p>
        </p:txBody>
      </p:sp>
      <p:sp>
        <p:nvSpPr>
          <p:cNvPr id="25" name="box5 ai"/>
          <p:cNvSpPr txBox="1"/>
          <p:nvPr/>
        </p:nvSpPr>
        <p:spPr>
          <a:xfrm>
            <a:off x="10024567" y="2331720"/>
            <a:ext cx="1636776" cy="1097280"/>
          </a:xfrm>
          <a:prstGeom prst="rect">
            <a:avLst/>
          </a:prstGeom>
          <a:noFill/>
          <a:ln/>
        </p:spPr>
        <p:txBody>
          <a:bodyPr wrap="square" lIns="0" tIns="0" rIns="0" bIns="0" rtlCol="0" anchor="t"/>
          <a:lstStyle/>
          <a:p>
            <a:pPr algn="ctr" indent="0" marL="0">
              <a:buNone/>
            </a:pPr>
            <a:r>
              <a:rPr lang="en-US" sz="1150" b="1" dirty="0">
                <a:solidFill>
                  <a:schemeClr val="accent1"/>
                </a:solidFill>
              </a:rPr>
              <a:t>Copilot: энгийн хэлээр хайлт (KQL/SPL), тайлан, hunting</a:t>
            </a:r>
            <a:endParaRPr lang="en-US" sz="1150" dirty="0"/>
          </a:p>
        </p:txBody>
      </p:sp>
      <p:sp>
        <p:nvSpPr>
          <p:cNvPr id="26" name="ibm1 card"/>
          <p:cNvSpPr/>
          <p:nvPr/>
        </p:nvSpPr>
        <p:spPr>
          <a:xfrm>
            <a:off x="548640" y="3566160"/>
            <a:ext cx="2651760" cy="1600200"/>
          </a:xfrm>
          <a:prstGeom prst="roundRect">
            <a:avLst>
              <a:gd name="adj" fmla="val 4571"/>
            </a:avLst>
          </a:prstGeom>
          <a:solidFill>
            <a:schemeClr val="bg2"/>
          </a:solidFill>
          <a:ln w="12700">
            <a:solidFill>
              <a:schemeClr val="bg2"/>
            </a:solidFill>
            <a:prstDash val="solid"/>
          </a:ln>
        </p:spPr>
      </p:sp>
      <p:sp>
        <p:nvSpPr>
          <p:cNvPr id="27" name="ibm1 value"/>
          <p:cNvSpPr txBox="1"/>
          <p:nvPr/>
        </p:nvSpPr>
        <p:spPr>
          <a:xfrm>
            <a:off x="749808" y="3675888"/>
            <a:ext cx="2249424" cy="594360"/>
          </a:xfrm>
          <a:prstGeom prst="rect">
            <a:avLst/>
          </a:prstGeom>
          <a:noFill/>
          <a:ln/>
        </p:spPr>
        <p:txBody>
          <a:bodyPr wrap="square" lIns="0" tIns="0" rIns="0" bIns="0" rtlCol="0" anchor="ctr"/>
          <a:lstStyle/>
          <a:p>
            <a:pPr algn="l" indent="0" marL="0">
              <a:buNone/>
            </a:pPr>
            <a:r>
              <a:rPr lang="en-US" sz="3000" b="1" dirty="0">
                <a:solidFill>
                  <a:schemeClr val="accent1"/>
                </a:solidFill>
              </a:rPr>
              <a:t>–1.9 сая $</a:t>
            </a:r>
            <a:endParaRPr lang="en-US" sz="3000" dirty="0"/>
          </a:p>
        </p:txBody>
      </p:sp>
      <p:sp>
        <p:nvSpPr>
          <p:cNvPr id="28" name="ibm1 label"/>
          <p:cNvSpPr txBox="1"/>
          <p:nvPr/>
        </p:nvSpPr>
        <p:spPr>
          <a:xfrm>
            <a:off x="749808" y="4279392"/>
            <a:ext cx="2249424" cy="777240"/>
          </a:xfrm>
          <a:prstGeom prst="rect">
            <a:avLst/>
          </a:prstGeom>
          <a:noFill/>
          <a:ln/>
        </p:spPr>
        <p:txBody>
          <a:bodyPr wrap="square" lIns="0" tIns="0" rIns="0" bIns="0" rtlCol="0" anchor="t"/>
          <a:lstStyle/>
          <a:p>
            <a:pPr indent="0" marL="0">
              <a:buNone/>
            </a:pPr>
            <a:r>
              <a:rPr lang="en-US" sz="1200" dirty="0">
                <a:solidFill>
                  <a:schemeClr val="tx1"/>
                </a:solidFill>
              </a:rPr>
              <a:t>нэг зөрчлийн хохирол, AI/автоматжуулалтыг өргөн ашигласан бол</a:t>
            </a:r>
            <a:endParaRPr lang="en-US" sz="1200" dirty="0"/>
          </a:p>
        </p:txBody>
      </p:sp>
      <p:sp>
        <p:nvSpPr>
          <p:cNvPr id="29" name="ibm2 card"/>
          <p:cNvSpPr/>
          <p:nvPr/>
        </p:nvSpPr>
        <p:spPr>
          <a:xfrm>
            <a:off x="3383280" y="3566160"/>
            <a:ext cx="2651760" cy="1600200"/>
          </a:xfrm>
          <a:prstGeom prst="roundRect">
            <a:avLst>
              <a:gd name="adj" fmla="val 4571"/>
            </a:avLst>
          </a:prstGeom>
          <a:solidFill>
            <a:schemeClr val="bg2"/>
          </a:solidFill>
          <a:ln w="12700">
            <a:solidFill>
              <a:schemeClr val="bg2"/>
            </a:solidFill>
            <a:prstDash val="solid"/>
          </a:ln>
        </p:spPr>
      </p:sp>
      <p:sp>
        <p:nvSpPr>
          <p:cNvPr id="30" name="ibm2 value"/>
          <p:cNvSpPr txBox="1"/>
          <p:nvPr/>
        </p:nvSpPr>
        <p:spPr>
          <a:xfrm>
            <a:off x="3584448" y="3675888"/>
            <a:ext cx="2249424" cy="594360"/>
          </a:xfrm>
          <a:prstGeom prst="rect">
            <a:avLst/>
          </a:prstGeom>
          <a:noFill/>
          <a:ln/>
        </p:spPr>
        <p:txBody>
          <a:bodyPr wrap="square" lIns="0" tIns="0" rIns="0" bIns="0" rtlCol="0" anchor="ctr"/>
          <a:lstStyle/>
          <a:p>
            <a:pPr algn="l" indent="0" marL="0">
              <a:buNone/>
            </a:pPr>
            <a:r>
              <a:rPr lang="en-US" sz="3000" b="1" dirty="0">
                <a:solidFill>
                  <a:schemeClr val="accent1"/>
                </a:solidFill>
              </a:rPr>
              <a:t>–80 хоног</a:t>
            </a:r>
            <a:endParaRPr lang="en-US" sz="3000" dirty="0"/>
          </a:p>
        </p:txBody>
      </p:sp>
      <p:sp>
        <p:nvSpPr>
          <p:cNvPr id="31" name="ibm2 label"/>
          <p:cNvSpPr txBox="1"/>
          <p:nvPr/>
        </p:nvSpPr>
        <p:spPr>
          <a:xfrm>
            <a:off x="3584448" y="4279392"/>
            <a:ext cx="2249424" cy="777240"/>
          </a:xfrm>
          <a:prstGeom prst="rect">
            <a:avLst/>
          </a:prstGeom>
          <a:noFill/>
          <a:ln/>
        </p:spPr>
        <p:txBody>
          <a:bodyPr wrap="square" lIns="0" tIns="0" rIns="0" bIns="0" rtlCol="0" anchor="t"/>
          <a:lstStyle/>
          <a:p>
            <a:pPr indent="0" marL="0">
              <a:buNone/>
            </a:pPr>
            <a:r>
              <a:rPr lang="en-US" sz="1200" dirty="0">
                <a:solidFill>
                  <a:schemeClr val="tx1"/>
                </a:solidFill>
              </a:rPr>
              <a:t>зөрчлийн мөчлөг (илрүүлэх + хязгаарлах хугацаа)</a:t>
            </a:r>
            <a:endParaRPr lang="en-US" sz="1200" dirty="0"/>
          </a:p>
        </p:txBody>
      </p:sp>
      <p:sp>
        <p:nvSpPr>
          <p:cNvPr id="32" name="ibm source"/>
          <p:cNvSpPr txBox="1"/>
          <p:nvPr/>
        </p:nvSpPr>
        <p:spPr>
          <a:xfrm>
            <a:off x="548640" y="5230368"/>
            <a:ext cx="5486400" cy="274320"/>
          </a:xfrm>
          <a:prstGeom prst="rect">
            <a:avLst/>
          </a:prstGeom>
          <a:noFill/>
          <a:ln/>
        </p:spPr>
        <p:txBody>
          <a:bodyPr wrap="square" lIns="0" tIns="0" rIns="0" bIns="0" rtlCol="0" anchor="ctr"/>
          <a:lstStyle/>
          <a:p>
            <a:pPr indent="0" marL="0">
              <a:buNone/>
            </a:pPr>
            <a:r>
              <a:rPr lang="en-US" sz="1000" i="1" dirty="0">
                <a:solidFill>
                  <a:schemeClr val="tx2"/>
                </a:solidFill>
              </a:rPr>
              <a:t>Эх сурвалж: IBM Cost of a Data Breach Report 2025</a:t>
            </a:r>
            <a:endParaRPr lang="en-US" sz="1000" dirty="0"/>
          </a:p>
        </p:txBody>
      </p:sp>
      <p:sp>
        <p:nvSpPr>
          <p:cNvPr id="33" name="agentic card"/>
          <p:cNvSpPr/>
          <p:nvPr/>
        </p:nvSpPr>
        <p:spPr>
          <a:xfrm>
            <a:off x="6263640" y="3566160"/>
            <a:ext cx="5379415" cy="1280160"/>
          </a:xfrm>
          <a:prstGeom prst="roundRect">
            <a:avLst>
              <a:gd name="adj" fmla="val 5714"/>
            </a:avLst>
          </a:prstGeom>
          <a:solidFill>
            <a:schemeClr val="accent6"/>
          </a:solidFill>
          <a:ln w="12700">
            <a:solidFill>
              <a:schemeClr val="accent6"/>
            </a:solidFill>
            <a:prstDash val="solid"/>
          </a:ln>
        </p:spPr>
      </p:sp>
      <p:sp>
        <p:nvSpPr>
          <p:cNvPr id="34" name="agentic head"/>
          <p:cNvSpPr txBox="1"/>
          <p:nvPr/>
        </p:nvSpPr>
        <p:spPr>
          <a:xfrm>
            <a:off x="6464808" y="3730752"/>
            <a:ext cx="4977079" cy="310896"/>
          </a:xfrm>
          <a:prstGeom prst="rect">
            <a:avLst/>
          </a:prstGeom>
          <a:noFill/>
          <a:ln/>
        </p:spPr>
        <p:txBody>
          <a:bodyPr wrap="square" lIns="0" tIns="0" rIns="0" bIns="0" rtlCol="0" anchor="t"/>
          <a:lstStyle/>
          <a:p>
            <a:pPr indent="0" marL="0">
              <a:buNone/>
            </a:pPr>
            <a:r>
              <a:rPr lang="en-US" sz="1400" b="1" dirty="0">
                <a:solidFill>
                  <a:schemeClr val="tx1"/>
                </a:solidFill>
              </a:rPr>
              <a:t>«Агент SOC» (2025–2026)</a:t>
            </a:r>
            <a:endParaRPr lang="en-US" sz="1400" dirty="0"/>
          </a:p>
        </p:txBody>
      </p:sp>
      <p:sp>
        <p:nvSpPr>
          <p:cNvPr id="35" name="agentic body"/>
          <p:cNvSpPr txBox="1"/>
          <p:nvPr/>
        </p:nvSpPr>
        <p:spPr>
          <a:xfrm>
            <a:off x="6464808" y="4096512"/>
            <a:ext cx="4977079" cy="612648"/>
          </a:xfrm>
          <a:prstGeom prst="rect">
            <a:avLst/>
          </a:prstGeom>
          <a:noFill/>
          <a:ln/>
        </p:spPr>
        <p:txBody>
          <a:bodyPr wrap="square" lIns="0" tIns="0" rIns="0" bIns="0" rtlCol="0" anchor="t"/>
          <a:lstStyle/>
          <a:p>
            <a:pPr indent="0" marL="0">
              <a:buNone/>
            </a:pPr>
            <a:r>
              <a:rPr lang="en-US" sz="1200" dirty="0">
                <a:solidFill>
                  <a:schemeClr val="tx1"/>
                </a:solidFill>
              </a:rPr>
              <a:t>Triage, hunting, IR агентууд ажил хуваарилж, хүн батлах, хянах үүрэгтэй: халдлагын оркестраторын толин тусгал. Анхаарах: AI-тай холбоотой зөрчлийн 1/8 нь агент системтэй (HiddenLayer 2026)</a:t>
            </a:r>
            <a:endParaRPr lang="en-US" sz="1200" dirty="0"/>
          </a:p>
        </p:txBody>
      </p:sp>
      <p:sp>
        <p:nvSpPr>
          <p:cNvPr id="36" name="risks card"/>
          <p:cNvSpPr/>
          <p:nvPr/>
        </p:nvSpPr>
        <p:spPr>
          <a:xfrm>
            <a:off x="6263640" y="4983480"/>
            <a:ext cx="5379415" cy="1280160"/>
          </a:xfrm>
          <a:prstGeom prst="roundRect">
            <a:avLst>
              <a:gd name="adj" fmla="val 5714"/>
            </a:avLst>
          </a:prstGeom>
          <a:solidFill>
            <a:schemeClr val="bg2"/>
          </a:solidFill>
          <a:ln w="12700">
            <a:solidFill>
              <a:schemeClr val="bg2"/>
            </a:solidFill>
            <a:prstDash val="solid"/>
          </a:ln>
        </p:spPr>
      </p:sp>
      <p:sp>
        <p:nvSpPr>
          <p:cNvPr id="37" name="risks head"/>
          <p:cNvSpPr txBox="1"/>
          <p:nvPr/>
        </p:nvSpPr>
        <p:spPr>
          <a:xfrm>
            <a:off x="6464808" y="5148072"/>
            <a:ext cx="4977079" cy="310896"/>
          </a:xfrm>
          <a:prstGeom prst="rect">
            <a:avLst/>
          </a:prstGeom>
          <a:noFill/>
          <a:ln/>
        </p:spPr>
        <p:txBody>
          <a:bodyPr wrap="square" lIns="0" tIns="0" rIns="0" bIns="0" rtlCol="0" anchor="t"/>
          <a:lstStyle/>
          <a:p>
            <a:pPr indent="0" marL="0">
              <a:buNone/>
            </a:pPr>
            <a:r>
              <a:rPr lang="en-US" sz="1400" b="1" dirty="0">
                <a:solidFill>
                  <a:schemeClr val="tx1"/>
                </a:solidFill>
              </a:rPr>
              <a:t>Цэргийн SOC-ийн эрсдэл</a:t>
            </a:r>
            <a:endParaRPr lang="en-US" sz="1400" dirty="0"/>
          </a:p>
        </p:txBody>
      </p:sp>
      <p:sp>
        <p:nvSpPr>
          <p:cNvPr id="38" name="risks body"/>
          <p:cNvSpPr txBox="1"/>
          <p:nvPr/>
        </p:nvSpPr>
        <p:spPr>
          <a:xfrm>
            <a:off x="6464808" y="5513832"/>
            <a:ext cx="4977079" cy="612648"/>
          </a:xfrm>
          <a:prstGeom prst="rect">
            <a:avLst/>
          </a:prstGeom>
          <a:noFill/>
          <a:ln/>
        </p:spPr>
        <p:txBody>
          <a:bodyPr wrap="square" lIns="0" tIns="0" rIns="0" bIns="0" rtlCol="0" anchor="t"/>
          <a:lstStyle/>
          <a:p>
            <a:pPr indent="0" marL="0">
              <a:buNone/>
            </a:pPr>
            <a:r>
              <a:rPr lang="en-US" sz="1200" dirty="0">
                <a:solidFill>
                  <a:schemeClr val="tx1"/>
                </a:solidFill>
              </a:rPr>
              <a:t>LLM hallucination → эх сурвалж заавал ишлэх • Prompt injection логоор дамжин • Үүлэн copilot-д нууц лог = нууцлалын зөрчил → зөвхөн дотоод байршуулалт • Вендороос хараат байдал</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3. Incident Response: мөчлөг бүрд AI, шийдвэрт хүн</a:t>
            </a:r>
            <a:endParaRPr lang="en-US" sz="2800" dirty="0"/>
          </a:p>
        </p:txBody>
      </p:sp>
      <p:sp>
        <p:nvSpPr>
          <p:cNvPr id="3" name="subtitle"/>
          <p:cNvSpPr txBox="1"/>
          <p:nvPr/>
        </p:nvSpPr>
        <p:spPr>
          <a:xfrm>
            <a:off x="548640" y="1143000"/>
            <a:ext cx="8229600" cy="274320"/>
          </a:xfrm>
          <a:prstGeom prst="rect">
            <a:avLst/>
          </a:prstGeom>
          <a:noFill/>
          <a:ln/>
        </p:spPr>
        <p:txBody>
          <a:bodyPr wrap="square" lIns="0" tIns="0" rIns="0" bIns="0" rtlCol="0" anchor="ctr"/>
          <a:lstStyle/>
          <a:p>
            <a:pPr indent="0" marL="0">
              <a:buNone/>
            </a:pPr>
            <a:r>
              <a:rPr lang="en-US" sz="1100" i="1" dirty="0">
                <a:solidFill>
                  <a:schemeClr val="tx2"/>
                </a:solidFill>
              </a:rPr>
              <a:t>NIST SP 800-61 Rev.3 (2025), CSF 2.0-той уялдсан зөрчилд хариу үйлдэл үзүүлэх мөчлөг</a:t>
            </a:r>
            <a:endParaRPr lang="en-US" sz="1100" dirty="0"/>
          </a:p>
        </p:txBody>
      </p:sp>
      <p:graphicFrame>
        <p:nvGraphicFramePr>
          <p:cNvPr id="9" name="IR table"/>
          <p:cNvGraphicFramePr>
            <a:graphicFrameLocks noGrp="1"/>
          </p:cNvGraphicFramePr>
          <p:nvPr>
            <p:extLst>
              <p:ext uri="{D42A27DB-BD31-4B8C-83A1-F6EECF244321}">
                <p14:modId xmlns:p14="http://schemas.microsoft.com/office/powerpoint/2010/main" val="1579011935"/>
              </p:ext>
            </p:extLst>
          </p:nvPr>
        </p:nvGraphicFramePr>
        <p:xfrm>
          <a:off x="548640" y="1508760"/>
          <a:ext cx="7772400" cy="914400"/>
        </p:xfrm>
        <a:graphic>
          <a:graphicData uri="http://schemas.openxmlformats.org/drawingml/2006/table">
            <a:tbl>
              <a:tblPr/>
              <a:tblGrid>
                <a:gridCol w="1737360"/>
                <a:gridCol w="3474720"/>
                <a:gridCol w="2560320"/>
              </a:tblGrid>
              <a:tr h="384048">
                <a:tc>
                  <a:txBody>
                    <a:bodyPr/>
                    <a:lstStyle/>
                    <a:p>
                      <a:pPr indent="0" marL="0">
                        <a:buNone/>
                      </a:pPr>
                      <a:r>
                        <a:rPr lang="en-US" sz="1200" b="1" dirty="0">
                          <a:solidFill>
                            <a:srgbClr val="FFFFFF"/>
                          </a:solidFill>
                        </a:rPr>
                        <a:t>Үе шат</a:t>
                      </a:r>
                      <a:endParaRPr lang="en-US" sz="1200" dirty="0"/>
                    </a:p>
                  </a:txBody>
                  <a:tcPr marL="64008" marR="64008" marT="64008" marB="64008" anchor="ctr">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rPr>
                        <a:t>AI-ийн дэмжлэг</a:t>
                      </a:r>
                      <a:endParaRPr lang="en-US" sz="1200" dirty="0"/>
                    </a:p>
                  </a:txBody>
                  <a:tcPr marL="64008" marR="64008" marT="64008" marB="64008" anchor="ctr">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rPr>
                        <a:t>Хүний үүрэг</a:t>
                      </a:r>
                      <a:endParaRPr lang="en-US" sz="1200" dirty="0"/>
                    </a:p>
                  </a:txBody>
                  <a:tcPr marL="64008" marR="64008" marT="64008" marB="64008" anchor="ctr">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solidFill>
                      <a:srgbClr val="0B1F3A"/>
                    </a:solidFill>
                  </a:tcPr>
                </a:tc>
              </a:tr>
              <a:tr h="777240">
                <a:tc>
                  <a:txBody>
                    <a:bodyPr/>
                    <a:lstStyle/>
                    <a:p>
                      <a:pPr indent="0" marL="0">
                        <a:buNone/>
                      </a:pPr>
                      <a:r>
                        <a:rPr lang="en-US" sz="1150" b="1" dirty="0">
                          <a:solidFill>
                            <a:srgbClr val="0B1F3A"/>
                          </a:solidFill>
                        </a:rPr>
                        <a:t>Бэлтгэл</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Playbook боловсруулах, дасгалын хувилбар үүсгэх, актив, хамаарлын зураглал</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Playbook батлах, хариуцлага тогтоох</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r>
              <a:tr h="777240">
                <a:tc>
                  <a:txBody>
                    <a:bodyPr/>
                    <a:lstStyle/>
                    <a:p>
                      <a:pPr indent="0" marL="0">
                        <a:buNone/>
                      </a:pPr>
                      <a:r>
                        <a:rPr lang="en-US" sz="1150" b="1" dirty="0">
                          <a:solidFill>
                            <a:srgbClr val="0B1F3A"/>
                          </a:solidFill>
                        </a:rPr>
                        <a:t>Илрүүлэлт, шинжилгээ</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Сэрэмжлүүлгийг зөрчил болгон нэгтгэх, хамрах хүрээ, халдлагын timeline сэргээх, ATT&amp;CK</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Ангилал, хүндийн зэргийг батлах</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r>
              <a:tr h="777240">
                <a:tc>
                  <a:txBody>
                    <a:bodyPr/>
                    <a:lstStyle/>
                    <a:p>
                      <a:pPr indent="0" marL="0">
                        <a:buNone/>
                      </a:pPr>
                      <a:r>
                        <a:rPr lang="en-US" sz="1150" b="1" dirty="0">
                          <a:solidFill>
                            <a:srgbClr val="0B1F3A"/>
                          </a:solidFill>
                        </a:rPr>
                        <a:t>Хязгаарлалт</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SOAR playbook: хост тусгаарлах, нууц үг хүчингүй болгох, домэйн хаах: секундын дотор</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Өндөр эрсдэлтэй үйлдэлд (систем салгах, зогсоох) заавал батлах</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r>
              <a:tr h="777240">
                <a:tc>
                  <a:txBody>
                    <a:bodyPr/>
                    <a:lstStyle/>
                    <a:p>
                      <a:pPr indent="0" marL="0">
                        <a:buNone/>
                      </a:pPr>
                      <a:r>
                        <a:rPr lang="en-US" sz="1150" b="1" dirty="0">
                          <a:solidFill>
                            <a:srgbClr val="0B1F3A"/>
                          </a:solidFill>
                        </a:rPr>
                        <a:t>Устгалт, сэргээлт</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Persistence механизм, бүх хувилбарыг олох; сэргээлтийн дараалал, patch эрэмбэ</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Сэргээлтийн шийдвэр, хүлээн авах тест</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r>
              <a:tr h="777240">
                <a:tc>
                  <a:txBody>
                    <a:bodyPr/>
                    <a:lstStyle/>
                    <a:p>
                      <a:pPr indent="0" marL="0">
                        <a:buNone/>
                      </a:pPr>
                      <a:r>
                        <a:rPr lang="en-US" sz="1150" b="1" dirty="0">
                          <a:solidFill>
                            <a:srgbClr val="0B1F3A"/>
                          </a:solidFill>
                        </a:rPr>
                        <a:t>Дараах үйл ажиллагаа</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Forensic, хортой кодыг урвуу инженерчлэх (LLM), тайлан, сургамж → playbook</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c>
                  <a:txBody>
                    <a:bodyPr/>
                    <a:lstStyle/>
                    <a:p>
                      <a:pPr indent="0" marL="0">
                        <a:buNone/>
                      </a:pPr>
                      <a:r>
                        <a:rPr lang="en-US" sz="1150" dirty="0">
                          <a:solidFill>
                            <a:srgbClr val="0B1F3A"/>
                          </a:solidFill>
                        </a:rPr>
                        <a:t>Эцсийн дүгнэлт, хариуцлага, сургамж</a:t>
                      </a:r>
                      <a:endParaRPr lang="en-US" sz="1150" dirty="0"/>
                    </a:p>
                  </a:txBody>
                  <a:tcPr marL="64008" marR="64008" marT="64008" marB="64008" anchor="t">
                    <a:lnL w="9525" cap="flat" cmpd="sng" algn="ctr">
                      <a:solidFill>
                        <a:srgbClr val="8A94A6"/>
                      </a:solidFill>
                      <a:prstDash val="solid"/>
                      <a:round/>
                      <a:headEnd type="none" w="med" len="med"/>
                      <a:tailEnd type="none" w="med" len="med"/>
                    </a:lnL>
                    <a:lnR w="9525" cap="flat" cmpd="sng" algn="ctr">
                      <a:solidFill>
                        <a:srgbClr val="8A94A6"/>
                      </a:solidFill>
                      <a:prstDash val="solid"/>
                      <a:round/>
                      <a:headEnd type="none" w="med" len="med"/>
                      <a:tailEnd type="none" w="med" len="med"/>
                    </a:lnR>
                    <a:lnT w="9525" cap="flat" cmpd="sng" algn="ctr">
                      <a:solidFill>
                        <a:srgbClr val="8A94A6"/>
                      </a:solidFill>
                      <a:prstDash val="solid"/>
                      <a:round/>
                      <a:headEnd type="none" w="med" len="med"/>
                      <a:tailEnd type="none" w="med" len="med"/>
                    </a:lnT>
                    <a:lnB w="9525" cap="flat" cmpd="sng" algn="ctr">
                      <a:solidFill>
                        <a:srgbClr val="8A94A6"/>
                      </a:solidFill>
                      <a:prstDash val="solid"/>
                      <a:round/>
                      <a:headEnd type="none" w="med" len="med"/>
                      <a:tailEnd type="none" w="med" len="med"/>
                    </a:lnB>
                  </a:tcPr>
                </a:tc>
              </a:tr>
            </a:tbl>
          </a:graphicData>
        </a:graphic>
      </p:graphicFrame>
      <p:sp>
        <p:nvSpPr>
          <p:cNvPr id="5" name="speed card"/>
          <p:cNvSpPr/>
          <p:nvPr/>
        </p:nvSpPr>
        <p:spPr>
          <a:xfrm>
            <a:off x="8641080" y="1508760"/>
            <a:ext cx="3001975" cy="1783080"/>
          </a:xfrm>
          <a:prstGeom prst="roundRect">
            <a:avLst>
              <a:gd name="adj" fmla="val 4103"/>
            </a:avLst>
          </a:prstGeom>
          <a:solidFill>
            <a:schemeClr val="accent6"/>
          </a:solidFill>
          <a:ln w="12700">
            <a:solidFill>
              <a:schemeClr val="accent6"/>
            </a:solidFill>
            <a:prstDash val="solid"/>
          </a:ln>
        </p:spPr>
      </p:sp>
      <p:sp>
        <p:nvSpPr>
          <p:cNvPr id="6" name="speed circle"/>
          <p:cNvSpPr/>
          <p:nvPr/>
        </p:nvSpPr>
        <p:spPr>
          <a:xfrm>
            <a:off x="8842248" y="1691640"/>
            <a:ext cx="548640" cy="548640"/>
          </a:xfrm>
          <a:prstGeom prst="ellipse">
            <a:avLst/>
          </a:prstGeom>
          <a:solidFill>
            <a:schemeClr val="accent1"/>
          </a:solidFill>
          <a:ln w="12700">
            <a:solidFill>
              <a:schemeClr val="accent1"/>
            </a:solidFill>
            <a:prstDash val="solid"/>
          </a:ln>
        </p:spPr>
      </p:sp>
      <p:pic>
        <p:nvPicPr>
          <p:cNvPr id="7" name="speed icon" descr="preencoded.png">    </p:cNvPr>
          <p:cNvPicPr>
            <a:picLocks noChangeAspect="1"/>
          </p:cNvPicPr>
          <p:nvPr/>
        </p:nvPicPr>
        <p:blipFill>
          <a:blip r:embed="rId1"/>
          <a:stretch>
            <a:fillRect/>
          </a:stretch>
        </p:blipFill>
        <p:spPr>
          <a:xfrm>
            <a:off x="8979408" y="1828800"/>
            <a:ext cx="274320" cy="274320"/>
          </a:xfrm>
          <a:prstGeom prst="rect">
            <a:avLst/>
          </a:prstGeom>
        </p:spPr>
      </p:pic>
      <p:sp>
        <p:nvSpPr>
          <p:cNvPr id="8" name="speed head"/>
          <p:cNvSpPr txBox="1"/>
          <p:nvPr/>
        </p:nvSpPr>
        <p:spPr>
          <a:xfrm>
            <a:off x="9509760" y="1691640"/>
            <a:ext cx="1996135" cy="548640"/>
          </a:xfrm>
          <a:prstGeom prst="rect">
            <a:avLst/>
          </a:prstGeom>
          <a:noFill/>
          <a:ln/>
        </p:spPr>
        <p:txBody>
          <a:bodyPr wrap="square" lIns="0" tIns="0" rIns="0" bIns="0" rtlCol="0" anchor="ctr"/>
          <a:lstStyle/>
          <a:p>
            <a:pPr indent="0" marL="0">
              <a:buNone/>
            </a:pPr>
            <a:r>
              <a:rPr lang="en-US" sz="1500" b="1" dirty="0">
                <a:solidFill>
                  <a:schemeClr val="tx1"/>
                </a:solidFill>
              </a:rPr>
              <a:t>Цагаас секунд руу</a:t>
            </a:r>
            <a:endParaRPr lang="en-US" sz="1500" dirty="0"/>
          </a:p>
        </p:txBody>
      </p:sp>
      <p:sp>
        <p:nvSpPr>
          <p:cNvPr id="9" name="speed body"/>
          <p:cNvSpPr txBox="1"/>
          <p:nvPr/>
        </p:nvSpPr>
        <p:spPr>
          <a:xfrm>
            <a:off x="8842248" y="2331720"/>
            <a:ext cx="2599639" cy="868680"/>
          </a:xfrm>
          <a:prstGeom prst="rect">
            <a:avLst/>
          </a:prstGeom>
          <a:noFill/>
          <a:ln/>
        </p:spPr>
        <p:txBody>
          <a:bodyPr wrap="square" lIns="0" tIns="0" rIns="0" bIns="0" rtlCol="0" anchor="t"/>
          <a:lstStyle/>
          <a:p>
            <a:pPr indent="0" marL="0">
              <a:buNone/>
            </a:pPr>
            <a:r>
              <a:rPr lang="en-US" sz="1200" dirty="0">
                <a:solidFill>
                  <a:schemeClr val="tx1"/>
                </a:solidFill>
              </a:rPr>
              <a:t>Автомат хязгаарлалт нь 51 секундын breakout-той тэмцэх цорын ганц арга</a:t>
            </a:r>
            <a:endParaRPr lang="en-US" sz="1200" dirty="0"/>
          </a:p>
        </p:txBody>
      </p:sp>
      <p:sp>
        <p:nvSpPr>
          <p:cNvPr id="10" name="risk card"/>
          <p:cNvSpPr/>
          <p:nvPr/>
        </p:nvSpPr>
        <p:spPr>
          <a:xfrm>
            <a:off x="8641080" y="3429000"/>
            <a:ext cx="3001975" cy="2743200"/>
          </a:xfrm>
          <a:prstGeom prst="roundRect">
            <a:avLst>
              <a:gd name="adj" fmla="val 2667"/>
            </a:avLst>
          </a:prstGeom>
          <a:solidFill>
            <a:schemeClr val="bg2"/>
          </a:solidFill>
          <a:ln w="12700">
            <a:solidFill>
              <a:schemeClr val="bg2"/>
            </a:solidFill>
            <a:prstDash val="solid"/>
          </a:ln>
        </p:spPr>
      </p:sp>
      <p:sp>
        <p:nvSpPr>
          <p:cNvPr id="11" name="ir risk circle"/>
          <p:cNvSpPr/>
          <p:nvPr/>
        </p:nvSpPr>
        <p:spPr>
          <a:xfrm>
            <a:off x="8842248" y="3611880"/>
            <a:ext cx="548640" cy="548640"/>
          </a:xfrm>
          <a:prstGeom prst="ellipse">
            <a:avLst/>
          </a:prstGeom>
          <a:solidFill>
            <a:schemeClr val="accent2"/>
          </a:solidFill>
          <a:ln w="12700">
            <a:solidFill>
              <a:schemeClr val="accent2"/>
            </a:solidFill>
            <a:prstDash val="solid"/>
          </a:ln>
        </p:spPr>
      </p:sp>
      <p:pic>
        <p:nvPicPr>
          <p:cNvPr id="12" name="ir risk icon" descr="preencoded.png">    </p:cNvPr>
          <p:cNvPicPr>
            <a:picLocks noChangeAspect="1"/>
          </p:cNvPicPr>
          <p:nvPr/>
        </p:nvPicPr>
        <p:blipFill>
          <a:blip r:embed="rId2"/>
          <a:stretch>
            <a:fillRect/>
          </a:stretch>
        </p:blipFill>
        <p:spPr>
          <a:xfrm>
            <a:off x="8979408" y="3749040"/>
            <a:ext cx="274320" cy="274320"/>
          </a:xfrm>
          <a:prstGeom prst="rect">
            <a:avLst/>
          </a:prstGeom>
        </p:spPr>
      </p:pic>
      <p:sp>
        <p:nvSpPr>
          <p:cNvPr id="13" name="risk head"/>
          <p:cNvSpPr txBox="1"/>
          <p:nvPr/>
        </p:nvSpPr>
        <p:spPr>
          <a:xfrm>
            <a:off x="9509760" y="3611880"/>
            <a:ext cx="1996135" cy="548640"/>
          </a:xfrm>
          <a:prstGeom prst="rect">
            <a:avLst/>
          </a:prstGeom>
          <a:noFill/>
          <a:ln/>
        </p:spPr>
        <p:txBody>
          <a:bodyPr wrap="square" lIns="0" tIns="0" rIns="0" bIns="0" rtlCol="0" anchor="ctr"/>
          <a:lstStyle/>
          <a:p>
            <a:pPr indent="0" marL="0">
              <a:buNone/>
            </a:pPr>
            <a:r>
              <a:rPr lang="en-US" sz="1500" b="1" dirty="0">
                <a:solidFill>
                  <a:schemeClr val="tx1"/>
                </a:solidFill>
              </a:rPr>
              <a:t>Эрсдэл</a:t>
            </a:r>
            <a:endParaRPr lang="en-US" sz="1500" dirty="0"/>
          </a:p>
        </p:txBody>
      </p:sp>
      <p:sp>
        <p:nvSpPr>
          <p:cNvPr id="14" name="risk bullets"/>
          <p:cNvSpPr txBox="1"/>
          <p:nvPr/>
        </p:nvSpPr>
        <p:spPr>
          <a:xfrm>
            <a:off x="8842248" y="4251960"/>
            <a:ext cx="2599639" cy="18288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Буруу автомат хязгаарлалт өөрөө DoS болж байлдааны бэлэн байдалд нөлөөлнө</a:t>
            </a:r>
            <a:endParaRPr lang="en-US" sz="1200" dirty="0"/>
          </a:p>
          <a:p>
            <a:pPr marL="152400" indent="-152400">
              <a:spcAft>
                <a:spcPts val="500"/>
              </a:spcAft>
              <a:buSzPct val="100000"/>
              <a:buChar char="•"/>
            </a:pPr>
            <a:r>
              <a:rPr lang="en-US" sz="1200" dirty="0">
                <a:solidFill>
                  <a:schemeClr val="tx1"/>
                </a:solidFill>
              </a:rPr>
              <a:t>Playbook бүрт эрсдэлийн үнэлгээ, rollback, ажиллах горим заавал</a:t>
            </a:r>
            <a:endParaRPr lang="en-US" sz="1200" dirty="0"/>
          </a:p>
          <a:p>
            <a:pPr marL="152400" indent="-152400">
              <a:spcAft>
                <a:spcPts val="500"/>
              </a:spcAft>
              <a:buSzPct val="100000"/>
              <a:buChar char="•"/>
            </a:pPr>
            <a:r>
              <a:rPr lang="en-US" sz="1200" dirty="0">
                <a:solidFill>
                  <a:schemeClr val="tx1"/>
                </a:solidFill>
              </a:rPr>
              <a:t>Халдагч хуурамч сэрэмжлүүлгээр автомат хариу үйлдлийг өдөөж болно</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Автономийн түвшин: AI-д хэр их эрх өгөх вэ?</a:t>
            </a:r>
            <a:endParaRPr lang="en-US" sz="2800" dirty="0"/>
          </a:p>
        </p:txBody>
      </p:sp>
      <p:sp>
        <p:nvSpPr>
          <p:cNvPr id="3" name="level0"/>
          <p:cNvSpPr/>
          <p:nvPr/>
        </p:nvSpPr>
        <p:spPr>
          <a:xfrm>
            <a:off x="548640" y="4297680"/>
            <a:ext cx="2103120" cy="1143000"/>
          </a:xfrm>
          <a:prstGeom prst="roundRect">
            <a:avLst>
              <a:gd name="adj" fmla="val 6400"/>
            </a:avLst>
          </a:prstGeom>
          <a:solidFill>
            <a:schemeClr val="accent5"/>
          </a:solidFill>
          <a:ln w="12700">
            <a:solidFill>
              <a:schemeClr val="accent5"/>
            </a:solidFill>
            <a:prstDash val="solid"/>
          </a:ln>
        </p:spPr>
      </p:sp>
      <p:sp>
        <p:nvSpPr>
          <p:cNvPr id="4" name="level0 num"/>
          <p:cNvSpPr txBox="1"/>
          <p:nvPr/>
        </p:nvSpPr>
        <p:spPr>
          <a:xfrm>
            <a:off x="685800" y="4370832"/>
            <a:ext cx="640080" cy="502920"/>
          </a:xfrm>
          <a:prstGeom prst="rect">
            <a:avLst/>
          </a:prstGeom>
          <a:noFill/>
          <a:ln/>
        </p:spPr>
        <p:txBody>
          <a:bodyPr wrap="square" lIns="0" tIns="0" rIns="0" bIns="0" rtlCol="0" anchor="ctr"/>
          <a:lstStyle/>
          <a:p>
            <a:pPr indent="0" marL="0">
              <a:buNone/>
            </a:pPr>
            <a:r>
              <a:rPr lang="en-US" sz="2800" b="1" dirty="0">
                <a:solidFill>
                  <a:schemeClr val="bg1"/>
                </a:solidFill>
              </a:rPr>
              <a:t>0</a:t>
            </a:r>
            <a:endParaRPr lang="en-US" sz="2800" dirty="0"/>
          </a:p>
        </p:txBody>
      </p:sp>
      <p:sp>
        <p:nvSpPr>
          <p:cNvPr id="5" name="level0 name"/>
          <p:cNvSpPr txBox="1"/>
          <p:nvPr/>
        </p:nvSpPr>
        <p:spPr>
          <a:xfrm>
            <a:off x="685800" y="4864608"/>
            <a:ext cx="1828800" cy="566928"/>
          </a:xfrm>
          <a:prstGeom prst="rect">
            <a:avLst/>
          </a:prstGeom>
          <a:noFill/>
          <a:ln/>
        </p:spPr>
        <p:txBody>
          <a:bodyPr wrap="square" lIns="0" tIns="0" rIns="0" bIns="0" rtlCol="0" anchor="t"/>
          <a:lstStyle/>
          <a:p>
            <a:pPr indent="0" marL="0">
              <a:buNone/>
            </a:pPr>
            <a:r>
              <a:rPr lang="en-US" sz="1300" b="1" dirty="0">
                <a:solidFill>
                  <a:schemeClr val="bg1"/>
                </a:solidFill>
              </a:rPr>
              <a:t>Гар ажиллагаа</a:t>
            </a:r>
            <a:endParaRPr lang="en-US" sz="1300" dirty="0"/>
          </a:p>
        </p:txBody>
      </p:sp>
      <p:sp>
        <p:nvSpPr>
          <p:cNvPr id="6" name="level0 rec"/>
          <p:cNvSpPr txBox="1"/>
          <p:nvPr/>
        </p:nvSpPr>
        <p:spPr>
          <a:xfrm>
            <a:off x="685800" y="5029200"/>
            <a:ext cx="1828800" cy="365760"/>
          </a:xfrm>
          <a:prstGeom prst="rect">
            <a:avLst/>
          </a:prstGeom>
          <a:noFill/>
          <a:ln/>
        </p:spPr>
        <p:txBody>
          <a:bodyPr wrap="square" lIns="0" tIns="0" rIns="0" bIns="0" rtlCol="0" anchor="ctr"/>
          <a:lstStyle/>
          <a:p>
            <a:pPr indent="0" marL="0">
              <a:buNone/>
            </a:pPr>
            <a:r>
              <a:rPr lang="en-US" sz="1100" b="1" i="1" dirty="0">
                <a:solidFill>
                  <a:schemeClr val="bg1"/>
                </a:solidFill>
              </a:rPr>
              <a:t>Одоогийн суурь</a:t>
            </a:r>
            <a:endParaRPr lang="en-US" sz="1100" dirty="0"/>
          </a:p>
        </p:txBody>
      </p:sp>
      <p:sp>
        <p:nvSpPr>
          <p:cNvPr id="7" name="level0 desc"/>
          <p:cNvSpPr txBox="1"/>
          <p:nvPr/>
        </p:nvSpPr>
        <p:spPr>
          <a:xfrm>
            <a:off x="548640" y="1280160"/>
            <a:ext cx="2103120" cy="2926080"/>
          </a:xfrm>
          <a:prstGeom prst="rect">
            <a:avLst/>
          </a:prstGeom>
          <a:noFill/>
          <a:ln/>
        </p:spPr>
        <p:txBody>
          <a:bodyPr wrap="square" lIns="0" tIns="0" rIns="0" bIns="0" rtlCol="0" anchor="b"/>
          <a:lstStyle/>
          <a:p>
            <a:pPr indent="0" marL="0">
              <a:buNone/>
            </a:pPr>
            <a:r>
              <a:rPr lang="en-US" sz="1200" dirty="0">
                <a:solidFill>
                  <a:schemeClr val="tx1"/>
                </a:solidFill>
              </a:rPr>
              <a:t>AI байхгүй; бүх шинжилгээ, үйлдлийг хүн хийнэ</a:t>
            </a:r>
            <a:endParaRPr lang="en-US" sz="1200" dirty="0"/>
          </a:p>
        </p:txBody>
      </p:sp>
      <p:sp>
        <p:nvSpPr>
          <p:cNvPr id="8" name="level1"/>
          <p:cNvSpPr/>
          <p:nvPr/>
        </p:nvSpPr>
        <p:spPr>
          <a:xfrm>
            <a:off x="2796464" y="3749040"/>
            <a:ext cx="2103120" cy="1691640"/>
          </a:xfrm>
          <a:prstGeom prst="roundRect">
            <a:avLst>
              <a:gd name="adj" fmla="val 4324"/>
            </a:avLst>
          </a:prstGeom>
          <a:solidFill>
            <a:schemeClr val="accent6"/>
          </a:solidFill>
          <a:ln w="12700">
            <a:solidFill>
              <a:schemeClr val="accent6"/>
            </a:solidFill>
            <a:prstDash val="solid"/>
          </a:ln>
        </p:spPr>
      </p:sp>
      <p:sp>
        <p:nvSpPr>
          <p:cNvPr id="9" name="level1 num"/>
          <p:cNvSpPr txBox="1"/>
          <p:nvPr/>
        </p:nvSpPr>
        <p:spPr>
          <a:xfrm>
            <a:off x="2933624" y="3822192"/>
            <a:ext cx="640080" cy="502920"/>
          </a:xfrm>
          <a:prstGeom prst="rect">
            <a:avLst/>
          </a:prstGeom>
          <a:noFill/>
          <a:ln/>
        </p:spPr>
        <p:txBody>
          <a:bodyPr wrap="square" lIns="0" tIns="0" rIns="0" bIns="0" rtlCol="0" anchor="ctr"/>
          <a:lstStyle/>
          <a:p>
            <a:pPr indent="0" marL="0">
              <a:buNone/>
            </a:pPr>
            <a:r>
              <a:rPr lang="en-US" sz="2800" b="1" dirty="0">
                <a:solidFill>
                  <a:schemeClr val="tx1"/>
                </a:solidFill>
              </a:rPr>
              <a:t>1</a:t>
            </a:r>
            <a:endParaRPr lang="en-US" sz="2800" dirty="0"/>
          </a:p>
        </p:txBody>
      </p:sp>
      <p:sp>
        <p:nvSpPr>
          <p:cNvPr id="10" name="level1 name"/>
          <p:cNvSpPr txBox="1"/>
          <p:nvPr/>
        </p:nvSpPr>
        <p:spPr>
          <a:xfrm>
            <a:off x="2933624" y="4315968"/>
            <a:ext cx="1828800" cy="566928"/>
          </a:xfrm>
          <a:prstGeom prst="rect">
            <a:avLst/>
          </a:prstGeom>
          <a:noFill/>
          <a:ln/>
        </p:spPr>
        <p:txBody>
          <a:bodyPr wrap="square" lIns="0" tIns="0" rIns="0" bIns="0" rtlCol="0" anchor="t"/>
          <a:lstStyle/>
          <a:p>
            <a:pPr indent="0" marL="0">
              <a:buNone/>
            </a:pPr>
            <a:r>
              <a:rPr lang="en-US" sz="1300" b="1" dirty="0">
                <a:solidFill>
                  <a:schemeClr val="tx1"/>
                </a:solidFill>
              </a:rPr>
              <a:t>AI туслах</a:t>
            </a:r>
            <a:endParaRPr lang="en-US" sz="1300" dirty="0"/>
          </a:p>
        </p:txBody>
      </p:sp>
      <p:sp>
        <p:nvSpPr>
          <p:cNvPr id="11" name="level1 rec"/>
          <p:cNvSpPr txBox="1"/>
          <p:nvPr/>
        </p:nvSpPr>
        <p:spPr>
          <a:xfrm>
            <a:off x="2933624" y="5029200"/>
            <a:ext cx="1828800" cy="365760"/>
          </a:xfrm>
          <a:prstGeom prst="rect">
            <a:avLst/>
          </a:prstGeom>
          <a:noFill/>
          <a:ln/>
        </p:spPr>
        <p:txBody>
          <a:bodyPr wrap="square" lIns="0" tIns="0" rIns="0" bIns="0" rtlCol="0" anchor="ctr"/>
          <a:lstStyle/>
          <a:p>
            <a:pPr indent="0" marL="0">
              <a:buNone/>
            </a:pPr>
            <a:r>
              <a:rPr lang="en-US" sz="1100" b="1" i="1" dirty="0">
                <a:solidFill>
                  <a:schemeClr val="tx1"/>
                </a:solidFill>
              </a:rPr>
              <a:t>Бүх сүлжээнд нэвтрүүлэх</a:t>
            </a:r>
            <a:endParaRPr lang="en-US" sz="1100" dirty="0"/>
          </a:p>
        </p:txBody>
      </p:sp>
      <p:sp>
        <p:nvSpPr>
          <p:cNvPr id="12" name="level1 desc"/>
          <p:cNvSpPr txBox="1"/>
          <p:nvPr/>
        </p:nvSpPr>
        <p:spPr>
          <a:xfrm>
            <a:off x="2796464" y="1280160"/>
            <a:ext cx="2103120" cy="2377440"/>
          </a:xfrm>
          <a:prstGeom prst="rect">
            <a:avLst/>
          </a:prstGeom>
          <a:noFill/>
          <a:ln/>
        </p:spPr>
        <p:txBody>
          <a:bodyPr wrap="square" lIns="0" tIns="0" rIns="0" bIns="0" rtlCol="0" anchor="b"/>
          <a:lstStyle/>
          <a:p>
            <a:pPr indent="0" marL="0">
              <a:buNone/>
            </a:pPr>
            <a:r>
              <a:rPr lang="en-US" sz="1200" dirty="0">
                <a:solidFill>
                  <a:schemeClr val="tx1"/>
                </a:solidFill>
              </a:rPr>
              <a:t>AI товчилж, баяжуулж, санал болгоно; үйлдлийг хүн хийнэ</a:t>
            </a:r>
            <a:endParaRPr lang="en-US" sz="1200" dirty="0"/>
          </a:p>
        </p:txBody>
      </p:sp>
      <p:sp>
        <p:nvSpPr>
          <p:cNvPr id="13" name="level2"/>
          <p:cNvSpPr/>
          <p:nvPr/>
        </p:nvSpPr>
        <p:spPr>
          <a:xfrm>
            <a:off x="5044288" y="3200400"/>
            <a:ext cx="2103120" cy="2240280"/>
          </a:xfrm>
          <a:prstGeom prst="roundRect">
            <a:avLst>
              <a:gd name="adj" fmla="val 3478"/>
            </a:avLst>
          </a:prstGeom>
          <a:solidFill>
            <a:schemeClr val="accent1"/>
          </a:solidFill>
          <a:ln w="12700">
            <a:solidFill>
              <a:schemeClr val="accent1"/>
            </a:solidFill>
            <a:prstDash val="solid"/>
          </a:ln>
        </p:spPr>
      </p:sp>
      <p:sp>
        <p:nvSpPr>
          <p:cNvPr id="14" name="level2 num"/>
          <p:cNvSpPr txBox="1"/>
          <p:nvPr/>
        </p:nvSpPr>
        <p:spPr>
          <a:xfrm>
            <a:off x="5181448" y="3273552"/>
            <a:ext cx="640080" cy="502920"/>
          </a:xfrm>
          <a:prstGeom prst="rect">
            <a:avLst/>
          </a:prstGeom>
          <a:noFill/>
          <a:ln/>
        </p:spPr>
        <p:txBody>
          <a:bodyPr wrap="square" lIns="0" tIns="0" rIns="0" bIns="0" rtlCol="0" anchor="ctr"/>
          <a:lstStyle/>
          <a:p>
            <a:pPr indent="0" marL="0">
              <a:buNone/>
            </a:pPr>
            <a:r>
              <a:rPr lang="en-US" sz="2800" b="1" dirty="0">
                <a:solidFill>
                  <a:schemeClr val="bg1"/>
                </a:solidFill>
              </a:rPr>
              <a:t>2</a:t>
            </a:r>
            <a:endParaRPr lang="en-US" sz="2800" dirty="0"/>
          </a:p>
        </p:txBody>
      </p:sp>
      <p:sp>
        <p:nvSpPr>
          <p:cNvPr id="15" name="level2 name"/>
          <p:cNvSpPr txBox="1"/>
          <p:nvPr/>
        </p:nvSpPr>
        <p:spPr>
          <a:xfrm>
            <a:off x="5181448" y="3767328"/>
            <a:ext cx="1828800" cy="566928"/>
          </a:xfrm>
          <a:prstGeom prst="rect">
            <a:avLst/>
          </a:prstGeom>
          <a:noFill/>
          <a:ln/>
        </p:spPr>
        <p:txBody>
          <a:bodyPr wrap="square" lIns="0" tIns="0" rIns="0" bIns="0" rtlCol="0" anchor="t"/>
          <a:lstStyle/>
          <a:p>
            <a:pPr indent="0" marL="0">
              <a:buNone/>
            </a:pPr>
            <a:r>
              <a:rPr lang="en-US" sz="1300" b="1" dirty="0">
                <a:solidFill>
                  <a:schemeClr val="bg1"/>
                </a:solidFill>
              </a:rPr>
              <a:t>Хэсэгчилсэн автоматжуулалт</a:t>
            </a:r>
            <a:endParaRPr lang="en-US" sz="1300" dirty="0"/>
          </a:p>
        </p:txBody>
      </p:sp>
      <p:sp>
        <p:nvSpPr>
          <p:cNvPr id="16" name="level2 rec"/>
          <p:cNvSpPr txBox="1"/>
          <p:nvPr/>
        </p:nvSpPr>
        <p:spPr>
          <a:xfrm>
            <a:off x="5181448" y="5029200"/>
            <a:ext cx="1828800" cy="365760"/>
          </a:xfrm>
          <a:prstGeom prst="rect">
            <a:avLst/>
          </a:prstGeom>
          <a:noFill/>
          <a:ln/>
        </p:spPr>
        <p:txBody>
          <a:bodyPr wrap="square" lIns="0" tIns="0" rIns="0" bIns="0" rtlCol="0" anchor="ctr"/>
          <a:lstStyle/>
          <a:p>
            <a:pPr indent="0" marL="0">
              <a:buNone/>
            </a:pPr>
            <a:r>
              <a:rPr lang="en-US" sz="1100" b="1" i="1" dirty="0">
                <a:solidFill>
                  <a:schemeClr val="bg1"/>
                </a:solidFill>
              </a:rPr>
              <a:t>SOC-ийн үндсэн горим</a:t>
            </a:r>
            <a:endParaRPr lang="en-US" sz="1100" dirty="0"/>
          </a:p>
        </p:txBody>
      </p:sp>
      <p:sp>
        <p:nvSpPr>
          <p:cNvPr id="17" name="level2 desc"/>
          <p:cNvSpPr txBox="1"/>
          <p:nvPr/>
        </p:nvSpPr>
        <p:spPr>
          <a:xfrm>
            <a:off x="5044288" y="1280160"/>
            <a:ext cx="2103120" cy="1828800"/>
          </a:xfrm>
          <a:prstGeom prst="rect">
            <a:avLst/>
          </a:prstGeom>
          <a:noFill/>
          <a:ln/>
        </p:spPr>
        <p:txBody>
          <a:bodyPr wrap="square" lIns="0" tIns="0" rIns="0" bIns="0" rtlCol="0" anchor="b"/>
          <a:lstStyle/>
          <a:p>
            <a:pPr indent="0" marL="0">
              <a:buNone/>
            </a:pPr>
            <a:r>
              <a:rPr lang="en-US" sz="1200" dirty="0">
                <a:solidFill>
                  <a:schemeClr val="tx1"/>
                </a:solidFill>
              </a:rPr>
              <a:t>AI үйлдлийн төлөвлөгөө санал болгож, хүн нэг товчоор батална (human-in-the-loop)</a:t>
            </a:r>
            <a:endParaRPr lang="en-US" sz="1200" dirty="0"/>
          </a:p>
        </p:txBody>
      </p:sp>
      <p:sp>
        <p:nvSpPr>
          <p:cNvPr id="18" name="level3"/>
          <p:cNvSpPr/>
          <p:nvPr/>
        </p:nvSpPr>
        <p:spPr>
          <a:xfrm>
            <a:off x="7292111" y="2651760"/>
            <a:ext cx="2103120" cy="2788920"/>
          </a:xfrm>
          <a:prstGeom prst="roundRect">
            <a:avLst>
              <a:gd name="adj" fmla="val 3478"/>
            </a:avLst>
          </a:prstGeom>
          <a:solidFill>
            <a:schemeClr val="accent4"/>
          </a:solidFill>
          <a:ln w="12700">
            <a:solidFill>
              <a:schemeClr val="accent4"/>
            </a:solidFill>
            <a:prstDash val="solid"/>
          </a:ln>
        </p:spPr>
      </p:sp>
      <p:sp>
        <p:nvSpPr>
          <p:cNvPr id="19" name="level3 num"/>
          <p:cNvSpPr txBox="1"/>
          <p:nvPr/>
        </p:nvSpPr>
        <p:spPr>
          <a:xfrm>
            <a:off x="7429271" y="2724912"/>
            <a:ext cx="640080" cy="502920"/>
          </a:xfrm>
          <a:prstGeom prst="rect">
            <a:avLst/>
          </a:prstGeom>
          <a:noFill/>
          <a:ln/>
        </p:spPr>
        <p:txBody>
          <a:bodyPr wrap="square" lIns="0" tIns="0" rIns="0" bIns="0" rtlCol="0" anchor="ctr"/>
          <a:lstStyle/>
          <a:p>
            <a:pPr indent="0" marL="0">
              <a:buNone/>
            </a:pPr>
            <a:r>
              <a:rPr lang="en-US" sz="2800" b="1" dirty="0">
                <a:solidFill>
                  <a:schemeClr val="tx1"/>
                </a:solidFill>
              </a:rPr>
              <a:t>3</a:t>
            </a:r>
            <a:endParaRPr lang="en-US" sz="2800" dirty="0"/>
          </a:p>
        </p:txBody>
      </p:sp>
      <p:sp>
        <p:nvSpPr>
          <p:cNvPr id="20" name="level3 name"/>
          <p:cNvSpPr txBox="1"/>
          <p:nvPr/>
        </p:nvSpPr>
        <p:spPr>
          <a:xfrm>
            <a:off x="7429271" y="3218688"/>
            <a:ext cx="1828800" cy="566928"/>
          </a:xfrm>
          <a:prstGeom prst="rect">
            <a:avLst/>
          </a:prstGeom>
          <a:noFill/>
          <a:ln/>
        </p:spPr>
        <p:txBody>
          <a:bodyPr wrap="square" lIns="0" tIns="0" rIns="0" bIns="0" rtlCol="0" anchor="t"/>
          <a:lstStyle/>
          <a:p>
            <a:pPr indent="0" marL="0">
              <a:buNone/>
            </a:pPr>
            <a:r>
              <a:rPr lang="en-US" sz="1300" b="1" dirty="0">
                <a:solidFill>
                  <a:schemeClr val="tx1"/>
                </a:solidFill>
              </a:rPr>
              <a:t>Нөхцөлт автономи</a:t>
            </a:r>
            <a:endParaRPr lang="en-US" sz="1300" dirty="0"/>
          </a:p>
        </p:txBody>
      </p:sp>
      <p:sp>
        <p:nvSpPr>
          <p:cNvPr id="21" name="level3 rec"/>
          <p:cNvSpPr txBox="1"/>
          <p:nvPr/>
        </p:nvSpPr>
        <p:spPr>
          <a:xfrm>
            <a:off x="7429271" y="5029200"/>
            <a:ext cx="1828800" cy="365760"/>
          </a:xfrm>
          <a:prstGeom prst="rect">
            <a:avLst/>
          </a:prstGeom>
          <a:noFill/>
          <a:ln/>
        </p:spPr>
        <p:txBody>
          <a:bodyPr wrap="square" lIns="0" tIns="0" rIns="0" bIns="0" rtlCol="0" anchor="ctr"/>
          <a:lstStyle/>
          <a:p>
            <a:pPr indent="0" marL="0">
              <a:buNone/>
            </a:pPr>
            <a:r>
              <a:rPr lang="en-US" sz="1100" b="1" i="1" dirty="0">
                <a:solidFill>
                  <a:schemeClr val="tx1"/>
                </a:solidFill>
              </a:rPr>
              <a:t>Зөвхөн хязгаарлагдмал хүрээнд</a:t>
            </a:r>
            <a:endParaRPr lang="en-US" sz="1100" dirty="0"/>
          </a:p>
        </p:txBody>
      </p:sp>
      <p:sp>
        <p:nvSpPr>
          <p:cNvPr id="22" name="level3 desc"/>
          <p:cNvSpPr txBox="1"/>
          <p:nvPr/>
        </p:nvSpPr>
        <p:spPr>
          <a:xfrm>
            <a:off x="7292111" y="1280160"/>
            <a:ext cx="2103120" cy="1280160"/>
          </a:xfrm>
          <a:prstGeom prst="rect">
            <a:avLst/>
          </a:prstGeom>
          <a:noFill/>
          <a:ln/>
        </p:spPr>
        <p:txBody>
          <a:bodyPr wrap="square" lIns="0" tIns="0" rIns="0" bIns="0" rtlCol="0" anchor="b"/>
          <a:lstStyle/>
          <a:p>
            <a:pPr indent="0" marL="0">
              <a:buNone/>
            </a:pPr>
            <a:r>
              <a:rPr lang="en-US" sz="1200" dirty="0">
                <a:solidFill>
                  <a:schemeClr val="tx1"/>
                </a:solidFill>
              </a:rPr>
              <a:t>Урьдчилан батлагдсан, бага эрсдэлтэй playbook-ийг AI өөрөө гүйцэтгэж, хүн хянана (human-on-the-loop)</a:t>
            </a:r>
            <a:endParaRPr lang="en-US" sz="1200" dirty="0"/>
          </a:p>
        </p:txBody>
      </p:sp>
      <p:sp>
        <p:nvSpPr>
          <p:cNvPr id="23" name="level4"/>
          <p:cNvSpPr/>
          <p:nvPr/>
        </p:nvSpPr>
        <p:spPr>
          <a:xfrm>
            <a:off x="9539935" y="2103120"/>
            <a:ext cx="2103120" cy="3337560"/>
          </a:xfrm>
          <a:prstGeom prst="roundRect">
            <a:avLst>
              <a:gd name="adj" fmla="val 3478"/>
            </a:avLst>
          </a:prstGeom>
          <a:solidFill>
            <a:schemeClr val="accent2"/>
          </a:solidFill>
          <a:ln w="12700">
            <a:solidFill>
              <a:schemeClr val="accent2"/>
            </a:solidFill>
            <a:prstDash val="solid"/>
          </a:ln>
        </p:spPr>
      </p:sp>
      <p:sp>
        <p:nvSpPr>
          <p:cNvPr id="24" name="level4 num"/>
          <p:cNvSpPr txBox="1"/>
          <p:nvPr/>
        </p:nvSpPr>
        <p:spPr>
          <a:xfrm>
            <a:off x="9677095" y="2176272"/>
            <a:ext cx="640080" cy="502920"/>
          </a:xfrm>
          <a:prstGeom prst="rect">
            <a:avLst/>
          </a:prstGeom>
          <a:noFill/>
          <a:ln/>
        </p:spPr>
        <p:txBody>
          <a:bodyPr wrap="square" lIns="0" tIns="0" rIns="0" bIns="0" rtlCol="0" anchor="ctr"/>
          <a:lstStyle/>
          <a:p>
            <a:pPr indent="0" marL="0">
              <a:buNone/>
            </a:pPr>
            <a:r>
              <a:rPr lang="en-US" sz="2800" b="1" dirty="0">
                <a:solidFill>
                  <a:schemeClr val="bg1"/>
                </a:solidFill>
              </a:rPr>
              <a:t>4</a:t>
            </a:r>
            <a:endParaRPr lang="en-US" sz="2800" dirty="0"/>
          </a:p>
        </p:txBody>
      </p:sp>
      <p:sp>
        <p:nvSpPr>
          <p:cNvPr id="25" name="level4 name"/>
          <p:cNvSpPr txBox="1"/>
          <p:nvPr/>
        </p:nvSpPr>
        <p:spPr>
          <a:xfrm>
            <a:off x="9677095" y="2670048"/>
            <a:ext cx="1828800" cy="566928"/>
          </a:xfrm>
          <a:prstGeom prst="rect">
            <a:avLst/>
          </a:prstGeom>
          <a:noFill/>
          <a:ln/>
        </p:spPr>
        <p:txBody>
          <a:bodyPr wrap="square" lIns="0" tIns="0" rIns="0" bIns="0" rtlCol="0" anchor="t"/>
          <a:lstStyle/>
          <a:p>
            <a:pPr indent="0" marL="0">
              <a:buNone/>
            </a:pPr>
            <a:r>
              <a:rPr lang="en-US" sz="1300" b="1" dirty="0">
                <a:solidFill>
                  <a:schemeClr val="bg1"/>
                </a:solidFill>
              </a:rPr>
              <a:t>Өндөр автономи</a:t>
            </a:r>
            <a:endParaRPr lang="en-US" sz="1300" dirty="0"/>
          </a:p>
        </p:txBody>
      </p:sp>
      <p:sp>
        <p:nvSpPr>
          <p:cNvPr id="26" name="level4 rec"/>
          <p:cNvSpPr txBox="1"/>
          <p:nvPr/>
        </p:nvSpPr>
        <p:spPr>
          <a:xfrm>
            <a:off x="9677095" y="5029200"/>
            <a:ext cx="1828800" cy="365760"/>
          </a:xfrm>
          <a:prstGeom prst="rect">
            <a:avLst/>
          </a:prstGeom>
          <a:noFill/>
          <a:ln/>
        </p:spPr>
        <p:txBody>
          <a:bodyPr wrap="square" lIns="0" tIns="0" rIns="0" bIns="0" rtlCol="0" anchor="ctr"/>
          <a:lstStyle/>
          <a:p>
            <a:pPr indent="0" marL="0">
              <a:buNone/>
            </a:pPr>
            <a:r>
              <a:rPr lang="en-US" sz="1100" b="1" i="1" dirty="0">
                <a:solidFill>
                  <a:schemeClr val="bg1"/>
                </a:solidFill>
              </a:rPr>
              <a:t>Онц чухал системд одоогоор ҮГҮЙ</a:t>
            </a:r>
            <a:endParaRPr lang="en-US" sz="1100" dirty="0"/>
          </a:p>
        </p:txBody>
      </p:sp>
      <p:sp>
        <p:nvSpPr>
          <p:cNvPr id="27" name="level4 desc"/>
          <p:cNvSpPr txBox="1"/>
          <p:nvPr/>
        </p:nvSpPr>
        <p:spPr>
          <a:xfrm>
            <a:off x="9539935" y="1280160"/>
            <a:ext cx="2103120" cy="731520"/>
          </a:xfrm>
          <a:prstGeom prst="rect">
            <a:avLst/>
          </a:prstGeom>
          <a:noFill/>
          <a:ln/>
        </p:spPr>
        <p:txBody>
          <a:bodyPr wrap="square" lIns="0" tIns="0" rIns="0" bIns="0" rtlCol="0" anchor="b"/>
          <a:lstStyle/>
          <a:p>
            <a:pPr indent="0" marL="0">
              <a:buNone/>
            </a:pPr>
            <a:r>
              <a:rPr lang="en-US" sz="1200" dirty="0">
                <a:solidFill>
                  <a:schemeClr val="tx1"/>
                </a:solidFill>
              </a:rPr>
              <a:t>AI хүний оролцоогүй шийдвэр гаргана</a:t>
            </a:r>
            <a:endParaRPr lang="en-US" sz="1200" dirty="0"/>
          </a:p>
        </p:txBody>
      </p:sp>
      <p:sp>
        <p:nvSpPr>
          <p:cNvPr id="28" name="principle"/>
          <p:cNvSpPr txBox="1"/>
          <p:nvPr/>
        </p:nvSpPr>
        <p:spPr>
          <a:xfrm>
            <a:off x="548640" y="5669280"/>
            <a:ext cx="11094415" cy="548640"/>
          </a:xfrm>
          <a:prstGeom prst="rect">
            <a:avLst/>
          </a:prstGeom>
          <a:noFill/>
          <a:ln/>
        </p:spPr>
        <p:txBody>
          <a:bodyPr wrap="square" lIns="0" tIns="0" rIns="0" bIns="0" rtlCol="0" anchor="ctr"/>
          <a:lstStyle/>
          <a:p>
            <a:pPr indent="0" marL="0">
              <a:buNone/>
            </a:pPr>
            <a:r>
              <a:rPr lang="en-US" sz="1400" b="1" i="1" dirty="0">
                <a:solidFill>
                  <a:schemeClr val="accent1"/>
                </a:solidFill>
              </a:rPr>
              <a:t>Зарчим: автоматжуулалтын эрх = playbook-ийн эрсдэлийн үнэлгээ + буцаах (rollback) механизм + хариуцлагын тодорхой хуваарилалт</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4. Threat Intelligence, урьдчилан сэргийлэлт</a:t>
            </a:r>
            <a:endParaRPr lang="en-US" sz="2800" dirty="0"/>
          </a:p>
        </p:txBody>
      </p:sp>
      <p:sp>
        <p:nvSpPr>
          <p:cNvPr id="3" name="cti0 circle"/>
          <p:cNvSpPr/>
          <p:nvPr/>
        </p:nvSpPr>
        <p:spPr>
          <a:xfrm>
            <a:off x="548640" y="1353312"/>
            <a:ext cx="548640" cy="548640"/>
          </a:xfrm>
          <a:prstGeom prst="ellipse">
            <a:avLst/>
          </a:prstGeom>
          <a:solidFill>
            <a:schemeClr val="accent1"/>
          </a:solidFill>
          <a:ln w="12700">
            <a:solidFill>
              <a:schemeClr val="accent1"/>
            </a:solidFill>
            <a:prstDash val="solid"/>
          </a:ln>
        </p:spPr>
      </p:sp>
      <p:pic>
        <p:nvPicPr>
          <p:cNvPr id="4" name="cti0 icon" descr="preencoded.png">    </p:cNvPr>
          <p:cNvPicPr>
            <a:picLocks noChangeAspect="1"/>
          </p:cNvPicPr>
          <p:nvPr/>
        </p:nvPicPr>
        <p:blipFill>
          <a:blip r:embed="rId1"/>
          <a:stretch>
            <a:fillRect/>
          </a:stretch>
        </p:blipFill>
        <p:spPr>
          <a:xfrm>
            <a:off x="685800" y="1490472"/>
            <a:ext cx="274320" cy="274320"/>
          </a:xfrm>
          <a:prstGeom prst="rect">
            <a:avLst/>
          </a:prstGeom>
        </p:spPr>
      </p:pic>
      <p:sp>
        <p:nvSpPr>
          <p:cNvPr id="5" name="cti0 head"/>
          <p:cNvSpPr txBox="1"/>
          <p:nvPr/>
        </p:nvSpPr>
        <p:spPr>
          <a:xfrm>
            <a:off x="1280160" y="1325880"/>
            <a:ext cx="4846320" cy="292608"/>
          </a:xfrm>
          <a:prstGeom prst="rect">
            <a:avLst/>
          </a:prstGeom>
          <a:noFill/>
          <a:ln/>
        </p:spPr>
        <p:txBody>
          <a:bodyPr wrap="square" lIns="0" tIns="0" rIns="0" bIns="0" rtlCol="0" anchor="t"/>
          <a:lstStyle/>
          <a:p>
            <a:pPr indent="0" marL="0">
              <a:buNone/>
            </a:pPr>
            <a:r>
              <a:rPr lang="en-US" sz="1400" b="1" dirty="0">
                <a:solidFill>
                  <a:schemeClr val="tx1"/>
                </a:solidFill>
              </a:rPr>
              <a:t>CTI-г AI-аар боловсруулах</a:t>
            </a:r>
            <a:endParaRPr lang="en-US" sz="1400" dirty="0"/>
          </a:p>
        </p:txBody>
      </p:sp>
      <p:sp>
        <p:nvSpPr>
          <p:cNvPr id="6" name="cti0 desc"/>
          <p:cNvSpPr txBox="1"/>
          <p:nvPr/>
        </p:nvSpPr>
        <p:spPr>
          <a:xfrm>
            <a:off x="1280160" y="1618488"/>
            <a:ext cx="4846320" cy="804672"/>
          </a:xfrm>
          <a:prstGeom prst="rect">
            <a:avLst/>
          </a:prstGeom>
          <a:noFill/>
          <a:ln/>
        </p:spPr>
        <p:txBody>
          <a:bodyPr wrap="square" lIns="0" tIns="0" rIns="0" bIns="0" rtlCol="0" anchor="t"/>
          <a:lstStyle/>
          <a:p>
            <a:pPr indent="0" marL="0">
              <a:buNone/>
            </a:pPr>
            <a:r>
              <a:rPr lang="en-US" sz="1200" dirty="0">
                <a:solidFill>
                  <a:schemeClr val="tx2"/>
                </a:solidFill>
              </a:rPr>
              <a:t>Тайлан, харанхуй веб, нийгмийн сүлжээг олон хэлээр хянах; IOC/TTP олборлож ATT&amp;CK, STIX-д буулгах (MISP, OpenCTI + LLM)</a:t>
            </a:r>
            <a:endParaRPr lang="en-US" sz="1200" dirty="0"/>
          </a:p>
        </p:txBody>
      </p:sp>
      <p:sp>
        <p:nvSpPr>
          <p:cNvPr id="7" name="cti1 circle"/>
          <p:cNvSpPr/>
          <p:nvPr/>
        </p:nvSpPr>
        <p:spPr>
          <a:xfrm>
            <a:off x="548640" y="2542032"/>
            <a:ext cx="548640" cy="548640"/>
          </a:xfrm>
          <a:prstGeom prst="ellipse">
            <a:avLst/>
          </a:prstGeom>
          <a:solidFill>
            <a:schemeClr val="accent1"/>
          </a:solidFill>
          <a:ln w="12700">
            <a:solidFill>
              <a:schemeClr val="accent1"/>
            </a:solidFill>
            <a:prstDash val="solid"/>
          </a:ln>
        </p:spPr>
      </p:sp>
      <p:pic>
        <p:nvPicPr>
          <p:cNvPr id="8" name="cti1 icon" descr="preencoded.png">    </p:cNvPr>
          <p:cNvPicPr>
            <a:picLocks noChangeAspect="1"/>
          </p:cNvPicPr>
          <p:nvPr/>
        </p:nvPicPr>
        <p:blipFill>
          <a:blip r:embed="rId2"/>
          <a:stretch>
            <a:fillRect/>
          </a:stretch>
        </p:blipFill>
        <p:spPr>
          <a:xfrm>
            <a:off x="685800" y="2679192"/>
            <a:ext cx="274320" cy="274320"/>
          </a:xfrm>
          <a:prstGeom prst="rect">
            <a:avLst/>
          </a:prstGeom>
        </p:spPr>
      </p:pic>
      <p:sp>
        <p:nvSpPr>
          <p:cNvPr id="9" name="cti1 head"/>
          <p:cNvSpPr txBox="1"/>
          <p:nvPr/>
        </p:nvSpPr>
        <p:spPr>
          <a:xfrm>
            <a:off x="1280160" y="2514600"/>
            <a:ext cx="4846320" cy="292608"/>
          </a:xfrm>
          <a:prstGeom prst="rect">
            <a:avLst/>
          </a:prstGeom>
          <a:noFill/>
          <a:ln/>
        </p:spPr>
        <p:txBody>
          <a:bodyPr wrap="square" lIns="0" tIns="0" rIns="0" bIns="0" rtlCol="0" anchor="t"/>
          <a:lstStyle/>
          <a:p>
            <a:pPr indent="0" marL="0">
              <a:buNone/>
            </a:pPr>
            <a:r>
              <a:rPr lang="en-US" sz="1400" b="1" dirty="0">
                <a:solidFill>
                  <a:schemeClr val="tx1"/>
                </a:solidFill>
              </a:rPr>
              <a:t>Эмзэг байдлыг эрэмбэлэх</a:t>
            </a:r>
            <a:endParaRPr lang="en-US" sz="1400" dirty="0"/>
          </a:p>
        </p:txBody>
      </p:sp>
      <p:sp>
        <p:nvSpPr>
          <p:cNvPr id="10" name="cti1 desc"/>
          <p:cNvSpPr txBox="1"/>
          <p:nvPr/>
        </p:nvSpPr>
        <p:spPr>
          <a:xfrm>
            <a:off x="1280160" y="2807208"/>
            <a:ext cx="4846320" cy="804672"/>
          </a:xfrm>
          <a:prstGeom prst="rect">
            <a:avLst/>
          </a:prstGeom>
          <a:noFill/>
          <a:ln/>
        </p:spPr>
        <p:txBody>
          <a:bodyPr wrap="square" lIns="0" tIns="0" rIns="0" bIns="0" rtlCol="0" anchor="t"/>
          <a:lstStyle/>
          <a:p>
            <a:pPr indent="0" marL="0">
              <a:buNone/>
            </a:pPr>
            <a:r>
              <a:rPr lang="en-US" sz="1200" dirty="0">
                <a:solidFill>
                  <a:schemeClr val="tx2"/>
                </a:solidFill>
              </a:rPr>
              <a:t>CVSS дээр EPSS (бодитоор ашиглагдах магадлал); халдлагын талбайн тасралтгүй илрүүлэлт (ASM)</a:t>
            </a:r>
            <a:endParaRPr lang="en-US" sz="1200" dirty="0"/>
          </a:p>
        </p:txBody>
      </p:sp>
      <p:sp>
        <p:nvSpPr>
          <p:cNvPr id="11" name="cti2 circle"/>
          <p:cNvSpPr/>
          <p:nvPr/>
        </p:nvSpPr>
        <p:spPr>
          <a:xfrm>
            <a:off x="548640" y="3730752"/>
            <a:ext cx="548640" cy="548640"/>
          </a:xfrm>
          <a:prstGeom prst="ellipse">
            <a:avLst/>
          </a:prstGeom>
          <a:solidFill>
            <a:schemeClr val="accent1"/>
          </a:solidFill>
          <a:ln w="12700">
            <a:solidFill>
              <a:schemeClr val="accent1"/>
            </a:solidFill>
            <a:prstDash val="solid"/>
          </a:ln>
        </p:spPr>
      </p:sp>
      <p:pic>
        <p:nvPicPr>
          <p:cNvPr id="12" name="cti2 icon" descr="preencoded.png">    </p:cNvPr>
          <p:cNvPicPr>
            <a:picLocks noChangeAspect="1"/>
          </p:cNvPicPr>
          <p:nvPr/>
        </p:nvPicPr>
        <p:blipFill>
          <a:blip r:embed="rId3"/>
          <a:stretch>
            <a:fillRect/>
          </a:stretch>
        </p:blipFill>
        <p:spPr>
          <a:xfrm>
            <a:off x="685800" y="3867912"/>
            <a:ext cx="274320" cy="274320"/>
          </a:xfrm>
          <a:prstGeom prst="rect">
            <a:avLst/>
          </a:prstGeom>
        </p:spPr>
      </p:pic>
      <p:sp>
        <p:nvSpPr>
          <p:cNvPr id="13" name="cti2 head"/>
          <p:cNvSpPr txBox="1"/>
          <p:nvPr/>
        </p:nvSpPr>
        <p:spPr>
          <a:xfrm>
            <a:off x="1280160" y="3703320"/>
            <a:ext cx="4846320" cy="292608"/>
          </a:xfrm>
          <a:prstGeom prst="rect">
            <a:avLst/>
          </a:prstGeom>
          <a:noFill/>
          <a:ln/>
        </p:spPr>
        <p:txBody>
          <a:bodyPr wrap="square" lIns="0" tIns="0" rIns="0" bIns="0" rtlCol="0" anchor="t"/>
          <a:lstStyle/>
          <a:p>
            <a:pPr indent="0" marL="0">
              <a:buNone/>
            </a:pPr>
            <a:r>
              <a:rPr lang="en-US" sz="1400" b="1" dirty="0">
                <a:solidFill>
                  <a:schemeClr val="tx1"/>
                </a:solidFill>
              </a:rPr>
              <a:t>Дайсны дуурайлт, хуурамч орчин</a:t>
            </a:r>
            <a:endParaRPr lang="en-US" sz="1400" dirty="0"/>
          </a:p>
        </p:txBody>
      </p:sp>
      <p:sp>
        <p:nvSpPr>
          <p:cNvPr id="14" name="cti2 desc"/>
          <p:cNvSpPr txBox="1"/>
          <p:nvPr/>
        </p:nvSpPr>
        <p:spPr>
          <a:xfrm>
            <a:off x="1280160" y="3995928"/>
            <a:ext cx="4846320" cy="804672"/>
          </a:xfrm>
          <a:prstGeom prst="rect">
            <a:avLst/>
          </a:prstGeom>
          <a:noFill/>
          <a:ln/>
        </p:spPr>
        <p:txBody>
          <a:bodyPr wrap="square" lIns="0" tIns="0" rIns="0" bIns="0" rtlCol="0" anchor="t"/>
          <a:lstStyle/>
          <a:p>
            <a:pPr indent="0" marL="0">
              <a:buNone/>
            </a:pPr>
            <a:r>
              <a:rPr lang="en-US" sz="1200" dirty="0">
                <a:solidFill>
                  <a:schemeClr val="tx2"/>
                </a:solidFill>
              </a:rPr>
              <a:t>LLM агентаар улаан багийн халдлагыг автоматжуулж хяналтыг тасралтгүй шалгах; динамик honeypot, хуурамч нууц үг</a:t>
            </a:r>
            <a:endParaRPr lang="en-US" sz="1200" dirty="0"/>
          </a:p>
        </p:txBody>
      </p:sp>
      <p:sp>
        <p:nvSpPr>
          <p:cNvPr id="15" name="cti3 circle"/>
          <p:cNvSpPr/>
          <p:nvPr/>
        </p:nvSpPr>
        <p:spPr>
          <a:xfrm>
            <a:off x="548640" y="4919472"/>
            <a:ext cx="548640" cy="548640"/>
          </a:xfrm>
          <a:prstGeom prst="ellipse">
            <a:avLst/>
          </a:prstGeom>
          <a:solidFill>
            <a:schemeClr val="accent1"/>
          </a:solidFill>
          <a:ln w="12700">
            <a:solidFill>
              <a:schemeClr val="accent1"/>
            </a:solidFill>
            <a:prstDash val="solid"/>
          </a:ln>
        </p:spPr>
      </p:sp>
      <p:pic>
        <p:nvPicPr>
          <p:cNvPr id="16" name="cti3 icon" descr="preencoded.png">    </p:cNvPr>
          <p:cNvPicPr>
            <a:picLocks noChangeAspect="1"/>
          </p:cNvPicPr>
          <p:nvPr/>
        </p:nvPicPr>
        <p:blipFill>
          <a:blip r:embed="rId4"/>
          <a:stretch>
            <a:fillRect/>
          </a:stretch>
        </p:blipFill>
        <p:spPr>
          <a:xfrm>
            <a:off x="685800" y="5056632"/>
            <a:ext cx="274320" cy="274320"/>
          </a:xfrm>
          <a:prstGeom prst="rect">
            <a:avLst/>
          </a:prstGeom>
        </p:spPr>
      </p:pic>
      <p:sp>
        <p:nvSpPr>
          <p:cNvPr id="17" name="cti3 head"/>
          <p:cNvSpPr txBox="1"/>
          <p:nvPr/>
        </p:nvSpPr>
        <p:spPr>
          <a:xfrm>
            <a:off x="1280160" y="4892040"/>
            <a:ext cx="4846320" cy="292608"/>
          </a:xfrm>
          <a:prstGeom prst="rect">
            <a:avLst/>
          </a:prstGeom>
          <a:noFill/>
          <a:ln/>
        </p:spPr>
        <p:txBody>
          <a:bodyPr wrap="square" lIns="0" tIns="0" rIns="0" bIns="0" rtlCol="0" anchor="t"/>
          <a:lstStyle/>
          <a:p>
            <a:pPr indent="0" marL="0">
              <a:buNone/>
            </a:pPr>
            <a:r>
              <a:rPr lang="en-US" sz="1400" b="1" dirty="0">
                <a:solidFill>
                  <a:schemeClr val="tx1"/>
                </a:solidFill>
              </a:rPr>
              <a:t>Кибер полигон</a:t>
            </a:r>
            <a:endParaRPr lang="en-US" sz="1400" dirty="0"/>
          </a:p>
        </p:txBody>
      </p:sp>
      <p:sp>
        <p:nvSpPr>
          <p:cNvPr id="18" name="cti3 desc"/>
          <p:cNvSpPr txBox="1"/>
          <p:nvPr/>
        </p:nvSpPr>
        <p:spPr>
          <a:xfrm>
            <a:off x="1280160" y="5184648"/>
            <a:ext cx="4846320" cy="804672"/>
          </a:xfrm>
          <a:prstGeom prst="rect">
            <a:avLst/>
          </a:prstGeom>
          <a:noFill/>
          <a:ln/>
        </p:spPr>
        <p:txBody>
          <a:bodyPr wrap="square" lIns="0" tIns="0" rIns="0" bIns="0" rtlCol="0" anchor="t"/>
          <a:lstStyle/>
          <a:p>
            <a:pPr indent="0" marL="0">
              <a:buNone/>
            </a:pPr>
            <a:r>
              <a:rPr lang="en-US" sz="1200" dirty="0">
                <a:solidFill>
                  <a:schemeClr val="tx2"/>
                </a:solidFill>
              </a:rPr>
              <a:t>AI дайсантай, AI туслахтай дасгал сургуулилт: ҮБХИС-ийн сургалтад шууд нэвтрүүлэх боломж</a:t>
            </a:r>
            <a:endParaRPr lang="en-US" sz="1200" dirty="0"/>
          </a:p>
        </p:txBody>
      </p:sp>
      <p:graphicFrame>
        <p:nvGraphicFramePr>
          <p:cNvPr id="19" name="AIxCC chart" descr=""/>
          <p:cNvGraphicFramePr/>
          <p:nvPr/>
        </p:nvGraphicFramePr>
        <p:xfrm>
          <a:off x="6446520" y="1280160"/>
          <a:ext cx="5196535" cy="3246120"/>
        </p:xfrm>
        <a:graphic xmlns:a="http://schemas.openxmlformats.org/drawingml/2006/main">
          <a:graphicData uri="http://schemas.openxmlformats.org/drawingml/2006/chart">
            <c:chart xmlns:c="http://schemas.openxmlformats.org/drawingml/2006/chart" r:id="rId5"/>
          </a:graphicData>
        </a:graphic>
      </p:graphicFrame>
      <p:sp>
        <p:nvSpPr>
          <p:cNvPr id="20" name="aixcc note card"/>
          <p:cNvSpPr/>
          <p:nvPr/>
        </p:nvSpPr>
        <p:spPr>
          <a:xfrm>
            <a:off x="6446520" y="4663440"/>
            <a:ext cx="5196535" cy="1554480"/>
          </a:xfrm>
          <a:prstGeom prst="roundRect">
            <a:avLst>
              <a:gd name="adj" fmla="val 4706"/>
            </a:avLst>
          </a:prstGeom>
          <a:solidFill>
            <a:schemeClr val="accent6"/>
          </a:solidFill>
          <a:ln w="12700">
            <a:solidFill>
              <a:schemeClr val="accent6"/>
            </a:solidFill>
            <a:prstDash val="solid"/>
          </a:ln>
        </p:spPr>
      </p:sp>
      <p:sp>
        <p:nvSpPr>
          <p:cNvPr id="21" name="aixcc note body"/>
          <p:cNvSpPr txBox="1"/>
          <p:nvPr/>
        </p:nvSpPr>
        <p:spPr>
          <a:xfrm>
            <a:off x="6647688" y="4828032"/>
            <a:ext cx="4794199" cy="1252728"/>
          </a:xfrm>
          <a:prstGeom prst="rect">
            <a:avLst/>
          </a:prstGeom>
          <a:noFill/>
          <a:ln/>
        </p:spPr>
        <p:txBody>
          <a:bodyPr wrap="square" lIns="0" tIns="0" rIns="0" bIns="0" rtlCol="0" anchor="t"/>
          <a:lstStyle/>
          <a:p>
            <a:pPr indent="0" marL="0">
              <a:buNone/>
            </a:pPr>
            <a:r>
              <a:rPr lang="en-US" sz="1150" dirty="0">
                <a:solidFill>
                  <a:schemeClr val="tx1"/>
                </a:solidFill>
              </a:rPr>
              <a:t>Финал (DEF CON 33, 2025.08): 54 зохиомол эмзэг байдлаас 43-ыг автоматаар зассан; бодит 18 эмзэг байдал олсон; нэг даалгаврын дундаж зардал 152 $. Системүүд нээлттэй эх (Buttercup гэх мэт) → дотоод програм хангамжийг ашиглалтад оруулахаас өмнө AI-аар шалгах боломж</a:t>
            </a:r>
            <a:endParaRPr lang="en-US" sz="115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AI-г өөрийг нь хамгаалахгүйгээр AI-аар хамгаалах боломжгүй</a:t>
            </a:r>
            <a:endParaRPr lang="en-US" sz="2800" dirty="0"/>
          </a:p>
        </p:txBody>
      </p:sp>
      <p:sp>
        <p:nvSpPr>
          <p:cNvPr id="3" name="threat0"/>
          <p:cNvSpPr/>
          <p:nvPr/>
        </p:nvSpPr>
        <p:spPr>
          <a:xfrm>
            <a:off x="548640" y="1325880"/>
            <a:ext cx="2697480" cy="1463040"/>
          </a:xfrm>
          <a:prstGeom prst="roundRect">
            <a:avLst>
              <a:gd name="adj" fmla="val 5000"/>
            </a:avLst>
          </a:prstGeom>
          <a:solidFill>
            <a:schemeClr val="bg2"/>
          </a:solidFill>
          <a:ln w="12700">
            <a:solidFill>
              <a:schemeClr val="bg2"/>
            </a:solidFill>
            <a:prstDash val="solid"/>
          </a:ln>
        </p:spPr>
      </p:sp>
      <p:sp>
        <p:nvSpPr>
          <p:cNvPr id="4" name="threat0 circle"/>
          <p:cNvSpPr/>
          <p:nvPr/>
        </p:nvSpPr>
        <p:spPr>
          <a:xfrm>
            <a:off x="713232" y="1490472"/>
            <a:ext cx="457200" cy="457200"/>
          </a:xfrm>
          <a:prstGeom prst="ellipse">
            <a:avLst/>
          </a:prstGeom>
          <a:solidFill>
            <a:schemeClr val="accent2"/>
          </a:solidFill>
          <a:ln w="12700">
            <a:solidFill>
              <a:schemeClr val="accent2"/>
            </a:solidFill>
            <a:prstDash val="solid"/>
          </a:ln>
        </p:spPr>
      </p:sp>
      <p:pic>
        <p:nvPicPr>
          <p:cNvPr id="5" name="threat0 icon" descr="preencoded.png">    </p:cNvPr>
          <p:cNvPicPr>
            <a:picLocks noChangeAspect="1"/>
          </p:cNvPicPr>
          <p:nvPr/>
        </p:nvPicPr>
        <p:blipFill>
          <a:blip r:embed="rId1"/>
          <a:stretch>
            <a:fillRect/>
          </a:stretch>
        </p:blipFill>
        <p:spPr>
          <a:xfrm>
            <a:off x="827532" y="1604772"/>
            <a:ext cx="228600" cy="228600"/>
          </a:xfrm>
          <a:prstGeom prst="rect">
            <a:avLst/>
          </a:prstGeom>
        </p:spPr>
      </p:pic>
      <p:sp>
        <p:nvSpPr>
          <p:cNvPr id="6" name="threat0 head"/>
          <p:cNvSpPr txBox="1"/>
          <p:nvPr/>
        </p:nvSpPr>
        <p:spPr>
          <a:xfrm>
            <a:off x="1280160" y="1463040"/>
            <a:ext cx="1828800" cy="502920"/>
          </a:xfrm>
          <a:prstGeom prst="rect">
            <a:avLst/>
          </a:prstGeom>
          <a:noFill/>
          <a:ln/>
        </p:spPr>
        <p:txBody>
          <a:bodyPr wrap="square" lIns="0" tIns="0" rIns="0" bIns="0" rtlCol="0" anchor="ctr"/>
          <a:lstStyle/>
          <a:p>
            <a:pPr indent="0" marL="0">
              <a:buNone/>
            </a:pPr>
            <a:r>
              <a:rPr lang="en-US" sz="1300" b="1" dirty="0">
                <a:solidFill>
                  <a:schemeClr val="tx1"/>
                </a:solidFill>
              </a:rPr>
              <a:t>Prompt injection</a:t>
            </a:r>
            <a:endParaRPr lang="en-US" sz="1300" dirty="0"/>
          </a:p>
        </p:txBody>
      </p:sp>
      <p:sp>
        <p:nvSpPr>
          <p:cNvPr id="7" name="threat0 desc"/>
          <p:cNvSpPr txBox="1"/>
          <p:nvPr/>
        </p:nvSpPr>
        <p:spPr>
          <a:xfrm>
            <a:off x="713232" y="2039112"/>
            <a:ext cx="2368296" cy="685800"/>
          </a:xfrm>
          <a:prstGeom prst="rect">
            <a:avLst/>
          </a:prstGeom>
          <a:noFill/>
          <a:ln/>
        </p:spPr>
        <p:txBody>
          <a:bodyPr wrap="square" lIns="0" tIns="0" rIns="0" bIns="0" rtlCol="0" anchor="t"/>
          <a:lstStyle/>
          <a:p>
            <a:pPr indent="0" marL="0">
              <a:buNone/>
            </a:pPr>
            <a:r>
              <a:rPr lang="en-US" sz="1150" dirty="0">
                <a:solidFill>
                  <a:schemeClr val="tx1"/>
                </a:solidFill>
              </a:rPr>
              <a:t>Лог, имэйл, вэб хуудсанд нуусан заавраар SOC-ийн LLM-ийг удирдах</a:t>
            </a:r>
            <a:endParaRPr lang="en-US" sz="1150" dirty="0"/>
          </a:p>
        </p:txBody>
      </p:sp>
      <p:sp>
        <p:nvSpPr>
          <p:cNvPr id="8" name="threat1"/>
          <p:cNvSpPr/>
          <p:nvPr/>
        </p:nvSpPr>
        <p:spPr>
          <a:xfrm>
            <a:off x="3429000" y="1325880"/>
            <a:ext cx="2697480" cy="1463040"/>
          </a:xfrm>
          <a:prstGeom prst="roundRect">
            <a:avLst>
              <a:gd name="adj" fmla="val 5000"/>
            </a:avLst>
          </a:prstGeom>
          <a:solidFill>
            <a:schemeClr val="bg2"/>
          </a:solidFill>
          <a:ln w="12700">
            <a:solidFill>
              <a:schemeClr val="bg2"/>
            </a:solidFill>
            <a:prstDash val="solid"/>
          </a:ln>
        </p:spPr>
      </p:sp>
      <p:sp>
        <p:nvSpPr>
          <p:cNvPr id="9" name="threat1 circle"/>
          <p:cNvSpPr/>
          <p:nvPr/>
        </p:nvSpPr>
        <p:spPr>
          <a:xfrm>
            <a:off x="3593592" y="1490472"/>
            <a:ext cx="457200" cy="457200"/>
          </a:xfrm>
          <a:prstGeom prst="ellipse">
            <a:avLst/>
          </a:prstGeom>
          <a:solidFill>
            <a:schemeClr val="accent2"/>
          </a:solidFill>
          <a:ln w="12700">
            <a:solidFill>
              <a:schemeClr val="accent2"/>
            </a:solidFill>
            <a:prstDash val="solid"/>
          </a:ln>
        </p:spPr>
      </p:sp>
      <p:pic>
        <p:nvPicPr>
          <p:cNvPr id="10" name="threat1 icon" descr="preencoded.png">    </p:cNvPr>
          <p:cNvPicPr>
            <a:picLocks noChangeAspect="1"/>
          </p:cNvPicPr>
          <p:nvPr/>
        </p:nvPicPr>
        <p:blipFill>
          <a:blip r:embed="rId2"/>
          <a:stretch>
            <a:fillRect/>
          </a:stretch>
        </p:blipFill>
        <p:spPr>
          <a:xfrm>
            <a:off x="3707892" y="1604772"/>
            <a:ext cx="228600" cy="228600"/>
          </a:xfrm>
          <a:prstGeom prst="rect">
            <a:avLst/>
          </a:prstGeom>
        </p:spPr>
      </p:pic>
      <p:sp>
        <p:nvSpPr>
          <p:cNvPr id="11" name="threat1 head"/>
          <p:cNvSpPr txBox="1"/>
          <p:nvPr/>
        </p:nvSpPr>
        <p:spPr>
          <a:xfrm>
            <a:off x="4160520" y="1463040"/>
            <a:ext cx="1828800" cy="502920"/>
          </a:xfrm>
          <a:prstGeom prst="rect">
            <a:avLst/>
          </a:prstGeom>
          <a:noFill/>
          <a:ln/>
        </p:spPr>
        <p:txBody>
          <a:bodyPr wrap="square" lIns="0" tIns="0" rIns="0" bIns="0" rtlCol="0" anchor="ctr"/>
          <a:lstStyle/>
          <a:p>
            <a:pPr indent="0" marL="0">
              <a:buNone/>
            </a:pPr>
            <a:r>
              <a:rPr lang="en-US" sz="1300" b="1" dirty="0">
                <a:solidFill>
                  <a:schemeClr val="tx1"/>
                </a:solidFill>
              </a:rPr>
              <a:t>Өгөгдөл хордуулах</a:t>
            </a:r>
            <a:endParaRPr lang="en-US" sz="1300" dirty="0"/>
          </a:p>
        </p:txBody>
      </p:sp>
      <p:sp>
        <p:nvSpPr>
          <p:cNvPr id="12" name="threat1 desc"/>
          <p:cNvSpPr txBox="1"/>
          <p:nvPr/>
        </p:nvSpPr>
        <p:spPr>
          <a:xfrm>
            <a:off x="3593592" y="2039112"/>
            <a:ext cx="2368296" cy="685800"/>
          </a:xfrm>
          <a:prstGeom prst="rect">
            <a:avLst/>
          </a:prstGeom>
          <a:noFill/>
          <a:ln/>
        </p:spPr>
        <p:txBody>
          <a:bodyPr wrap="square" lIns="0" tIns="0" rIns="0" bIns="0" rtlCol="0" anchor="t"/>
          <a:lstStyle/>
          <a:p>
            <a:pPr indent="0" marL="0">
              <a:buNone/>
            </a:pPr>
            <a:r>
              <a:rPr lang="en-US" sz="1150" dirty="0">
                <a:solidFill>
                  <a:schemeClr val="tx1"/>
                </a:solidFill>
              </a:rPr>
              <a:t>Сургалтын өгөгдөлд хортой жишээ → загвар тодорхой халдлагад «сохор»</a:t>
            </a:r>
            <a:endParaRPr lang="en-US" sz="1150" dirty="0"/>
          </a:p>
        </p:txBody>
      </p:sp>
      <p:sp>
        <p:nvSpPr>
          <p:cNvPr id="13" name="threat2"/>
          <p:cNvSpPr/>
          <p:nvPr/>
        </p:nvSpPr>
        <p:spPr>
          <a:xfrm>
            <a:off x="6309360" y="1325880"/>
            <a:ext cx="2697480" cy="1463040"/>
          </a:xfrm>
          <a:prstGeom prst="roundRect">
            <a:avLst>
              <a:gd name="adj" fmla="val 5000"/>
            </a:avLst>
          </a:prstGeom>
          <a:solidFill>
            <a:schemeClr val="bg2"/>
          </a:solidFill>
          <a:ln w="12700">
            <a:solidFill>
              <a:schemeClr val="bg2"/>
            </a:solidFill>
            <a:prstDash val="solid"/>
          </a:ln>
        </p:spPr>
      </p:sp>
      <p:sp>
        <p:nvSpPr>
          <p:cNvPr id="14" name="threat2 circle"/>
          <p:cNvSpPr/>
          <p:nvPr/>
        </p:nvSpPr>
        <p:spPr>
          <a:xfrm>
            <a:off x="6473952" y="1490472"/>
            <a:ext cx="457200" cy="457200"/>
          </a:xfrm>
          <a:prstGeom prst="ellipse">
            <a:avLst/>
          </a:prstGeom>
          <a:solidFill>
            <a:schemeClr val="accent2"/>
          </a:solidFill>
          <a:ln w="12700">
            <a:solidFill>
              <a:schemeClr val="accent2"/>
            </a:solidFill>
            <a:prstDash val="solid"/>
          </a:ln>
        </p:spPr>
      </p:sp>
      <p:pic>
        <p:nvPicPr>
          <p:cNvPr id="15" name="threat2 icon" descr="preencoded.png">    </p:cNvPr>
          <p:cNvPicPr>
            <a:picLocks noChangeAspect="1"/>
          </p:cNvPicPr>
          <p:nvPr/>
        </p:nvPicPr>
        <p:blipFill>
          <a:blip r:embed="rId3"/>
          <a:stretch>
            <a:fillRect/>
          </a:stretch>
        </p:blipFill>
        <p:spPr>
          <a:xfrm>
            <a:off x="6588252" y="1604772"/>
            <a:ext cx="228600" cy="228600"/>
          </a:xfrm>
          <a:prstGeom prst="rect">
            <a:avLst/>
          </a:prstGeom>
        </p:spPr>
      </p:pic>
      <p:sp>
        <p:nvSpPr>
          <p:cNvPr id="16" name="threat2 head"/>
          <p:cNvSpPr txBox="1"/>
          <p:nvPr/>
        </p:nvSpPr>
        <p:spPr>
          <a:xfrm>
            <a:off x="7040880" y="1463040"/>
            <a:ext cx="1828800" cy="502920"/>
          </a:xfrm>
          <a:prstGeom prst="rect">
            <a:avLst/>
          </a:prstGeom>
          <a:noFill/>
          <a:ln/>
        </p:spPr>
        <p:txBody>
          <a:bodyPr wrap="square" lIns="0" tIns="0" rIns="0" bIns="0" rtlCol="0" anchor="ctr"/>
          <a:lstStyle/>
          <a:p>
            <a:pPr indent="0" marL="0">
              <a:buNone/>
            </a:pPr>
            <a:r>
              <a:rPr lang="en-US" sz="1300" b="1" dirty="0">
                <a:solidFill>
                  <a:schemeClr val="tx1"/>
                </a:solidFill>
              </a:rPr>
              <a:t>Зайлсхийлт (evasion)</a:t>
            </a:r>
            <a:endParaRPr lang="en-US" sz="1300" dirty="0"/>
          </a:p>
        </p:txBody>
      </p:sp>
      <p:sp>
        <p:nvSpPr>
          <p:cNvPr id="17" name="threat2 desc"/>
          <p:cNvSpPr txBox="1"/>
          <p:nvPr/>
        </p:nvSpPr>
        <p:spPr>
          <a:xfrm>
            <a:off x="6473952" y="2039112"/>
            <a:ext cx="2368296" cy="685800"/>
          </a:xfrm>
          <a:prstGeom prst="rect">
            <a:avLst/>
          </a:prstGeom>
          <a:noFill/>
          <a:ln/>
        </p:spPr>
        <p:txBody>
          <a:bodyPr wrap="square" lIns="0" tIns="0" rIns="0" bIns="0" rtlCol="0" anchor="t"/>
          <a:lstStyle/>
          <a:p>
            <a:pPr indent="0" marL="0">
              <a:buNone/>
            </a:pPr>
            <a:r>
              <a:rPr lang="en-US" sz="1150" dirty="0">
                <a:solidFill>
                  <a:schemeClr val="tx1"/>
                </a:solidFill>
              </a:rPr>
              <a:t>Оролтыг бага өөрчилж хортой кодыг «цэвэр» гэж ангилуулах</a:t>
            </a:r>
            <a:endParaRPr lang="en-US" sz="1150" dirty="0"/>
          </a:p>
        </p:txBody>
      </p:sp>
      <p:sp>
        <p:nvSpPr>
          <p:cNvPr id="18" name="threat3"/>
          <p:cNvSpPr/>
          <p:nvPr/>
        </p:nvSpPr>
        <p:spPr>
          <a:xfrm>
            <a:off x="548640" y="2971800"/>
            <a:ext cx="2697480" cy="1463040"/>
          </a:xfrm>
          <a:prstGeom prst="roundRect">
            <a:avLst>
              <a:gd name="adj" fmla="val 5000"/>
            </a:avLst>
          </a:prstGeom>
          <a:solidFill>
            <a:schemeClr val="bg2"/>
          </a:solidFill>
          <a:ln w="12700">
            <a:solidFill>
              <a:schemeClr val="bg2"/>
            </a:solidFill>
            <a:prstDash val="solid"/>
          </a:ln>
        </p:spPr>
      </p:sp>
      <p:sp>
        <p:nvSpPr>
          <p:cNvPr id="19" name="threat3 circle"/>
          <p:cNvSpPr/>
          <p:nvPr/>
        </p:nvSpPr>
        <p:spPr>
          <a:xfrm>
            <a:off x="713232" y="3136392"/>
            <a:ext cx="457200" cy="457200"/>
          </a:xfrm>
          <a:prstGeom prst="ellipse">
            <a:avLst/>
          </a:prstGeom>
          <a:solidFill>
            <a:schemeClr val="accent2"/>
          </a:solidFill>
          <a:ln w="12700">
            <a:solidFill>
              <a:schemeClr val="accent2"/>
            </a:solidFill>
            <a:prstDash val="solid"/>
          </a:ln>
        </p:spPr>
      </p:sp>
      <p:pic>
        <p:nvPicPr>
          <p:cNvPr id="20" name="threat3 icon" descr="preencoded.png">    </p:cNvPr>
          <p:cNvPicPr>
            <a:picLocks noChangeAspect="1"/>
          </p:cNvPicPr>
          <p:nvPr/>
        </p:nvPicPr>
        <p:blipFill>
          <a:blip r:embed="rId4"/>
          <a:stretch>
            <a:fillRect/>
          </a:stretch>
        </p:blipFill>
        <p:spPr>
          <a:xfrm>
            <a:off x="827532" y="3250692"/>
            <a:ext cx="228600" cy="228600"/>
          </a:xfrm>
          <a:prstGeom prst="rect">
            <a:avLst/>
          </a:prstGeom>
        </p:spPr>
      </p:pic>
      <p:sp>
        <p:nvSpPr>
          <p:cNvPr id="21" name="threat3 head"/>
          <p:cNvSpPr txBox="1"/>
          <p:nvPr/>
        </p:nvSpPr>
        <p:spPr>
          <a:xfrm>
            <a:off x="1280160" y="3108960"/>
            <a:ext cx="1828800" cy="502920"/>
          </a:xfrm>
          <a:prstGeom prst="rect">
            <a:avLst/>
          </a:prstGeom>
          <a:noFill/>
          <a:ln/>
        </p:spPr>
        <p:txBody>
          <a:bodyPr wrap="square" lIns="0" tIns="0" rIns="0" bIns="0" rtlCol="0" anchor="ctr"/>
          <a:lstStyle/>
          <a:p>
            <a:pPr indent="0" marL="0">
              <a:buNone/>
            </a:pPr>
            <a:r>
              <a:rPr lang="en-US" sz="1300" b="1" dirty="0">
                <a:solidFill>
                  <a:schemeClr val="tx1"/>
                </a:solidFill>
              </a:rPr>
              <a:t>Нийлүүлэлтийн гинж</a:t>
            </a:r>
            <a:endParaRPr lang="en-US" sz="1300" dirty="0"/>
          </a:p>
        </p:txBody>
      </p:sp>
      <p:sp>
        <p:nvSpPr>
          <p:cNvPr id="22" name="threat3 desc"/>
          <p:cNvSpPr txBox="1"/>
          <p:nvPr/>
        </p:nvSpPr>
        <p:spPr>
          <a:xfrm>
            <a:off x="713232" y="3685032"/>
            <a:ext cx="2368296" cy="685800"/>
          </a:xfrm>
          <a:prstGeom prst="rect">
            <a:avLst/>
          </a:prstGeom>
          <a:noFill/>
          <a:ln/>
        </p:spPr>
        <p:txBody>
          <a:bodyPr wrap="square" lIns="0" tIns="0" rIns="0" bIns="0" rtlCol="0" anchor="t"/>
          <a:lstStyle/>
          <a:p>
            <a:pPr indent="0" marL="0">
              <a:buNone/>
            </a:pPr>
            <a:r>
              <a:rPr lang="en-US" sz="1150" dirty="0">
                <a:solidFill>
                  <a:schemeClr val="tx1"/>
                </a:solidFill>
              </a:rPr>
              <a:t>Хордсон нээлттэй загвар, сан, өгөгдлийн багцаар арын хаалга суух</a:t>
            </a:r>
            <a:endParaRPr lang="en-US" sz="1150" dirty="0"/>
          </a:p>
        </p:txBody>
      </p:sp>
      <p:sp>
        <p:nvSpPr>
          <p:cNvPr id="23" name="threat4"/>
          <p:cNvSpPr/>
          <p:nvPr/>
        </p:nvSpPr>
        <p:spPr>
          <a:xfrm>
            <a:off x="3429000" y="2971800"/>
            <a:ext cx="2697480" cy="1463040"/>
          </a:xfrm>
          <a:prstGeom prst="roundRect">
            <a:avLst>
              <a:gd name="adj" fmla="val 5000"/>
            </a:avLst>
          </a:prstGeom>
          <a:solidFill>
            <a:schemeClr val="bg2"/>
          </a:solidFill>
          <a:ln w="12700">
            <a:solidFill>
              <a:schemeClr val="bg2"/>
            </a:solidFill>
            <a:prstDash val="solid"/>
          </a:ln>
        </p:spPr>
      </p:sp>
      <p:sp>
        <p:nvSpPr>
          <p:cNvPr id="24" name="threat4 circle"/>
          <p:cNvSpPr/>
          <p:nvPr/>
        </p:nvSpPr>
        <p:spPr>
          <a:xfrm>
            <a:off x="3593592" y="3136392"/>
            <a:ext cx="457200" cy="457200"/>
          </a:xfrm>
          <a:prstGeom prst="ellipse">
            <a:avLst/>
          </a:prstGeom>
          <a:solidFill>
            <a:schemeClr val="accent2"/>
          </a:solidFill>
          <a:ln w="12700">
            <a:solidFill>
              <a:schemeClr val="accent2"/>
            </a:solidFill>
            <a:prstDash val="solid"/>
          </a:ln>
        </p:spPr>
      </p:sp>
      <p:pic>
        <p:nvPicPr>
          <p:cNvPr id="25" name="threat4 icon" descr="preencoded.png">    </p:cNvPr>
          <p:cNvPicPr>
            <a:picLocks noChangeAspect="1"/>
          </p:cNvPicPr>
          <p:nvPr/>
        </p:nvPicPr>
        <p:blipFill>
          <a:blip r:embed="rId5"/>
          <a:stretch>
            <a:fillRect/>
          </a:stretch>
        </p:blipFill>
        <p:spPr>
          <a:xfrm>
            <a:off x="3707892" y="3250692"/>
            <a:ext cx="228600" cy="228600"/>
          </a:xfrm>
          <a:prstGeom prst="rect">
            <a:avLst/>
          </a:prstGeom>
        </p:spPr>
      </p:pic>
      <p:sp>
        <p:nvSpPr>
          <p:cNvPr id="26" name="threat4 head"/>
          <p:cNvSpPr txBox="1"/>
          <p:nvPr/>
        </p:nvSpPr>
        <p:spPr>
          <a:xfrm>
            <a:off x="4160520" y="3108960"/>
            <a:ext cx="1828800" cy="502920"/>
          </a:xfrm>
          <a:prstGeom prst="rect">
            <a:avLst/>
          </a:prstGeom>
          <a:noFill/>
          <a:ln/>
        </p:spPr>
        <p:txBody>
          <a:bodyPr wrap="square" lIns="0" tIns="0" rIns="0" bIns="0" rtlCol="0" anchor="ctr"/>
          <a:lstStyle/>
          <a:p>
            <a:pPr indent="0" marL="0">
              <a:buNone/>
            </a:pPr>
            <a:r>
              <a:rPr lang="en-US" sz="1300" b="1" dirty="0">
                <a:solidFill>
                  <a:schemeClr val="tx1"/>
                </a:solidFill>
              </a:rPr>
              <a:t>Агентын эрх хэтрүүлэлт</a:t>
            </a:r>
            <a:endParaRPr lang="en-US" sz="1300" dirty="0"/>
          </a:p>
        </p:txBody>
      </p:sp>
      <p:sp>
        <p:nvSpPr>
          <p:cNvPr id="27" name="threat4 desc"/>
          <p:cNvSpPr txBox="1"/>
          <p:nvPr/>
        </p:nvSpPr>
        <p:spPr>
          <a:xfrm>
            <a:off x="3593592" y="3685032"/>
            <a:ext cx="2368296" cy="685800"/>
          </a:xfrm>
          <a:prstGeom prst="rect">
            <a:avLst/>
          </a:prstGeom>
          <a:noFill/>
          <a:ln/>
        </p:spPr>
        <p:txBody>
          <a:bodyPr wrap="square" lIns="0" tIns="0" rIns="0" bIns="0" rtlCol="0" anchor="t"/>
          <a:lstStyle/>
          <a:p>
            <a:pPr indent="0" marL="0">
              <a:buNone/>
            </a:pPr>
            <a:r>
              <a:rPr lang="en-US" sz="1150" dirty="0">
                <a:solidFill>
                  <a:schemeClr val="tx1"/>
                </a:solidFill>
              </a:rPr>
              <a:t>Хэт их эрх, хэрэгсэлтэй агентын автомат үйлдлийг халдагч ашиглах</a:t>
            </a:r>
            <a:endParaRPr lang="en-US" sz="1150" dirty="0"/>
          </a:p>
        </p:txBody>
      </p:sp>
      <p:sp>
        <p:nvSpPr>
          <p:cNvPr id="28" name="threat5"/>
          <p:cNvSpPr/>
          <p:nvPr/>
        </p:nvSpPr>
        <p:spPr>
          <a:xfrm>
            <a:off x="6309360" y="2971800"/>
            <a:ext cx="2697480" cy="1463040"/>
          </a:xfrm>
          <a:prstGeom prst="roundRect">
            <a:avLst>
              <a:gd name="adj" fmla="val 5000"/>
            </a:avLst>
          </a:prstGeom>
          <a:solidFill>
            <a:schemeClr val="bg2"/>
          </a:solidFill>
          <a:ln w="12700">
            <a:solidFill>
              <a:schemeClr val="bg2"/>
            </a:solidFill>
            <a:prstDash val="solid"/>
          </a:ln>
        </p:spPr>
      </p:sp>
      <p:sp>
        <p:nvSpPr>
          <p:cNvPr id="29" name="threat5 circle"/>
          <p:cNvSpPr/>
          <p:nvPr/>
        </p:nvSpPr>
        <p:spPr>
          <a:xfrm>
            <a:off x="6473952" y="3136392"/>
            <a:ext cx="457200" cy="457200"/>
          </a:xfrm>
          <a:prstGeom prst="ellipse">
            <a:avLst/>
          </a:prstGeom>
          <a:solidFill>
            <a:schemeClr val="accent2"/>
          </a:solidFill>
          <a:ln w="12700">
            <a:solidFill>
              <a:schemeClr val="accent2"/>
            </a:solidFill>
            <a:prstDash val="solid"/>
          </a:ln>
        </p:spPr>
      </p:sp>
      <p:pic>
        <p:nvPicPr>
          <p:cNvPr id="30" name="threat5 icon" descr="preencoded.png">    </p:cNvPr>
          <p:cNvPicPr>
            <a:picLocks noChangeAspect="1"/>
          </p:cNvPicPr>
          <p:nvPr/>
        </p:nvPicPr>
        <p:blipFill>
          <a:blip r:embed="rId6"/>
          <a:stretch>
            <a:fillRect/>
          </a:stretch>
        </p:blipFill>
        <p:spPr>
          <a:xfrm>
            <a:off x="6588252" y="3250692"/>
            <a:ext cx="228600" cy="228600"/>
          </a:xfrm>
          <a:prstGeom prst="rect">
            <a:avLst/>
          </a:prstGeom>
        </p:spPr>
      </p:pic>
      <p:sp>
        <p:nvSpPr>
          <p:cNvPr id="31" name="threat5 head"/>
          <p:cNvSpPr txBox="1"/>
          <p:nvPr/>
        </p:nvSpPr>
        <p:spPr>
          <a:xfrm>
            <a:off x="7040880" y="3108960"/>
            <a:ext cx="1828800" cy="502920"/>
          </a:xfrm>
          <a:prstGeom prst="rect">
            <a:avLst/>
          </a:prstGeom>
          <a:noFill/>
          <a:ln/>
        </p:spPr>
        <p:txBody>
          <a:bodyPr wrap="square" lIns="0" tIns="0" rIns="0" bIns="0" rtlCol="0" anchor="ctr"/>
          <a:lstStyle/>
          <a:p>
            <a:pPr indent="0" marL="0">
              <a:buNone/>
            </a:pPr>
            <a:r>
              <a:rPr lang="en-US" sz="1300" b="1" dirty="0">
                <a:solidFill>
                  <a:schemeClr val="tx1"/>
                </a:solidFill>
              </a:rPr>
              <a:t>Хамгаалалт тойрох</a:t>
            </a:r>
            <a:endParaRPr lang="en-US" sz="1300" dirty="0"/>
          </a:p>
        </p:txBody>
      </p:sp>
      <p:sp>
        <p:nvSpPr>
          <p:cNvPr id="32" name="threat5 desc"/>
          <p:cNvSpPr txBox="1"/>
          <p:nvPr/>
        </p:nvSpPr>
        <p:spPr>
          <a:xfrm>
            <a:off x="6473952" y="3685032"/>
            <a:ext cx="2368296" cy="685800"/>
          </a:xfrm>
          <a:prstGeom prst="rect">
            <a:avLst/>
          </a:prstGeom>
          <a:noFill/>
          <a:ln/>
        </p:spPr>
        <p:txBody>
          <a:bodyPr wrap="square" lIns="0" tIns="0" rIns="0" bIns="0" rtlCol="0" anchor="t"/>
          <a:lstStyle/>
          <a:p>
            <a:pPr indent="0" marL="0">
              <a:buNone/>
            </a:pPr>
            <a:r>
              <a:rPr lang="en-US" sz="1150" dirty="0">
                <a:solidFill>
                  <a:schemeClr val="tx1"/>
                </a:solidFill>
              </a:rPr>
              <a:t>«CTF оюутан», «судлаач» дүр, даалгаврыг жижиглэх (Anthropic, Google баримтжуулсан)</a:t>
            </a:r>
            <a:endParaRPr lang="en-US" sz="1150" dirty="0"/>
          </a:p>
        </p:txBody>
      </p:sp>
      <p:sp>
        <p:nvSpPr>
          <p:cNvPr id="33" name="shadow card"/>
          <p:cNvSpPr/>
          <p:nvPr/>
        </p:nvSpPr>
        <p:spPr>
          <a:xfrm>
            <a:off x="9189720" y="1325880"/>
            <a:ext cx="2453335" cy="3108960"/>
          </a:xfrm>
          <a:prstGeom prst="roundRect">
            <a:avLst>
              <a:gd name="adj" fmla="val 2982"/>
            </a:avLst>
          </a:prstGeom>
          <a:solidFill>
            <a:schemeClr val="tx1"/>
          </a:solidFill>
          <a:ln w="12700">
            <a:solidFill>
              <a:schemeClr val="tx1"/>
            </a:solidFill>
            <a:prstDash val="solid"/>
          </a:ln>
        </p:spPr>
      </p:sp>
      <p:sp>
        <p:nvSpPr>
          <p:cNvPr id="34" name="shadow head"/>
          <p:cNvSpPr txBox="1"/>
          <p:nvPr/>
        </p:nvSpPr>
        <p:spPr>
          <a:xfrm>
            <a:off x="9372600" y="1463040"/>
            <a:ext cx="2087575" cy="365760"/>
          </a:xfrm>
          <a:prstGeom prst="rect">
            <a:avLst/>
          </a:prstGeom>
          <a:noFill/>
          <a:ln/>
        </p:spPr>
        <p:txBody>
          <a:bodyPr wrap="square" lIns="0" tIns="0" rIns="0" bIns="0" rtlCol="0" anchor="ctr"/>
          <a:lstStyle/>
          <a:p>
            <a:pPr indent="0" marL="0">
              <a:buNone/>
            </a:pPr>
            <a:r>
              <a:rPr lang="en-US" sz="1300" b="1" dirty="0">
                <a:solidFill>
                  <a:schemeClr val="accent4"/>
                </a:solidFill>
              </a:rPr>
              <a:t>Сүүдрийн AI (shadow AI)</a:t>
            </a:r>
            <a:endParaRPr lang="en-US" sz="1300" dirty="0"/>
          </a:p>
        </p:txBody>
      </p:sp>
      <p:sp>
        <p:nvSpPr>
          <p:cNvPr id="35" name="shadow stats"/>
          <p:cNvSpPr txBox="1"/>
          <p:nvPr/>
        </p:nvSpPr>
        <p:spPr>
          <a:xfrm>
            <a:off x="9372600" y="1874520"/>
            <a:ext cx="2087575" cy="2194560"/>
          </a:xfrm>
          <a:prstGeom prst="rect">
            <a:avLst/>
          </a:prstGeom>
          <a:noFill/>
          <a:ln/>
        </p:spPr>
        <p:txBody>
          <a:bodyPr wrap="square" lIns="0" tIns="0" rIns="0" bIns="0" rtlCol="0" anchor="t"/>
          <a:lstStyle/>
          <a:p>
            <a:pPr indent="0" marL="0">
              <a:spcAft>
                <a:spcPts val="800"/>
              </a:spcAft>
              <a:buNone/>
            </a:pPr>
            <a:r>
              <a:rPr lang="en-US" sz="2400" b="1" dirty="0">
                <a:solidFill>
                  <a:schemeClr val="bg1"/>
                </a:solidFill>
              </a:rPr>
              <a:t>1/5 </a:t>
            </a:r>
            <a:pPr indent="0" marL="0">
              <a:spcAft>
                <a:spcPts val="800"/>
              </a:spcAft>
              <a:buNone/>
            </a:pPr>
            <a:r>
              <a:rPr lang="en-US" sz="1150" dirty="0">
                <a:solidFill>
                  <a:schemeClr val="bg1"/>
                </a:solidFill>
              </a:rPr>
              <a:t>байгууллага сүүдрийн AI-аас үүдэлтэй зөрчилд өртсөн</a:t>
            </a:r>
            <a:endParaRPr lang="en-US" sz="2400" dirty="0"/>
          </a:p>
          <a:p>
            <a:pPr indent="0" marL="0">
              <a:spcAft>
                <a:spcPts val="800"/>
              </a:spcAft>
              <a:buNone/>
            </a:pPr>
            <a:r>
              <a:rPr lang="en-US" sz="2000" b="1" dirty="0">
                <a:solidFill>
                  <a:schemeClr val="bg1"/>
                </a:solidFill>
              </a:rPr>
              <a:t>+670 мянган $ </a:t>
            </a:r>
            <a:pPr indent="0" marL="0">
              <a:spcAft>
                <a:spcPts val="800"/>
              </a:spcAft>
              <a:buNone/>
            </a:pPr>
            <a:r>
              <a:rPr lang="en-US" sz="1150" dirty="0">
                <a:solidFill>
                  <a:schemeClr val="bg1"/>
                </a:solidFill>
              </a:rPr>
              <a:t>нэг зөрчлийн нэмэлт хохирол</a:t>
            </a:r>
            <a:endParaRPr lang="en-US" sz="2400" dirty="0"/>
          </a:p>
          <a:p>
            <a:pPr indent="0" marL="0">
              <a:spcAft>
                <a:spcPts val="800"/>
              </a:spcAft>
              <a:buNone/>
            </a:pPr>
            <a:r>
              <a:rPr lang="en-US" sz="2400" b="1" dirty="0">
                <a:solidFill>
                  <a:schemeClr val="bg1"/>
                </a:solidFill>
              </a:rPr>
              <a:t>37% </a:t>
            </a:r>
            <a:pPr indent="0" marL="0">
              <a:spcAft>
                <a:spcPts val="800"/>
              </a:spcAft>
              <a:buNone/>
            </a:pPr>
            <a:r>
              <a:rPr lang="en-US" sz="1150" dirty="0">
                <a:solidFill>
                  <a:schemeClr val="bg1"/>
                </a:solidFill>
              </a:rPr>
              <a:t>нь л AI ашиглалтын бодлоготой</a:t>
            </a:r>
            <a:endParaRPr lang="en-US" sz="2400" dirty="0"/>
          </a:p>
        </p:txBody>
      </p:sp>
      <p:sp>
        <p:nvSpPr>
          <p:cNvPr id="36" name="shadow source"/>
          <p:cNvSpPr txBox="1"/>
          <p:nvPr/>
        </p:nvSpPr>
        <p:spPr>
          <a:xfrm>
            <a:off x="9372600" y="4069080"/>
            <a:ext cx="2087575" cy="274320"/>
          </a:xfrm>
          <a:prstGeom prst="rect">
            <a:avLst/>
          </a:prstGeom>
          <a:noFill/>
          <a:ln/>
        </p:spPr>
        <p:txBody>
          <a:bodyPr wrap="square" lIns="0" tIns="0" rIns="0" bIns="0" rtlCol="0" anchor="ctr"/>
          <a:lstStyle/>
          <a:p>
            <a:pPr indent="0" marL="0">
              <a:buNone/>
            </a:pPr>
            <a:r>
              <a:rPr lang="en-US" sz="1000" i="1" dirty="0">
                <a:solidFill>
                  <a:schemeClr val="accent5"/>
                </a:solidFill>
              </a:rPr>
              <a:t>IBM Cost of a Data Breach 2025</a:t>
            </a:r>
            <a:endParaRPr lang="en-US" sz="1000" dirty="0"/>
          </a:p>
        </p:txBody>
      </p:sp>
      <p:sp>
        <p:nvSpPr>
          <p:cNvPr id="37" name="frameworks card"/>
          <p:cNvSpPr/>
          <p:nvPr/>
        </p:nvSpPr>
        <p:spPr>
          <a:xfrm>
            <a:off x="548640" y="4663440"/>
            <a:ext cx="11094415" cy="1554480"/>
          </a:xfrm>
          <a:prstGeom prst="roundRect">
            <a:avLst>
              <a:gd name="adj" fmla="val 4706"/>
            </a:avLst>
          </a:prstGeom>
          <a:solidFill>
            <a:schemeClr val="accent6"/>
          </a:solidFill>
          <a:ln w="12700">
            <a:solidFill>
              <a:schemeClr val="accent6"/>
            </a:solidFill>
            <a:prstDash val="solid"/>
          </a:ln>
        </p:spPr>
      </p:sp>
      <p:sp>
        <p:nvSpPr>
          <p:cNvPr id="38" name="fw head"/>
          <p:cNvSpPr txBox="1"/>
          <p:nvPr/>
        </p:nvSpPr>
        <p:spPr>
          <a:xfrm>
            <a:off x="749808" y="4773168"/>
            <a:ext cx="3657600" cy="320040"/>
          </a:xfrm>
          <a:prstGeom prst="rect">
            <a:avLst/>
          </a:prstGeom>
          <a:noFill/>
          <a:ln/>
        </p:spPr>
        <p:txBody>
          <a:bodyPr wrap="square" lIns="0" tIns="0" rIns="0" bIns="0" rtlCol="0" anchor="ctr"/>
          <a:lstStyle/>
          <a:p>
            <a:pPr indent="0" marL="0">
              <a:buNone/>
            </a:pPr>
            <a:r>
              <a:rPr lang="en-US" sz="1400" b="1" dirty="0">
                <a:solidFill>
                  <a:schemeClr val="tx1"/>
                </a:solidFill>
              </a:rPr>
              <a:t>Хамгаалах хүрээ, арга</a:t>
            </a:r>
            <a:endParaRPr lang="en-US" sz="1400" dirty="0"/>
          </a:p>
        </p:txBody>
      </p:sp>
      <p:sp>
        <p:nvSpPr>
          <p:cNvPr id="39" name="fw standards"/>
          <p:cNvSpPr txBox="1"/>
          <p:nvPr/>
        </p:nvSpPr>
        <p:spPr>
          <a:xfrm>
            <a:off x="749808" y="5138928"/>
            <a:ext cx="5029200" cy="1005840"/>
          </a:xfrm>
          <a:prstGeom prst="rect">
            <a:avLst/>
          </a:prstGeom>
          <a:noFill/>
          <a:ln/>
        </p:spPr>
        <p:txBody>
          <a:bodyPr wrap="square" lIns="0" tIns="0" rIns="0" bIns="0" rtlCol="0" anchor="t"/>
          <a:lstStyle/>
          <a:p>
            <a:pPr indent="0" marL="0">
              <a:buNone/>
            </a:pPr>
            <a:r>
              <a:rPr lang="en-US" sz="1200" b="1" dirty="0">
                <a:solidFill>
                  <a:schemeClr val="tx1"/>
                </a:solidFill>
              </a:rPr>
              <a:t>Стандарт: </a:t>
            </a:r>
            <a:pPr indent="0" marL="0">
              <a:buNone/>
            </a:pPr>
            <a:r>
              <a:rPr lang="en-US" sz="1200" dirty="0">
                <a:solidFill>
                  <a:schemeClr val="tx1"/>
                </a:solidFill>
              </a:rPr>
              <a:t>NIST AI RMF 1.0 • NIST AI 100-2e2025 • MITRE ATLAS • OWASP Top 10 for LLM • ISO/IEC 42001</a:t>
            </a:r>
            <a:endParaRPr lang="en-US" sz="1200" dirty="0"/>
          </a:p>
        </p:txBody>
      </p:sp>
      <p:sp>
        <p:nvSpPr>
          <p:cNvPr id="40" name="fw technical"/>
          <p:cNvSpPr txBox="1"/>
          <p:nvPr/>
        </p:nvSpPr>
        <p:spPr>
          <a:xfrm>
            <a:off x="6035040" y="5138928"/>
            <a:ext cx="5425135" cy="1005840"/>
          </a:xfrm>
          <a:prstGeom prst="rect">
            <a:avLst/>
          </a:prstGeom>
          <a:noFill/>
          <a:ln/>
        </p:spPr>
        <p:txBody>
          <a:bodyPr wrap="square" lIns="0" tIns="0" rIns="0" bIns="0" rtlCol="0" anchor="t"/>
          <a:lstStyle/>
          <a:p>
            <a:pPr indent="0" marL="0">
              <a:buNone/>
            </a:pPr>
            <a:r>
              <a:rPr lang="en-US" sz="1200" b="1" dirty="0">
                <a:solidFill>
                  <a:schemeClr val="tx1"/>
                </a:solidFill>
              </a:rPr>
              <a:t>Техник, зохион байгуулалт: </a:t>
            </a:r>
            <a:pPr indent="0" marL="0">
              <a:buNone/>
            </a:pPr>
            <a:r>
              <a:rPr lang="en-US" sz="1200" dirty="0">
                <a:solidFill>
                  <a:schemeClr val="tx1"/>
                </a:solidFill>
              </a:rPr>
              <a:t>оролт/гаралтын шүүлт • агентад хамгийн бага эрх • хэрэгслийн дуудлагыг бүртгэх • AI red team • загварын гарал үүсэл • AI засаглалын бодлого, системийн бүртгэл, зөрчил мэдээлэх журам</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Олон улсын туршлага, сургамж</a:t>
            </a:r>
            <a:endParaRPr lang="en-US" sz="2800" dirty="0"/>
          </a:p>
        </p:txBody>
      </p:sp>
      <p:sp>
        <p:nvSpPr>
          <p:cNvPr id="3" name="intl0"/>
          <p:cNvSpPr/>
          <p:nvPr/>
        </p:nvSpPr>
        <p:spPr>
          <a:xfrm>
            <a:off x="548640" y="1325880"/>
            <a:ext cx="2606040" cy="3749040"/>
          </a:xfrm>
          <a:prstGeom prst="roundRect">
            <a:avLst>
              <a:gd name="adj" fmla="val 2807"/>
            </a:avLst>
          </a:prstGeom>
          <a:solidFill>
            <a:schemeClr val="bg2"/>
          </a:solidFill>
          <a:ln w="12700">
            <a:solidFill>
              <a:schemeClr val="bg2"/>
            </a:solidFill>
            <a:prstDash val="solid"/>
          </a:ln>
        </p:spPr>
      </p:sp>
      <p:sp>
        <p:nvSpPr>
          <p:cNvPr id="4" name="intl0 circle"/>
          <p:cNvSpPr/>
          <p:nvPr/>
        </p:nvSpPr>
        <p:spPr>
          <a:xfrm>
            <a:off x="749808" y="1527048"/>
            <a:ext cx="548640" cy="548640"/>
          </a:xfrm>
          <a:prstGeom prst="ellipse">
            <a:avLst/>
          </a:prstGeom>
          <a:solidFill>
            <a:schemeClr val="accent3"/>
          </a:solidFill>
          <a:ln w="12700">
            <a:solidFill>
              <a:schemeClr val="accent3"/>
            </a:solidFill>
            <a:prstDash val="solid"/>
          </a:ln>
        </p:spPr>
      </p:sp>
      <p:pic>
        <p:nvPicPr>
          <p:cNvPr id="5" name="intl0 icon" descr="preencoded.png">    </p:cNvPr>
          <p:cNvPicPr>
            <a:picLocks noChangeAspect="1"/>
          </p:cNvPicPr>
          <p:nvPr/>
        </p:nvPicPr>
        <p:blipFill>
          <a:blip r:embed="rId1"/>
          <a:stretch>
            <a:fillRect/>
          </a:stretch>
        </p:blipFill>
        <p:spPr>
          <a:xfrm>
            <a:off x="886968" y="1664208"/>
            <a:ext cx="274320" cy="274320"/>
          </a:xfrm>
          <a:prstGeom prst="rect">
            <a:avLst/>
          </a:prstGeom>
        </p:spPr>
      </p:pic>
      <p:sp>
        <p:nvSpPr>
          <p:cNvPr id="6" name="intl0 head"/>
          <p:cNvSpPr txBox="1"/>
          <p:nvPr/>
        </p:nvSpPr>
        <p:spPr>
          <a:xfrm>
            <a:off x="1417320" y="1527048"/>
            <a:ext cx="1600200" cy="548640"/>
          </a:xfrm>
          <a:prstGeom prst="rect">
            <a:avLst/>
          </a:prstGeom>
          <a:noFill/>
          <a:ln/>
        </p:spPr>
        <p:txBody>
          <a:bodyPr wrap="square" lIns="0" tIns="0" rIns="0" bIns="0" rtlCol="0" anchor="ctr"/>
          <a:lstStyle/>
          <a:p>
            <a:pPr indent="0" marL="0">
              <a:buNone/>
            </a:pPr>
            <a:r>
              <a:rPr lang="en-US" sz="1500" b="1" dirty="0">
                <a:solidFill>
                  <a:schemeClr val="tx1"/>
                </a:solidFill>
              </a:rPr>
              <a:t>АНУ</a:t>
            </a:r>
            <a:endParaRPr lang="en-US" sz="1500" dirty="0"/>
          </a:p>
        </p:txBody>
      </p:sp>
      <p:sp>
        <p:nvSpPr>
          <p:cNvPr id="7" name="intl0 body"/>
          <p:cNvSpPr txBox="1"/>
          <p:nvPr/>
        </p:nvSpPr>
        <p:spPr>
          <a:xfrm>
            <a:off x="749808" y="2194560"/>
            <a:ext cx="2203704" cy="1828800"/>
          </a:xfrm>
          <a:prstGeom prst="rect">
            <a:avLst/>
          </a:prstGeom>
          <a:noFill/>
          <a:ln/>
        </p:spPr>
        <p:txBody>
          <a:bodyPr wrap="square" lIns="0" tIns="0" rIns="0" bIns="0" rtlCol="0" anchor="t"/>
          <a:lstStyle/>
          <a:p>
            <a:pPr indent="0" marL="0">
              <a:buNone/>
            </a:pPr>
            <a:r>
              <a:rPr lang="en-US" sz="1150" dirty="0">
                <a:solidFill>
                  <a:schemeClr val="tx1"/>
                </a:solidFill>
              </a:rPr>
              <a:t>DARPA AIxCC (2023–2025): AI-аар эмзэг байдал олж засах нээлттэй системүүд • CISA AI roadmap • БХЯ-ны CDAO • NIST AI RMF, AI 100-2</a:t>
            </a:r>
            <a:endParaRPr lang="en-US" sz="1150" dirty="0"/>
          </a:p>
        </p:txBody>
      </p:sp>
      <p:sp>
        <p:nvSpPr>
          <p:cNvPr id="8" name="intl0 lesson"/>
          <p:cNvSpPr txBox="1"/>
          <p:nvPr/>
        </p:nvSpPr>
        <p:spPr>
          <a:xfrm>
            <a:off x="749808" y="3840480"/>
            <a:ext cx="2203704" cy="1097280"/>
          </a:xfrm>
          <a:prstGeom prst="rect">
            <a:avLst/>
          </a:prstGeom>
          <a:noFill/>
          <a:ln/>
        </p:spPr>
        <p:txBody>
          <a:bodyPr wrap="square" lIns="0" tIns="0" rIns="0" bIns="0" rtlCol="0" anchor="t"/>
          <a:lstStyle/>
          <a:p>
            <a:pPr indent="0" marL="0">
              <a:buNone/>
            </a:pPr>
            <a:r>
              <a:rPr lang="en-US" sz="1150" b="1" dirty="0">
                <a:solidFill>
                  <a:schemeClr val="accent1"/>
                </a:solidFill>
              </a:rPr>
              <a:t>Сургамж: </a:t>
            </a:r>
            <a:pPr indent="0" marL="0">
              <a:buNone/>
            </a:pPr>
            <a:r>
              <a:rPr lang="en-US" sz="1150" dirty="0">
                <a:solidFill>
                  <a:schemeClr val="tx1"/>
                </a:solidFill>
              </a:rPr>
              <a:t>Нээлттэй эхийн CRS турших, стандарт нутагшуулах</a:t>
            </a:r>
            <a:endParaRPr lang="en-US" sz="1150" dirty="0"/>
          </a:p>
        </p:txBody>
      </p:sp>
      <p:sp>
        <p:nvSpPr>
          <p:cNvPr id="9" name="intl1"/>
          <p:cNvSpPr/>
          <p:nvPr/>
        </p:nvSpPr>
        <p:spPr>
          <a:xfrm>
            <a:off x="3378098" y="1325880"/>
            <a:ext cx="2606040" cy="3749040"/>
          </a:xfrm>
          <a:prstGeom prst="roundRect">
            <a:avLst>
              <a:gd name="adj" fmla="val 2807"/>
            </a:avLst>
          </a:prstGeom>
          <a:solidFill>
            <a:schemeClr val="bg2"/>
          </a:solidFill>
          <a:ln w="12700">
            <a:solidFill>
              <a:schemeClr val="bg2"/>
            </a:solidFill>
            <a:prstDash val="solid"/>
          </a:ln>
        </p:spPr>
      </p:sp>
      <p:sp>
        <p:nvSpPr>
          <p:cNvPr id="10" name="intl1 circle"/>
          <p:cNvSpPr/>
          <p:nvPr/>
        </p:nvSpPr>
        <p:spPr>
          <a:xfrm>
            <a:off x="3579266" y="1527048"/>
            <a:ext cx="548640" cy="548640"/>
          </a:xfrm>
          <a:prstGeom prst="ellipse">
            <a:avLst/>
          </a:prstGeom>
          <a:solidFill>
            <a:schemeClr val="accent3"/>
          </a:solidFill>
          <a:ln w="12700">
            <a:solidFill>
              <a:schemeClr val="accent3"/>
            </a:solidFill>
            <a:prstDash val="solid"/>
          </a:ln>
        </p:spPr>
      </p:sp>
      <p:pic>
        <p:nvPicPr>
          <p:cNvPr id="11" name="intl1 icon" descr="preencoded.png">    </p:cNvPr>
          <p:cNvPicPr>
            <a:picLocks noChangeAspect="1"/>
          </p:cNvPicPr>
          <p:nvPr/>
        </p:nvPicPr>
        <p:blipFill>
          <a:blip r:embed="rId2"/>
          <a:stretch>
            <a:fillRect/>
          </a:stretch>
        </p:blipFill>
        <p:spPr>
          <a:xfrm>
            <a:off x="3716426" y="1664208"/>
            <a:ext cx="274320" cy="274320"/>
          </a:xfrm>
          <a:prstGeom prst="rect">
            <a:avLst/>
          </a:prstGeom>
        </p:spPr>
      </p:pic>
      <p:sp>
        <p:nvSpPr>
          <p:cNvPr id="12" name="intl1 head"/>
          <p:cNvSpPr txBox="1"/>
          <p:nvPr/>
        </p:nvSpPr>
        <p:spPr>
          <a:xfrm>
            <a:off x="4246778" y="1527048"/>
            <a:ext cx="1600200" cy="548640"/>
          </a:xfrm>
          <a:prstGeom prst="rect">
            <a:avLst/>
          </a:prstGeom>
          <a:noFill/>
          <a:ln/>
        </p:spPr>
        <p:txBody>
          <a:bodyPr wrap="square" lIns="0" tIns="0" rIns="0" bIns="0" rtlCol="0" anchor="ctr"/>
          <a:lstStyle/>
          <a:p>
            <a:pPr indent="0" marL="0">
              <a:buNone/>
            </a:pPr>
            <a:r>
              <a:rPr lang="en-US" sz="1500" b="1" dirty="0">
                <a:solidFill>
                  <a:schemeClr val="tx1"/>
                </a:solidFill>
              </a:rPr>
              <a:t>NATO</a:t>
            </a:r>
            <a:endParaRPr lang="en-US" sz="1500" dirty="0"/>
          </a:p>
        </p:txBody>
      </p:sp>
      <p:sp>
        <p:nvSpPr>
          <p:cNvPr id="13" name="intl1 body"/>
          <p:cNvSpPr txBox="1"/>
          <p:nvPr/>
        </p:nvSpPr>
        <p:spPr>
          <a:xfrm>
            <a:off x="3579266" y="2194560"/>
            <a:ext cx="2203704" cy="1828800"/>
          </a:xfrm>
          <a:prstGeom prst="rect">
            <a:avLst/>
          </a:prstGeom>
          <a:noFill/>
          <a:ln/>
        </p:spPr>
        <p:txBody>
          <a:bodyPr wrap="square" lIns="0" tIns="0" rIns="0" bIns="0" rtlCol="0" anchor="t"/>
          <a:lstStyle/>
          <a:p>
            <a:pPr indent="0" marL="0">
              <a:buNone/>
            </a:pPr>
            <a:r>
              <a:rPr lang="en-US" sz="1150" dirty="0">
                <a:solidFill>
                  <a:schemeClr val="tx1"/>
                </a:solidFill>
              </a:rPr>
              <a:t>2021 AI стратеги, 2024 Хариуцлагатай AI-ийн хэрэгжилтийн стратеги • 2025: AI платформыг бодит цагийн кибер мэдээлэлд</a:t>
            </a:r>
            <a:endParaRPr lang="en-US" sz="1150" dirty="0"/>
          </a:p>
        </p:txBody>
      </p:sp>
      <p:sp>
        <p:nvSpPr>
          <p:cNvPr id="14" name="intl1 lesson"/>
          <p:cNvSpPr txBox="1"/>
          <p:nvPr/>
        </p:nvSpPr>
        <p:spPr>
          <a:xfrm>
            <a:off x="3579266" y="3840480"/>
            <a:ext cx="2203704" cy="1097280"/>
          </a:xfrm>
          <a:prstGeom prst="rect">
            <a:avLst/>
          </a:prstGeom>
          <a:noFill/>
          <a:ln/>
        </p:spPr>
        <p:txBody>
          <a:bodyPr wrap="square" lIns="0" tIns="0" rIns="0" bIns="0" rtlCol="0" anchor="t"/>
          <a:lstStyle/>
          <a:p>
            <a:pPr indent="0" marL="0">
              <a:buNone/>
            </a:pPr>
            <a:r>
              <a:rPr lang="en-US" sz="1150" b="1" dirty="0">
                <a:solidFill>
                  <a:schemeClr val="accent1"/>
                </a:solidFill>
              </a:rPr>
              <a:t>Сургамж: </a:t>
            </a:r>
            <a:pPr indent="0" marL="0">
              <a:buNone/>
            </a:pPr>
            <a:r>
              <a:rPr lang="en-US" sz="1150" dirty="0">
                <a:solidFill>
                  <a:schemeClr val="tx1"/>
                </a:solidFill>
              </a:rPr>
              <a:t>Хариуцлагатай AI-ийн 6 зарчмыг цэргийн журамд</a:t>
            </a:r>
            <a:endParaRPr lang="en-US" sz="1150" dirty="0"/>
          </a:p>
        </p:txBody>
      </p:sp>
      <p:sp>
        <p:nvSpPr>
          <p:cNvPr id="15" name="intl2"/>
          <p:cNvSpPr/>
          <p:nvPr/>
        </p:nvSpPr>
        <p:spPr>
          <a:xfrm>
            <a:off x="6207557" y="1325880"/>
            <a:ext cx="2606040" cy="3749040"/>
          </a:xfrm>
          <a:prstGeom prst="roundRect">
            <a:avLst>
              <a:gd name="adj" fmla="val 2807"/>
            </a:avLst>
          </a:prstGeom>
          <a:solidFill>
            <a:schemeClr val="bg2"/>
          </a:solidFill>
          <a:ln w="12700">
            <a:solidFill>
              <a:schemeClr val="bg2"/>
            </a:solidFill>
            <a:prstDash val="solid"/>
          </a:ln>
        </p:spPr>
      </p:sp>
      <p:sp>
        <p:nvSpPr>
          <p:cNvPr id="16" name="intl2 circle"/>
          <p:cNvSpPr/>
          <p:nvPr/>
        </p:nvSpPr>
        <p:spPr>
          <a:xfrm>
            <a:off x="6408725" y="1527048"/>
            <a:ext cx="548640" cy="548640"/>
          </a:xfrm>
          <a:prstGeom prst="ellipse">
            <a:avLst/>
          </a:prstGeom>
          <a:solidFill>
            <a:schemeClr val="accent3"/>
          </a:solidFill>
          <a:ln w="12700">
            <a:solidFill>
              <a:schemeClr val="accent3"/>
            </a:solidFill>
            <a:prstDash val="solid"/>
          </a:ln>
        </p:spPr>
      </p:sp>
      <p:pic>
        <p:nvPicPr>
          <p:cNvPr id="17" name="intl2 icon" descr="preencoded.png">    </p:cNvPr>
          <p:cNvPicPr>
            <a:picLocks noChangeAspect="1"/>
          </p:cNvPicPr>
          <p:nvPr/>
        </p:nvPicPr>
        <p:blipFill>
          <a:blip r:embed="rId3"/>
          <a:stretch>
            <a:fillRect/>
          </a:stretch>
        </p:blipFill>
        <p:spPr>
          <a:xfrm>
            <a:off x="6545885" y="1664208"/>
            <a:ext cx="274320" cy="274320"/>
          </a:xfrm>
          <a:prstGeom prst="rect">
            <a:avLst/>
          </a:prstGeom>
        </p:spPr>
      </p:pic>
      <p:sp>
        <p:nvSpPr>
          <p:cNvPr id="18" name="intl2 head"/>
          <p:cNvSpPr txBox="1"/>
          <p:nvPr/>
        </p:nvSpPr>
        <p:spPr>
          <a:xfrm>
            <a:off x="7076237" y="1527048"/>
            <a:ext cx="1600200" cy="548640"/>
          </a:xfrm>
          <a:prstGeom prst="rect">
            <a:avLst/>
          </a:prstGeom>
          <a:noFill/>
          <a:ln/>
        </p:spPr>
        <p:txBody>
          <a:bodyPr wrap="square" lIns="0" tIns="0" rIns="0" bIns="0" rtlCol="0" anchor="ctr"/>
          <a:lstStyle/>
          <a:p>
            <a:pPr indent="0" marL="0">
              <a:buNone/>
            </a:pPr>
            <a:r>
              <a:rPr lang="en-US" sz="1500" b="1" dirty="0">
                <a:solidFill>
                  <a:schemeClr val="tx1"/>
                </a:solidFill>
              </a:rPr>
              <a:t>Европын холбоо</a:t>
            </a:r>
            <a:endParaRPr lang="en-US" sz="1500" dirty="0"/>
          </a:p>
        </p:txBody>
      </p:sp>
      <p:sp>
        <p:nvSpPr>
          <p:cNvPr id="19" name="intl2 body"/>
          <p:cNvSpPr txBox="1"/>
          <p:nvPr/>
        </p:nvSpPr>
        <p:spPr>
          <a:xfrm>
            <a:off x="6408725" y="2194560"/>
            <a:ext cx="2203704" cy="1828800"/>
          </a:xfrm>
          <a:prstGeom prst="rect">
            <a:avLst/>
          </a:prstGeom>
          <a:noFill/>
          <a:ln/>
        </p:spPr>
        <p:txBody>
          <a:bodyPr wrap="square" lIns="0" tIns="0" rIns="0" bIns="0" rtlCol="0" anchor="t"/>
          <a:lstStyle/>
          <a:p>
            <a:pPr indent="0" marL="0">
              <a:buNone/>
            </a:pPr>
            <a:r>
              <a:rPr lang="en-US" sz="1150" dirty="0">
                <a:solidFill>
                  <a:schemeClr val="tx1"/>
                </a:solidFill>
              </a:rPr>
              <a:t>ENISA ETL 2025: AI = халдлагын оновчлол + шинэ эмзэг байдал (4,875 зөрчил) • AI Act: өндөр эрсдэлтэй AI-д шаардлага</a:t>
            </a:r>
            <a:endParaRPr lang="en-US" sz="1150" dirty="0"/>
          </a:p>
        </p:txBody>
      </p:sp>
      <p:sp>
        <p:nvSpPr>
          <p:cNvPr id="20" name="intl2 lesson"/>
          <p:cNvSpPr txBox="1"/>
          <p:nvPr/>
        </p:nvSpPr>
        <p:spPr>
          <a:xfrm>
            <a:off x="6408725" y="3840480"/>
            <a:ext cx="2203704" cy="1097280"/>
          </a:xfrm>
          <a:prstGeom prst="rect">
            <a:avLst/>
          </a:prstGeom>
          <a:noFill/>
          <a:ln/>
        </p:spPr>
        <p:txBody>
          <a:bodyPr wrap="square" lIns="0" tIns="0" rIns="0" bIns="0" rtlCol="0" anchor="t"/>
          <a:lstStyle/>
          <a:p>
            <a:pPr indent="0" marL="0">
              <a:buNone/>
            </a:pPr>
            <a:r>
              <a:rPr lang="en-US" sz="1150" b="1" dirty="0">
                <a:solidFill>
                  <a:schemeClr val="accent1"/>
                </a:solidFill>
              </a:rPr>
              <a:t>Сургамж: </a:t>
            </a:r>
            <a:pPr indent="0" marL="0">
              <a:buNone/>
            </a:pPr>
            <a:r>
              <a:rPr lang="en-US" sz="1150" dirty="0">
                <a:solidFill>
                  <a:schemeClr val="tx1"/>
                </a:solidFill>
              </a:rPr>
              <a:t>Эрсдэлд суурилсан ангилал, нэмэлт хяналт</a:t>
            </a:r>
            <a:endParaRPr lang="en-US" sz="1150" dirty="0"/>
          </a:p>
        </p:txBody>
      </p:sp>
      <p:sp>
        <p:nvSpPr>
          <p:cNvPr id="21" name="intl3"/>
          <p:cNvSpPr/>
          <p:nvPr/>
        </p:nvSpPr>
        <p:spPr>
          <a:xfrm>
            <a:off x="9037015" y="1325880"/>
            <a:ext cx="2606040" cy="3749040"/>
          </a:xfrm>
          <a:prstGeom prst="roundRect">
            <a:avLst>
              <a:gd name="adj" fmla="val 2807"/>
            </a:avLst>
          </a:prstGeom>
          <a:solidFill>
            <a:schemeClr val="bg2"/>
          </a:solidFill>
          <a:ln w="12700">
            <a:solidFill>
              <a:schemeClr val="bg2"/>
            </a:solidFill>
            <a:prstDash val="solid"/>
          </a:ln>
        </p:spPr>
      </p:sp>
      <p:sp>
        <p:nvSpPr>
          <p:cNvPr id="22" name="intl3 circle"/>
          <p:cNvSpPr/>
          <p:nvPr/>
        </p:nvSpPr>
        <p:spPr>
          <a:xfrm>
            <a:off x="9238183" y="1527048"/>
            <a:ext cx="548640" cy="548640"/>
          </a:xfrm>
          <a:prstGeom prst="ellipse">
            <a:avLst/>
          </a:prstGeom>
          <a:solidFill>
            <a:schemeClr val="accent3"/>
          </a:solidFill>
          <a:ln w="12700">
            <a:solidFill>
              <a:schemeClr val="accent3"/>
            </a:solidFill>
            <a:prstDash val="solid"/>
          </a:ln>
        </p:spPr>
      </p:sp>
      <p:pic>
        <p:nvPicPr>
          <p:cNvPr id="23" name="intl3 icon" descr="preencoded.png">    </p:cNvPr>
          <p:cNvPicPr>
            <a:picLocks noChangeAspect="1"/>
          </p:cNvPicPr>
          <p:nvPr/>
        </p:nvPicPr>
        <p:blipFill>
          <a:blip r:embed="rId4"/>
          <a:stretch>
            <a:fillRect/>
          </a:stretch>
        </p:blipFill>
        <p:spPr>
          <a:xfrm>
            <a:off x="9375343" y="1664208"/>
            <a:ext cx="274320" cy="274320"/>
          </a:xfrm>
          <a:prstGeom prst="rect">
            <a:avLst/>
          </a:prstGeom>
        </p:spPr>
      </p:pic>
      <p:sp>
        <p:nvSpPr>
          <p:cNvPr id="24" name="intl3 head"/>
          <p:cNvSpPr txBox="1"/>
          <p:nvPr/>
        </p:nvSpPr>
        <p:spPr>
          <a:xfrm>
            <a:off x="9905695" y="1527048"/>
            <a:ext cx="1600200" cy="548640"/>
          </a:xfrm>
          <a:prstGeom prst="rect">
            <a:avLst/>
          </a:prstGeom>
          <a:noFill/>
          <a:ln/>
        </p:spPr>
        <p:txBody>
          <a:bodyPr wrap="square" lIns="0" tIns="0" rIns="0" bIns="0" rtlCol="0" anchor="ctr"/>
          <a:lstStyle/>
          <a:p>
            <a:pPr indent="0" marL="0">
              <a:buNone/>
            </a:pPr>
            <a:r>
              <a:rPr lang="en-US" sz="1500" b="1" dirty="0">
                <a:solidFill>
                  <a:schemeClr val="tx1"/>
                </a:solidFill>
              </a:rPr>
              <a:t>Технологийн компаниуд</a:t>
            </a:r>
            <a:endParaRPr lang="en-US" sz="1500" dirty="0"/>
          </a:p>
        </p:txBody>
      </p:sp>
      <p:sp>
        <p:nvSpPr>
          <p:cNvPr id="25" name="intl3 body"/>
          <p:cNvSpPr txBox="1"/>
          <p:nvPr/>
        </p:nvSpPr>
        <p:spPr>
          <a:xfrm>
            <a:off x="9238183" y="2194560"/>
            <a:ext cx="2203704" cy="1828800"/>
          </a:xfrm>
          <a:prstGeom prst="rect">
            <a:avLst/>
          </a:prstGeom>
          <a:noFill/>
          <a:ln/>
        </p:spPr>
        <p:txBody>
          <a:bodyPr wrap="square" lIns="0" tIns="0" rIns="0" bIns="0" rtlCol="0" anchor="t"/>
          <a:lstStyle/>
          <a:p>
            <a:pPr indent="0" marL="0">
              <a:buNone/>
            </a:pPr>
            <a:r>
              <a:rPr lang="en-US" sz="1150" dirty="0">
                <a:solidFill>
                  <a:schemeClr val="tx1"/>
                </a:solidFill>
              </a:rPr>
              <a:t>Anthropic, Google, Microsoft: 2025 оноос AI-ийн хортой хэрэглээний тайлан, бүртгэл хаах, илрүүлэх ангилагч</a:t>
            </a:r>
            <a:endParaRPr lang="en-US" sz="1150" dirty="0"/>
          </a:p>
        </p:txBody>
      </p:sp>
      <p:sp>
        <p:nvSpPr>
          <p:cNvPr id="26" name="intl3 lesson"/>
          <p:cNvSpPr txBox="1"/>
          <p:nvPr/>
        </p:nvSpPr>
        <p:spPr>
          <a:xfrm>
            <a:off x="9238183" y="3840480"/>
            <a:ext cx="2203704" cy="1097280"/>
          </a:xfrm>
          <a:prstGeom prst="rect">
            <a:avLst/>
          </a:prstGeom>
          <a:noFill/>
          <a:ln/>
        </p:spPr>
        <p:txBody>
          <a:bodyPr wrap="square" lIns="0" tIns="0" rIns="0" bIns="0" rtlCol="0" anchor="t"/>
          <a:lstStyle/>
          <a:p>
            <a:pPr indent="0" marL="0">
              <a:buNone/>
            </a:pPr>
            <a:r>
              <a:rPr lang="en-US" sz="1150" b="1" dirty="0">
                <a:solidFill>
                  <a:schemeClr val="accent1"/>
                </a:solidFill>
              </a:rPr>
              <a:t>Сургамж: </a:t>
            </a:r>
            <a:pPr indent="0" marL="0">
              <a:buNone/>
            </a:pPr>
            <a:r>
              <a:rPr lang="en-US" sz="1150" dirty="0">
                <a:solidFill>
                  <a:schemeClr val="tx1"/>
                </a:solidFill>
              </a:rPr>
              <a:t>AI нийлүүлэгчтэй аюул заналын мэдээлэл солилцох суваг</a:t>
            </a:r>
            <a:endParaRPr lang="en-US" sz="1150" dirty="0"/>
          </a:p>
        </p:txBody>
      </p:sp>
      <p:sp>
        <p:nvSpPr>
          <p:cNvPr id="27" name="common lessons"/>
          <p:cNvSpPr/>
          <p:nvPr/>
        </p:nvSpPr>
        <p:spPr>
          <a:xfrm>
            <a:off x="548640" y="5303520"/>
            <a:ext cx="11094415" cy="914400"/>
          </a:xfrm>
          <a:prstGeom prst="roundRect">
            <a:avLst>
              <a:gd name="adj" fmla="val 8000"/>
            </a:avLst>
          </a:prstGeom>
          <a:solidFill>
            <a:schemeClr val="accent6"/>
          </a:solidFill>
          <a:ln w="12700">
            <a:solidFill>
              <a:schemeClr val="accent6"/>
            </a:solidFill>
            <a:prstDash val="solid"/>
          </a:ln>
        </p:spPr>
      </p:sp>
      <p:sp>
        <p:nvSpPr>
          <p:cNvPr id="28" name="common lessons text"/>
          <p:cNvSpPr txBox="1"/>
          <p:nvPr/>
        </p:nvSpPr>
        <p:spPr>
          <a:xfrm>
            <a:off x="749808" y="5303520"/>
            <a:ext cx="10692079" cy="914400"/>
          </a:xfrm>
          <a:prstGeom prst="rect">
            <a:avLst/>
          </a:prstGeom>
          <a:noFill/>
          <a:ln/>
        </p:spPr>
        <p:txBody>
          <a:bodyPr wrap="square" lIns="0" tIns="0" rIns="0" bIns="0" rtlCol="0" anchor="ctr"/>
          <a:lstStyle/>
          <a:p>
            <a:pPr indent="0" marL="0">
              <a:buNone/>
            </a:pPr>
            <a:r>
              <a:rPr lang="en-US" sz="1300" b="1" dirty="0">
                <a:solidFill>
                  <a:schemeClr val="tx1"/>
                </a:solidFill>
              </a:rPr>
              <a:t>Нийтлэг сургамж: </a:t>
            </a:r>
            <a:pPr indent="0" marL="0">
              <a:buNone/>
            </a:pPr>
            <a:r>
              <a:rPr lang="en-US" sz="1300" dirty="0">
                <a:solidFill>
                  <a:schemeClr val="tx1"/>
                </a:solidFill>
              </a:rPr>
              <a:t>1) туслахаас автономи руу үе шаттай  2) засаглалын бодлогоос эхлэх  3) өгөгдөл, загварыг дотооддоо  4) хүний нөөцийг «AI-тай хамтран ажиллах» чиглэлээр дахин сургах</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Монгол Улсын нөхцөл байдал</a:t>
            </a:r>
            <a:endParaRPr lang="en-US" sz="2800" dirty="0"/>
          </a:p>
        </p:txBody>
      </p:sp>
      <p:sp>
        <p:nvSpPr>
          <p:cNvPr id="3" name="mn subtitle"/>
          <p:cNvSpPr txBox="1"/>
          <p:nvPr/>
        </p:nvSpPr>
        <p:spPr>
          <a:xfrm>
            <a:off x="548640" y="1097280"/>
            <a:ext cx="11094415" cy="228600"/>
          </a:xfrm>
          <a:prstGeom prst="rect">
            <a:avLst/>
          </a:prstGeom>
          <a:noFill/>
          <a:ln/>
        </p:spPr>
        <p:txBody>
          <a:bodyPr wrap="square" lIns="0" tIns="0" rIns="0" bIns="0" rtlCol="0" anchor="ctr"/>
          <a:lstStyle/>
          <a:p>
            <a:pPr indent="0" marL="0">
              <a:buNone/>
            </a:pPr>
            <a:r>
              <a:rPr lang="en-US" sz="1100" i="1" dirty="0">
                <a:solidFill>
                  <a:schemeClr val="tx2"/>
                </a:solidFill>
              </a:rPr>
              <a:t>Институцийн суурь бий; AI-ийн тусгайлсан журам, өгөгдөл, дэд бүтэц, мэргэшсэн хүний нөөц дутмаг</a:t>
            </a:r>
            <a:endParaRPr lang="en-US" sz="1100" dirty="0"/>
          </a:p>
        </p:txBody>
      </p:sp>
      <p:sp>
        <p:nvSpPr>
          <p:cNvPr id="4" name="mn1 card"/>
          <p:cNvSpPr/>
          <p:nvPr/>
        </p:nvSpPr>
        <p:spPr>
          <a:xfrm>
            <a:off x="548640" y="1325880"/>
            <a:ext cx="3108960" cy="1508760"/>
          </a:xfrm>
          <a:prstGeom prst="roundRect">
            <a:avLst>
              <a:gd name="adj" fmla="val 4848"/>
            </a:avLst>
          </a:prstGeom>
          <a:solidFill>
            <a:schemeClr val="bg2"/>
          </a:solidFill>
          <a:ln w="12700">
            <a:solidFill>
              <a:schemeClr val="bg2"/>
            </a:solidFill>
            <a:prstDash val="solid"/>
          </a:ln>
        </p:spPr>
      </p:sp>
      <p:sp>
        <p:nvSpPr>
          <p:cNvPr id="5" name="mn1 value"/>
          <p:cNvSpPr txBox="1"/>
          <p:nvPr/>
        </p:nvSpPr>
        <p:spPr>
          <a:xfrm>
            <a:off x="749808" y="1435608"/>
            <a:ext cx="2706624" cy="594360"/>
          </a:xfrm>
          <a:prstGeom prst="rect">
            <a:avLst/>
          </a:prstGeom>
          <a:noFill/>
          <a:ln/>
        </p:spPr>
        <p:txBody>
          <a:bodyPr wrap="square" lIns="0" tIns="0" rIns="0" bIns="0" rtlCol="0" anchor="ctr"/>
          <a:lstStyle/>
          <a:p>
            <a:pPr algn="l" indent="0" marL="0">
              <a:buNone/>
            </a:pPr>
            <a:r>
              <a:rPr lang="en-US" sz="3000" b="1" dirty="0">
                <a:solidFill>
                  <a:schemeClr val="accent2"/>
                </a:solidFill>
              </a:rPr>
              <a:t>7,560</a:t>
            </a:r>
            <a:endParaRPr lang="en-US" sz="3000" dirty="0"/>
          </a:p>
        </p:txBody>
      </p:sp>
      <p:sp>
        <p:nvSpPr>
          <p:cNvPr id="6" name="mn1 label"/>
          <p:cNvSpPr txBox="1"/>
          <p:nvPr/>
        </p:nvSpPr>
        <p:spPr>
          <a:xfrm>
            <a:off x="749808" y="2039112"/>
            <a:ext cx="2706624" cy="448056"/>
          </a:xfrm>
          <a:prstGeom prst="rect">
            <a:avLst/>
          </a:prstGeom>
          <a:noFill/>
          <a:ln/>
        </p:spPr>
        <p:txBody>
          <a:bodyPr wrap="square" lIns="0" tIns="0" rIns="0" bIns="0" rtlCol="0" anchor="t"/>
          <a:lstStyle/>
          <a:p>
            <a:pPr indent="0" marL="0">
              <a:buNone/>
            </a:pPr>
            <a:r>
              <a:rPr lang="en-US" sz="1200" dirty="0">
                <a:solidFill>
                  <a:schemeClr val="tx1"/>
                </a:solidFill>
              </a:rPr>
              <a:t>кибер гэмт хэрэг 2024 онд; 83% нь залилан</a:t>
            </a:r>
            <a:endParaRPr lang="en-US" sz="1200" dirty="0"/>
          </a:p>
        </p:txBody>
      </p:sp>
      <p:sp>
        <p:nvSpPr>
          <p:cNvPr id="7" name="mn1 source"/>
          <p:cNvSpPr txBox="1"/>
          <p:nvPr/>
        </p:nvSpPr>
        <p:spPr>
          <a:xfrm>
            <a:off x="749808" y="2487168"/>
            <a:ext cx="2706624" cy="274320"/>
          </a:xfrm>
          <a:prstGeom prst="rect">
            <a:avLst/>
          </a:prstGeom>
          <a:noFill/>
          <a:ln/>
        </p:spPr>
        <p:txBody>
          <a:bodyPr wrap="square" lIns="0" tIns="0" rIns="0" bIns="0" rtlCol="0" anchor="b"/>
          <a:lstStyle/>
          <a:p>
            <a:pPr indent="0" marL="0">
              <a:buNone/>
            </a:pPr>
            <a:r>
              <a:rPr lang="en-US" sz="1000" i="1" dirty="0">
                <a:solidFill>
                  <a:schemeClr val="tx2"/>
                </a:solidFill>
              </a:rPr>
              <a:t>Кибер аюулгүй байдлын зөвлөл</a:t>
            </a:r>
            <a:endParaRPr lang="en-US" sz="1000" dirty="0"/>
          </a:p>
        </p:txBody>
      </p:sp>
      <p:sp>
        <p:nvSpPr>
          <p:cNvPr id="8" name="mn2 card"/>
          <p:cNvSpPr/>
          <p:nvPr/>
        </p:nvSpPr>
        <p:spPr>
          <a:xfrm>
            <a:off x="548640" y="2971800"/>
            <a:ext cx="3108960" cy="1508760"/>
          </a:xfrm>
          <a:prstGeom prst="roundRect">
            <a:avLst>
              <a:gd name="adj" fmla="val 4848"/>
            </a:avLst>
          </a:prstGeom>
          <a:solidFill>
            <a:schemeClr val="bg2"/>
          </a:solidFill>
          <a:ln w="12700">
            <a:solidFill>
              <a:schemeClr val="bg2"/>
            </a:solidFill>
            <a:prstDash val="solid"/>
          </a:ln>
        </p:spPr>
      </p:sp>
      <p:sp>
        <p:nvSpPr>
          <p:cNvPr id="9" name="mn2 value"/>
          <p:cNvSpPr txBox="1"/>
          <p:nvPr/>
        </p:nvSpPr>
        <p:spPr>
          <a:xfrm>
            <a:off x="749808" y="3081528"/>
            <a:ext cx="2706624" cy="594360"/>
          </a:xfrm>
          <a:prstGeom prst="rect">
            <a:avLst/>
          </a:prstGeom>
          <a:noFill/>
          <a:ln/>
        </p:spPr>
        <p:txBody>
          <a:bodyPr wrap="square" lIns="0" tIns="0" rIns="0" bIns="0" rtlCol="0" anchor="ctr"/>
          <a:lstStyle/>
          <a:p>
            <a:pPr algn="l" indent="0" marL="0">
              <a:buNone/>
            </a:pPr>
            <a:r>
              <a:rPr lang="en-US" sz="3000" b="1" dirty="0">
                <a:solidFill>
                  <a:schemeClr val="tx1"/>
                </a:solidFill>
              </a:rPr>
              <a:t>29.4%</a:t>
            </a:r>
            <a:endParaRPr lang="en-US" sz="3000" dirty="0"/>
          </a:p>
        </p:txBody>
      </p:sp>
      <p:sp>
        <p:nvSpPr>
          <p:cNvPr id="10" name="mn2 label"/>
          <p:cNvSpPr txBox="1"/>
          <p:nvPr/>
        </p:nvSpPr>
        <p:spPr>
          <a:xfrm>
            <a:off x="749808" y="3685032"/>
            <a:ext cx="2706624" cy="685800"/>
          </a:xfrm>
          <a:prstGeom prst="rect">
            <a:avLst/>
          </a:prstGeom>
          <a:noFill/>
          <a:ln/>
        </p:spPr>
        <p:txBody>
          <a:bodyPr wrap="square" lIns="0" tIns="0" rIns="0" bIns="0" rtlCol="0" anchor="t"/>
          <a:lstStyle/>
          <a:p>
            <a:pPr indent="0" marL="0">
              <a:buNone/>
            </a:pPr>
            <a:r>
              <a:rPr lang="en-US" sz="1200" dirty="0">
                <a:solidFill>
                  <a:schemeClr val="tx1"/>
                </a:solidFill>
              </a:rPr>
              <a:t>төрийн байгууллага халдлагад өртсөн (67 байгууллагын судалгаа, 2021)</a:t>
            </a:r>
            <a:endParaRPr lang="en-US" sz="1200" dirty="0"/>
          </a:p>
        </p:txBody>
      </p:sp>
      <p:sp>
        <p:nvSpPr>
          <p:cNvPr id="11" name="mn3 card"/>
          <p:cNvSpPr/>
          <p:nvPr/>
        </p:nvSpPr>
        <p:spPr>
          <a:xfrm>
            <a:off x="548640" y="4617720"/>
            <a:ext cx="3108960" cy="1600200"/>
          </a:xfrm>
          <a:prstGeom prst="roundRect">
            <a:avLst>
              <a:gd name="adj" fmla="val 4571"/>
            </a:avLst>
          </a:prstGeom>
          <a:solidFill>
            <a:schemeClr val="bg2"/>
          </a:solidFill>
          <a:ln w="12700">
            <a:solidFill>
              <a:schemeClr val="bg2"/>
            </a:solidFill>
            <a:prstDash val="solid"/>
          </a:ln>
        </p:spPr>
      </p:sp>
      <p:sp>
        <p:nvSpPr>
          <p:cNvPr id="12" name="mn3 value"/>
          <p:cNvSpPr txBox="1"/>
          <p:nvPr/>
        </p:nvSpPr>
        <p:spPr>
          <a:xfrm>
            <a:off x="749808" y="4727448"/>
            <a:ext cx="2706624" cy="594360"/>
          </a:xfrm>
          <a:prstGeom prst="rect">
            <a:avLst/>
          </a:prstGeom>
          <a:noFill/>
          <a:ln/>
        </p:spPr>
        <p:txBody>
          <a:bodyPr wrap="square" lIns="0" tIns="0" rIns="0" bIns="0" rtlCol="0" anchor="ctr"/>
          <a:lstStyle/>
          <a:p>
            <a:pPr algn="l" indent="0" marL="0">
              <a:buNone/>
            </a:pPr>
            <a:r>
              <a:rPr lang="en-US" sz="3000" b="1" dirty="0">
                <a:solidFill>
                  <a:schemeClr val="tx1"/>
                </a:solidFill>
              </a:rPr>
              <a:t>30%</a:t>
            </a:r>
            <a:endParaRPr lang="en-US" sz="3000" dirty="0"/>
          </a:p>
        </p:txBody>
      </p:sp>
      <p:sp>
        <p:nvSpPr>
          <p:cNvPr id="13" name="mn3 label"/>
          <p:cNvSpPr txBox="1"/>
          <p:nvPr/>
        </p:nvSpPr>
        <p:spPr>
          <a:xfrm>
            <a:off x="749808" y="5330952"/>
            <a:ext cx="2706624" cy="777240"/>
          </a:xfrm>
          <a:prstGeom prst="rect">
            <a:avLst/>
          </a:prstGeom>
          <a:noFill/>
          <a:ln/>
        </p:spPr>
        <p:txBody>
          <a:bodyPr wrap="square" lIns="0" tIns="0" rIns="0" bIns="0" rtlCol="0" anchor="t"/>
          <a:lstStyle/>
          <a:p>
            <a:pPr indent="0" marL="0">
              <a:buNone/>
            </a:pPr>
            <a:r>
              <a:rPr lang="en-US" sz="1200" dirty="0">
                <a:solidFill>
                  <a:schemeClr val="tx1"/>
                </a:solidFill>
              </a:rPr>
              <a:t>нь эрсдэлийн үнэлгээ огт хийгээгүй; 70.6% нь эрсдэлээ мэдэхгүй</a:t>
            </a:r>
            <a:endParaRPr lang="en-US" sz="1200" dirty="0"/>
          </a:p>
        </p:txBody>
      </p:sp>
      <p:sp>
        <p:nvSpPr>
          <p:cNvPr id="14" name="law card"/>
          <p:cNvSpPr/>
          <p:nvPr/>
        </p:nvSpPr>
        <p:spPr>
          <a:xfrm>
            <a:off x="3931920" y="1325880"/>
            <a:ext cx="4023360" cy="4892040"/>
          </a:xfrm>
          <a:prstGeom prst="roundRect">
            <a:avLst>
              <a:gd name="adj" fmla="val 1818"/>
            </a:avLst>
          </a:prstGeom>
          <a:solidFill>
            <a:schemeClr val="bg2"/>
          </a:solidFill>
          <a:ln w="12700">
            <a:solidFill>
              <a:schemeClr val="bg2"/>
            </a:solidFill>
            <a:prstDash val="solid"/>
          </a:ln>
        </p:spPr>
      </p:sp>
      <p:sp>
        <p:nvSpPr>
          <p:cNvPr id="15" name="law head"/>
          <p:cNvSpPr txBox="1"/>
          <p:nvPr/>
        </p:nvSpPr>
        <p:spPr>
          <a:xfrm>
            <a:off x="4133088" y="1490472"/>
            <a:ext cx="3621024" cy="310896"/>
          </a:xfrm>
          <a:prstGeom prst="rect">
            <a:avLst/>
          </a:prstGeom>
          <a:noFill/>
          <a:ln/>
        </p:spPr>
        <p:txBody>
          <a:bodyPr wrap="square" lIns="0" tIns="0" rIns="0" bIns="0" rtlCol="0" anchor="t"/>
          <a:lstStyle/>
          <a:p>
            <a:pPr indent="0" marL="0">
              <a:buNone/>
            </a:pPr>
            <a:r>
              <a:rPr lang="en-US" sz="1400" b="1" dirty="0">
                <a:solidFill>
                  <a:schemeClr val="tx1"/>
                </a:solidFill>
              </a:rPr>
              <a:t>Хууль эрх зүй, бодлого</a:t>
            </a:r>
            <a:endParaRPr lang="en-US" sz="1400" dirty="0"/>
          </a:p>
        </p:txBody>
      </p:sp>
      <p:sp>
        <p:nvSpPr>
          <p:cNvPr id="16" name="law body"/>
          <p:cNvSpPr txBox="1"/>
          <p:nvPr/>
        </p:nvSpPr>
        <p:spPr>
          <a:xfrm>
            <a:off x="4133088" y="1856232"/>
            <a:ext cx="3621024" cy="4224528"/>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Кибер аюулгүй байдлын тухай хууль (2021.12.17): эрсдэлийн үнэлгээ, аудит, хариу үйлдэл; AI, автомат хариу үйлдлийн заалт байхгүй</a:t>
            </a:r>
            <a:endParaRPr lang="en-US" sz="1200" dirty="0"/>
          </a:p>
          <a:p>
            <a:pPr marL="152400" indent="-152400">
              <a:spcAft>
                <a:spcPts val="400"/>
              </a:spcAft>
              <a:buSzPct val="100000"/>
              <a:buChar char="•"/>
            </a:pPr>
            <a:r>
              <a:rPr lang="en-US" sz="1200" dirty="0">
                <a:solidFill>
                  <a:schemeClr val="tx1"/>
                </a:solidFill>
              </a:rPr>
              <a:t>«Кибер сөрөн тэсвэрлэх тухай» хуулийн төсөл: AI заалт оруулах боломжит цонх</a:t>
            </a:r>
            <a:endParaRPr lang="en-US" sz="1200" dirty="0"/>
          </a:p>
          <a:p>
            <a:pPr marL="152400" indent="-152400">
              <a:spcAft>
                <a:spcPts val="400"/>
              </a:spcAft>
              <a:buSzPct val="100000"/>
              <a:buChar char="•"/>
            </a:pPr>
            <a:r>
              <a:rPr lang="en-US" sz="1200" dirty="0">
                <a:solidFill>
                  <a:schemeClr val="tx1"/>
                </a:solidFill>
              </a:rPr>
              <a:t>2026–2030 оны таван жилийн үндсэн чиглэл: «Шинжлэх ухаан, технологи, хиймэл оюун»</a:t>
            </a:r>
            <a:endParaRPr lang="en-US" sz="1200" dirty="0"/>
          </a:p>
          <a:p>
            <a:pPr marL="152400" indent="-152400">
              <a:spcAft>
                <a:spcPts val="400"/>
              </a:spcAft>
              <a:buSzPct val="100000"/>
              <a:buChar char="•"/>
            </a:pPr>
            <a:r>
              <a:rPr lang="en-US" sz="1200" dirty="0">
                <a:solidFill>
                  <a:schemeClr val="tx1"/>
                </a:solidFill>
              </a:rPr>
              <a:t>«Өгөгдөл, хиймэл оюуны үндэсний стратеги»: боловсруулах, өргөн барих шатанд</a:t>
            </a:r>
            <a:endParaRPr lang="en-US" sz="1200" dirty="0"/>
          </a:p>
          <a:p>
            <a:pPr marL="152400" indent="-152400">
              <a:spcAft>
                <a:spcPts val="400"/>
              </a:spcAft>
              <a:buSzPct val="100000"/>
              <a:buChar char="•"/>
            </a:pPr>
            <a:r>
              <a:rPr lang="en-US" sz="1200" dirty="0">
                <a:solidFill>
                  <a:schemeClr val="tx1"/>
                </a:solidFill>
              </a:rPr>
              <a:t>Их Британитай хамтарсан үндэсний кибер эрсдэлийн үнэлгээ (2025)</a:t>
            </a:r>
            <a:endParaRPr lang="en-US" sz="1200" dirty="0"/>
          </a:p>
        </p:txBody>
      </p:sp>
      <p:sp>
        <p:nvSpPr>
          <p:cNvPr id="17" name="strengths card"/>
          <p:cNvSpPr/>
          <p:nvPr/>
        </p:nvSpPr>
        <p:spPr>
          <a:xfrm>
            <a:off x="8229600" y="1325880"/>
            <a:ext cx="3413455" cy="2286000"/>
          </a:xfrm>
          <a:prstGeom prst="roundRect">
            <a:avLst>
              <a:gd name="adj" fmla="val 3200"/>
            </a:avLst>
          </a:prstGeom>
          <a:solidFill>
            <a:schemeClr val="accent6"/>
          </a:solidFill>
          <a:ln w="12700">
            <a:solidFill>
              <a:schemeClr val="accent6"/>
            </a:solidFill>
            <a:prstDash val="solid"/>
          </a:ln>
        </p:spPr>
      </p:sp>
      <p:sp>
        <p:nvSpPr>
          <p:cNvPr id="18" name="strengths circle"/>
          <p:cNvSpPr/>
          <p:nvPr/>
        </p:nvSpPr>
        <p:spPr>
          <a:xfrm>
            <a:off x="8412480" y="1481328"/>
            <a:ext cx="457200" cy="457200"/>
          </a:xfrm>
          <a:prstGeom prst="ellipse">
            <a:avLst/>
          </a:prstGeom>
          <a:solidFill>
            <a:schemeClr val="accent1"/>
          </a:solidFill>
          <a:ln w="12700">
            <a:solidFill>
              <a:schemeClr val="accent1"/>
            </a:solidFill>
            <a:prstDash val="solid"/>
          </a:ln>
        </p:spPr>
      </p:sp>
      <p:pic>
        <p:nvPicPr>
          <p:cNvPr id="19" name="strengths icon" descr="preencoded.png">    </p:cNvPr>
          <p:cNvPicPr>
            <a:picLocks noChangeAspect="1"/>
          </p:cNvPicPr>
          <p:nvPr/>
        </p:nvPicPr>
        <p:blipFill>
          <a:blip r:embed="rId1"/>
          <a:stretch>
            <a:fillRect/>
          </a:stretch>
        </p:blipFill>
        <p:spPr>
          <a:xfrm>
            <a:off x="8526780" y="1595628"/>
            <a:ext cx="228600" cy="228600"/>
          </a:xfrm>
          <a:prstGeom prst="rect">
            <a:avLst/>
          </a:prstGeom>
        </p:spPr>
      </p:pic>
      <p:sp>
        <p:nvSpPr>
          <p:cNvPr id="20" name="strengths head"/>
          <p:cNvSpPr txBox="1"/>
          <p:nvPr/>
        </p:nvSpPr>
        <p:spPr>
          <a:xfrm>
            <a:off x="9006840" y="1463040"/>
            <a:ext cx="2499055" cy="502920"/>
          </a:xfrm>
          <a:prstGeom prst="rect">
            <a:avLst/>
          </a:prstGeom>
          <a:noFill/>
          <a:ln/>
        </p:spPr>
        <p:txBody>
          <a:bodyPr wrap="square" lIns="0" tIns="0" rIns="0" bIns="0" rtlCol="0" anchor="ctr"/>
          <a:lstStyle/>
          <a:p>
            <a:pPr indent="0" marL="0">
              <a:buNone/>
            </a:pPr>
            <a:r>
              <a:rPr lang="en-US" sz="1400" b="1" dirty="0">
                <a:solidFill>
                  <a:schemeClr val="tx1"/>
                </a:solidFill>
              </a:rPr>
              <a:t>Давуу тал</a:t>
            </a:r>
            <a:endParaRPr lang="en-US" sz="1400" dirty="0"/>
          </a:p>
        </p:txBody>
      </p:sp>
      <p:sp>
        <p:nvSpPr>
          <p:cNvPr id="21" name="strengths bullets"/>
          <p:cNvSpPr txBox="1"/>
          <p:nvPr/>
        </p:nvSpPr>
        <p:spPr>
          <a:xfrm>
            <a:off x="8412480" y="2011680"/>
            <a:ext cx="3047695" cy="15544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КАБЦК, ҮБХИС-ийн тэнхим: институцийн суурь</a:t>
            </a:r>
            <a:endParaRPr lang="en-US" sz="1150" dirty="0"/>
          </a:p>
          <a:p>
            <a:pPr marL="152400" indent="-152400">
              <a:spcAft>
                <a:spcPts val="500"/>
              </a:spcAft>
              <a:buSzPct val="100000"/>
              <a:buChar char="•"/>
            </a:pPr>
            <a:r>
              <a:rPr lang="en-US" sz="1150" dirty="0">
                <a:solidFill>
                  <a:schemeClr val="tx1"/>
                </a:solidFill>
              </a:rPr>
              <a:t>Хаалттай, тогтвортой сүлжээ</a:t>
            </a:r>
            <a:endParaRPr lang="en-US" sz="1150" dirty="0"/>
          </a:p>
          <a:p>
            <a:pPr marL="152400" indent="-152400">
              <a:spcAft>
                <a:spcPts val="500"/>
              </a:spcAft>
              <a:buSzPct val="100000"/>
              <a:buChar char="•"/>
            </a:pPr>
            <a:r>
              <a:rPr lang="en-US" sz="1150" dirty="0">
                <a:solidFill>
                  <a:schemeClr val="tx1"/>
                </a:solidFill>
              </a:rPr>
              <a:t>Нээлттэй эхийн AI, SIEM/SOAR/CTI: бага зардал</a:t>
            </a:r>
            <a:endParaRPr lang="en-US" sz="1150" dirty="0"/>
          </a:p>
        </p:txBody>
      </p:sp>
      <p:sp>
        <p:nvSpPr>
          <p:cNvPr id="22" name="challenges card"/>
          <p:cNvSpPr/>
          <p:nvPr/>
        </p:nvSpPr>
        <p:spPr>
          <a:xfrm>
            <a:off x="8229600" y="3749040"/>
            <a:ext cx="3413455" cy="2468880"/>
          </a:xfrm>
          <a:prstGeom prst="roundRect">
            <a:avLst>
              <a:gd name="adj" fmla="val 2963"/>
            </a:avLst>
          </a:prstGeom>
          <a:solidFill>
            <a:schemeClr val="bg2"/>
          </a:solidFill>
          <a:ln w="12700">
            <a:solidFill>
              <a:schemeClr val="bg2"/>
            </a:solidFill>
            <a:prstDash val="solid"/>
          </a:ln>
        </p:spPr>
      </p:sp>
      <p:sp>
        <p:nvSpPr>
          <p:cNvPr id="23" name="challenges circle"/>
          <p:cNvSpPr/>
          <p:nvPr/>
        </p:nvSpPr>
        <p:spPr>
          <a:xfrm>
            <a:off x="8412480" y="3904488"/>
            <a:ext cx="457200" cy="457200"/>
          </a:xfrm>
          <a:prstGeom prst="ellipse">
            <a:avLst/>
          </a:prstGeom>
          <a:solidFill>
            <a:schemeClr val="accent2"/>
          </a:solidFill>
          <a:ln w="12700">
            <a:solidFill>
              <a:schemeClr val="accent2"/>
            </a:solidFill>
            <a:prstDash val="solid"/>
          </a:ln>
        </p:spPr>
      </p:sp>
      <p:pic>
        <p:nvPicPr>
          <p:cNvPr id="24" name="challenges icon" descr="preencoded.png">    </p:cNvPr>
          <p:cNvPicPr>
            <a:picLocks noChangeAspect="1"/>
          </p:cNvPicPr>
          <p:nvPr/>
        </p:nvPicPr>
        <p:blipFill>
          <a:blip r:embed="rId2"/>
          <a:stretch>
            <a:fillRect/>
          </a:stretch>
        </p:blipFill>
        <p:spPr>
          <a:xfrm>
            <a:off x="8526780" y="4018788"/>
            <a:ext cx="228600" cy="228600"/>
          </a:xfrm>
          <a:prstGeom prst="rect">
            <a:avLst/>
          </a:prstGeom>
        </p:spPr>
      </p:pic>
      <p:sp>
        <p:nvSpPr>
          <p:cNvPr id="25" name="challenges head"/>
          <p:cNvSpPr txBox="1"/>
          <p:nvPr/>
        </p:nvSpPr>
        <p:spPr>
          <a:xfrm>
            <a:off x="9006840" y="3886200"/>
            <a:ext cx="2499055" cy="502920"/>
          </a:xfrm>
          <a:prstGeom prst="rect">
            <a:avLst/>
          </a:prstGeom>
          <a:noFill/>
          <a:ln/>
        </p:spPr>
        <p:txBody>
          <a:bodyPr wrap="square" lIns="0" tIns="0" rIns="0" bIns="0" rtlCol="0" anchor="ctr"/>
          <a:lstStyle/>
          <a:p>
            <a:pPr indent="0" marL="0">
              <a:buNone/>
            </a:pPr>
            <a:r>
              <a:rPr lang="en-US" sz="1400" b="1" dirty="0">
                <a:solidFill>
                  <a:schemeClr val="tx1"/>
                </a:solidFill>
              </a:rPr>
              <a:t>Сорилт</a:t>
            </a:r>
            <a:endParaRPr lang="en-US" sz="1400" dirty="0"/>
          </a:p>
        </p:txBody>
      </p:sp>
      <p:sp>
        <p:nvSpPr>
          <p:cNvPr id="26" name="challenges bullets"/>
          <p:cNvSpPr txBox="1"/>
          <p:nvPr/>
        </p:nvSpPr>
        <p:spPr>
          <a:xfrm>
            <a:off x="8412480" y="4434840"/>
            <a:ext cx="3047695" cy="17373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ML, өгөгдлийн мэргэжилтэн ховор</a:t>
            </a:r>
            <a:endParaRPr lang="en-US" sz="1150" dirty="0"/>
          </a:p>
          <a:p>
            <a:pPr marL="152400" indent="-152400">
              <a:spcAft>
                <a:spcPts val="500"/>
              </a:spcAft>
              <a:buSzPct val="100000"/>
              <a:buChar char="•"/>
            </a:pPr>
            <a:r>
              <a:rPr lang="en-US" sz="1150" dirty="0">
                <a:solidFill>
                  <a:schemeClr val="tx1"/>
                </a:solidFill>
              </a:rPr>
              <a:t>Тэмдэглэгдсэн өгөгдөл, монгол хэлний корпус байхгүй</a:t>
            </a:r>
            <a:endParaRPr lang="en-US" sz="1150" dirty="0"/>
          </a:p>
          <a:p>
            <a:pPr marL="152400" indent="-152400">
              <a:spcAft>
                <a:spcPts val="500"/>
              </a:spcAft>
              <a:buSzPct val="100000"/>
              <a:buChar char="•"/>
            </a:pPr>
            <a:r>
              <a:rPr lang="en-US" sz="1150" dirty="0">
                <a:solidFill>
                  <a:schemeClr val="tx1"/>
                </a:solidFill>
              </a:rPr>
              <a:t>GPU, data lake хязгаарлагдмал; үүлэн AI боломжгүй</a:t>
            </a:r>
            <a:endParaRPr lang="en-US" sz="1150" dirty="0"/>
          </a:p>
          <a:p>
            <a:pPr marL="152400" indent="-152400">
              <a:spcAft>
                <a:spcPts val="500"/>
              </a:spcAft>
              <a:buSzPct val="100000"/>
              <a:buChar char="•"/>
            </a:pPr>
            <a:r>
              <a:rPr lang="en-US" sz="1150" dirty="0">
                <a:solidFill>
                  <a:schemeClr val="tx1"/>
                </a:solidFill>
              </a:rPr>
              <a:t>AI журам, эрх зүйн үндэс байхгүй; лицензийн зардал</a:t>
            </a:r>
            <a:endParaRPr lang="en-US" sz="115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Лавлагаа архитектур: Зэвсэгт хүчний AI-д суурилсан SOC</a:t>
            </a:r>
            <a:endParaRPr lang="en-US" sz="2800" dirty="0"/>
          </a:p>
        </p:txBody>
      </p:sp>
      <p:sp>
        <p:nvSpPr>
          <p:cNvPr id="3" name="layer0"/>
          <p:cNvSpPr/>
          <p:nvPr/>
        </p:nvSpPr>
        <p:spPr>
          <a:xfrm>
            <a:off x="548640" y="1325880"/>
            <a:ext cx="7589520" cy="694944"/>
          </a:xfrm>
          <a:prstGeom prst="roundRect">
            <a:avLst>
              <a:gd name="adj" fmla="val 10526"/>
            </a:avLst>
          </a:prstGeom>
          <a:solidFill>
            <a:schemeClr val="accent6"/>
          </a:solidFill>
          <a:ln w="12700">
            <a:solidFill>
              <a:schemeClr val="accent6"/>
            </a:solidFill>
            <a:prstDash val="solid"/>
          </a:ln>
        </p:spPr>
      </p:sp>
      <p:sp>
        <p:nvSpPr>
          <p:cNvPr id="4" name="layer0 circle"/>
          <p:cNvSpPr/>
          <p:nvPr/>
        </p:nvSpPr>
        <p:spPr>
          <a:xfrm>
            <a:off x="685800" y="1444752"/>
            <a:ext cx="457200" cy="457200"/>
          </a:xfrm>
          <a:prstGeom prst="ellipse">
            <a:avLst/>
          </a:prstGeom>
          <a:solidFill>
            <a:schemeClr val="tx1"/>
          </a:solidFill>
          <a:ln w="12700">
            <a:solidFill>
              <a:schemeClr val="tx1"/>
            </a:solidFill>
            <a:prstDash val="solid"/>
          </a:ln>
        </p:spPr>
      </p:sp>
      <p:sp>
        <p:nvSpPr>
          <p:cNvPr id="5" name="layer0 number"/>
          <p:cNvSpPr txBox="1"/>
          <p:nvPr/>
        </p:nvSpPr>
        <p:spPr>
          <a:xfrm>
            <a:off x="685800" y="144475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6" name="layer0 name"/>
          <p:cNvSpPr txBox="1"/>
          <p:nvPr/>
        </p:nvSpPr>
        <p:spPr>
          <a:xfrm>
            <a:off x="1280160" y="1325880"/>
            <a:ext cx="2331720" cy="694944"/>
          </a:xfrm>
          <a:prstGeom prst="rect">
            <a:avLst/>
          </a:prstGeom>
          <a:noFill/>
          <a:ln/>
        </p:spPr>
        <p:txBody>
          <a:bodyPr wrap="square" lIns="0" tIns="0" rIns="0" bIns="0" rtlCol="0" anchor="ctr"/>
          <a:lstStyle/>
          <a:p>
            <a:pPr indent="0" marL="0">
              <a:buNone/>
            </a:pPr>
            <a:r>
              <a:rPr lang="en-US" sz="1250" b="1" dirty="0">
                <a:solidFill>
                  <a:schemeClr val="tx1"/>
                </a:solidFill>
              </a:rPr>
              <a:t>Шинжээчийн туслах (copilot)</a:t>
            </a:r>
            <a:endParaRPr lang="en-US" sz="1250" dirty="0"/>
          </a:p>
        </p:txBody>
      </p:sp>
      <p:sp>
        <p:nvSpPr>
          <p:cNvPr id="7" name="layer0 comp"/>
          <p:cNvSpPr txBox="1"/>
          <p:nvPr/>
        </p:nvSpPr>
        <p:spPr>
          <a:xfrm>
            <a:off x="3657600" y="1325880"/>
            <a:ext cx="2377440" cy="694944"/>
          </a:xfrm>
          <a:prstGeom prst="rect">
            <a:avLst/>
          </a:prstGeom>
          <a:noFill/>
          <a:ln/>
        </p:spPr>
        <p:txBody>
          <a:bodyPr wrap="square" lIns="0" tIns="0" rIns="0" bIns="0" rtlCol="0" anchor="ctr"/>
          <a:lstStyle/>
          <a:p>
            <a:pPr indent="0" marL="0">
              <a:buNone/>
            </a:pPr>
            <a:r>
              <a:rPr lang="en-US" sz="1100" dirty="0">
                <a:solidFill>
                  <a:schemeClr val="tx2"/>
                </a:solidFill>
              </a:rPr>
              <a:t>Дотоод LLM + RAG, нууцлалтай сүлжээнд</a:t>
            </a:r>
            <a:endParaRPr lang="en-US" sz="1100" dirty="0"/>
          </a:p>
        </p:txBody>
      </p:sp>
      <p:sp>
        <p:nvSpPr>
          <p:cNvPr id="8" name="layer0 ai"/>
          <p:cNvSpPr txBox="1"/>
          <p:nvPr/>
        </p:nvSpPr>
        <p:spPr>
          <a:xfrm>
            <a:off x="6126480" y="1325880"/>
            <a:ext cx="1920240" cy="694944"/>
          </a:xfrm>
          <a:prstGeom prst="rect">
            <a:avLst/>
          </a:prstGeom>
          <a:noFill/>
          <a:ln/>
        </p:spPr>
        <p:txBody>
          <a:bodyPr wrap="square" lIns="0" tIns="0" rIns="0" bIns="0" rtlCol="0" anchor="ctr"/>
          <a:lstStyle/>
          <a:p>
            <a:pPr indent="0" marL="0">
              <a:buNone/>
            </a:pPr>
            <a:r>
              <a:rPr lang="en-US" sz="1100" b="1" i="1" dirty="0">
                <a:solidFill>
                  <a:schemeClr val="accent1"/>
                </a:solidFill>
              </a:rPr>
              <a:t>Энгийн хэлээр хайлт, тайлан, лог тайлбар</a:t>
            </a:r>
            <a:endParaRPr lang="en-US" sz="1100" dirty="0"/>
          </a:p>
        </p:txBody>
      </p:sp>
      <p:sp>
        <p:nvSpPr>
          <p:cNvPr id="9" name="layer1"/>
          <p:cNvSpPr/>
          <p:nvPr/>
        </p:nvSpPr>
        <p:spPr>
          <a:xfrm>
            <a:off x="548640" y="2103120"/>
            <a:ext cx="7589520" cy="694944"/>
          </a:xfrm>
          <a:prstGeom prst="roundRect">
            <a:avLst>
              <a:gd name="adj" fmla="val 10526"/>
            </a:avLst>
          </a:prstGeom>
          <a:solidFill>
            <a:schemeClr val="bg2"/>
          </a:solidFill>
          <a:ln w="12700">
            <a:solidFill>
              <a:schemeClr val="bg2"/>
            </a:solidFill>
            <a:prstDash val="solid"/>
          </a:ln>
        </p:spPr>
      </p:sp>
      <p:sp>
        <p:nvSpPr>
          <p:cNvPr id="10" name="layer1 circle"/>
          <p:cNvSpPr/>
          <p:nvPr/>
        </p:nvSpPr>
        <p:spPr>
          <a:xfrm>
            <a:off x="685800" y="2221992"/>
            <a:ext cx="457200" cy="457200"/>
          </a:xfrm>
          <a:prstGeom prst="ellipse">
            <a:avLst/>
          </a:prstGeom>
          <a:solidFill>
            <a:schemeClr val="tx1"/>
          </a:solidFill>
          <a:ln w="12700">
            <a:solidFill>
              <a:schemeClr val="tx1"/>
            </a:solidFill>
            <a:prstDash val="solid"/>
          </a:ln>
        </p:spPr>
      </p:sp>
      <p:sp>
        <p:nvSpPr>
          <p:cNvPr id="11" name="layer1 number"/>
          <p:cNvSpPr txBox="1"/>
          <p:nvPr/>
        </p:nvSpPr>
        <p:spPr>
          <a:xfrm>
            <a:off x="685800" y="222199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2" name="layer1 name"/>
          <p:cNvSpPr txBox="1"/>
          <p:nvPr/>
        </p:nvSpPr>
        <p:spPr>
          <a:xfrm>
            <a:off x="1280160" y="2103120"/>
            <a:ext cx="2331720" cy="694944"/>
          </a:xfrm>
          <a:prstGeom prst="rect">
            <a:avLst/>
          </a:prstGeom>
          <a:noFill/>
          <a:ln/>
        </p:spPr>
        <p:txBody>
          <a:bodyPr wrap="square" lIns="0" tIns="0" rIns="0" bIns="0" rtlCol="0" anchor="ctr"/>
          <a:lstStyle/>
          <a:p>
            <a:pPr indent="0" marL="0">
              <a:buNone/>
            </a:pPr>
            <a:r>
              <a:rPr lang="en-US" sz="1250" b="1" dirty="0">
                <a:solidFill>
                  <a:schemeClr val="tx1"/>
                </a:solidFill>
              </a:rPr>
              <a:t>Оркестрац, хариу үйлдэл (SOAR)</a:t>
            </a:r>
            <a:endParaRPr lang="en-US" sz="1250" dirty="0"/>
          </a:p>
        </p:txBody>
      </p:sp>
      <p:sp>
        <p:nvSpPr>
          <p:cNvPr id="13" name="layer1 comp"/>
          <p:cNvSpPr txBox="1"/>
          <p:nvPr/>
        </p:nvSpPr>
        <p:spPr>
          <a:xfrm>
            <a:off x="3657600" y="2103120"/>
            <a:ext cx="2377440" cy="694944"/>
          </a:xfrm>
          <a:prstGeom prst="rect">
            <a:avLst/>
          </a:prstGeom>
          <a:noFill/>
          <a:ln/>
        </p:spPr>
        <p:txBody>
          <a:bodyPr wrap="square" lIns="0" tIns="0" rIns="0" bIns="0" rtlCol="0" anchor="ctr"/>
          <a:lstStyle/>
          <a:p>
            <a:pPr indent="0" marL="0">
              <a:buNone/>
            </a:pPr>
            <a:r>
              <a:rPr lang="en-US" sz="1100" dirty="0">
                <a:solidFill>
                  <a:schemeClr val="tx2"/>
                </a:solidFill>
              </a:rPr>
              <a:t>TheHive/Cortex, Shuffle; playbook сан</a:t>
            </a:r>
            <a:endParaRPr lang="en-US" sz="1100" dirty="0"/>
          </a:p>
        </p:txBody>
      </p:sp>
      <p:sp>
        <p:nvSpPr>
          <p:cNvPr id="14" name="layer1 ai"/>
          <p:cNvSpPr txBox="1"/>
          <p:nvPr/>
        </p:nvSpPr>
        <p:spPr>
          <a:xfrm>
            <a:off x="6126480" y="2103120"/>
            <a:ext cx="1920240" cy="694944"/>
          </a:xfrm>
          <a:prstGeom prst="rect">
            <a:avLst/>
          </a:prstGeom>
          <a:noFill/>
          <a:ln/>
        </p:spPr>
        <p:txBody>
          <a:bodyPr wrap="square" lIns="0" tIns="0" rIns="0" bIns="0" rtlCol="0" anchor="ctr"/>
          <a:lstStyle/>
          <a:p>
            <a:pPr indent="0" marL="0">
              <a:buNone/>
            </a:pPr>
            <a:r>
              <a:rPr lang="en-US" sz="1100" b="1" i="1" dirty="0">
                <a:solidFill>
                  <a:schemeClr val="accent1"/>
                </a:solidFill>
              </a:rPr>
              <a:t>Эрэмбэлэлт, батлагдсан playbook (түвшин 1–3)</a:t>
            </a:r>
            <a:endParaRPr lang="en-US" sz="1100" dirty="0"/>
          </a:p>
        </p:txBody>
      </p:sp>
      <p:sp>
        <p:nvSpPr>
          <p:cNvPr id="15" name="layer2"/>
          <p:cNvSpPr/>
          <p:nvPr/>
        </p:nvSpPr>
        <p:spPr>
          <a:xfrm>
            <a:off x="548640" y="2880360"/>
            <a:ext cx="7589520" cy="694944"/>
          </a:xfrm>
          <a:prstGeom prst="roundRect">
            <a:avLst>
              <a:gd name="adj" fmla="val 10526"/>
            </a:avLst>
          </a:prstGeom>
          <a:solidFill>
            <a:schemeClr val="accent6"/>
          </a:solidFill>
          <a:ln w="12700">
            <a:solidFill>
              <a:schemeClr val="accent6"/>
            </a:solidFill>
            <a:prstDash val="solid"/>
          </a:ln>
        </p:spPr>
      </p:sp>
      <p:sp>
        <p:nvSpPr>
          <p:cNvPr id="16" name="layer2 circle"/>
          <p:cNvSpPr/>
          <p:nvPr/>
        </p:nvSpPr>
        <p:spPr>
          <a:xfrm>
            <a:off x="685800" y="2999232"/>
            <a:ext cx="457200" cy="457200"/>
          </a:xfrm>
          <a:prstGeom prst="ellipse">
            <a:avLst/>
          </a:prstGeom>
          <a:solidFill>
            <a:schemeClr val="tx1"/>
          </a:solidFill>
          <a:ln w="12700">
            <a:solidFill>
              <a:schemeClr val="tx1"/>
            </a:solidFill>
            <a:prstDash val="solid"/>
          </a:ln>
        </p:spPr>
      </p:sp>
      <p:sp>
        <p:nvSpPr>
          <p:cNvPr id="17" name="layer2 number"/>
          <p:cNvSpPr txBox="1"/>
          <p:nvPr/>
        </p:nvSpPr>
        <p:spPr>
          <a:xfrm>
            <a:off x="685800" y="29992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layer2 name"/>
          <p:cNvSpPr txBox="1"/>
          <p:nvPr/>
        </p:nvSpPr>
        <p:spPr>
          <a:xfrm>
            <a:off x="1280160" y="2880360"/>
            <a:ext cx="2331720" cy="694944"/>
          </a:xfrm>
          <a:prstGeom prst="rect">
            <a:avLst/>
          </a:prstGeom>
          <a:noFill/>
          <a:ln/>
        </p:spPr>
        <p:txBody>
          <a:bodyPr wrap="square" lIns="0" tIns="0" rIns="0" bIns="0" rtlCol="0" anchor="ctr"/>
          <a:lstStyle/>
          <a:p>
            <a:pPr indent="0" marL="0">
              <a:buNone/>
            </a:pPr>
            <a:r>
              <a:rPr lang="en-US" sz="1250" b="1" dirty="0">
                <a:solidFill>
                  <a:schemeClr val="tx1"/>
                </a:solidFill>
              </a:rPr>
              <a:t>CTI платформ</a:t>
            </a:r>
            <a:endParaRPr lang="en-US" sz="1250" dirty="0"/>
          </a:p>
        </p:txBody>
      </p:sp>
      <p:sp>
        <p:nvSpPr>
          <p:cNvPr id="19" name="layer2 comp"/>
          <p:cNvSpPr txBox="1"/>
          <p:nvPr/>
        </p:nvSpPr>
        <p:spPr>
          <a:xfrm>
            <a:off x="3657600" y="2880360"/>
            <a:ext cx="2377440" cy="694944"/>
          </a:xfrm>
          <a:prstGeom prst="rect">
            <a:avLst/>
          </a:prstGeom>
          <a:noFill/>
          <a:ln/>
        </p:spPr>
        <p:txBody>
          <a:bodyPr wrap="square" lIns="0" tIns="0" rIns="0" bIns="0" rtlCol="0" anchor="ctr"/>
          <a:lstStyle/>
          <a:p>
            <a:pPr indent="0" marL="0">
              <a:buNone/>
            </a:pPr>
            <a:r>
              <a:rPr lang="en-US" sz="1100" dirty="0">
                <a:solidFill>
                  <a:schemeClr val="tx2"/>
                </a:solidFill>
              </a:rPr>
              <a:t>MISP / OpenCTI; CERT.MN, КАБЗ-тэй солилцоо</a:t>
            </a:r>
            <a:endParaRPr lang="en-US" sz="1100" dirty="0"/>
          </a:p>
        </p:txBody>
      </p:sp>
      <p:sp>
        <p:nvSpPr>
          <p:cNvPr id="20" name="layer2 ai"/>
          <p:cNvSpPr txBox="1"/>
          <p:nvPr/>
        </p:nvSpPr>
        <p:spPr>
          <a:xfrm>
            <a:off x="6126480" y="2880360"/>
            <a:ext cx="1920240" cy="694944"/>
          </a:xfrm>
          <a:prstGeom prst="rect">
            <a:avLst/>
          </a:prstGeom>
          <a:noFill/>
          <a:ln/>
        </p:spPr>
        <p:txBody>
          <a:bodyPr wrap="square" lIns="0" tIns="0" rIns="0" bIns="0" rtlCol="0" anchor="ctr"/>
          <a:lstStyle/>
          <a:p>
            <a:pPr indent="0" marL="0">
              <a:buNone/>
            </a:pPr>
            <a:r>
              <a:rPr lang="en-US" sz="1100" b="1" i="1" dirty="0">
                <a:solidFill>
                  <a:schemeClr val="accent1"/>
                </a:solidFill>
              </a:rPr>
              <a:t>NLP-ээр IOC/TTP олборлох, эрэмбэлэх</a:t>
            </a:r>
            <a:endParaRPr lang="en-US" sz="1100" dirty="0"/>
          </a:p>
        </p:txBody>
      </p:sp>
      <p:sp>
        <p:nvSpPr>
          <p:cNvPr id="21" name="layer3"/>
          <p:cNvSpPr/>
          <p:nvPr/>
        </p:nvSpPr>
        <p:spPr>
          <a:xfrm>
            <a:off x="548640" y="3657600"/>
            <a:ext cx="7589520" cy="694944"/>
          </a:xfrm>
          <a:prstGeom prst="roundRect">
            <a:avLst>
              <a:gd name="adj" fmla="val 10526"/>
            </a:avLst>
          </a:prstGeom>
          <a:solidFill>
            <a:schemeClr val="bg2"/>
          </a:solidFill>
          <a:ln w="12700">
            <a:solidFill>
              <a:schemeClr val="bg2"/>
            </a:solidFill>
            <a:prstDash val="solid"/>
          </a:ln>
        </p:spPr>
      </p:sp>
      <p:sp>
        <p:nvSpPr>
          <p:cNvPr id="22" name="layer3 circle"/>
          <p:cNvSpPr/>
          <p:nvPr/>
        </p:nvSpPr>
        <p:spPr>
          <a:xfrm>
            <a:off x="685800" y="3776472"/>
            <a:ext cx="457200" cy="457200"/>
          </a:xfrm>
          <a:prstGeom prst="ellipse">
            <a:avLst/>
          </a:prstGeom>
          <a:solidFill>
            <a:schemeClr val="tx1"/>
          </a:solidFill>
          <a:ln w="12700">
            <a:solidFill>
              <a:schemeClr val="tx1"/>
            </a:solidFill>
            <a:prstDash val="solid"/>
          </a:ln>
        </p:spPr>
      </p:sp>
      <p:sp>
        <p:nvSpPr>
          <p:cNvPr id="23" name="layer3 number"/>
          <p:cNvSpPr txBox="1"/>
          <p:nvPr/>
        </p:nvSpPr>
        <p:spPr>
          <a:xfrm>
            <a:off x="685800" y="377647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layer3 name"/>
          <p:cNvSpPr txBox="1"/>
          <p:nvPr/>
        </p:nvSpPr>
        <p:spPr>
          <a:xfrm>
            <a:off x="1280160" y="3657600"/>
            <a:ext cx="2331720" cy="694944"/>
          </a:xfrm>
          <a:prstGeom prst="rect">
            <a:avLst/>
          </a:prstGeom>
          <a:noFill/>
          <a:ln/>
        </p:spPr>
        <p:txBody>
          <a:bodyPr wrap="square" lIns="0" tIns="0" rIns="0" bIns="0" rtlCol="0" anchor="ctr"/>
          <a:lstStyle/>
          <a:p>
            <a:pPr indent="0" marL="0">
              <a:buNone/>
            </a:pPr>
            <a:r>
              <a:rPr lang="en-US" sz="1250" b="1" dirty="0">
                <a:solidFill>
                  <a:schemeClr val="tx1"/>
                </a:solidFill>
              </a:rPr>
              <a:t>Шинжилгээний хөдөлгүүр</a:t>
            </a:r>
            <a:endParaRPr lang="en-US" sz="1250" dirty="0"/>
          </a:p>
        </p:txBody>
      </p:sp>
      <p:sp>
        <p:nvSpPr>
          <p:cNvPr id="25" name="layer3 comp"/>
          <p:cNvSpPr txBox="1"/>
          <p:nvPr/>
        </p:nvSpPr>
        <p:spPr>
          <a:xfrm>
            <a:off x="3657600" y="3657600"/>
            <a:ext cx="2377440" cy="694944"/>
          </a:xfrm>
          <a:prstGeom prst="rect">
            <a:avLst/>
          </a:prstGeom>
          <a:noFill/>
          <a:ln/>
        </p:spPr>
        <p:txBody>
          <a:bodyPr wrap="square" lIns="0" tIns="0" rIns="0" bIns="0" rtlCol="0" anchor="ctr"/>
          <a:lstStyle/>
          <a:p>
            <a:pPr indent="0" marL="0">
              <a:buNone/>
            </a:pPr>
            <a:r>
              <a:rPr lang="en-US" sz="1100" dirty="0">
                <a:solidFill>
                  <a:schemeClr val="tx2"/>
                </a:solidFill>
              </a:rPr>
              <a:t>Anomaly, UEBA, график шинжилгээ, ATT&amp;CK</a:t>
            </a:r>
            <a:endParaRPr lang="en-US" sz="1100" dirty="0"/>
          </a:p>
        </p:txBody>
      </p:sp>
      <p:sp>
        <p:nvSpPr>
          <p:cNvPr id="26" name="layer3 ai"/>
          <p:cNvSpPr txBox="1"/>
          <p:nvPr/>
        </p:nvSpPr>
        <p:spPr>
          <a:xfrm>
            <a:off x="6126480" y="3657600"/>
            <a:ext cx="1920240" cy="694944"/>
          </a:xfrm>
          <a:prstGeom prst="rect">
            <a:avLst/>
          </a:prstGeom>
          <a:noFill/>
          <a:ln/>
        </p:spPr>
        <p:txBody>
          <a:bodyPr wrap="square" lIns="0" tIns="0" rIns="0" bIns="0" rtlCol="0" anchor="ctr"/>
          <a:lstStyle/>
          <a:p>
            <a:pPr indent="0" marL="0">
              <a:buNone/>
            </a:pPr>
            <a:r>
              <a:rPr lang="en-US" sz="1100" b="1" i="1" dirty="0">
                <a:solidFill>
                  <a:schemeClr val="accent1"/>
                </a:solidFill>
              </a:rPr>
              <a:t>Үндсэн ML загварууд; MLOps, drift хяналт</a:t>
            </a:r>
            <a:endParaRPr lang="en-US" sz="1100" dirty="0"/>
          </a:p>
        </p:txBody>
      </p:sp>
      <p:sp>
        <p:nvSpPr>
          <p:cNvPr id="27" name="layer4"/>
          <p:cNvSpPr/>
          <p:nvPr/>
        </p:nvSpPr>
        <p:spPr>
          <a:xfrm>
            <a:off x="548640" y="4434840"/>
            <a:ext cx="7589520" cy="694944"/>
          </a:xfrm>
          <a:prstGeom prst="roundRect">
            <a:avLst>
              <a:gd name="adj" fmla="val 10526"/>
            </a:avLst>
          </a:prstGeom>
          <a:solidFill>
            <a:schemeClr val="accent6"/>
          </a:solidFill>
          <a:ln w="12700">
            <a:solidFill>
              <a:schemeClr val="accent6"/>
            </a:solidFill>
            <a:prstDash val="solid"/>
          </a:ln>
        </p:spPr>
      </p:sp>
      <p:sp>
        <p:nvSpPr>
          <p:cNvPr id="28" name="layer4 circle"/>
          <p:cNvSpPr/>
          <p:nvPr/>
        </p:nvSpPr>
        <p:spPr>
          <a:xfrm>
            <a:off x="685800" y="4553712"/>
            <a:ext cx="457200" cy="457200"/>
          </a:xfrm>
          <a:prstGeom prst="ellipse">
            <a:avLst/>
          </a:prstGeom>
          <a:solidFill>
            <a:schemeClr val="tx1"/>
          </a:solidFill>
          <a:ln w="12700">
            <a:solidFill>
              <a:schemeClr val="tx1"/>
            </a:solidFill>
            <a:prstDash val="solid"/>
          </a:ln>
        </p:spPr>
      </p:sp>
      <p:sp>
        <p:nvSpPr>
          <p:cNvPr id="29" name="layer4 number"/>
          <p:cNvSpPr txBox="1"/>
          <p:nvPr/>
        </p:nvSpPr>
        <p:spPr>
          <a:xfrm>
            <a:off x="685800" y="455371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0" name="layer4 name"/>
          <p:cNvSpPr txBox="1"/>
          <p:nvPr/>
        </p:nvSpPr>
        <p:spPr>
          <a:xfrm>
            <a:off x="1280160" y="4434840"/>
            <a:ext cx="2331720" cy="694944"/>
          </a:xfrm>
          <a:prstGeom prst="rect">
            <a:avLst/>
          </a:prstGeom>
          <a:noFill/>
          <a:ln/>
        </p:spPr>
        <p:txBody>
          <a:bodyPr wrap="square" lIns="0" tIns="0" rIns="0" bIns="0" rtlCol="0" anchor="ctr"/>
          <a:lstStyle/>
          <a:p>
            <a:pPr indent="0" marL="0">
              <a:buNone/>
            </a:pPr>
            <a:r>
              <a:rPr lang="en-US" sz="1250" b="1" dirty="0">
                <a:solidFill>
                  <a:schemeClr val="tx1"/>
                </a:solidFill>
              </a:rPr>
              <a:t>Өгөгдлийн сан / SIEM</a:t>
            </a:r>
            <a:endParaRPr lang="en-US" sz="1250" dirty="0"/>
          </a:p>
        </p:txBody>
      </p:sp>
      <p:sp>
        <p:nvSpPr>
          <p:cNvPr id="31" name="layer4 comp"/>
          <p:cNvSpPr txBox="1"/>
          <p:nvPr/>
        </p:nvSpPr>
        <p:spPr>
          <a:xfrm>
            <a:off x="3657600" y="4434840"/>
            <a:ext cx="2377440" cy="694944"/>
          </a:xfrm>
          <a:prstGeom prst="rect">
            <a:avLst/>
          </a:prstGeom>
          <a:noFill/>
          <a:ln/>
        </p:spPr>
        <p:txBody>
          <a:bodyPr wrap="square" lIns="0" tIns="0" rIns="0" bIns="0" rtlCol="0" anchor="ctr"/>
          <a:lstStyle/>
          <a:p>
            <a:pPr indent="0" marL="0">
              <a:buNone/>
            </a:pPr>
            <a:r>
              <a:rPr lang="en-US" sz="1100" dirty="0">
                <a:solidFill>
                  <a:schemeClr val="tx2"/>
                </a:solidFill>
              </a:rPr>
              <a:t>OpenSearch/ELK, Wazuh; OCSF/ECS; 12+ сар</a:t>
            </a:r>
            <a:endParaRPr lang="en-US" sz="1100" dirty="0"/>
          </a:p>
        </p:txBody>
      </p:sp>
      <p:sp>
        <p:nvSpPr>
          <p:cNvPr id="32" name="layer4 ai"/>
          <p:cNvSpPr txBox="1"/>
          <p:nvPr/>
        </p:nvSpPr>
        <p:spPr>
          <a:xfrm>
            <a:off x="6126480" y="4434840"/>
            <a:ext cx="1920240" cy="694944"/>
          </a:xfrm>
          <a:prstGeom prst="rect">
            <a:avLst/>
          </a:prstGeom>
          <a:noFill/>
          <a:ln/>
        </p:spPr>
        <p:txBody>
          <a:bodyPr wrap="square" lIns="0" tIns="0" rIns="0" bIns="0" rtlCol="0" anchor="ctr"/>
          <a:lstStyle/>
          <a:p>
            <a:pPr indent="0" marL="0">
              <a:buNone/>
            </a:pPr>
            <a:r>
              <a:rPr lang="en-US" sz="1100" b="1" i="1" dirty="0">
                <a:solidFill>
                  <a:schemeClr val="accent1"/>
                </a:solidFill>
              </a:rPr>
              <a:t>Лог нормчлол, ML parser</a:t>
            </a:r>
            <a:endParaRPr lang="en-US" sz="1100" dirty="0"/>
          </a:p>
        </p:txBody>
      </p:sp>
      <p:sp>
        <p:nvSpPr>
          <p:cNvPr id="33" name="layer5"/>
          <p:cNvSpPr/>
          <p:nvPr/>
        </p:nvSpPr>
        <p:spPr>
          <a:xfrm>
            <a:off x="548640" y="5212080"/>
            <a:ext cx="7589520" cy="694944"/>
          </a:xfrm>
          <a:prstGeom prst="roundRect">
            <a:avLst>
              <a:gd name="adj" fmla="val 10526"/>
            </a:avLst>
          </a:prstGeom>
          <a:solidFill>
            <a:schemeClr val="bg2"/>
          </a:solidFill>
          <a:ln w="12700">
            <a:solidFill>
              <a:schemeClr val="bg2"/>
            </a:solidFill>
            <a:prstDash val="solid"/>
          </a:ln>
        </p:spPr>
      </p:sp>
      <p:sp>
        <p:nvSpPr>
          <p:cNvPr id="34" name="layer5 circle"/>
          <p:cNvSpPr/>
          <p:nvPr/>
        </p:nvSpPr>
        <p:spPr>
          <a:xfrm>
            <a:off x="685800" y="5330952"/>
            <a:ext cx="457200" cy="457200"/>
          </a:xfrm>
          <a:prstGeom prst="ellipse">
            <a:avLst/>
          </a:prstGeom>
          <a:solidFill>
            <a:schemeClr val="tx1"/>
          </a:solidFill>
          <a:ln w="12700">
            <a:solidFill>
              <a:schemeClr val="tx1"/>
            </a:solidFill>
            <a:prstDash val="solid"/>
          </a:ln>
        </p:spPr>
      </p:sp>
      <p:sp>
        <p:nvSpPr>
          <p:cNvPr id="35" name="layer5 number"/>
          <p:cNvSpPr txBox="1"/>
          <p:nvPr/>
        </p:nvSpPr>
        <p:spPr>
          <a:xfrm>
            <a:off x="685800" y="533095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6" name="layer5 name"/>
          <p:cNvSpPr txBox="1"/>
          <p:nvPr/>
        </p:nvSpPr>
        <p:spPr>
          <a:xfrm>
            <a:off x="1280160" y="5212080"/>
            <a:ext cx="2331720" cy="694944"/>
          </a:xfrm>
          <a:prstGeom prst="rect">
            <a:avLst/>
          </a:prstGeom>
          <a:noFill/>
          <a:ln/>
        </p:spPr>
        <p:txBody>
          <a:bodyPr wrap="square" lIns="0" tIns="0" rIns="0" bIns="0" rtlCol="0" anchor="ctr"/>
          <a:lstStyle/>
          <a:p>
            <a:pPr indent="0" marL="0">
              <a:buNone/>
            </a:pPr>
            <a:r>
              <a:rPr lang="en-US" sz="1250" b="1" dirty="0">
                <a:solidFill>
                  <a:schemeClr val="tx1"/>
                </a:solidFill>
              </a:rPr>
              <a:t>Мэдрэгч (sensors)</a:t>
            </a:r>
            <a:endParaRPr lang="en-US" sz="1250" dirty="0"/>
          </a:p>
        </p:txBody>
      </p:sp>
      <p:sp>
        <p:nvSpPr>
          <p:cNvPr id="37" name="layer5 comp"/>
          <p:cNvSpPr txBox="1"/>
          <p:nvPr/>
        </p:nvSpPr>
        <p:spPr>
          <a:xfrm>
            <a:off x="3657600" y="5212080"/>
            <a:ext cx="2377440" cy="694944"/>
          </a:xfrm>
          <a:prstGeom prst="rect">
            <a:avLst/>
          </a:prstGeom>
          <a:noFill/>
          <a:ln/>
        </p:spPr>
        <p:txBody>
          <a:bodyPr wrap="square" lIns="0" tIns="0" rIns="0" bIns="0" rtlCol="0" anchor="ctr"/>
          <a:lstStyle/>
          <a:p>
            <a:pPr indent="0" marL="0">
              <a:buNone/>
            </a:pPr>
            <a:r>
              <a:rPr lang="en-US" sz="1100" dirty="0">
                <a:solidFill>
                  <a:schemeClr val="tx2"/>
                </a:solidFill>
              </a:rPr>
              <a:t>EDR, Suricata/Zeek, имэйл шүүлтүүр, IAM лог</a:t>
            </a:r>
            <a:endParaRPr lang="en-US" sz="1100" dirty="0"/>
          </a:p>
        </p:txBody>
      </p:sp>
      <p:sp>
        <p:nvSpPr>
          <p:cNvPr id="38" name="layer5 ai"/>
          <p:cNvSpPr txBox="1"/>
          <p:nvPr/>
        </p:nvSpPr>
        <p:spPr>
          <a:xfrm>
            <a:off x="6126480" y="5212080"/>
            <a:ext cx="1920240" cy="694944"/>
          </a:xfrm>
          <a:prstGeom prst="rect">
            <a:avLst/>
          </a:prstGeom>
          <a:noFill/>
          <a:ln/>
        </p:spPr>
        <p:txBody>
          <a:bodyPr wrap="square" lIns="0" tIns="0" rIns="0" bIns="0" rtlCol="0" anchor="ctr"/>
          <a:lstStyle/>
          <a:p>
            <a:pPr indent="0" marL="0">
              <a:buNone/>
            </a:pPr>
            <a:r>
              <a:rPr lang="en-US" sz="1100" b="1" i="1" dirty="0">
                <a:solidFill>
                  <a:schemeClr val="accent1"/>
                </a:solidFill>
              </a:rPr>
              <a:t>Edge дээр хөнгөн ML (хортой код, DGA)</a:t>
            </a:r>
            <a:endParaRPr lang="en-US" sz="1100" dirty="0"/>
          </a:p>
        </p:txBody>
      </p:sp>
      <p:sp>
        <p:nvSpPr>
          <p:cNvPr id="39" name="col head comp"/>
          <p:cNvSpPr txBox="1"/>
          <p:nvPr/>
        </p:nvSpPr>
        <p:spPr>
          <a:xfrm>
            <a:off x="3657600" y="1097280"/>
            <a:ext cx="2377440" cy="228600"/>
          </a:xfrm>
          <a:prstGeom prst="rect">
            <a:avLst/>
          </a:prstGeom>
          <a:noFill/>
          <a:ln/>
        </p:spPr>
        <p:txBody>
          <a:bodyPr wrap="square" lIns="0" tIns="0" rIns="0" bIns="0" rtlCol="0" anchor="ctr"/>
          <a:lstStyle/>
          <a:p>
            <a:pPr indent="0" marL="0">
              <a:buNone/>
            </a:pPr>
            <a:r>
              <a:rPr lang="en-US" sz="950" dirty="0">
                <a:solidFill>
                  <a:schemeClr val="tx2"/>
                </a:solidFill>
              </a:rPr>
              <a:t>Бүрэлдэхүүн (нээлттэй эх)</a:t>
            </a:r>
            <a:endParaRPr lang="en-US" sz="950" dirty="0"/>
          </a:p>
        </p:txBody>
      </p:sp>
      <p:sp>
        <p:nvSpPr>
          <p:cNvPr id="40" name="col head ai"/>
          <p:cNvSpPr txBox="1"/>
          <p:nvPr/>
        </p:nvSpPr>
        <p:spPr>
          <a:xfrm>
            <a:off x="6126480" y="1097280"/>
            <a:ext cx="1828800" cy="228600"/>
          </a:xfrm>
          <a:prstGeom prst="rect">
            <a:avLst/>
          </a:prstGeom>
          <a:noFill/>
          <a:ln/>
        </p:spPr>
        <p:txBody>
          <a:bodyPr wrap="square" lIns="0" tIns="0" rIns="0" bIns="0" rtlCol="0" anchor="ctr"/>
          <a:lstStyle/>
          <a:p>
            <a:pPr indent="0" marL="0">
              <a:buNone/>
            </a:pPr>
            <a:r>
              <a:rPr lang="en-US" sz="950" dirty="0">
                <a:solidFill>
                  <a:schemeClr val="tx2"/>
                </a:solidFill>
              </a:rPr>
              <a:t>AI-ийн үүрэг</a:t>
            </a:r>
            <a:endParaRPr lang="en-US" sz="950" dirty="0"/>
          </a:p>
        </p:txBody>
      </p:sp>
      <p:sp>
        <p:nvSpPr>
          <p:cNvPr id="41" name="gov card"/>
          <p:cNvSpPr/>
          <p:nvPr/>
        </p:nvSpPr>
        <p:spPr>
          <a:xfrm>
            <a:off x="8412480" y="1325880"/>
            <a:ext cx="3230575" cy="2286000"/>
          </a:xfrm>
          <a:prstGeom prst="roundRect">
            <a:avLst>
              <a:gd name="adj" fmla="val 3200"/>
            </a:avLst>
          </a:prstGeom>
          <a:solidFill>
            <a:schemeClr val="tx1"/>
          </a:solidFill>
          <a:ln w="12700">
            <a:solidFill>
              <a:schemeClr val="tx1"/>
            </a:solidFill>
            <a:prstDash val="solid"/>
          </a:ln>
        </p:spPr>
      </p:sp>
      <p:sp>
        <p:nvSpPr>
          <p:cNvPr id="42" name="gov circle"/>
          <p:cNvSpPr/>
          <p:nvPr/>
        </p:nvSpPr>
        <p:spPr>
          <a:xfrm>
            <a:off x="8595360" y="1481328"/>
            <a:ext cx="457200" cy="457200"/>
          </a:xfrm>
          <a:prstGeom prst="ellipse">
            <a:avLst/>
          </a:prstGeom>
          <a:solidFill>
            <a:schemeClr val="accent1"/>
          </a:solidFill>
          <a:ln w="12700">
            <a:solidFill>
              <a:schemeClr val="accent1"/>
            </a:solidFill>
            <a:prstDash val="solid"/>
          </a:ln>
        </p:spPr>
      </p:sp>
      <p:pic>
        <p:nvPicPr>
          <p:cNvPr id="43" name="gov icon" descr="preencoded.png">    </p:cNvPr>
          <p:cNvPicPr>
            <a:picLocks noChangeAspect="1"/>
          </p:cNvPicPr>
          <p:nvPr/>
        </p:nvPicPr>
        <p:blipFill>
          <a:blip r:embed="rId1"/>
          <a:stretch>
            <a:fillRect/>
          </a:stretch>
        </p:blipFill>
        <p:spPr>
          <a:xfrm>
            <a:off x="8709660" y="1595628"/>
            <a:ext cx="228600" cy="228600"/>
          </a:xfrm>
          <a:prstGeom prst="rect">
            <a:avLst/>
          </a:prstGeom>
        </p:spPr>
      </p:pic>
      <p:sp>
        <p:nvSpPr>
          <p:cNvPr id="44" name="gov head"/>
          <p:cNvSpPr txBox="1"/>
          <p:nvPr/>
        </p:nvSpPr>
        <p:spPr>
          <a:xfrm>
            <a:off x="9189720" y="1463040"/>
            <a:ext cx="2316175" cy="502920"/>
          </a:xfrm>
          <a:prstGeom prst="rect">
            <a:avLst/>
          </a:prstGeom>
          <a:noFill/>
          <a:ln/>
        </p:spPr>
        <p:txBody>
          <a:bodyPr wrap="square" lIns="0" tIns="0" rIns="0" bIns="0" rtlCol="0" anchor="ctr"/>
          <a:lstStyle/>
          <a:p>
            <a:pPr indent="0" marL="0">
              <a:buNone/>
            </a:pPr>
            <a:r>
              <a:rPr lang="en-US" sz="1300" b="1" dirty="0">
                <a:solidFill>
                  <a:schemeClr val="bg1"/>
                </a:solidFill>
              </a:rPr>
              <a:t>Засаглал, AI аюулгүй байдал</a:t>
            </a:r>
            <a:endParaRPr lang="en-US" sz="1300" dirty="0"/>
          </a:p>
        </p:txBody>
      </p:sp>
      <p:sp>
        <p:nvSpPr>
          <p:cNvPr id="45" name="gov bullets"/>
          <p:cNvSpPr txBox="1"/>
          <p:nvPr/>
        </p:nvSpPr>
        <p:spPr>
          <a:xfrm>
            <a:off x="8595360" y="2057400"/>
            <a:ext cx="2864815" cy="146304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bg1"/>
                </a:solidFill>
              </a:rPr>
              <a:t>AI засаглалын бодлого, загварын бүртгэл</a:t>
            </a:r>
            <a:endParaRPr lang="en-US" sz="1150" dirty="0"/>
          </a:p>
          <a:p>
            <a:pPr marL="152400" indent="-152400">
              <a:spcAft>
                <a:spcPts val="500"/>
              </a:spcAft>
              <a:buSzPct val="100000"/>
              <a:buChar char="•"/>
            </a:pPr>
            <a:r>
              <a:rPr lang="en-US" sz="1150" dirty="0">
                <a:solidFill>
                  <a:schemeClr val="bg1"/>
                </a:solidFill>
              </a:rPr>
              <a:t>AI red team, аудитын лог</a:t>
            </a:r>
            <a:endParaRPr lang="en-US" sz="1150" dirty="0"/>
          </a:p>
          <a:p>
            <a:pPr marL="152400" indent="-152400">
              <a:spcAft>
                <a:spcPts val="500"/>
              </a:spcAft>
              <a:buSzPct val="100000"/>
              <a:buChar char="•"/>
            </a:pPr>
            <a:r>
              <a:rPr lang="en-US" sz="1150" dirty="0">
                <a:solidFill>
                  <a:schemeClr val="bg1"/>
                </a:solidFill>
              </a:rPr>
              <a:t>NIST AI RMF / MITRE ATLAS-д нийцэл</a:t>
            </a:r>
            <a:endParaRPr lang="en-US" sz="1150" dirty="0"/>
          </a:p>
        </p:txBody>
      </p:sp>
      <p:sp>
        <p:nvSpPr>
          <p:cNvPr id="46" name="people card"/>
          <p:cNvSpPr/>
          <p:nvPr/>
        </p:nvSpPr>
        <p:spPr>
          <a:xfrm>
            <a:off x="8412480" y="3749040"/>
            <a:ext cx="3230575" cy="2286000"/>
          </a:xfrm>
          <a:prstGeom prst="roundRect">
            <a:avLst>
              <a:gd name="adj" fmla="val 3200"/>
            </a:avLst>
          </a:prstGeom>
          <a:solidFill>
            <a:schemeClr val="tx1"/>
          </a:solidFill>
          <a:ln w="12700">
            <a:solidFill>
              <a:schemeClr val="tx1"/>
            </a:solidFill>
            <a:prstDash val="solid"/>
          </a:ln>
        </p:spPr>
      </p:sp>
      <p:sp>
        <p:nvSpPr>
          <p:cNvPr id="47" name="people circle"/>
          <p:cNvSpPr/>
          <p:nvPr/>
        </p:nvSpPr>
        <p:spPr>
          <a:xfrm>
            <a:off x="8595360" y="3904488"/>
            <a:ext cx="457200" cy="457200"/>
          </a:xfrm>
          <a:prstGeom prst="ellipse">
            <a:avLst/>
          </a:prstGeom>
          <a:solidFill>
            <a:schemeClr val="accent1"/>
          </a:solidFill>
          <a:ln w="12700">
            <a:solidFill>
              <a:schemeClr val="accent1"/>
            </a:solidFill>
            <a:prstDash val="solid"/>
          </a:ln>
        </p:spPr>
      </p:sp>
      <p:pic>
        <p:nvPicPr>
          <p:cNvPr id="48" name="people icon" descr="preencoded.png">    </p:cNvPr>
          <p:cNvPicPr>
            <a:picLocks noChangeAspect="1"/>
          </p:cNvPicPr>
          <p:nvPr/>
        </p:nvPicPr>
        <p:blipFill>
          <a:blip r:embed="rId2"/>
          <a:stretch>
            <a:fillRect/>
          </a:stretch>
        </p:blipFill>
        <p:spPr>
          <a:xfrm>
            <a:off x="8709660" y="4018788"/>
            <a:ext cx="228600" cy="228600"/>
          </a:xfrm>
          <a:prstGeom prst="rect">
            <a:avLst/>
          </a:prstGeom>
        </p:spPr>
      </p:pic>
      <p:sp>
        <p:nvSpPr>
          <p:cNvPr id="49" name="people head"/>
          <p:cNvSpPr txBox="1"/>
          <p:nvPr/>
        </p:nvSpPr>
        <p:spPr>
          <a:xfrm>
            <a:off x="9189720" y="3886200"/>
            <a:ext cx="2316175" cy="502920"/>
          </a:xfrm>
          <a:prstGeom prst="rect">
            <a:avLst/>
          </a:prstGeom>
          <a:noFill/>
          <a:ln/>
        </p:spPr>
        <p:txBody>
          <a:bodyPr wrap="square" lIns="0" tIns="0" rIns="0" bIns="0" rtlCol="0" anchor="ctr"/>
          <a:lstStyle/>
          <a:p>
            <a:pPr indent="0" marL="0">
              <a:buNone/>
            </a:pPr>
            <a:r>
              <a:rPr lang="en-US" sz="1300" b="1" dirty="0">
                <a:solidFill>
                  <a:schemeClr val="bg1"/>
                </a:solidFill>
              </a:rPr>
              <a:t>Хүн, сургалт</a:t>
            </a:r>
            <a:endParaRPr lang="en-US" sz="1300" dirty="0"/>
          </a:p>
        </p:txBody>
      </p:sp>
      <p:sp>
        <p:nvSpPr>
          <p:cNvPr id="50" name="people bullets"/>
          <p:cNvSpPr txBox="1"/>
          <p:nvPr/>
        </p:nvSpPr>
        <p:spPr>
          <a:xfrm>
            <a:off x="8595360" y="4480560"/>
            <a:ext cx="2864815" cy="146304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bg1"/>
                </a:solidFill>
              </a:rPr>
              <a:t>Tier 1–3 шинжээч, threat hunter, ML инженер, IR баг</a:t>
            </a:r>
            <a:endParaRPr lang="en-US" sz="1150" dirty="0"/>
          </a:p>
          <a:p>
            <a:pPr marL="152400" indent="-152400">
              <a:spcAft>
                <a:spcPts val="500"/>
              </a:spcAft>
              <a:buSzPct val="100000"/>
              <a:buChar char="•"/>
            </a:pPr>
            <a:r>
              <a:rPr lang="en-US" sz="1150" dirty="0">
                <a:solidFill>
                  <a:schemeClr val="bg1"/>
                </a:solidFill>
              </a:rPr>
              <a:t>ҮБХИС-ийн кибер полигон</a:t>
            </a:r>
            <a:endParaRPr lang="en-US" sz="1150" dirty="0"/>
          </a:p>
          <a:p>
            <a:pPr marL="152400" indent="-152400">
              <a:spcAft>
                <a:spcPts val="500"/>
              </a:spcAft>
              <a:buSzPct val="100000"/>
              <a:buChar char="•"/>
            </a:pPr>
            <a:r>
              <a:rPr lang="en-US" sz="1150" dirty="0">
                <a:solidFill>
                  <a:schemeClr val="bg1"/>
                </a:solidFill>
              </a:rPr>
              <a:t>Хүн шийдвэрийн гогцоонд</a:t>
            </a:r>
            <a:endParaRPr lang="en-US" sz="1150" dirty="0"/>
          </a:p>
        </p:txBody>
      </p:sp>
      <p:sp>
        <p:nvSpPr>
          <p:cNvPr id="51" name="arch note"/>
          <p:cNvSpPr txBox="1"/>
          <p:nvPr/>
        </p:nvSpPr>
        <p:spPr>
          <a:xfrm>
            <a:off x="548640" y="6035040"/>
            <a:ext cx="7589520" cy="274320"/>
          </a:xfrm>
          <a:prstGeom prst="rect">
            <a:avLst/>
          </a:prstGeom>
          <a:noFill/>
          <a:ln/>
        </p:spPr>
        <p:txBody>
          <a:bodyPr wrap="square" lIns="0" tIns="0" rIns="0" bIns="0" rtlCol="0" anchor="ctr"/>
          <a:lstStyle/>
          <a:p>
            <a:pPr indent="0" marL="0">
              <a:buNone/>
            </a:pPr>
            <a:r>
              <a:rPr lang="en-US" sz="1100" b="1" i="1" dirty="0">
                <a:solidFill>
                  <a:schemeClr val="accent1"/>
                </a:solidFill>
              </a:rPr>
              <a:t>Бүхэлдээ нээлттэй эх, дотоод (on-premise) байршуулалт боломжтой; автономийн түвшин 1–3</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Замын зураг 2026–2030: үе шаттай нэвтрүүлэлт</a:t>
            </a:r>
            <a:endParaRPr lang="en-US" sz="2800" dirty="0"/>
          </a:p>
        </p:txBody>
      </p:sp>
      <p:sp>
        <p:nvSpPr>
          <p:cNvPr id="3" name="timeline"/>
          <p:cNvSpPr/>
          <p:nvPr/>
        </p:nvSpPr>
        <p:spPr>
          <a:xfrm>
            <a:off x="2308860" y="1600200"/>
            <a:ext cx="7573975" cy="0"/>
          </a:xfrm>
          <a:prstGeom prst="line">
            <a:avLst/>
          </a:prstGeom>
          <a:noFill/>
          <a:ln w="25400">
            <a:solidFill>
              <a:schemeClr val="accent5"/>
            </a:solidFill>
            <a:prstDash val="dash"/>
          </a:ln>
        </p:spPr>
      </p:sp>
      <p:sp>
        <p:nvSpPr>
          <p:cNvPr id="4" name="phase0 dot"/>
          <p:cNvSpPr/>
          <p:nvPr/>
        </p:nvSpPr>
        <p:spPr>
          <a:xfrm>
            <a:off x="2034540" y="1325880"/>
            <a:ext cx="548640" cy="548640"/>
          </a:xfrm>
          <a:prstGeom prst="ellipse">
            <a:avLst/>
          </a:prstGeom>
          <a:solidFill>
            <a:schemeClr val="accent1"/>
          </a:solidFill>
          <a:ln w="12700">
            <a:solidFill>
              <a:schemeClr val="accent1"/>
            </a:solidFill>
            <a:prstDash val="solid"/>
          </a:ln>
        </p:spPr>
      </p:sp>
      <p:sp>
        <p:nvSpPr>
          <p:cNvPr id="5" name="phase0 roman"/>
          <p:cNvSpPr txBox="1"/>
          <p:nvPr/>
        </p:nvSpPr>
        <p:spPr>
          <a:xfrm>
            <a:off x="2034540" y="13258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I</a:t>
            </a:r>
            <a:endParaRPr lang="en-US" sz="1400" dirty="0"/>
          </a:p>
        </p:txBody>
      </p:sp>
      <p:sp>
        <p:nvSpPr>
          <p:cNvPr id="6" name="phase0"/>
          <p:cNvSpPr/>
          <p:nvPr/>
        </p:nvSpPr>
        <p:spPr>
          <a:xfrm>
            <a:off x="548640" y="2057400"/>
            <a:ext cx="3520440" cy="3337560"/>
          </a:xfrm>
          <a:prstGeom prst="roundRect">
            <a:avLst>
              <a:gd name="adj" fmla="val 2192"/>
            </a:avLst>
          </a:prstGeom>
          <a:solidFill>
            <a:schemeClr val="bg2"/>
          </a:solidFill>
          <a:ln w="12700">
            <a:solidFill>
              <a:schemeClr val="bg2"/>
            </a:solidFill>
            <a:prstDash val="solid"/>
          </a:ln>
        </p:spPr>
      </p:sp>
      <p:sp>
        <p:nvSpPr>
          <p:cNvPr id="7" name="phase0 name"/>
          <p:cNvSpPr txBox="1"/>
          <p:nvPr/>
        </p:nvSpPr>
        <p:spPr>
          <a:xfrm>
            <a:off x="749808" y="2176272"/>
            <a:ext cx="3118104" cy="365760"/>
          </a:xfrm>
          <a:prstGeom prst="rect">
            <a:avLst/>
          </a:prstGeom>
          <a:noFill/>
          <a:ln/>
        </p:spPr>
        <p:txBody>
          <a:bodyPr wrap="square" lIns="0" tIns="0" rIns="0" bIns="0" rtlCol="0" anchor="ctr"/>
          <a:lstStyle/>
          <a:p>
            <a:pPr indent="0" marL="0">
              <a:buNone/>
            </a:pPr>
            <a:r>
              <a:rPr lang="en-US" sz="1600" b="1" dirty="0">
                <a:solidFill>
                  <a:schemeClr val="accent1"/>
                </a:solidFill>
              </a:rPr>
              <a:t>Суурь</a:t>
            </a:r>
            <a:endParaRPr lang="en-US" sz="1600" dirty="0"/>
          </a:p>
        </p:txBody>
      </p:sp>
      <p:sp>
        <p:nvSpPr>
          <p:cNvPr id="8" name="phase0 period"/>
          <p:cNvSpPr txBox="1"/>
          <p:nvPr/>
        </p:nvSpPr>
        <p:spPr>
          <a:xfrm>
            <a:off x="749808" y="2542032"/>
            <a:ext cx="3118104" cy="274320"/>
          </a:xfrm>
          <a:prstGeom prst="rect">
            <a:avLst/>
          </a:prstGeom>
          <a:noFill/>
          <a:ln/>
        </p:spPr>
        <p:txBody>
          <a:bodyPr wrap="square" lIns="0" tIns="0" rIns="0" bIns="0" rtlCol="0" anchor="ctr"/>
          <a:lstStyle/>
          <a:p>
            <a:pPr indent="0" marL="0">
              <a:buNone/>
            </a:pPr>
            <a:r>
              <a:rPr lang="en-US" sz="1150" i="1" dirty="0">
                <a:solidFill>
                  <a:schemeClr val="tx2"/>
                </a:solidFill>
              </a:rPr>
              <a:t>2026 IV улирал – 2027</a:t>
            </a:r>
            <a:endParaRPr lang="en-US" sz="1150" dirty="0"/>
          </a:p>
        </p:txBody>
      </p:sp>
      <p:sp>
        <p:nvSpPr>
          <p:cNvPr id="9" name="phase0 bullets"/>
          <p:cNvSpPr txBox="1"/>
          <p:nvPr/>
        </p:nvSpPr>
        <p:spPr>
          <a:xfrm>
            <a:off x="749808" y="2880360"/>
            <a:ext cx="3118104"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AI ашиглалтын түр журам (shadow AI хориглох, зөвшөөрөгдсөн хэрэгсэл)</a:t>
            </a:r>
            <a:endParaRPr lang="en-US" sz="1150" dirty="0"/>
          </a:p>
          <a:p>
            <a:pPr marL="152400" indent="-152400">
              <a:spcAft>
                <a:spcPts val="500"/>
              </a:spcAft>
              <a:buSzPct val="100000"/>
              <a:buChar char="•"/>
            </a:pPr>
            <a:r>
              <a:rPr lang="en-US" sz="1150" dirty="0">
                <a:solidFill>
                  <a:schemeClr val="tx1"/>
                </a:solidFill>
              </a:rPr>
              <a:t>Нээлттэй эхийн SIEM, CTI (MISP): лог, өгөгдөл хуримтлуулж эхлэх</a:t>
            </a:r>
            <a:endParaRPr lang="en-US" sz="1150" dirty="0"/>
          </a:p>
          <a:p>
            <a:pPr marL="152400" indent="-152400">
              <a:spcAft>
                <a:spcPts val="500"/>
              </a:spcAft>
              <a:buSzPct val="100000"/>
              <a:buChar char="•"/>
            </a:pPr>
            <a:r>
              <a:rPr lang="en-US" sz="1150" dirty="0">
                <a:solidFill>
                  <a:schemeClr val="tx1"/>
                </a:solidFill>
              </a:rPr>
              <a:t>Монгол хэлний фишингийн өгөгдлийн багц</a:t>
            </a:r>
            <a:endParaRPr lang="en-US" sz="1150" dirty="0"/>
          </a:p>
          <a:p>
            <a:pPr marL="152400" indent="-152400">
              <a:spcAft>
                <a:spcPts val="500"/>
              </a:spcAft>
              <a:buSzPct val="100000"/>
              <a:buChar char="•"/>
            </a:pPr>
            <a:r>
              <a:rPr lang="en-US" sz="1150" dirty="0">
                <a:solidFill>
                  <a:schemeClr val="tx1"/>
                </a:solidFill>
              </a:rPr>
              <a:t>AI SOC-ийн техник, эдийн засгийн үндэслэл</a:t>
            </a:r>
            <a:endParaRPr lang="en-US" sz="1150" dirty="0"/>
          </a:p>
        </p:txBody>
      </p:sp>
      <p:sp>
        <p:nvSpPr>
          <p:cNvPr id="10" name="phase0 owner"/>
          <p:cNvSpPr txBox="1"/>
          <p:nvPr/>
        </p:nvSpPr>
        <p:spPr>
          <a:xfrm>
            <a:off x="749808" y="5029200"/>
            <a:ext cx="3118104" cy="274320"/>
          </a:xfrm>
          <a:prstGeom prst="rect">
            <a:avLst/>
          </a:prstGeom>
          <a:noFill/>
          <a:ln/>
        </p:spPr>
        <p:txBody>
          <a:bodyPr wrap="square" lIns="0" tIns="0" rIns="0" bIns="0" rtlCol="0" anchor="ctr"/>
          <a:lstStyle/>
          <a:p>
            <a:pPr indent="0" marL="0">
              <a:buNone/>
            </a:pPr>
            <a:r>
              <a:rPr lang="en-US" sz="1050" i="1" dirty="0">
                <a:solidFill>
                  <a:schemeClr val="tx2"/>
                </a:solidFill>
              </a:rPr>
              <a:t>Хариуцах: КАБЦК, БХЯ, ҮБХИС</a:t>
            </a:r>
            <a:endParaRPr lang="en-US" sz="1050" dirty="0"/>
          </a:p>
        </p:txBody>
      </p:sp>
      <p:sp>
        <p:nvSpPr>
          <p:cNvPr id="11" name="phase1 dot"/>
          <p:cNvSpPr/>
          <p:nvPr/>
        </p:nvSpPr>
        <p:spPr>
          <a:xfrm>
            <a:off x="5821528" y="1325880"/>
            <a:ext cx="548640" cy="548640"/>
          </a:xfrm>
          <a:prstGeom prst="ellipse">
            <a:avLst/>
          </a:prstGeom>
          <a:solidFill>
            <a:schemeClr val="accent3"/>
          </a:solidFill>
          <a:ln w="12700">
            <a:solidFill>
              <a:schemeClr val="accent3"/>
            </a:solidFill>
            <a:prstDash val="solid"/>
          </a:ln>
        </p:spPr>
      </p:sp>
      <p:sp>
        <p:nvSpPr>
          <p:cNvPr id="12" name="phase1 roman"/>
          <p:cNvSpPr txBox="1"/>
          <p:nvPr/>
        </p:nvSpPr>
        <p:spPr>
          <a:xfrm>
            <a:off x="5821528" y="13258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II</a:t>
            </a:r>
            <a:endParaRPr lang="en-US" sz="1400" dirty="0"/>
          </a:p>
        </p:txBody>
      </p:sp>
      <p:sp>
        <p:nvSpPr>
          <p:cNvPr id="13" name="phase1"/>
          <p:cNvSpPr/>
          <p:nvPr/>
        </p:nvSpPr>
        <p:spPr>
          <a:xfrm>
            <a:off x="4335628" y="2057400"/>
            <a:ext cx="3520440" cy="3337560"/>
          </a:xfrm>
          <a:prstGeom prst="roundRect">
            <a:avLst>
              <a:gd name="adj" fmla="val 2192"/>
            </a:avLst>
          </a:prstGeom>
          <a:solidFill>
            <a:schemeClr val="bg2"/>
          </a:solidFill>
          <a:ln w="12700">
            <a:solidFill>
              <a:schemeClr val="bg2"/>
            </a:solidFill>
            <a:prstDash val="solid"/>
          </a:ln>
        </p:spPr>
      </p:sp>
      <p:sp>
        <p:nvSpPr>
          <p:cNvPr id="14" name="phase1 name"/>
          <p:cNvSpPr txBox="1"/>
          <p:nvPr/>
        </p:nvSpPr>
        <p:spPr>
          <a:xfrm>
            <a:off x="4536796" y="2176272"/>
            <a:ext cx="3118104" cy="365760"/>
          </a:xfrm>
          <a:prstGeom prst="rect">
            <a:avLst/>
          </a:prstGeom>
          <a:noFill/>
          <a:ln/>
        </p:spPr>
        <p:txBody>
          <a:bodyPr wrap="square" lIns="0" tIns="0" rIns="0" bIns="0" rtlCol="0" anchor="ctr"/>
          <a:lstStyle/>
          <a:p>
            <a:pPr indent="0" marL="0">
              <a:buNone/>
            </a:pPr>
            <a:r>
              <a:rPr lang="en-US" sz="1600" b="1" dirty="0">
                <a:solidFill>
                  <a:schemeClr val="accent3"/>
                </a:solidFill>
              </a:rPr>
              <a:t>Туршилт</a:t>
            </a:r>
            <a:endParaRPr lang="en-US" sz="1600" dirty="0"/>
          </a:p>
        </p:txBody>
      </p:sp>
      <p:sp>
        <p:nvSpPr>
          <p:cNvPr id="15" name="phase1 period"/>
          <p:cNvSpPr txBox="1"/>
          <p:nvPr/>
        </p:nvSpPr>
        <p:spPr>
          <a:xfrm>
            <a:off x="4536796" y="2542032"/>
            <a:ext cx="3118104" cy="274320"/>
          </a:xfrm>
          <a:prstGeom prst="rect">
            <a:avLst/>
          </a:prstGeom>
          <a:noFill/>
          <a:ln/>
        </p:spPr>
        <p:txBody>
          <a:bodyPr wrap="square" lIns="0" tIns="0" rIns="0" bIns="0" rtlCol="0" anchor="ctr"/>
          <a:lstStyle/>
          <a:p>
            <a:pPr indent="0" marL="0">
              <a:buNone/>
            </a:pPr>
            <a:r>
              <a:rPr lang="en-US" sz="1150" i="1" dirty="0">
                <a:solidFill>
                  <a:schemeClr val="tx2"/>
                </a:solidFill>
              </a:rPr>
              <a:t>2027–2028</a:t>
            </a:r>
            <a:endParaRPr lang="en-US" sz="1150" dirty="0"/>
          </a:p>
        </p:txBody>
      </p:sp>
      <p:sp>
        <p:nvSpPr>
          <p:cNvPr id="16" name="phase1 bullets"/>
          <p:cNvSpPr txBox="1"/>
          <p:nvPr/>
        </p:nvSpPr>
        <p:spPr>
          <a:xfrm>
            <a:off x="4536796" y="2880360"/>
            <a:ext cx="3118104"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1–2-р түвшний AI (triage, баяжуулалт, дотоод copilot) тусгаарлагдсан орчинд; худал сэрэмжлүүлэг, MTTD/MTTR хэмжих</a:t>
            </a:r>
            <a:endParaRPr lang="en-US" sz="1150" dirty="0"/>
          </a:p>
          <a:p>
            <a:pPr marL="152400" indent="-152400">
              <a:spcAft>
                <a:spcPts val="500"/>
              </a:spcAft>
              <a:buSzPct val="100000"/>
              <a:buChar char="•"/>
            </a:pPr>
            <a:r>
              <a:rPr lang="en-US" sz="1150" dirty="0">
                <a:solidFill>
                  <a:schemeClr val="tx1"/>
                </a:solidFill>
              </a:rPr>
              <a:t>Кибер полигонд AI дайсны дуурайлт</a:t>
            </a:r>
            <a:endParaRPr lang="en-US" sz="1150" dirty="0"/>
          </a:p>
          <a:p>
            <a:pPr marL="152400" indent="-152400">
              <a:spcAft>
                <a:spcPts val="500"/>
              </a:spcAft>
              <a:buSzPct val="100000"/>
              <a:buChar char="•"/>
            </a:pPr>
            <a:r>
              <a:rPr lang="en-US" sz="1150" dirty="0">
                <a:solidFill>
                  <a:schemeClr val="tx1"/>
                </a:solidFill>
              </a:rPr>
              <a:t>AIxCC нээлттэй эхээр дотоод кодыг шалгах</a:t>
            </a:r>
            <a:endParaRPr lang="en-US" sz="1150" dirty="0"/>
          </a:p>
        </p:txBody>
      </p:sp>
      <p:sp>
        <p:nvSpPr>
          <p:cNvPr id="17" name="phase1 owner"/>
          <p:cNvSpPr txBox="1"/>
          <p:nvPr/>
        </p:nvSpPr>
        <p:spPr>
          <a:xfrm>
            <a:off x="4536796" y="5029200"/>
            <a:ext cx="3118104" cy="274320"/>
          </a:xfrm>
          <a:prstGeom prst="rect">
            <a:avLst/>
          </a:prstGeom>
          <a:noFill/>
          <a:ln/>
        </p:spPr>
        <p:txBody>
          <a:bodyPr wrap="square" lIns="0" tIns="0" rIns="0" bIns="0" rtlCol="0" anchor="ctr"/>
          <a:lstStyle/>
          <a:p>
            <a:pPr indent="0" marL="0">
              <a:buNone/>
            </a:pPr>
            <a:r>
              <a:rPr lang="en-US" sz="1050" i="1" dirty="0">
                <a:solidFill>
                  <a:schemeClr val="tx2"/>
                </a:solidFill>
              </a:rPr>
              <a:t>Хариуцах: КАБЦК, ҮБХИС, БХЭШХ</a:t>
            </a:r>
            <a:endParaRPr lang="en-US" sz="1050" dirty="0"/>
          </a:p>
        </p:txBody>
      </p:sp>
      <p:sp>
        <p:nvSpPr>
          <p:cNvPr id="18" name="phase2 dot"/>
          <p:cNvSpPr/>
          <p:nvPr/>
        </p:nvSpPr>
        <p:spPr>
          <a:xfrm>
            <a:off x="9608515" y="1325880"/>
            <a:ext cx="548640" cy="548640"/>
          </a:xfrm>
          <a:prstGeom prst="ellipse">
            <a:avLst/>
          </a:prstGeom>
          <a:solidFill>
            <a:schemeClr val="tx1"/>
          </a:solidFill>
          <a:ln w="12700">
            <a:solidFill>
              <a:schemeClr val="tx1"/>
            </a:solidFill>
            <a:prstDash val="solid"/>
          </a:ln>
        </p:spPr>
      </p:sp>
      <p:sp>
        <p:nvSpPr>
          <p:cNvPr id="19" name="phase2 roman"/>
          <p:cNvSpPr txBox="1"/>
          <p:nvPr/>
        </p:nvSpPr>
        <p:spPr>
          <a:xfrm>
            <a:off x="9608515" y="13258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III</a:t>
            </a:r>
            <a:endParaRPr lang="en-US" sz="1400" dirty="0"/>
          </a:p>
        </p:txBody>
      </p:sp>
      <p:sp>
        <p:nvSpPr>
          <p:cNvPr id="20" name="phase2"/>
          <p:cNvSpPr/>
          <p:nvPr/>
        </p:nvSpPr>
        <p:spPr>
          <a:xfrm>
            <a:off x="8122615" y="2057400"/>
            <a:ext cx="3520440" cy="3337560"/>
          </a:xfrm>
          <a:prstGeom prst="roundRect">
            <a:avLst>
              <a:gd name="adj" fmla="val 2192"/>
            </a:avLst>
          </a:prstGeom>
          <a:solidFill>
            <a:schemeClr val="bg2"/>
          </a:solidFill>
          <a:ln w="12700">
            <a:solidFill>
              <a:schemeClr val="bg2"/>
            </a:solidFill>
            <a:prstDash val="solid"/>
          </a:ln>
        </p:spPr>
      </p:sp>
      <p:sp>
        <p:nvSpPr>
          <p:cNvPr id="21" name="phase2 name"/>
          <p:cNvSpPr txBox="1"/>
          <p:nvPr/>
        </p:nvSpPr>
        <p:spPr>
          <a:xfrm>
            <a:off x="8323783" y="2176272"/>
            <a:ext cx="3118104" cy="365760"/>
          </a:xfrm>
          <a:prstGeom prst="rect">
            <a:avLst/>
          </a:prstGeom>
          <a:noFill/>
          <a:ln/>
        </p:spPr>
        <p:txBody>
          <a:bodyPr wrap="square" lIns="0" tIns="0" rIns="0" bIns="0" rtlCol="0" anchor="ctr"/>
          <a:lstStyle/>
          <a:p>
            <a:pPr indent="0" marL="0">
              <a:buNone/>
            </a:pPr>
            <a:r>
              <a:rPr lang="en-US" sz="1600" b="1" dirty="0">
                <a:solidFill>
                  <a:schemeClr val="tx1"/>
                </a:solidFill>
              </a:rPr>
              <a:t>Нэвтрүүлэлт</a:t>
            </a:r>
            <a:endParaRPr lang="en-US" sz="1600" dirty="0"/>
          </a:p>
        </p:txBody>
      </p:sp>
      <p:sp>
        <p:nvSpPr>
          <p:cNvPr id="22" name="phase2 period"/>
          <p:cNvSpPr txBox="1"/>
          <p:nvPr/>
        </p:nvSpPr>
        <p:spPr>
          <a:xfrm>
            <a:off x="8323783" y="2542032"/>
            <a:ext cx="3118104" cy="274320"/>
          </a:xfrm>
          <a:prstGeom prst="rect">
            <a:avLst/>
          </a:prstGeom>
          <a:noFill/>
          <a:ln/>
        </p:spPr>
        <p:txBody>
          <a:bodyPr wrap="square" lIns="0" tIns="0" rIns="0" bIns="0" rtlCol="0" anchor="ctr"/>
          <a:lstStyle/>
          <a:p>
            <a:pPr indent="0" marL="0">
              <a:buNone/>
            </a:pPr>
            <a:r>
              <a:rPr lang="en-US" sz="1150" i="1" dirty="0">
                <a:solidFill>
                  <a:schemeClr val="tx2"/>
                </a:solidFill>
              </a:rPr>
              <a:t>2028–2030</a:t>
            </a:r>
            <a:endParaRPr lang="en-US" sz="1150" dirty="0"/>
          </a:p>
        </p:txBody>
      </p:sp>
      <p:sp>
        <p:nvSpPr>
          <p:cNvPr id="23" name="phase2 bullets"/>
          <p:cNvSpPr txBox="1"/>
          <p:nvPr/>
        </p:nvSpPr>
        <p:spPr>
          <a:xfrm>
            <a:off x="8323783" y="2880360"/>
            <a:ext cx="3118104"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chemeClr val="tx1"/>
                </a:solidFill>
              </a:rPr>
              <a:t>AI SOC ашиглалтад; 3-р түвшний playbook хязгаарлагдмал хүрээнд</a:t>
            </a:r>
            <a:endParaRPr lang="en-US" sz="1150" dirty="0"/>
          </a:p>
          <a:p>
            <a:pPr marL="152400" indent="-152400">
              <a:spcAft>
                <a:spcPts val="500"/>
              </a:spcAft>
              <a:buSzPct val="100000"/>
              <a:buChar char="•"/>
            </a:pPr>
            <a:r>
              <a:rPr lang="en-US" sz="1150" dirty="0">
                <a:solidFill>
                  <a:schemeClr val="tx1"/>
                </a:solidFill>
              </a:rPr>
              <a:t>CERT, КАБЗ-тэй STIX/TAXII солилцоо</a:t>
            </a:r>
            <a:endParaRPr lang="en-US" sz="1150" dirty="0"/>
          </a:p>
          <a:p>
            <a:pPr marL="152400" indent="-152400">
              <a:spcAft>
                <a:spcPts val="500"/>
              </a:spcAft>
              <a:buSzPct val="100000"/>
              <a:buChar char="•"/>
            </a:pPr>
            <a:r>
              <a:rPr lang="en-US" sz="1150" dirty="0">
                <a:solidFill>
                  <a:schemeClr val="tx1"/>
                </a:solidFill>
              </a:rPr>
              <a:t>Үр дүнг хэмжиж журам, сургалтыг шинэчлэх</a:t>
            </a:r>
            <a:endParaRPr lang="en-US" sz="1150" dirty="0"/>
          </a:p>
        </p:txBody>
      </p:sp>
      <p:sp>
        <p:nvSpPr>
          <p:cNvPr id="24" name="phase2 owner"/>
          <p:cNvSpPr txBox="1"/>
          <p:nvPr/>
        </p:nvSpPr>
        <p:spPr>
          <a:xfrm>
            <a:off x="8323783" y="5029200"/>
            <a:ext cx="3118104" cy="274320"/>
          </a:xfrm>
          <a:prstGeom prst="rect">
            <a:avLst/>
          </a:prstGeom>
          <a:noFill/>
          <a:ln/>
        </p:spPr>
        <p:txBody>
          <a:bodyPr wrap="square" lIns="0" tIns="0" rIns="0" bIns="0" rtlCol="0" anchor="ctr"/>
          <a:lstStyle/>
          <a:p>
            <a:pPr indent="0" marL="0">
              <a:buNone/>
            </a:pPr>
            <a:r>
              <a:rPr lang="en-US" sz="1050" i="1" dirty="0">
                <a:solidFill>
                  <a:schemeClr val="tx2"/>
                </a:solidFill>
              </a:rPr>
              <a:t>Хариуцах: КАБЦК, БХЯ, ЦХИХХЯ</a:t>
            </a:r>
            <a:endParaRPr lang="en-US" sz="1050" dirty="0"/>
          </a:p>
        </p:txBody>
      </p:sp>
      <p:sp>
        <p:nvSpPr>
          <p:cNvPr id="25" name="kpi strip"/>
          <p:cNvSpPr/>
          <p:nvPr/>
        </p:nvSpPr>
        <p:spPr>
          <a:xfrm>
            <a:off x="548640" y="5532120"/>
            <a:ext cx="11094415" cy="685800"/>
          </a:xfrm>
          <a:prstGeom prst="roundRect">
            <a:avLst>
              <a:gd name="adj" fmla="val 10667"/>
            </a:avLst>
          </a:prstGeom>
          <a:solidFill>
            <a:schemeClr val="accent6"/>
          </a:solidFill>
          <a:ln w="12700">
            <a:solidFill>
              <a:schemeClr val="accent6"/>
            </a:solidFill>
            <a:prstDash val="solid"/>
          </a:ln>
        </p:spPr>
      </p:sp>
      <p:sp>
        <p:nvSpPr>
          <p:cNvPr id="26" name="kpi text"/>
          <p:cNvSpPr txBox="1"/>
          <p:nvPr/>
        </p:nvSpPr>
        <p:spPr>
          <a:xfrm>
            <a:off x="749808" y="5532120"/>
            <a:ext cx="10692079" cy="685800"/>
          </a:xfrm>
          <a:prstGeom prst="rect">
            <a:avLst/>
          </a:prstGeom>
          <a:noFill/>
          <a:ln/>
        </p:spPr>
        <p:txBody>
          <a:bodyPr wrap="square" lIns="0" tIns="0" rIns="0" bIns="0" rtlCol="0" anchor="ctr"/>
          <a:lstStyle/>
          <a:p>
            <a:pPr indent="0" marL="0">
              <a:buNone/>
            </a:pPr>
            <a:r>
              <a:rPr lang="en-US" sz="1200" b="1" dirty="0">
                <a:solidFill>
                  <a:schemeClr val="tx1"/>
                </a:solidFill>
              </a:rPr>
              <a:t>KPI: </a:t>
            </a:r>
            <a:pPr indent="0" marL="0">
              <a:buNone/>
            </a:pPr>
            <a:r>
              <a:rPr lang="en-US" sz="1200" dirty="0">
                <a:solidFill>
                  <a:schemeClr val="tx1"/>
                </a:solidFill>
              </a:rPr>
              <a:t>илрүүлэх дундаж хугацаа (MTTD) • хариу үйлдлийн дундаж хугацаа (MTTR) • худал сэрэмжлүүлгийн хувь • нэг шинжээчид ногдох хаасан зөрчил • AI-ийн саналыг хүн буцаасан хувь (override rate)</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Технологи, чадавх хөгжүүлэх санал</a:t>
            </a:r>
            <a:endParaRPr lang="en-US" sz="2800" dirty="0"/>
          </a:p>
        </p:txBody>
      </p:sp>
      <p:sp>
        <p:nvSpPr>
          <p:cNvPr id="3" name="cap0"/>
          <p:cNvSpPr/>
          <p:nvPr/>
        </p:nvSpPr>
        <p:spPr>
          <a:xfrm>
            <a:off x="548640" y="1325880"/>
            <a:ext cx="2606040" cy="3977640"/>
          </a:xfrm>
          <a:prstGeom prst="roundRect">
            <a:avLst>
              <a:gd name="adj" fmla="val 2807"/>
            </a:avLst>
          </a:prstGeom>
          <a:solidFill>
            <a:schemeClr val="bg2"/>
          </a:solidFill>
          <a:ln w="12700">
            <a:solidFill>
              <a:schemeClr val="bg2"/>
            </a:solidFill>
            <a:prstDash val="solid"/>
          </a:ln>
        </p:spPr>
      </p:sp>
      <p:sp>
        <p:nvSpPr>
          <p:cNvPr id="4" name="cap0 circle"/>
          <p:cNvSpPr/>
          <p:nvPr/>
        </p:nvSpPr>
        <p:spPr>
          <a:xfrm>
            <a:off x="749808" y="1527048"/>
            <a:ext cx="548640" cy="548640"/>
          </a:xfrm>
          <a:prstGeom prst="ellipse">
            <a:avLst/>
          </a:prstGeom>
          <a:solidFill>
            <a:schemeClr val="accent1"/>
          </a:solidFill>
          <a:ln w="12700">
            <a:solidFill>
              <a:schemeClr val="accent1"/>
            </a:solidFill>
            <a:prstDash val="solid"/>
          </a:ln>
        </p:spPr>
      </p:sp>
      <p:pic>
        <p:nvPicPr>
          <p:cNvPr id="5" name="cap0 icon" descr="preencoded.png">    </p:cNvPr>
          <p:cNvPicPr>
            <a:picLocks noChangeAspect="1"/>
          </p:cNvPicPr>
          <p:nvPr/>
        </p:nvPicPr>
        <p:blipFill>
          <a:blip r:embed="rId1"/>
          <a:stretch>
            <a:fillRect/>
          </a:stretch>
        </p:blipFill>
        <p:spPr>
          <a:xfrm>
            <a:off x="886968" y="1664208"/>
            <a:ext cx="274320" cy="274320"/>
          </a:xfrm>
          <a:prstGeom prst="rect">
            <a:avLst/>
          </a:prstGeom>
        </p:spPr>
      </p:pic>
      <p:sp>
        <p:nvSpPr>
          <p:cNvPr id="6" name="cap0 head"/>
          <p:cNvSpPr txBox="1"/>
          <p:nvPr/>
        </p:nvSpPr>
        <p:spPr>
          <a:xfrm>
            <a:off x="1417320" y="1527048"/>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Дотоод AI дэд бүтэц</a:t>
            </a:r>
            <a:endParaRPr lang="en-US" sz="1400" dirty="0"/>
          </a:p>
        </p:txBody>
      </p:sp>
      <p:sp>
        <p:nvSpPr>
          <p:cNvPr id="7" name="cap0 bullets"/>
          <p:cNvSpPr txBox="1"/>
          <p:nvPr/>
        </p:nvSpPr>
        <p:spPr>
          <a:xfrm>
            <a:off x="749808" y="2240280"/>
            <a:ext cx="2203704" cy="29718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Нууцлалтай сүлжээнд GPU сервер</a:t>
            </a:r>
            <a:endParaRPr lang="en-US" sz="1200" dirty="0"/>
          </a:p>
          <a:p>
            <a:pPr marL="152400" indent="-152400">
              <a:spcAft>
                <a:spcPts val="500"/>
              </a:spcAft>
              <a:buSzPct val="100000"/>
              <a:buChar char="•"/>
            </a:pPr>
            <a:r>
              <a:rPr lang="en-US" sz="1200" dirty="0">
                <a:solidFill>
                  <a:schemeClr val="tx1"/>
                </a:solidFill>
              </a:rPr>
              <a:t>Нээлттэй эхийн LLM + RAG</a:t>
            </a:r>
            <a:endParaRPr lang="en-US" sz="1200" dirty="0"/>
          </a:p>
          <a:p>
            <a:pPr marL="152400" indent="-152400">
              <a:spcAft>
                <a:spcPts val="500"/>
              </a:spcAft>
              <a:buSzPct val="100000"/>
              <a:buChar char="•"/>
            </a:pPr>
            <a:r>
              <a:rPr lang="en-US" sz="1200" dirty="0">
                <a:solidFill>
                  <a:schemeClr val="tx1"/>
                </a:solidFill>
              </a:rPr>
              <a:t>MLOps: дахин сургалт, drift хяналт</a:t>
            </a:r>
            <a:endParaRPr lang="en-US" sz="1200" dirty="0"/>
          </a:p>
          <a:p>
            <a:pPr marL="152400" indent="-152400">
              <a:spcAft>
                <a:spcPts val="500"/>
              </a:spcAft>
              <a:buSzPct val="100000"/>
              <a:buChar char="•"/>
            </a:pPr>
            <a:r>
              <a:rPr lang="en-US" sz="1200" dirty="0">
                <a:solidFill>
                  <a:schemeClr val="tx1"/>
                </a:solidFill>
              </a:rPr>
              <a:t>Үүлэн AI зөвхөн нээлттэй мэдээлэлд</a:t>
            </a:r>
            <a:endParaRPr lang="en-US" sz="1200" dirty="0"/>
          </a:p>
        </p:txBody>
      </p:sp>
      <p:sp>
        <p:nvSpPr>
          <p:cNvPr id="8" name="cap1"/>
          <p:cNvSpPr/>
          <p:nvPr/>
        </p:nvSpPr>
        <p:spPr>
          <a:xfrm>
            <a:off x="3378098" y="1325880"/>
            <a:ext cx="2606040" cy="3977640"/>
          </a:xfrm>
          <a:prstGeom prst="roundRect">
            <a:avLst>
              <a:gd name="adj" fmla="val 2807"/>
            </a:avLst>
          </a:prstGeom>
          <a:solidFill>
            <a:schemeClr val="bg2"/>
          </a:solidFill>
          <a:ln w="12700">
            <a:solidFill>
              <a:schemeClr val="bg2"/>
            </a:solidFill>
            <a:prstDash val="solid"/>
          </a:ln>
        </p:spPr>
      </p:sp>
      <p:sp>
        <p:nvSpPr>
          <p:cNvPr id="9" name="cap1 circle"/>
          <p:cNvSpPr/>
          <p:nvPr/>
        </p:nvSpPr>
        <p:spPr>
          <a:xfrm>
            <a:off x="3579266" y="1527048"/>
            <a:ext cx="548640" cy="548640"/>
          </a:xfrm>
          <a:prstGeom prst="ellipse">
            <a:avLst/>
          </a:prstGeom>
          <a:solidFill>
            <a:schemeClr val="accent1"/>
          </a:solidFill>
          <a:ln w="12700">
            <a:solidFill>
              <a:schemeClr val="accent1"/>
            </a:solidFill>
            <a:prstDash val="solid"/>
          </a:ln>
        </p:spPr>
      </p:sp>
      <p:pic>
        <p:nvPicPr>
          <p:cNvPr id="10" name="cap1 icon" descr="preencoded.png">    </p:cNvPr>
          <p:cNvPicPr>
            <a:picLocks noChangeAspect="1"/>
          </p:cNvPicPr>
          <p:nvPr/>
        </p:nvPicPr>
        <p:blipFill>
          <a:blip r:embed="rId2"/>
          <a:stretch>
            <a:fillRect/>
          </a:stretch>
        </p:blipFill>
        <p:spPr>
          <a:xfrm>
            <a:off x="3716426" y="1664208"/>
            <a:ext cx="274320" cy="274320"/>
          </a:xfrm>
          <a:prstGeom prst="rect">
            <a:avLst/>
          </a:prstGeom>
        </p:spPr>
      </p:pic>
      <p:sp>
        <p:nvSpPr>
          <p:cNvPr id="11" name="cap1 head"/>
          <p:cNvSpPr txBox="1"/>
          <p:nvPr/>
        </p:nvSpPr>
        <p:spPr>
          <a:xfrm>
            <a:off x="4246778" y="1527048"/>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Өгөгдлийн чадавх</a:t>
            </a:r>
            <a:endParaRPr lang="en-US" sz="1400" dirty="0"/>
          </a:p>
        </p:txBody>
      </p:sp>
      <p:sp>
        <p:nvSpPr>
          <p:cNvPr id="12" name="cap1 bullets"/>
          <p:cNvSpPr txBox="1"/>
          <p:nvPr/>
        </p:nvSpPr>
        <p:spPr>
          <a:xfrm>
            <a:off x="3579266" y="2240280"/>
            <a:ext cx="2203704" cy="29718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Цэргийн сүлжээний «хэвийн зан төлөв»-ийн суурь өгөгдөл</a:t>
            </a:r>
            <a:endParaRPr lang="en-US" sz="1200" dirty="0"/>
          </a:p>
          <a:p>
            <a:pPr marL="152400" indent="-152400">
              <a:spcAft>
                <a:spcPts val="500"/>
              </a:spcAft>
              <a:buSzPct val="100000"/>
              <a:buChar char="•"/>
            </a:pPr>
            <a:r>
              <a:rPr lang="en-US" sz="1200" dirty="0">
                <a:solidFill>
                  <a:schemeClr val="tx1"/>
                </a:solidFill>
              </a:rPr>
              <a:t>Тэмдэглэгдсэн зөрчлийн архив</a:t>
            </a:r>
            <a:endParaRPr lang="en-US" sz="1200" dirty="0"/>
          </a:p>
          <a:p>
            <a:pPr marL="152400" indent="-152400">
              <a:spcAft>
                <a:spcPts val="500"/>
              </a:spcAft>
              <a:buSzPct val="100000"/>
              <a:buChar char="•"/>
            </a:pPr>
            <a:r>
              <a:rPr lang="en-US" sz="1200" dirty="0">
                <a:solidFill>
                  <a:schemeClr val="tx1"/>
                </a:solidFill>
              </a:rPr>
              <a:t>Монгол хэлний NLP корпус</a:t>
            </a:r>
            <a:endParaRPr lang="en-US" sz="1200" dirty="0"/>
          </a:p>
          <a:p>
            <a:pPr marL="152400" indent="-152400">
              <a:spcAft>
                <a:spcPts val="500"/>
              </a:spcAft>
              <a:buSzPct val="100000"/>
              <a:buChar char="•"/>
            </a:pPr>
            <a:r>
              <a:rPr lang="en-US" sz="1200" dirty="0">
                <a:solidFill>
                  <a:schemeClr val="tx1"/>
                </a:solidFill>
              </a:rPr>
              <a:t>Өгөгдөлгүйгээр AI үр дүнгүй</a:t>
            </a:r>
            <a:endParaRPr lang="en-US" sz="1200" dirty="0"/>
          </a:p>
        </p:txBody>
      </p:sp>
      <p:sp>
        <p:nvSpPr>
          <p:cNvPr id="13" name="cap2"/>
          <p:cNvSpPr/>
          <p:nvPr/>
        </p:nvSpPr>
        <p:spPr>
          <a:xfrm>
            <a:off x="6207557" y="1325880"/>
            <a:ext cx="2606040" cy="3977640"/>
          </a:xfrm>
          <a:prstGeom prst="roundRect">
            <a:avLst>
              <a:gd name="adj" fmla="val 2807"/>
            </a:avLst>
          </a:prstGeom>
          <a:solidFill>
            <a:schemeClr val="bg2"/>
          </a:solidFill>
          <a:ln w="12700">
            <a:solidFill>
              <a:schemeClr val="bg2"/>
            </a:solidFill>
            <a:prstDash val="solid"/>
          </a:ln>
        </p:spPr>
      </p:sp>
      <p:sp>
        <p:nvSpPr>
          <p:cNvPr id="14" name="cap2 circle"/>
          <p:cNvSpPr/>
          <p:nvPr/>
        </p:nvSpPr>
        <p:spPr>
          <a:xfrm>
            <a:off x="6408725" y="1527048"/>
            <a:ext cx="548640" cy="548640"/>
          </a:xfrm>
          <a:prstGeom prst="ellipse">
            <a:avLst/>
          </a:prstGeom>
          <a:solidFill>
            <a:schemeClr val="accent1"/>
          </a:solidFill>
          <a:ln w="12700">
            <a:solidFill>
              <a:schemeClr val="accent1"/>
            </a:solidFill>
            <a:prstDash val="solid"/>
          </a:ln>
        </p:spPr>
      </p:sp>
      <p:pic>
        <p:nvPicPr>
          <p:cNvPr id="15" name="cap2 icon" descr="preencoded.png">    </p:cNvPr>
          <p:cNvPicPr>
            <a:picLocks noChangeAspect="1"/>
          </p:cNvPicPr>
          <p:nvPr/>
        </p:nvPicPr>
        <p:blipFill>
          <a:blip r:embed="rId3"/>
          <a:stretch>
            <a:fillRect/>
          </a:stretch>
        </p:blipFill>
        <p:spPr>
          <a:xfrm>
            <a:off x="6545885" y="1664208"/>
            <a:ext cx="274320" cy="274320"/>
          </a:xfrm>
          <a:prstGeom prst="rect">
            <a:avLst/>
          </a:prstGeom>
        </p:spPr>
      </p:pic>
      <p:sp>
        <p:nvSpPr>
          <p:cNvPr id="16" name="cap2 head"/>
          <p:cNvSpPr txBox="1"/>
          <p:nvPr/>
        </p:nvSpPr>
        <p:spPr>
          <a:xfrm>
            <a:off x="7076237" y="1527048"/>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Хүний нөөц, ҮБХИС</a:t>
            </a:r>
            <a:endParaRPr lang="en-US" sz="1400" dirty="0"/>
          </a:p>
        </p:txBody>
      </p:sp>
      <p:sp>
        <p:nvSpPr>
          <p:cNvPr id="17" name="cap2 bullets"/>
          <p:cNvSpPr txBox="1"/>
          <p:nvPr/>
        </p:nvSpPr>
        <p:spPr>
          <a:xfrm>
            <a:off x="6408725" y="2240280"/>
            <a:ext cx="2203704" cy="29718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«AI ба кибер хамгаалалт» хичээл, магистрын чиглэл</a:t>
            </a:r>
            <a:endParaRPr lang="en-US" sz="1200" dirty="0"/>
          </a:p>
          <a:p>
            <a:pPr marL="152400" indent="-152400">
              <a:spcAft>
                <a:spcPts val="500"/>
              </a:spcAft>
              <a:buSzPct val="100000"/>
              <a:buChar char="•"/>
            </a:pPr>
            <a:r>
              <a:rPr lang="en-US" sz="1200" dirty="0">
                <a:solidFill>
                  <a:schemeClr val="tx1"/>
                </a:solidFill>
              </a:rPr>
              <a:t>SOC шинжээчдийг AI хэрэгсэл, агентын аюулгүй байдлаар дахин сургах</a:t>
            </a:r>
            <a:endParaRPr lang="en-US" sz="1200" dirty="0"/>
          </a:p>
          <a:p>
            <a:pPr marL="152400" indent="-152400">
              <a:spcAft>
                <a:spcPts val="500"/>
              </a:spcAft>
              <a:buSzPct val="100000"/>
              <a:buChar char="•"/>
            </a:pPr>
            <a:r>
              <a:rPr lang="en-US" sz="1200" dirty="0">
                <a:solidFill>
                  <a:schemeClr val="tx1"/>
                </a:solidFill>
              </a:rPr>
              <a:t>ML инженер, өгөгдлийн эрдэмтний 3–5 орон тоо</a:t>
            </a:r>
            <a:endParaRPr lang="en-US" sz="1200" dirty="0"/>
          </a:p>
          <a:p>
            <a:pPr marL="152400" indent="-152400">
              <a:spcAft>
                <a:spcPts val="500"/>
              </a:spcAft>
              <a:buSzPct val="100000"/>
              <a:buChar char="•"/>
            </a:pPr>
            <a:r>
              <a:rPr lang="en-US" sz="1200" dirty="0">
                <a:solidFill>
                  <a:schemeClr val="tx1"/>
                </a:solidFill>
              </a:rPr>
              <a:t>БХЭШХ-тэй хамтарсан судалгаа</a:t>
            </a:r>
            <a:endParaRPr lang="en-US" sz="1200" dirty="0"/>
          </a:p>
        </p:txBody>
      </p:sp>
      <p:sp>
        <p:nvSpPr>
          <p:cNvPr id="18" name="cap3"/>
          <p:cNvSpPr/>
          <p:nvPr/>
        </p:nvSpPr>
        <p:spPr>
          <a:xfrm>
            <a:off x="9037015" y="1325880"/>
            <a:ext cx="2606040" cy="3977640"/>
          </a:xfrm>
          <a:prstGeom prst="roundRect">
            <a:avLst>
              <a:gd name="adj" fmla="val 2807"/>
            </a:avLst>
          </a:prstGeom>
          <a:solidFill>
            <a:schemeClr val="bg2"/>
          </a:solidFill>
          <a:ln w="12700">
            <a:solidFill>
              <a:schemeClr val="bg2"/>
            </a:solidFill>
            <a:prstDash val="solid"/>
          </a:ln>
        </p:spPr>
      </p:sp>
      <p:sp>
        <p:nvSpPr>
          <p:cNvPr id="19" name="cap3 circle"/>
          <p:cNvSpPr/>
          <p:nvPr/>
        </p:nvSpPr>
        <p:spPr>
          <a:xfrm>
            <a:off x="9238183" y="1527048"/>
            <a:ext cx="548640" cy="548640"/>
          </a:xfrm>
          <a:prstGeom prst="ellipse">
            <a:avLst/>
          </a:prstGeom>
          <a:solidFill>
            <a:schemeClr val="accent1"/>
          </a:solidFill>
          <a:ln w="12700">
            <a:solidFill>
              <a:schemeClr val="accent1"/>
            </a:solidFill>
            <a:prstDash val="solid"/>
          </a:ln>
        </p:spPr>
      </p:sp>
      <p:pic>
        <p:nvPicPr>
          <p:cNvPr id="20" name="cap3 icon" descr="preencoded.png">    </p:cNvPr>
          <p:cNvPicPr>
            <a:picLocks noChangeAspect="1"/>
          </p:cNvPicPr>
          <p:nvPr/>
        </p:nvPicPr>
        <p:blipFill>
          <a:blip r:embed="rId4"/>
          <a:stretch>
            <a:fillRect/>
          </a:stretch>
        </p:blipFill>
        <p:spPr>
          <a:xfrm>
            <a:off x="9375343" y="1664208"/>
            <a:ext cx="274320" cy="274320"/>
          </a:xfrm>
          <a:prstGeom prst="rect">
            <a:avLst/>
          </a:prstGeom>
        </p:spPr>
      </p:pic>
      <p:sp>
        <p:nvSpPr>
          <p:cNvPr id="21" name="cap3 head"/>
          <p:cNvSpPr txBox="1"/>
          <p:nvPr/>
        </p:nvSpPr>
        <p:spPr>
          <a:xfrm>
            <a:off x="9905695" y="1527048"/>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Кибер полигон, дасгал</a:t>
            </a:r>
            <a:endParaRPr lang="en-US" sz="1400" dirty="0"/>
          </a:p>
        </p:txBody>
      </p:sp>
      <p:sp>
        <p:nvSpPr>
          <p:cNvPr id="22" name="cap3 bullets"/>
          <p:cNvSpPr txBox="1"/>
          <p:nvPr/>
        </p:nvSpPr>
        <p:spPr>
          <a:xfrm>
            <a:off x="9238183" y="2240280"/>
            <a:ext cx="2203704" cy="29718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AI дайсантай, AI туслахтай сургуулилт</a:t>
            </a:r>
            <a:endParaRPr lang="en-US" sz="1200" dirty="0"/>
          </a:p>
          <a:p>
            <a:pPr marL="152400" indent="-152400">
              <a:spcAft>
                <a:spcPts val="500"/>
              </a:spcAft>
              <a:buSzPct val="100000"/>
              <a:buChar char="•"/>
            </a:pPr>
            <a:r>
              <a:rPr lang="en-US" sz="1200" dirty="0">
                <a:solidFill>
                  <a:schemeClr val="tx1"/>
                </a:solidFill>
              </a:rPr>
              <a:t>Жил бүрийн Зэвсэгт хүчний кибер дасгалд AI хувилбар</a:t>
            </a:r>
            <a:endParaRPr lang="en-US" sz="1200" dirty="0"/>
          </a:p>
          <a:p>
            <a:pPr marL="152400" indent="-152400">
              <a:spcAft>
                <a:spcPts val="500"/>
              </a:spcAft>
              <a:buSzPct val="100000"/>
              <a:buChar char="•"/>
            </a:pPr>
            <a:r>
              <a:rPr lang="en-US" sz="1200" dirty="0">
                <a:solidFill>
                  <a:schemeClr val="tx1"/>
                </a:solidFill>
              </a:rPr>
              <a:t>Түншлэгч орнуудын дасгалд оролцох</a:t>
            </a:r>
            <a:endParaRPr lang="en-US" sz="1200" dirty="0"/>
          </a:p>
        </p:txBody>
      </p:sp>
      <p:sp>
        <p:nvSpPr>
          <p:cNvPr id="23" name="principle strip"/>
          <p:cNvSpPr/>
          <p:nvPr/>
        </p:nvSpPr>
        <p:spPr>
          <a:xfrm>
            <a:off x="548640" y="5486400"/>
            <a:ext cx="11094415" cy="731520"/>
          </a:xfrm>
          <a:prstGeom prst="roundRect">
            <a:avLst>
              <a:gd name="adj" fmla="val 10000"/>
            </a:avLst>
          </a:prstGeom>
          <a:solidFill>
            <a:schemeClr val="accent6"/>
          </a:solidFill>
          <a:ln w="12700">
            <a:solidFill>
              <a:schemeClr val="accent6"/>
            </a:solidFill>
            <a:prstDash val="solid"/>
          </a:ln>
        </p:spPr>
      </p:sp>
      <p:sp>
        <p:nvSpPr>
          <p:cNvPr id="24" name="principle text"/>
          <p:cNvSpPr txBox="1"/>
          <p:nvPr/>
        </p:nvSpPr>
        <p:spPr>
          <a:xfrm>
            <a:off x="749808" y="5486400"/>
            <a:ext cx="10692079" cy="731520"/>
          </a:xfrm>
          <a:prstGeom prst="rect">
            <a:avLst/>
          </a:prstGeom>
          <a:noFill/>
          <a:ln/>
        </p:spPr>
        <p:txBody>
          <a:bodyPr wrap="square" lIns="0" tIns="0" rIns="0" bIns="0" rtlCol="0" anchor="ctr"/>
          <a:lstStyle/>
          <a:p>
            <a:pPr indent="0" marL="0">
              <a:buNone/>
            </a:pPr>
            <a:r>
              <a:rPr lang="en-US" sz="1300" b="1" dirty="0">
                <a:solidFill>
                  <a:schemeClr val="tx1"/>
                </a:solidFill>
              </a:rPr>
              <a:t>Зарчим: </a:t>
            </a:r>
            <a:pPr indent="0" marL="0">
              <a:buNone/>
            </a:pPr>
            <a:r>
              <a:rPr lang="en-US" sz="1300" dirty="0">
                <a:solidFill>
                  <a:schemeClr val="tx1"/>
                </a:solidFill>
              </a:rPr>
              <a:t>нээлттэй эх + дотоод байршуулалт + үе шаттай нэвтрүүлэлт; арилжааны платформын лицензээс хараат болохгүй; хэмжигдэх KPI-тай</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tx1"/>
                </a:solidFill>
              </a:rPr>
              <a:t>Бодлого, журамд тусгах санал</a:t>
            </a:r>
            <a:endParaRPr lang="en-US" sz="2800" dirty="0"/>
          </a:p>
        </p:txBody>
      </p:sp>
      <p:sp>
        <p:nvSpPr>
          <p:cNvPr id="3" name="pol0"/>
          <p:cNvSpPr/>
          <p:nvPr/>
        </p:nvSpPr>
        <p:spPr>
          <a:xfrm>
            <a:off x="548640" y="1325880"/>
            <a:ext cx="5364328" cy="1508760"/>
          </a:xfrm>
          <a:prstGeom prst="roundRect">
            <a:avLst>
              <a:gd name="adj" fmla="val 4848"/>
            </a:avLst>
          </a:prstGeom>
          <a:solidFill>
            <a:schemeClr val="bg2"/>
          </a:solidFill>
          <a:ln w="12700">
            <a:solidFill>
              <a:schemeClr val="bg2"/>
            </a:solidFill>
            <a:prstDash val="solid"/>
          </a:ln>
        </p:spPr>
      </p:sp>
      <p:sp>
        <p:nvSpPr>
          <p:cNvPr id="4" name="pol0 circle"/>
          <p:cNvSpPr/>
          <p:nvPr/>
        </p:nvSpPr>
        <p:spPr>
          <a:xfrm>
            <a:off x="731520" y="1508760"/>
            <a:ext cx="502920" cy="502920"/>
          </a:xfrm>
          <a:prstGeom prst="ellipse">
            <a:avLst/>
          </a:prstGeom>
          <a:solidFill>
            <a:schemeClr val="tx1"/>
          </a:solidFill>
          <a:ln w="12700">
            <a:solidFill>
              <a:schemeClr val="tx1"/>
            </a:solidFill>
            <a:prstDash val="solid"/>
          </a:ln>
        </p:spPr>
      </p:sp>
      <p:sp>
        <p:nvSpPr>
          <p:cNvPr id="5" name="pol0 number"/>
          <p:cNvSpPr txBox="1"/>
          <p:nvPr/>
        </p:nvSpPr>
        <p:spPr>
          <a:xfrm>
            <a:off x="731520" y="15087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pol0 head"/>
          <p:cNvSpPr txBox="1"/>
          <p:nvPr/>
        </p:nvSpPr>
        <p:spPr>
          <a:xfrm>
            <a:off x="1417320" y="1463040"/>
            <a:ext cx="4312768" cy="548640"/>
          </a:xfrm>
          <a:prstGeom prst="rect">
            <a:avLst/>
          </a:prstGeom>
          <a:noFill/>
          <a:ln/>
        </p:spPr>
        <p:txBody>
          <a:bodyPr wrap="square" lIns="0" tIns="0" rIns="0" bIns="0" rtlCol="0" anchor="ctr"/>
          <a:lstStyle/>
          <a:p>
            <a:pPr indent="0" marL="0">
              <a:buNone/>
            </a:pPr>
            <a:r>
              <a:rPr lang="en-US" sz="1350" b="1" dirty="0">
                <a:solidFill>
                  <a:schemeClr val="tx1"/>
                </a:solidFill>
              </a:rPr>
              <a:t>Батлан хамгаалах салбарын AI ашиглалтын журам</a:t>
            </a:r>
            <a:endParaRPr lang="en-US" sz="1350" dirty="0"/>
          </a:p>
        </p:txBody>
      </p:sp>
      <p:sp>
        <p:nvSpPr>
          <p:cNvPr id="7" name="pol0 desc"/>
          <p:cNvSpPr txBox="1"/>
          <p:nvPr/>
        </p:nvSpPr>
        <p:spPr>
          <a:xfrm>
            <a:off x="731520" y="2057400"/>
            <a:ext cx="4998568" cy="685800"/>
          </a:xfrm>
          <a:prstGeom prst="rect">
            <a:avLst/>
          </a:prstGeom>
          <a:noFill/>
          <a:ln/>
        </p:spPr>
        <p:txBody>
          <a:bodyPr wrap="square" lIns="0" tIns="0" rIns="0" bIns="0" rtlCol="0" anchor="t"/>
          <a:lstStyle/>
          <a:p>
            <a:pPr indent="0" marL="0">
              <a:buNone/>
            </a:pPr>
            <a:r>
              <a:rPr lang="en-US" sz="1150" dirty="0">
                <a:solidFill>
                  <a:schemeClr val="tx1"/>
                </a:solidFill>
              </a:rPr>
              <a:t>БХ-ын сайдын тушаал: зөвшөөрөгдсөн/хориглосон хэрэглээ, мэдээллийн ангилалтай уялдсан хязгаарлалт, AI системийн бүртгэл, хариуцлага</a:t>
            </a:r>
            <a:endParaRPr lang="en-US" sz="1150" dirty="0"/>
          </a:p>
        </p:txBody>
      </p:sp>
      <p:sp>
        <p:nvSpPr>
          <p:cNvPr id="8" name="pol1"/>
          <p:cNvSpPr/>
          <p:nvPr/>
        </p:nvSpPr>
        <p:spPr>
          <a:xfrm>
            <a:off x="6278728" y="1325880"/>
            <a:ext cx="5364328" cy="1508760"/>
          </a:xfrm>
          <a:prstGeom prst="roundRect">
            <a:avLst>
              <a:gd name="adj" fmla="val 4848"/>
            </a:avLst>
          </a:prstGeom>
          <a:solidFill>
            <a:schemeClr val="accent6"/>
          </a:solidFill>
          <a:ln w="12700">
            <a:solidFill>
              <a:schemeClr val="accent6"/>
            </a:solidFill>
            <a:prstDash val="solid"/>
          </a:ln>
        </p:spPr>
      </p:sp>
      <p:sp>
        <p:nvSpPr>
          <p:cNvPr id="9" name="pol1 circle"/>
          <p:cNvSpPr/>
          <p:nvPr/>
        </p:nvSpPr>
        <p:spPr>
          <a:xfrm>
            <a:off x="6461608" y="1508760"/>
            <a:ext cx="502920" cy="502920"/>
          </a:xfrm>
          <a:prstGeom prst="ellipse">
            <a:avLst/>
          </a:prstGeom>
          <a:solidFill>
            <a:schemeClr val="tx1"/>
          </a:solidFill>
          <a:ln w="12700">
            <a:solidFill>
              <a:schemeClr val="tx1"/>
            </a:solidFill>
            <a:prstDash val="solid"/>
          </a:ln>
        </p:spPr>
      </p:sp>
      <p:sp>
        <p:nvSpPr>
          <p:cNvPr id="10" name="pol1 number"/>
          <p:cNvSpPr txBox="1"/>
          <p:nvPr/>
        </p:nvSpPr>
        <p:spPr>
          <a:xfrm>
            <a:off x="6461608" y="15087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pol1 head"/>
          <p:cNvSpPr txBox="1"/>
          <p:nvPr/>
        </p:nvSpPr>
        <p:spPr>
          <a:xfrm>
            <a:off x="7147408" y="1463040"/>
            <a:ext cx="4312768" cy="548640"/>
          </a:xfrm>
          <a:prstGeom prst="rect">
            <a:avLst/>
          </a:prstGeom>
          <a:noFill/>
          <a:ln/>
        </p:spPr>
        <p:txBody>
          <a:bodyPr wrap="square" lIns="0" tIns="0" rIns="0" bIns="0" rtlCol="0" anchor="ctr"/>
          <a:lstStyle/>
          <a:p>
            <a:pPr indent="0" marL="0">
              <a:buNone/>
            </a:pPr>
            <a:r>
              <a:rPr lang="en-US" sz="1350" b="1" dirty="0">
                <a:solidFill>
                  <a:schemeClr val="tx1"/>
                </a:solidFill>
              </a:rPr>
              <a:t>Автомат хариу үйлдлийн эрх зүйн үндэс</a:t>
            </a:r>
            <a:endParaRPr lang="en-US" sz="1350" dirty="0"/>
          </a:p>
        </p:txBody>
      </p:sp>
      <p:sp>
        <p:nvSpPr>
          <p:cNvPr id="12" name="pol1 desc"/>
          <p:cNvSpPr txBox="1"/>
          <p:nvPr/>
        </p:nvSpPr>
        <p:spPr>
          <a:xfrm>
            <a:off x="6461608" y="2057400"/>
            <a:ext cx="4998568" cy="685800"/>
          </a:xfrm>
          <a:prstGeom prst="rect">
            <a:avLst/>
          </a:prstGeom>
          <a:noFill/>
          <a:ln/>
        </p:spPr>
        <p:txBody>
          <a:bodyPr wrap="square" lIns="0" tIns="0" rIns="0" bIns="0" rtlCol="0" anchor="t"/>
          <a:lstStyle/>
          <a:p>
            <a:pPr indent="0" marL="0">
              <a:buNone/>
            </a:pPr>
            <a:r>
              <a:rPr lang="en-US" sz="1150" dirty="0">
                <a:solidFill>
                  <a:schemeClr val="tx1"/>
                </a:solidFill>
              </a:rPr>
              <a:t>Автономийн түвшин бүрт батлах эрх, AI-ийн хийж болох/үл болох үйлдэл; онц чухал системд human-in-the-loop заавал</a:t>
            </a:r>
            <a:endParaRPr lang="en-US" sz="1150" dirty="0"/>
          </a:p>
        </p:txBody>
      </p:sp>
      <p:sp>
        <p:nvSpPr>
          <p:cNvPr id="13" name="pol2"/>
          <p:cNvSpPr/>
          <p:nvPr/>
        </p:nvSpPr>
        <p:spPr>
          <a:xfrm>
            <a:off x="548640" y="2926080"/>
            <a:ext cx="5364328" cy="1508760"/>
          </a:xfrm>
          <a:prstGeom prst="roundRect">
            <a:avLst>
              <a:gd name="adj" fmla="val 4848"/>
            </a:avLst>
          </a:prstGeom>
          <a:solidFill>
            <a:schemeClr val="bg2"/>
          </a:solidFill>
          <a:ln w="12700">
            <a:solidFill>
              <a:schemeClr val="bg2"/>
            </a:solidFill>
            <a:prstDash val="solid"/>
          </a:ln>
        </p:spPr>
      </p:sp>
      <p:sp>
        <p:nvSpPr>
          <p:cNvPr id="14" name="pol2 circle"/>
          <p:cNvSpPr/>
          <p:nvPr/>
        </p:nvSpPr>
        <p:spPr>
          <a:xfrm>
            <a:off x="731520" y="3108960"/>
            <a:ext cx="502920" cy="502920"/>
          </a:xfrm>
          <a:prstGeom prst="ellipse">
            <a:avLst/>
          </a:prstGeom>
          <a:solidFill>
            <a:schemeClr val="tx1"/>
          </a:solidFill>
          <a:ln w="12700">
            <a:solidFill>
              <a:schemeClr val="tx1"/>
            </a:solidFill>
            <a:prstDash val="solid"/>
          </a:ln>
        </p:spPr>
      </p:sp>
      <p:sp>
        <p:nvSpPr>
          <p:cNvPr id="15" name="pol2 number"/>
          <p:cNvSpPr txBox="1"/>
          <p:nvPr/>
        </p:nvSpPr>
        <p:spPr>
          <a:xfrm>
            <a:off x="731520" y="31089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pol2 head"/>
          <p:cNvSpPr txBox="1"/>
          <p:nvPr/>
        </p:nvSpPr>
        <p:spPr>
          <a:xfrm>
            <a:off x="1417320" y="3063240"/>
            <a:ext cx="4312768" cy="548640"/>
          </a:xfrm>
          <a:prstGeom prst="rect">
            <a:avLst/>
          </a:prstGeom>
          <a:noFill/>
          <a:ln/>
        </p:spPr>
        <p:txBody>
          <a:bodyPr wrap="square" lIns="0" tIns="0" rIns="0" bIns="0" rtlCol="0" anchor="ctr"/>
          <a:lstStyle/>
          <a:p>
            <a:pPr indent="0" marL="0">
              <a:buNone/>
            </a:pPr>
            <a:r>
              <a:rPr lang="en-US" sz="1350" b="1" dirty="0">
                <a:solidFill>
                  <a:schemeClr val="tx1"/>
                </a:solidFill>
              </a:rPr>
              <a:t>AI-тай холбоотой зөрчлийг мэдээлэх журам</a:t>
            </a:r>
            <a:endParaRPr lang="en-US" sz="1350" dirty="0"/>
          </a:p>
        </p:txBody>
      </p:sp>
      <p:sp>
        <p:nvSpPr>
          <p:cNvPr id="17" name="pol2 desc"/>
          <p:cNvSpPr txBox="1"/>
          <p:nvPr/>
        </p:nvSpPr>
        <p:spPr>
          <a:xfrm>
            <a:off x="731520" y="3657600"/>
            <a:ext cx="4998568" cy="685800"/>
          </a:xfrm>
          <a:prstGeom prst="rect">
            <a:avLst/>
          </a:prstGeom>
          <a:noFill/>
          <a:ln/>
        </p:spPr>
        <p:txBody>
          <a:bodyPr wrap="square" lIns="0" tIns="0" rIns="0" bIns="0" rtlCol="0" anchor="t"/>
          <a:lstStyle/>
          <a:p>
            <a:pPr indent="0" marL="0">
              <a:buNone/>
            </a:pPr>
            <a:r>
              <a:rPr lang="en-US" sz="1150" dirty="0">
                <a:solidFill>
                  <a:schemeClr val="tx1"/>
                </a:solidFill>
              </a:rPr>
              <a:t>Prompt injection, poisoning, AI-ийн буруу шийдвэрээс үүдсэн зөрчлийг тусад нь бүртгэж Кибер аюулгүй байдлын зөвлөлд мэдээлэх</a:t>
            </a:r>
            <a:endParaRPr lang="en-US" sz="1150" dirty="0"/>
          </a:p>
        </p:txBody>
      </p:sp>
      <p:sp>
        <p:nvSpPr>
          <p:cNvPr id="18" name="pol3"/>
          <p:cNvSpPr/>
          <p:nvPr/>
        </p:nvSpPr>
        <p:spPr>
          <a:xfrm>
            <a:off x="6278728" y="2926080"/>
            <a:ext cx="5364328" cy="1508760"/>
          </a:xfrm>
          <a:prstGeom prst="roundRect">
            <a:avLst>
              <a:gd name="adj" fmla="val 4848"/>
            </a:avLst>
          </a:prstGeom>
          <a:solidFill>
            <a:schemeClr val="accent6"/>
          </a:solidFill>
          <a:ln w="12700">
            <a:solidFill>
              <a:schemeClr val="accent6"/>
            </a:solidFill>
            <a:prstDash val="solid"/>
          </a:ln>
        </p:spPr>
      </p:sp>
      <p:sp>
        <p:nvSpPr>
          <p:cNvPr id="19" name="pol3 circle"/>
          <p:cNvSpPr/>
          <p:nvPr/>
        </p:nvSpPr>
        <p:spPr>
          <a:xfrm>
            <a:off x="6461608" y="3108960"/>
            <a:ext cx="502920" cy="502920"/>
          </a:xfrm>
          <a:prstGeom prst="ellipse">
            <a:avLst/>
          </a:prstGeom>
          <a:solidFill>
            <a:schemeClr val="tx1"/>
          </a:solidFill>
          <a:ln w="12700">
            <a:solidFill>
              <a:schemeClr val="tx1"/>
            </a:solidFill>
            <a:prstDash val="solid"/>
          </a:ln>
        </p:spPr>
      </p:sp>
      <p:sp>
        <p:nvSpPr>
          <p:cNvPr id="20" name="pol3 number"/>
          <p:cNvSpPr txBox="1"/>
          <p:nvPr/>
        </p:nvSpPr>
        <p:spPr>
          <a:xfrm>
            <a:off x="6461608" y="31089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pol3 head"/>
          <p:cNvSpPr txBox="1"/>
          <p:nvPr/>
        </p:nvSpPr>
        <p:spPr>
          <a:xfrm>
            <a:off x="7147408" y="3063240"/>
            <a:ext cx="4312768" cy="548640"/>
          </a:xfrm>
          <a:prstGeom prst="rect">
            <a:avLst/>
          </a:prstGeom>
          <a:noFill/>
          <a:ln/>
        </p:spPr>
        <p:txBody>
          <a:bodyPr wrap="square" lIns="0" tIns="0" rIns="0" bIns="0" rtlCol="0" anchor="ctr"/>
          <a:lstStyle/>
          <a:p>
            <a:pPr indent="0" marL="0">
              <a:buNone/>
            </a:pPr>
            <a:r>
              <a:rPr lang="en-US" sz="1350" b="1" dirty="0">
                <a:solidFill>
                  <a:schemeClr val="tx1"/>
                </a:solidFill>
              </a:rPr>
              <a:t>Худалдан авалтын стандарт</a:t>
            </a:r>
            <a:endParaRPr lang="en-US" sz="1350" dirty="0"/>
          </a:p>
        </p:txBody>
      </p:sp>
      <p:sp>
        <p:nvSpPr>
          <p:cNvPr id="22" name="pol3 desc"/>
          <p:cNvSpPr txBox="1"/>
          <p:nvPr/>
        </p:nvSpPr>
        <p:spPr>
          <a:xfrm>
            <a:off x="6461608" y="3657600"/>
            <a:ext cx="4998568" cy="685800"/>
          </a:xfrm>
          <a:prstGeom prst="rect">
            <a:avLst/>
          </a:prstGeom>
          <a:noFill/>
          <a:ln/>
        </p:spPr>
        <p:txBody>
          <a:bodyPr wrap="square" lIns="0" tIns="0" rIns="0" bIns="0" rtlCol="0" anchor="t"/>
          <a:lstStyle/>
          <a:p>
            <a:pPr indent="0" marL="0">
              <a:buNone/>
            </a:pPr>
            <a:r>
              <a:rPr lang="en-US" sz="1150" dirty="0">
                <a:solidFill>
                  <a:schemeClr val="tx1"/>
                </a:solidFill>
              </a:rPr>
              <a:t>Дотоод байршуулалт, өгөгдөл гадагш гарахгүй, загварын гарал үүсэл, тайлбарлах чадвар, NIST AI RMF / MITRE ATLAS-д нийцэл</a:t>
            </a:r>
            <a:endParaRPr lang="en-US" sz="1150" dirty="0"/>
          </a:p>
        </p:txBody>
      </p:sp>
      <p:sp>
        <p:nvSpPr>
          <p:cNvPr id="23" name="pol4"/>
          <p:cNvSpPr/>
          <p:nvPr/>
        </p:nvSpPr>
        <p:spPr>
          <a:xfrm>
            <a:off x="548640" y="4526280"/>
            <a:ext cx="5364328" cy="1508760"/>
          </a:xfrm>
          <a:prstGeom prst="roundRect">
            <a:avLst>
              <a:gd name="adj" fmla="val 4848"/>
            </a:avLst>
          </a:prstGeom>
          <a:solidFill>
            <a:schemeClr val="bg2"/>
          </a:solidFill>
          <a:ln w="12700">
            <a:solidFill>
              <a:schemeClr val="bg2"/>
            </a:solidFill>
            <a:prstDash val="solid"/>
          </a:ln>
        </p:spPr>
      </p:sp>
      <p:sp>
        <p:nvSpPr>
          <p:cNvPr id="24" name="pol4 circle"/>
          <p:cNvSpPr/>
          <p:nvPr/>
        </p:nvSpPr>
        <p:spPr>
          <a:xfrm>
            <a:off x="731520" y="4709160"/>
            <a:ext cx="502920" cy="502920"/>
          </a:xfrm>
          <a:prstGeom prst="ellipse">
            <a:avLst/>
          </a:prstGeom>
          <a:solidFill>
            <a:schemeClr val="tx1"/>
          </a:solidFill>
          <a:ln w="12700">
            <a:solidFill>
              <a:schemeClr val="tx1"/>
            </a:solidFill>
            <a:prstDash val="solid"/>
          </a:ln>
        </p:spPr>
      </p:sp>
      <p:sp>
        <p:nvSpPr>
          <p:cNvPr id="25" name="pol4 number"/>
          <p:cNvSpPr txBox="1"/>
          <p:nvPr/>
        </p:nvSpPr>
        <p:spPr>
          <a:xfrm>
            <a:off x="731520" y="47091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pol4 head"/>
          <p:cNvSpPr txBox="1"/>
          <p:nvPr/>
        </p:nvSpPr>
        <p:spPr>
          <a:xfrm>
            <a:off x="1417320" y="4663440"/>
            <a:ext cx="4312768" cy="548640"/>
          </a:xfrm>
          <a:prstGeom prst="rect">
            <a:avLst/>
          </a:prstGeom>
          <a:noFill/>
          <a:ln/>
        </p:spPr>
        <p:txBody>
          <a:bodyPr wrap="square" lIns="0" tIns="0" rIns="0" bIns="0" rtlCol="0" anchor="ctr"/>
          <a:lstStyle/>
          <a:p>
            <a:pPr indent="0" marL="0">
              <a:buNone/>
            </a:pPr>
            <a:r>
              <a:rPr lang="en-US" sz="1350" b="1" dirty="0">
                <a:solidFill>
                  <a:schemeClr val="tx1"/>
                </a:solidFill>
              </a:rPr>
              <a:t>Хууль тогтоомжид нэмэлт</a:t>
            </a:r>
            <a:endParaRPr lang="en-US" sz="1350" dirty="0"/>
          </a:p>
        </p:txBody>
      </p:sp>
      <p:sp>
        <p:nvSpPr>
          <p:cNvPr id="27" name="pol4 desc"/>
          <p:cNvSpPr txBox="1"/>
          <p:nvPr/>
        </p:nvSpPr>
        <p:spPr>
          <a:xfrm>
            <a:off x="731520" y="5257800"/>
            <a:ext cx="4998568" cy="685800"/>
          </a:xfrm>
          <a:prstGeom prst="rect">
            <a:avLst/>
          </a:prstGeom>
          <a:noFill/>
          <a:ln/>
        </p:spPr>
        <p:txBody>
          <a:bodyPr wrap="square" lIns="0" tIns="0" rIns="0" bIns="0" rtlCol="0" anchor="t"/>
          <a:lstStyle/>
          <a:p>
            <a:pPr indent="0" marL="0">
              <a:buNone/>
            </a:pPr>
            <a:r>
              <a:rPr lang="en-US" sz="1150" dirty="0">
                <a:solidFill>
                  <a:schemeClr val="tx1"/>
                </a:solidFill>
              </a:rPr>
              <a:t>Кибер аюулгүй байдлын тухай хууль, «Кибер сөрөн тэсвэрлэх» төсөлд: автоматжуулсан хамгаалалтын эрх зүйн статус, AI системийг ОЧМДБ-ийн бүрэлдэхүүн гэж тооцох, CTI солилцооны үүрэг</a:t>
            </a:r>
            <a:endParaRPr lang="en-US" sz="1150" dirty="0"/>
          </a:p>
        </p:txBody>
      </p:sp>
      <p:sp>
        <p:nvSpPr>
          <p:cNvPr id="28" name="pol5"/>
          <p:cNvSpPr/>
          <p:nvPr/>
        </p:nvSpPr>
        <p:spPr>
          <a:xfrm>
            <a:off x="6278728" y="4526280"/>
            <a:ext cx="5364328" cy="1508760"/>
          </a:xfrm>
          <a:prstGeom prst="roundRect">
            <a:avLst>
              <a:gd name="adj" fmla="val 4848"/>
            </a:avLst>
          </a:prstGeom>
          <a:solidFill>
            <a:schemeClr val="accent6"/>
          </a:solidFill>
          <a:ln w="12700">
            <a:solidFill>
              <a:schemeClr val="accent6"/>
            </a:solidFill>
            <a:prstDash val="solid"/>
          </a:ln>
        </p:spPr>
      </p:sp>
      <p:sp>
        <p:nvSpPr>
          <p:cNvPr id="29" name="pol5 circle"/>
          <p:cNvSpPr/>
          <p:nvPr/>
        </p:nvSpPr>
        <p:spPr>
          <a:xfrm>
            <a:off x="6461608" y="4709160"/>
            <a:ext cx="502920" cy="502920"/>
          </a:xfrm>
          <a:prstGeom prst="ellipse">
            <a:avLst/>
          </a:prstGeom>
          <a:solidFill>
            <a:schemeClr val="tx1"/>
          </a:solidFill>
          <a:ln w="12700">
            <a:solidFill>
              <a:schemeClr val="tx1"/>
            </a:solidFill>
            <a:prstDash val="solid"/>
          </a:ln>
        </p:spPr>
      </p:sp>
      <p:sp>
        <p:nvSpPr>
          <p:cNvPr id="30" name="pol5 number"/>
          <p:cNvSpPr txBox="1"/>
          <p:nvPr/>
        </p:nvSpPr>
        <p:spPr>
          <a:xfrm>
            <a:off x="6461608" y="470916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pol5 head"/>
          <p:cNvSpPr txBox="1"/>
          <p:nvPr/>
        </p:nvSpPr>
        <p:spPr>
          <a:xfrm>
            <a:off x="7147408" y="4663440"/>
            <a:ext cx="4312768" cy="548640"/>
          </a:xfrm>
          <a:prstGeom prst="rect">
            <a:avLst/>
          </a:prstGeom>
          <a:noFill/>
          <a:ln/>
        </p:spPr>
        <p:txBody>
          <a:bodyPr wrap="square" lIns="0" tIns="0" rIns="0" bIns="0" rtlCol="0" anchor="ctr"/>
          <a:lstStyle/>
          <a:p>
            <a:pPr indent="0" marL="0">
              <a:buNone/>
            </a:pPr>
            <a:r>
              <a:rPr lang="en-US" sz="1350" b="1" dirty="0">
                <a:solidFill>
                  <a:schemeClr val="tx1"/>
                </a:solidFill>
              </a:rPr>
              <a:t>Үндэсний стратеги, олон улсын хамтын ажиллагаа</a:t>
            </a:r>
            <a:endParaRPr lang="en-US" sz="1350" dirty="0"/>
          </a:p>
        </p:txBody>
      </p:sp>
      <p:sp>
        <p:nvSpPr>
          <p:cNvPr id="32" name="pol5 desc"/>
          <p:cNvSpPr txBox="1"/>
          <p:nvPr/>
        </p:nvSpPr>
        <p:spPr>
          <a:xfrm>
            <a:off x="6461608" y="5257800"/>
            <a:ext cx="4998568" cy="685800"/>
          </a:xfrm>
          <a:prstGeom prst="rect">
            <a:avLst/>
          </a:prstGeom>
          <a:noFill/>
          <a:ln/>
        </p:spPr>
        <p:txBody>
          <a:bodyPr wrap="square" lIns="0" tIns="0" rIns="0" bIns="0" rtlCol="0" anchor="t"/>
          <a:lstStyle/>
          <a:p>
            <a:pPr indent="0" marL="0">
              <a:buNone/>
            </a:pPr>
            <a:r>
              <a:rPr lang="en-US" sz="1150" dirty="0">
                <a:solidFill>
                  <a:schemeClr val="tx1"/>
                </a:solidFill>
              </a:rPr>
              <a:t>«Өгөгдөл, хиймэл оюуны үндэсний стратеги»-д батлан хамгаалах бүлэг; 2026–2030 чиглэлд AI SOC төслийг санхүүжилттэй; NATO RAI зарчим, NIST стандарт нутагшуулах</a:t>
            </a:r>
            <a:endParaRPr lang="en-US" sz="1150" dirty="0"/>
          </a:p>
        </p:txBody>
      </p:sp>
      <p:sp>
        <p:nvSpPr>
          <p:cNvPr id="33" name="pol note"/>
          <p:cNvSpPr txBox="1"/>
          <p:nvPr/>
        </p:nvSpPr>
        <p:spPr>
          <a:xfrm>
            <a:off x="548640" y="6126480"/>
            <a:ext cx="11094415" cy="274320"/>
          </a:xfrm>
          <a:prstGeom prst="rect">
            <a:avLst/>
          </a:prstGeom>
          <a:noFill/>
          <a:ln/>
        </p:spPr>
        <p:txBody>
          <a:bodyPr wrap="square" lIns="0" tIns="0" rIns="0" bIns="0" rtlCol="0" anchor="ctr"/>
          <a:lstStyle/>
          <a:p>
            <a:pPr indent="0" marL="0">
              <a:buNone/>
            </a:pPr>
            <a:r>
              <a:rPr lang="en-US" sz="1050" i="1" dirty="0">
                <a:solidFill>
                  <a:schemeClr val="tx2"/>
                </a:solidFill>
              </a:rPr>
              <a:t>Дэлгэрэнгүй: судалгааны материалын 8-р бүлэг (арга хэмжээний замын зураг, технологи/чадавх, бодлого/журмын 12 санал)</a:t>
            </a:r>
            <a:endParaRPr lang="en-US" sz="105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bg1"/>
                </a:solidFill>
              </a:rPr>
              <a:t>Дүгнэлт</a:t>
            </a:r>
            <a:endParaRPr lang="en-US" sz="2800" dirty="0"/>
          </a:p>
        </p:txBody>
      </p:sp>
      <p:sp>
        <p:nvSpPr>
          <p:cNvPr id="3" name="concl0 circle"/>
          <p:cNvSpPr/>
          <p:nvPr/>
        </p:nvSpPr>
        <p:spPr>
          <a:xfrm>
            <a:off x="548640" y="1463040"/>
            <a:ext cx="548640" cy="548640"/>
          </a:xfrm>
          <a:prstGeom prst="ellipse">
            <a:avLst/>
          </a:prstGeom>
          <a:solidFill>
            <a:schemeClr val="accent1"/>
          </a:solidFill>
          <a:ln w="12700">
            <a:solidFill>
              <a:schemeClr val="accent1"/>
            </a:solidFill>
            <a:prstDash val="solid"/>
          </a:ln>
        </p:spPr>
      </p:sp>
      <p:sp>
        <p:nvSpPr>
          <p:cNvPr id="4" name="concl0 number"/>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concl0 text"/>
          <p:cNvSpPr txBox="1"/>
          <p:nvPr/>
        </p:nvSpPr>
        <p:spPr>
          <a:xfrm>
            <a:off x="1325880" y="1371600"/>
            <a:ext cx="8138160" cy="841248"/>
          </a:xfrm>
          <a:prstGeom prst="rect">
            <a:avLst/>
          </a:prstGeom>
          <a:noFill/>
          <a:ln/>
        </p:spPr>
        <p:txBody>
          <a:bodyPr wrap="square" lIns="0" tIns="0" rIns="0" bIns="0" rtlCol="0" anchor="ctr"/>
          <a:lstStyle/>
          <a:p>
            <a:pPr indent="0" marL="0">
              <a:buNone/>
            </a:pPr>
            <a:r>
              <a:rPr lang="en-US" sz="1400" dirty="0">
                <a:solidFill>
                  <a:schemeClr val="bg1"/>
                </a:solidFill>
              </a:rPr>
              <a:t>Халдагч AI-г мөчлөгийн бүх үе шатад ашиглаж, 2025 оноос автономи агентын түвшинд хүрсэн: хурд, цар хүрээ хүнийг давж байна</a:t>
            </a:r>
            <a:endParaRPr lang="en-US" sz="1400" dirty="0"/>
          </a:p>
        </p:txBody>
      </p:sp>
      <p:sp>
        <p:nvSpPr>
          <p:cNvPr id="6" name="concl1 circle"/>
          <p:cNvSpPr/>
          <p:nvPr/>
        </p:nvSpPr>
        <p:spPr>
          <a:xfrm>
            <a:off x="548640" y="2395728"/>
            <a:ext cx="548640" cy="548640"/>
          </a:xfrm>
          <a:prstGeom prst="ellipse">
            <a:avLst/>
          </a:prstGeom>
          <a:solidFill>
            <a:schemeClr val="accent1"/>
          </a:solidFill>
          <a:ln w="12700">
            <a:solidFill>
              <a:schemeClr val="accent1"/>
            </a:solidFill>
            <a:prstDash val="solid"/>
          </a:ln>
        </p:spPr>
      </p:sp>
      <p:sp>
        <p:nvSpPr>
          <p:cNvPr id="7" name="concl1 number"/>
          <p:cNvSpPr txBox="1"/>
          <p:nvPr/>
        </p:nvSpPr>
        <p:spPr>
          <a:xfrm>
            <a:off x="548640" y="23957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concl1 text"/>
          <p:cNvSpPr txBox="1"/>
          <p:nvPr/>
        </p:nvSpPr>
        <p:spPr>
          <a:xfrm>
            <a:off x="1325880" y="2304288"/>
            <a:ext cx="8138160" cy="841248"/>
          </a:xfrm>
          <a:prstGeom prst="rect">
            <a:avLst/>
          </a:prstGeom>
          <a:noFill/>
          <a:ln/>
        </p:spPr>
        <p:txBody>
          <a:bodyPr wrap="square" lIns="0" tIns="0" rIns="0" bIns="0" rtlCol="0" anchor="ctr"/>
          <a:lstStyle/>
          <a:p>
            <a:pPr indent="0" marL="0">
              <a:buNone/>
            </a:pPr>
            <a:r>
              <a:rPr lang="en-US" sz="1400" dirty="0">
                <a:solidFill>
                  <a:schemeClr val="bg1"/>
                </a:solidFill>
              </a:rPr>
              <a:t>AI нь илрүүлэлт, SOC, хариу үйлдэл, аюул заналын мэдээлэл, урьдчилан сэргийлэлтэд хэмжигдэхүйц үр дүн өгч байна (–1.9 сая $, –80 хоног)</a:t>
            </a:r>
            <a:endParaRPr lang="en-US" sz="1400" dirty="0"/>
          </a:p>
        </p:txBody>
      </p:sp>
      <p:sp>
        <p:nvSpPr>
          <p:cNvPr id="9" name="concl2 circle"/>
          <p:cNvSpPr/>
          <p:nvPr/>
        </p:nvSpPr>
        <p:spPr>
          <a:xfrm>
            <a:off x="548640" y="3328416"/>
            <a:ext cx="548640" cy="548640"/>
          </a:xfrm>
          <a:prstGeom prst="ellipse">
            <a:avLst/>
          </a:prstGeom>
          <a:solidFill>
            <a:schemeClr val="accent1"/>
          </a:solidFill>
          <a:ln w="12700">
            <a:solidFill>
              <a:schemeClr val="accent1"/>
            </a:solidFill>
            <a:prstDash val="solid"/>
          </a:ln>
        </p:spPr>
      </p:sp>
      <p:sp>
        <p:nvSpPr>
          <p:cNvPr id="10" name="concl2 number"/>
          <p:cNvSpPr txBox="1"/>
          <p:nvPr/>
        </p:nvSpPr>
        <p:spPr>
          <a:xfrm>
            <a:off x="548640" y="332841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concl2 text"/>
          <p:cNvSpPr txBox="1"/>
          <p:nvPr/>
        </p:nvSpPr>
        <p:spPr>
          <a:xfrm>
            <a:off x="1325880" y="3236976"/>
            <a:ext cx="8138160" cy="841248"/>
          </a:xfrm>
          <a:prstGeom prst="rect">
            <a:avLst/>
          </a:prstGeom>
          <a:noFill/>
          <a:ln/>
        </p:spPr>
        <p:txBody>
          <a:bodyPr wrap="square" lIns="0" tIns="0" rIns="0" bIns="0" rtlCol="0" anchor="ctr"/>
          <a:lstStyle/>
          <a:p>
            <a:pPr indent="0" marL="0">
              <a:buNone/>
            </a:pPr>
            <a:r>
              <a:rPr lang="en-US" sz="1400" dirty="0">
                <a:solidFill>
                  <a:schemeClr val="bg1"/>
                </a:solidFill>
              </a:rPr>
              <a:t>AI шинэ эрсдэл дагуулна: hallucination, adversarial халдлага, shadow AI. AI-г хамгаалахгүйгээр AI-аар хамгаалах боломжгүй</a:t>
            </a:r>
            <a:endParaRPr lang="en-US" sz="1400" dirty="0"/>
          </a:p>
        </p:txBody>
      </p:sp>
      <p:sp>
        <p:nvSpPr>
          <p:cNvPr id="12" name="concl3 circle"/>
          <p:cNvSpPr/>
          <p:nvPr/>
        </p:nvSpPr>
        <p:spPr>
          <a:xfrm>
            <a:off x="548640" y="4261104"/>
            <a:ext cx="548640" cy="548640"/>
          </a:xfrm>
          <a:prstGeom prst="ellipse">
            <a:avLst/>
          </a:prstGeom>
          <a:solidFill>
            <a:schemeClr val="accent1"/>
          </a:solidFill>
          <a:ln w="12700">
            <a:solidFill>
              <a:schemeClr val="accent1"/>
            </a:solidFill>
            <a:prstDash val="solid"/>
          </a:ln>
        </p:spPr>
      </p:sp>
      <p:sp>
        <p:nvSpPr>
          <p:cNvPr id="13" name="concl3 number"/>
          <p:cNvSpPr txBox="1"/>
          <p:nvPr/>
        </p:nvSpPr>
        <p:spPr>
          <a:xfrm>
            <a:off x="548640" y="426110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concl3 text"/>
          <p:cNvSpPr txBox="1"/>
          <p:nvPr/>
        </p:nvSpPr>
        <p:spPr>
          <a:xfrm>
            <a:off x="1325880" y="4169664"/>
            <a:ext cx="8138160" cy="841248"/>
          </a:xfrm>
          <a:prstGeom prst="rect">
            <a:avLst/>
          </a:prstGeom>
          <a:noFill/>
          <a:ln/>
        </p:spPr>
        <p:txBody>
          <a:bodyPr wrap="square" lIns="0" tIns="0" rIns="0" bIns="0" rtlCol="0" anchor="ctr"/>
          <a:lstStyle/>
          <a:p>
            <a:pPr indent="0" marL="0">
              <a:buNone/>
            </a:pPr>
            <a:r>
              <a:rPr lang="en-US" sz="1400" dirty="0">
                <a:solidFill>
                  <a:schemeClr val="bg1"/>
                </a:solidFill>
              </a:rPr>
              <a:t>Цэргийн зөв зам: дотоод, нээлттэй эх, автономийн зэрэглэл, хүн шийдвэрийн гогцоонд, өгөгдөл + хүний нөөцтэй зэрэгцүүлсэн үе шаттай нэвтрүүлэлт</a:t>
            </a:r>
            <a:endParaRPr lang="en-US" sz="1400" dirty="0"/>
          </a:p>
        </p:txBody>
      </p:sp>
      <p:sp>
        <p:nvSpPr>
          <p:cNvPr id="15" name="concl4 circle"/>
          <p:cNvSpPr/>
          <p:nvPr/>
        </p:nvSpPr>
        <p:spPr>
          <a:xfrm>
            <a:off x="548640" y="5193792"/>
            <a:ext cx="548640" cy="548640"/>
          </a:xfrm>
          <a:prstGeom prst="ellipse">
            <a:avLst/>
          </a:prstGeom>
          <a:solidFill>
            <a:schemeClr val="accent1"/>
          </a:solidFill>
          <a:ln w="12700">
            <a:solidFill>
              <a:schemeClr val="accent1"/>
            </a:solidFill>
            <a:prstDash val="solid"/>
          </a:ln>
        </p:spPr>
      </p:sp>
      <p:sp>
        <p:nvSpPr>
          <p:cNvPr id="16" name="concl4 number"/>
          <p:cNvSpPr txBox="1"/>
          <p:nvPr/>
        </p:nvSpPr>
        <p:spPr>
          <a:xfrm>
            <a:off x="548640" y="51937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concl4 text"/>
          <p:cNvSpPr txBox="1"/>
          <p:nvPr/>
        </p:nvSpPr>
        <p:spPr>
          <a:xfrm>
            <a:off x="1325880" y="5102352"/>
            <a:ext cx="8138160" cy="841248"/>
          </a:xfrm>
          <a:prstGeom prst="rect">
            <a:avLst/>
          </a:prstGeom>
          <a:noFill/>
          <a:ln/>
        </p:spPr>
        <p:txBody>
          <a:bodyPr wrap="square" lIns="0" tIns="0" rIns="0" bIns="0" rtlCol="0" anchor="ctr"/>
          <a:lstStyle/>
          <a:p>
            <a:pPr indent="0" marL="0">
              <a:buNone/>
            </a:pPr>
            <a:r>
              <a:rPr lang="en-US" sz="1400" dirty="0">
                <a:solidFill>
                  <a:schemeClr val="bg1"/>
                </a:solidFill>
              </a:rPr>
              <a:t>Монголд институцийн суурь бий; дутагдаж буй журам, өгөгдөл, дэд бүтэц, мэргэшсэн хүний нөөц, санхүүжилтийг 2026–2030 онд шийдвэрлэх боломжтой</a:t>
            </a:r>
            <a:endParaRPr lang="en-US" sz="1400" dirty="0"/>
          </a:p>
        </p:txBody>
      </p:sp>
      <p:sp>
        <p:nvSpPr>
          <p:cNvPr id="18" name="concl emblem circle"/>
          <p:cNvSpPr/>
          <p:nvPr/>
        </p:nvSpPr>
        <p:spPr>
          <a:xfrm>
            <a:off x="9464040" y="2103120"/>
            <a:ext cx="2286000" cy="2286000"/>
          </a:xfrm>
          <a:prstGeom prst="ellipse">
            <a:avLst/>
          </a:prstGeom>
          <a:solidFill>
            <a:schemeClr val="accent1"/>
          </a:solidFill>
          <a:ln w="12700">
            <a:solidFill>
              <a:schemeClr val="accent1"/>
            </a:solidFill>
            <a:prstDash val="solid"/>
          </a:ln>
        </p:spPr>
      </p:sp>
      <p:pic>
        <p:nvPicPr>
          <p:cNvPr id="19" name="concl emblem" descr="preencoded.png">    </p:cNvPr>
          <p:cNvPicPr>
            <a:picLocks noChangeAspect="1"/>
          </p:cNvPicPr>
          <p:nvPr/>
        </p:nvPicPr>
        <p:blipFill>
          <a:blip r:embed="rId1"/>
          <a:stretch>
            <a:fillRect/>
          </a:stretch>
        </p:blipFill>
        <p:spPr>
          <a:xfrm>
            <a:off x="9966960" y="2514600"/>
            <a:ext cx="1280160" cy="1371600"/>
          </a:xfrm>
          <a:prstGeom prst="rect">
            <a:avLst/>
          </a:prstGeom>
        </p:spPr>
      </p:pic>
      <p:sp>
        <p:nvSpPr>
          <p:cNvPr id="20" name="concl motto"/>
          <p:cNvSpPr txBox="1"/>
          <p:nvPr/>
        </p:nvSpPr>
        <p:spPr>
          <a:xfrm>
            <a:off x="8915400" y="4572000"/>
            <a:ext cx="3291840" cy="640080"/>
          </a:xfrm>
          <a:prstGeom prst="rect">
            <a:avLst/>
          </a:prstGeom>
          <a:noFill/>
          <a:ln/>
        </p:spPr>
        <p:txBody>
          <a:bodyPr wrap="square" lIns="0" tIns="0" rIns="0" bIns="0" rtlCol="0" anchor="ctr"/>
          <a:lstStyle/>
          <a:p>
            <a:pPr algn="ctr" indent="0" marL="0">
              <a:buNone/>
            </a:pPr>
            <a:r>
              <a:rPr lang="en-US" sz="1300" b="1" i="1" dirty="0">
                <a:solidFill>
                  <a:schemeClr val="accent4"/>
                </a:solidFill>
              </a:rPr>
              <a:t>AI-аар хамгаалах + AI-г хамгаалах</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indent="0" marL="0">
              <a:buNone/>
            </a:pPr>
            <a:r>
              <a:rPr lang="en-US" sz="2800" b="1" dirty="0">
                <a:solidFill>
                  <a:schemeClr val="bg1"/>
                </a:solidFill>
              </a:rPr>
              <a:t>Хэлэлцүүлэгт дэвшүүлэх асуултууд</a:t>
            </a:r>
            <a:endParaRPr lang="en-US" sz="2800" dirty="0"/>
          </a:p>
        </p:txBody>
      </p:sp>
      <p:sp>
        <p:nvSpPr>
          <p:cNvPr id="3" name="q0 circle"/>
          <p:cNvSpPr/>
          <p:nvPr/>
        </p:nvSpPr>
        <p:spPr>
          <a:xfrm>
            <a:off x="548640" y="1417320"/>
            <a:ext cx="502920" cy="502920"/>
          </a:xfrm>
          <a:prstGeom prst="ellipse">
            <a:avLst/>
          </a:prstGeom>
          <a:solidFill>
            <a:schemeClr val="accent4"/>
          </a:solidFill>
          <a:ln w="12700">
            <a:solidFill>
              <a:schemeClr val="accent4"/>
            </a:solidFill>
            <a:prstDash val="solid"/>
          </a:ln>
        </p:spPr>
      </p:sp>
      <p:sp>
        <p:nvSpPr>
          <p:cNvPr id="4" name="q0 number"/>
          <p:cNvSpPr txBox="1"/>
          <p:nvPr/>
        </p:nvSpPr>
        <p:spPr>
          <a:xfrm>
            <a:off x="548640" y="1417320"/>
            <a:ext cx="502920" cy="5029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5" name="q0 text"/>
          <p:cNvSpPr txBox="1"/>
          <p:nvPr/>
        </p:nvSpPr>
        <p:spPr>
          <a:xfrm>
            <a:off x="1280160" y="1325880"/>
            <a:ext cx="10332720" cy="731520"/>
          </a:xfrm>
          <a:prstGeom prst="rect">
            <a:avLst/>
          </a:prstGeom>
          <a:noFill/>
          <a:ln/>
        </p:spPr>
        <p:txBody>
          <a:bodyPr wrap="square" lIns="0" tIns="0" rIns="0" bIns="0" rtlCol="0" anchor="ctr"/>
          <a:lstStyle/>
          <a:p>
            <a:pPr indent="0" marL="0">
              <a:buNone/>
            </a:pPr>
            <a:r>
              <a:rPr lang="en-US" sz="1400" dirty="0">
                <a:solidFill>
                  <a:schemeClr val="bg1"/>
                </a:solidFill>
              </a:rPr>
              <a:t>Зэвсэгт хүчний сүлжээнд автономийн ямар түвшнийг, ямар нөхцөлд зөвшөөрөх вэ? Хариуцлагыг хэн хүлээх вэ?</a:t>
            </a:r>
            <a:endParaRPr lang="en-US" sz="1400" dirty="0"/>
          </a:p>
        </p:txBody>
      </p:sp>
      <p:sp>
        <p:nvSpPr>
          <p:cNvPr id="6" name="q1 circle"/>
          <p:cNvSpPr/>
          <p:nvPr/>
        </p:nvSpPr>
        <p:spPr>
          <a:xfrm>
            <a:off x="548640" y="2240280"/>
            <a:ext cx="502920" cy="502920"/>
          </a:xfrm>
          <a:prstGeom prst="ellipse">
            <a:avLst/>
          </a:prstGeom>
          <a:solidFill>
            <a:schemeClr val="accent4"/>
          </a:solidFill>
          <a:ln w="12700">
            <a:solidFill>
              <a:schemeClr val="accent4"/>
            </a:solidFill>
            <a:prstDash val="solid"/>
          </a:ln>
        </p:spPr>
      </p:sp>
      <p:sp>
        <p:nvSpPr>
          <p:cNvPr id="7" name="q1 number"/>
          <p:cNvSpPr txBox="1"/>
          <p:nvPr/>
        </p:nvSpPr>
        <p:spPr>
          <a:xfrm>
            <a:off x="548640" y="2240280"/>
            <a:ext cx="502920" cy="5029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8" name="q1 text"/>
          <p:cNvSpPr txBox="1"/>
          <p:nvPr/>
        </p:nvSpPr>
        <p:spPr>
          <a:xfrm>
            <a:off x="1280160" y="2148840"/>
            <a:ext cx="10332720" cy="731520"/>
          </a:xfrm>
          <a:prstGeom prst="rect">
            <a:avLst/>
          </a:prstGeom>
          <a:noFill/>
          <a:ln/>
        </p:spPr>
        <p:txBody>
          <a:bodyPr wrap="square" lIns="0" tIns="0" rIns="0" bIns="0" rtlCol="0" anchor="ctr"/>
          <a:lstStyle/>
          <a:p>
            <a:pPr indent="0" marL="0">
              <a:buNone/>
            </a:pPr>
            <a:r>
              <a:rPr lang="en-US" sz="1400" dirty="0">
                <a:solidFill>
                  <a:schemeClr val="bg1"/>
                </a:solidFill>
              </a:rPr>
              <a:t>Нууцлалтай сүлжээний AI өгөгдөл, тооцоолох дэд бүтцийг дотооддоо бүхэлд нь байгуулах уу, төрийн дата төвтэй хуваалцах уу?</a:t>
            </a:r>
            <a:endParaRPr lang="en-US" sz="1400" dirty="0"/>
          </a:p>
        </p:txBody>
      </p:sp>
      <p:sp>
        <p:nvSpPr>
          <p:cNvPr id="9" name="q2 circle"/>
          <p:cNvSpPr/>
          <p:nvPr/>
        </p:nvSpPr>
        <p:spPr>
          <a:xfrm>
            <a:off x="548640" y="3063240"/>
            <a:ext cx="502920" cy="502920"/>
          </a:xfrm>
          <a:prstGeom prst="ellipse">
            <a:avLst/>
          </a:prstGeom>
          <a:solidFill>
            <a:schemeClr val="accent4"/>
          </a:solidFill>
          <a:ln w="12700">
            <a:solidFill>
              <a:schemeClr val="accent4"/>
            </a:solidFill>
            <a:prstDash val="solid"/>
          </a:ln>
        </p:spPr>
      </p:sp>
      <p:sp>
        <p:nvSpPr>
          <p:cNvPr id="10" name="q2 number"/>
          <p:cNvSpPr txBox="1"/>
          <p:nvPr/>
        </p:nvSpPr>
        <p:spPr>
          <a:xfrm>
            <a:off x="548640" y="3063240"/>
            <a:ext cx="502920" cy="5029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1" name="q2 text"/>
          <p:cNvSpPr txBox="1"/>
          <p:nvPr/>
        </p:nvSpPr>
        <p:spPr>
          <a:xfrm>
            <a:off x="1280160" y="2971800"/>
            <a:ext cx="10332720" cy="731520"/>
          </a:xfrm>
          <a:prstGeom prst="rect">
            <a:avLst/>
          </a:prstGeom>
          <a:noFill/>
          <a:ln/>
        </p:spPr>
        <p:txBody>
          <a:bodyPr wrap="square" lIns="0" tIns="0" rIns="0" bIns="0" rtlCol="0" anchor="ctr"/>
          <a:lstStyle/>
          <a:p>
            <a:pPr indent="0" marL="0">
              <a:buNone/>
            </a:pPr>
            <a:r>
              <a:rPr lang="en-US" sz="1400" dirty="0">
                <a:solidFill>
                  <a:schemeClr val="bg1"/>
                </a:solidFill>
              </a:rPr>
              <a:t>CERT, Кибер аюулгүй байдлын зөвлөл, хувийн хэвшил, Зэвсэгт хүчний хооронд машин уншигдахуйц CTI солилцох механизм ямар байх вэ?</a:t>
            </a:r>
            <a:endParaRPr lang="en-US" sz="1400" dirty="0"/>
          </a:p>
        </p:txBody>
      </p:sp>
      <p:sp>
        <p:nvSpPr>
          <p:cNvPr id="12" name="q3 circle"/>
          <p:cNvSpPr/>
          <p:nvPr/>
        </p:nvSpPr>
        <p:spPr>
          <a:xfrm>
            <a:off x="548640" y="3886200"/>
            <a:ext cx="502920" cy="502920"/>
          </a:xfrm>
          <a:prstGeom prst="ellipse">
            <a:avLst/>
          </a:prstGeom>
          <a:solidFill>
            <a:schemeClr val="accent4"/>
          </a:solidFill>
          <a:ln w="12700">
            <a:solidFill>
              <a:schemeClr val="accent4"/>
            </a:solidFill>
            <a:prstDash val="solid"/>
          </a:ln>
        </p:spPr>
      </p:sp>
      <p:sp>
        <p:nvSpPr>
          <p:cNvPr id="13" name="q3 number"/>
          <p:cNvSpPr txBox="1"/>
          <p:nvPr/>
        </p:nvSpPr>
        <p:spPr>
          <a:xfrm>
            <a:off x="548640" y="3886200"/>
            <a:ext cx="502920" cy="5029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q3 text"/>
          <p:cNvSpPr txBox="1"/>
          <p:nvPr/>
        </p:nvSpPr>
        <p:spPr>
          <a:xfrm>
            <a:off x="1280160" y="3794760"/>
            <a:ext cx="10332720" cy="731520"/>
          </a:xfrm>
          <a:prstGeom prst="rect">
            <a:avLst/>
          </a:prstGeom>
          <a:noFill/>
          <a:ln/>
        </p:spPr>
        <p:txBody>
          <a:bodyPr wrap="square" lIns="0" tIns="0" rIns="0" bIns="0" rtlCol="0" anchor="ctr"/>
          <a:lstStyle/>
          <a:p>
            <a:pPr indent="0" marL="0">
              <a:buNone/>
            </a:pPr>
            <a:r>
              <a:rPr lang="en-US" sz="1400" dirty="0">
                <a:solidFill>
                  <a:schemeClr val="bg1"/>
                </a:solidFill>
              </a:rPr>
              <a:t>ҮБХИС-ийн сургалтын хөтөлбөрт AI-кибер хамгаалалтыг хэрхэн, хэзээ оруулах вэ? Ямар орон тоо шаардлагатай вэ?</a:t>
            </a:r>
            <a:endParaRPr lang="en-US" sz="1400" dirty="0"/>
          </a:p>
        </p:txBody>
      </p:sp>
      <p:sp>
        <p:nvSpPr>
          <p:cNvPr id="15" name="q4 circle"/>
          <p:cNvSpPr/>
          <p:nvPr/>
        </p:nvSpPr>
        <p:spPr>
          <a:xfrm>
            <a:off x="548640" y="4709160"/>
            <a:ext cx="502920" cy="502920"/>
          </a:xfrm>
          <a:prstGeom prst="ellipse">
            <a:avLst/>
          </a:prstGeom>
          <a:solidFill>
            <a:schemeClr val="accent4"/>
          </a:solidFill>
          <a:ln w="12700">
            <a:solidFill>
              <a:schemeClr val="accent4"/>
            </a:solidFill>
            <a:prstDash val="solid"/>
          </a:ln>
        </p:spPr>
      </p:sp>
      <p:sp>
        <p:nvSpPr>
          <p:cNvPr id="16" name="q4 number"/>
          <p:cNvSpPr txBox="1"/>
          <p:nvPr/>
        </p:nvSpPr>
        <p:spPr>
          <a:xfrm>
            <a:off x="548640" y="4709160"/>
            <a:ext cx="502920" cy="5029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7" name="q4 text"/>
          <p:cNvSpPr txBox="1"/>
          <p:nvPr/>
        </p:nvSpPr>
        <p:spPr>
          <a:xfrm>
            <a:off x="1280160" y="4617720"/>
            <a:ext cx="10332720" cy="731520"/>
          </a:xfrm>
          <a:prstGeom prst="rect">
            <a:avLst/>
          </a:prstGeom>
          <a:noFill/>
          <a:ln/>
        </p:spPr>
        <p:txBody>
          <a:bodyPr wrap="square" lIns="0" tIns="0" rIns="0" bIns="0" rtlCol="0" anchor="ctr"/>
          <a:lstStyle/>
          <a:p>
            <a:pPr indent="0" marL="0">
              <a:buNone/>
            </a:pPr>
            <a:r>
              <a:rPr lang="en-US" sz="1400" dirty="0">
                <a:solidFill>
                  <a:schemeClr val="bg1"/>
                </a:solidFill>
              </a:rPr>
              <a:t>Арилжааны платформ уу, нээлттэй эх үү, холимог уу? Санхүүжилтийн эх үүсвэр?</a:t>
            </a:r>
            <a:endParaRPr lang="en-US" sz="1400" dirty="0"/>
          </a:p>
        </p:txBody>
      </p:sp>
      <p:sp>
        <p:nvSpPr>
          <p:cNvPr id="18" name="thanks"/>
          <p:cNvSpPr txBox="1"/>
          <p:nvPr/>
        </p:nvSpPr>
        <p:spPr>
          <a:xfrm>
            <a:off x="548640" y="5532120"/>
            <a:ext cx="7315200" cy="548640"/>
          </a:xfrm>
          <a:prstGeom prst="rect">
            <a:avLst/>
          </a:prstGeom>
          <a:noFill/>
          <a:ln/>
        </p:spPr>
        <p:txBody>
          <a:bodyPr wrap="square" lIns="0" tIns="0" rIns="0" bIns="0" rtlCol="0" anchor="ctr"/>
          <a:lstStyle/>
          <a:p>
            <a:pPr indent="0" marL="0">
              <a:buNone/>
            </a:pPr>
            <a:r>
              <a:rPr lang="en-US" sz="2400" b="1" dirty="0">
                <a:solidFill>
                  <a:schemeClr val="accent4"/>
                </a:solidFill>
              </a:rPr>
              <a:t>Анхаарал хандуулсанд баярлалаа</a:t>
            </a:r>
            <a:endParaRPr lang="en-US" sz="2400" dirty="0"/>
          </a:p>
        </p:txBody>
      </p:sp>
      <p:sp>
        <p:nvSpPr>
          <p:cNvPr id="19" name="thanks note"/>
          <p:cNvSpPr txBox="1"/>
          <p:nvPr/>
        </p:nvSpPr>
        <p:spPr>
          <a:xfrm>
            <a:off x="548640" y="6035040"/>
            <a:ext cx="9144000" cy="320040"/>
          </a:xfrm>
          <a:prstGeom prst="rect">
            <a:avLst/>
          </a:prstGeom>
          <a:noFill/>
          <a:ln/>
        </p:spPr>
        <p:txBody>
          <a:bodyPr wrap="square" lIns="0" tIns="0" rIns="0" bIns="0" rtlCol="0" anchor="ctr"/>
          <a:lstStyle/>
          <a:p>
            <a:pPr indent="0" marL="0">
              <a:buNone/>
            </a:pPr>
            <a:r>
              <a:rPr lang="en-US" sz="1100" i="1" dirty="0">
                <a:solidFill>
                  <a:schemeClr val="accent5"/>
                </a:solidFill>
              </a:rPr>
              <a:t>Судалгааны материал (24 хуудас, 19 эх сурвалж) хэлэлцүүлгийн материалд хавсаргав</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4A6"/>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I Cyber Defense">
  <a:themeElements>
    <a:clrScheme name="AI Cyber Defense">
      <a:dk1>
        <a:srgbClr val="0B1F3A"/>
      </a:dk1>
      <a:lt1>
        <a:srgbClr val="FFFFFF"/>
      </a:lt1>
      <a:dk2>
        <a:srgbClr val="4A5568"/>
      </a:dk2>
      <a:lt2>
        <a:srgbClr val="EEF2F7"/>
      </a:lt2>
      <a:accent1>
        <a:srgbClr val="0E7C86"/>
      </a:accent1>
      <a:accent2>
        <a:srgbClr val="C8102E"/>
      </a:accent2>
      <a:accent3>
        <a:srgbClr val="1F4E79"/>
      </a:accent3>
      <a:accent4>
        <a:srgbClr val="D4A017"/>
      </a:accent4>
      <a:accent5>
        <a:srgbClr val="8A94A6"/>
      </a:accent5>
      <a:accent6>
        <a:srgbClr val="D6EEF0"/>
      </a:accent6>
      <a:hlink>
        <a:srgbClr val="0E7C86"/>
      </a:hlink>
      <a:folHlink>
        <a:srgbClr val="1F4E79"/>
      </a:folHlink>
    </a:clrScheme>
    <a:fontScheme name="AI Cyber Defen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Кибер халдлагын үед хиймэл оюуныг ашиглах боломж</dc:title>
  <dc:subject>Хиймэл оюун – Кибер аюулгүй байдал хэлэлцүүлэг, чиглүүлэх илтгэл-2</dc:subject>
  <dc:creator>ҮБХИС, Кибер аюулгүй байдлын тэнхим</dc:creator>
  <cp:lastModifiedBy>ҮБХИС, Кибер аюулгүй байдлын тэнхим</cp:lastModifiedBy>
  <cp:revision>1</cp:revision>
  <dcterms:created xsi:type="dcterms:W3CDTF">2026-10-12T07:25:04Z</dcterms:created>
  <dcterms:modified xsi:type="dcterms:W3CDTF">2026-10-12T07:25:04Z</dcterms:modified>
</cp:coreProperties>
</file>