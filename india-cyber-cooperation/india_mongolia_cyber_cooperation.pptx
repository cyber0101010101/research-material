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5611361-cba0-0eab-c632-f18a327b62f5}">
          <p14:sldIdLst>
            <p14:sldId id="256"/>
            <p14:sldId id="257"/>
          </p14:sldIdLst>
        </p14:section>
        <p14:section name="01 Partnership context" id="{45b8e625-5451-e973-3245-cb7805ebfbf6}">
          <p14:sldIdLst>
            <p14:sldId id="258"/>
            <p14:sldId id="259"/>
            <p14:sldId id="260"/>
            <p14:sldId id="261"/>
          </p14:sldIdLst>
        </p14:section>
        <p14:section name="02 Establishing the Centre" id="{29b6711d-02d1-fc53-6610-2aef8174fdad}">
          <p14:sldIdLst>
            <p14:sldId id="262"/>
            <p14:sldId id="263"/>
            <p14:sldId id="264"/>
            <p14:sldId id="265"/>
            <p14:sldId id="266"/>
            <p14:sldId id="267"/>
          </p14:sldIdLst>
        </p14:section>
        <p14:section name="03 Results 2022–2026" id="{db5190b9-9059-16bc-e974-6b2e3130737c}">
          <p14:sldIdLst>
            <p14:sldId id="268"/>
            <p14:sldId id="269"/>
            <p14:sldId id="270"/>
            <p14:sldId id="271"/>
            <p14:sldId id="272"/>
            <p14:sldId id="273"/>
            <p14:sldId id="274"/>
            <p14:sldId id="275"/>
            <p14:sldId id="276"/>
          </p14:sldIdLst>
        </p14:section>
        <p14:section name="04 The road ahead" id="{9dd9cb33-6a97-4ae0-720c-0e0f8c634efd}">
          <p14:sldIdLst>
            <p14:sldId id="277"/>
            <p14:sldId id="278"/>
            <p14:sldId id="279"/>
            <p14:sldId id="280"/>
          </p14:sldIdLst>
        </p14:section>
        <p14:section name="Closing" id="{6f27f547-e9db-e54b-e373-10adf3784a16}">
          <p14:sldIdLst>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Trainees</c:v>
                </c:pt>
              </c:strCache>
            </c:strRef>
          </c:tx>
          <c:spPr>
            <a:solidFill>
              <a:srgbClr val="1F6FD1"/>
            </a:solidFill>
            <a:effectLst/>
          </c:spPr>
          <c:invertIfNegative val="0"/>
          <c:dLbls>
            <c:numFmt formatCode="#,##0" sourceLinked="0"/>
            <c:txPr>
              <a:bodyPr/>
              <a:lstStyle/>
              <a:p>
                <a:pPr>
                  <a:defRPr b="0" i="0" strike="noStrike" sz="1100" u="none">
                    <a:solidFill>
                      <a:srgbClr val="16213A"/>
                    </a:solidFill>
                    <a:latin typeface="+mn-lt"/>
                  </a:defRPr>
                </a:pPr>
              </a:p>
            </c:txPr>
            <c:showLegendKey val="0"/>
            <c:showVal val="1"/>
            <c:showCatName val="0"/>
            <c:showSerName val="0"/>
            <c:showPercent val="0"/>
            <c:showBubbleSize val="0"/>
            <c:showLeaderLines val="0"/>
          </c:dLbls>
          <c:cat>
            <c:multiLvlStrRef>
              <c:f>Sheet1!$A$2:$A$14</c:f>
              <c:multiLvlStrCache>
                <c:ptCount val="13"/>
                <c:lvl>
                  <c:pt idx="0">
                    <c:v>2022 · Teacher training (C-DAC)</c:v>
                  </c:pt>
                  <c:pt idx="1">
                    <c:v>2023 · Laboratory tools course</c:v>
                  </c:pt>
                  <c:pt idx="2">
                    <c:v>2023 · Instructor programme</c:v>
                  </c:pt>
                  <c:pt idx="3">
                    <c:v>2023 · Network security</c:v>
                  </c:pt>
                  <c:pt idx="4">
                    <c:v>2023 · Malware analysis</c:v>
                  </c:pt>
                  <c:pt idx="5">
                    <c:v>2024 · Cyber security basic</c:v>
                  </c:pt>
                  <c:pt idx="6">
                    <c:v>2024 · Ethical hacking</c:v>
                  </c:pt>
                  <c:pt idx="7">
                    <c:v>2024 · SOC analyst</c:v>
                  </c:pt>
                  <c:pt idx="8">
                    <c:v>2024 · Digital forensics</c:v>
                  </c:pt>
                  <c:pt idx="9">
                    <c:v>2025 · Network administration</c:v>
                  </c:pt>
                  <c:pt idx="10">
                    <c:v>2025 · Cryptography &amp; data security</c:v>
                  </c:pt>
                  <c:pt idx="11">
                    <c:v>2025 · Vulnerability assessment &amp; pentest</c:v>
                  </c:pt>
                  <c:pt idx="12">
                    <c:v>2025 · Cyber security audit</c:v>
                  </c:pt>
                </c:lvl>
              </c:multiLvlStrCache>
            </c:multiLvlStrRef>
          </c:cat>
          <c:val>
            <c:numRef>
              <c:f>Sheet1!$B$2:$B$14</c:f>
              <c:numCache>
                <c:formatCode>General</c:formatCode>
                <c:ptCount val="13"/>
                <c:pt idx="0">
                  <c:v>12</c:v>
                </c:pt>
                <c:pt idx="1">
                  <c:v>10</c:v>
                </c:pt>
                <c:pt idx="2">
                  <c:v>17</c:v>
                </c:pt>
                <c:pt idx="3">
                  <c:v>18</c:v>
                </c:pt>
                <c:pt idx="4">
                  <c:v>16</c:v>
                </c:pt>
                <c:pt idx="5">
                  <c:v>24</c:v>
                </c:pt>
                <c:pt idx="6">
                  <c:v>15</c:v>
                </c:pt>
                <c:pt idx="7">
                  <c:v>11</c:v>
                </c:pt>
                <c:pt idx="8">
                  <c:v>9</c:v>
                </c:pt>
                <c:pt idx="9">
                  <c:v>22</c:v>
                </c:pt>
                <c:pt idx="10">
                  <c:v>17</c:v>
                </c:pt>
                <c:pt idx="11">
                  <c:v>21</c:v>
                </c:pt>
                <c:pt idx="12">
                  <c:v>19</c:v>
                </c:pt>
              </c:numCache>
            </c:numRef>
          </c:val>
        </c:ser>
        <c:dLbls>
          <c:numFmt formatCode="#,##0" sourceLinked="0"/>
          <c:txPr>
            <a:bodyPr/>
            <a:lstStyle/>
            <a:p>
              <a:pPr>
                <a:defRPr b="0" i="0" strike="noStrike" sz="1100" u="none">
                  <a:solidFill>
                    <a:srgbClr val="16213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B6474"/>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000" b="0" i="0" u="none" strike="noStrike">
                <a:solidFill>
                  <a:srgbClr val="5B6474"/>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Слайд 1 · Нүүр — 0.5 мин
Эрхэм хүндэт Хамтарсан нарийн бичгийн дарга хатагтай Ишита Гангули Трипати, Захирал ноён Викаш Кумар, Захирал хурандаа Балжит Сингх, Батлан хамгаалахын атташе хурандаа Муппарти Санжеев, эрхэм хүндэт зочид оо!
Өдрийн мэнд. Үндэсний батлан хамгаалахын их сургуулийн нэрийн өмнөөс та бүхнийг Кибер аюулгүй байдлын тэнхимд тавтай морилохыг урьж байна. Энэ тэнхим Энэтхэг улстай хамтран ажилласны бодит үр дүн юм. Тиймээс хоёр улсын Батлан хамгаалахын яамд хоорондын 14 дэх удаагийн зөвлөлдөх уулзалтын үеэр Энэтхэгийн Батлан хамгаалахын яамны төлөөлөгчдийг яг энэ байранд хүлээн авч байгаадаа бид онцгой баяртай байна.
Дараагийн хорь гаруй минутад би дөрвөн зүйлийг танилцуулна: энэ хамтын ажиллагаа хаанаас эхэлсэн, Энэтхэгийн дэмжлэгээр энд юу бүтээгдсэн, 2022 оноос хойш ямар үр дүнд хүрсэн, цаашид бид юу санал болгож байна.
— EN —
Good morning. On behalf of the National Defence University of Mongolia, welcome to the Cyber Security Department. This Department exists because of our partnership with India, so it is a particular pleasure to host the Ministry of Defence delegation during the 14th Joint Working Group. In the next twenty-three minutes I will show where the cooperation came from, what has been built here with India's support, what it has delivered since 2022, and what we propose for the next phase.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Слайд 2 · Угтах үг, товч агуулга — 1 мин
Юуны өмнө зочдоо дахин нэрлэн хүндэтгэе. Хамтарсан нарийн бичгийн дарга хатагтай Ишита Гангули Трипати; Захирал ноён Викаш Кумар; Захирал хурандаа Балжит Сингх; Батлан хамгаалахын атташе хурандаа Муппарти Санжеев. Хурандаа Санжеев өнгөрсөн жил манай тэнхимд зочилж, Энэтхэгийн сургалтын багтай хамтран хэрэгжүүлж буй үйл ажиллагаатай танилцсан тул энэ байр түүнд танил.
Илтгэл дөрвөн хэсэгтэй. Нэгдүгээрт, хамтын ажиллагааны суурь: долоон арван жилийн харилцаа, батлан хамгаалах салбарын хамтын ажиллагааны дөрвөн тулгуур. Хоёрдугаарт, төвийг хэрхэн байгуулсан: 2015 оны санамж бичгээс 2022 оны нээлт хүртэл, Энэтхэгийн хувь нэмэр, хүмүүс. Гуравдугаарт, 2022–2026 оны үр дүн: сургалт, хөтөлбөр, судалгаа, 2025 оны шинэчлэл. Дөрөвдүгээрт, цаашдын хамтын ажиллагаа: дараагийн үе шатны санал, 14 дэх зөвлөлдөх уулзалтад оруулах саналууд.
Илтгэлийн дараа асуултад хариулж, дараа нь лабораториудаар хамт явна.
— EN —
Let me first acknowledge our guests: Ms Ishita Ganguli Tripathy, Joint Secretary; Mr Vikash Kumar and Colonel Baljit Singh, Directors; and Colonel Mupparty Sanjeev, Defence Attaché, who already knows this Department from his visit last year. The briefing has four parts: the partnership context, how the Centre was established, what it has delivered since 2022, and our proposals for the next phase. We will then take questions and walk through the laboratories.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Слайд 3 · 01 — Хамтын ажиллагааны суурь
[Хэсгийн хуудас. Нэг өгүүлбэр.]
Эхний хэсэг: энэ төв ямар суурин дээр бий болсон бэ.
— EN —
Part one: the context in which this Centre was created.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Слайд 4 · Долоон арван жилийн найрамдал, арван жилийн стратегийн түншлэл — 1.5 мин
[Он дарааллын зүүнээс баруун тийш заана.]
1955 оны 12 дугаар сарын 24-нд Энэтхэг улс Зөвлөлтийн блокоос гадуурх улсуудаас анх удаа Монгол Улстай дипломат харилцаа тогтоосон. 1994 оны Найрсаг харилцаа, хамтын ажиллагааны гэрээ, 2001 оны Батлан хамгаалах салбарын хамтын ажиллагааны хэлэлцээр хоёр улсын харилцааны эрх зүйн суурийг тавьсан. Өнөөдөр жил бүр хуралддаг зөвлөлдөх уулзалт яг тэр 2001 оны хэлэлцээрээс үүсэлтэй.
2015 онд Ерөнхий сайд Нарендра Моди Монголд айлчилж, хоёр улс стратегийн түншлэл тогтоосон. Бидний хувьд хамгийн чухал нь: 2015 оны 5 дугаар сарын 17-нд хоёр улсын Засгийн газар Монгол Улсын Батлан хамгаалах яаманд Кибер аюулгүй байдлын сургалтын төв байгуулах тухай санамж бичигт гарын үсэг зурсан.
Тэр төвийг 2022 оны 9 дүгээр сарын 6-нд, Энэтхэгийн Батлан хамгаалахын сайдын Монголд хийсэн анхны айлчлалын үеэр хоёр улсын Батлан хамгаалахын сайд нар хамтран нээсэн. Өнгөрсөн жилийн 10 дугаар сард Монгол Улсын Ерөнхийлөгч У.Хүрэлсүх Энэтхэгт Төрийн айлчлал хийж, дипломат харилцааны 70 жилийн ойг тэмдэглэсэн бөгөөд Энэтхэгийн тал Улаанбаатар дахь Элчин сайдын яамандаа Батлан хамгаалахын алба байгуулахаар шийдвэрлэсэн.
[Доод хэсгийн өгүүлбэр рүү заана.] Товчхондоо, энэ төв 2015 онд тохирогдож, 2021–2022 онд баригдаж, 2023 оноос Энэтхэгийн сургалтын багуудтай ажиллаж байна. Батлан хамгаалах салбарын хамтын ажиллагааны хамгийн бодит, гар хүрч болох институц нь энэ юм.
— EN —
India was the first country outside the Soviet bloc to recognise Mongolia, in December 1955. The 1994 Treaty and the 2001 Agreement on Defence Cooperation gave the relationship its legal frame, and the Joint Working Group grew out of that agreement. The Strategic Partnership of 2015 opened the current chapter, and on 17 May 2015 the two governments signed the Memorandum to establish a Cyber Security Training Centre at our Ministry of Defence. That Centre was inaugurated on 6 September 2022 during the first-ever visit of an Indian Defence Minister. Last October, President Khurelsukh's state visit marked seventy years of relations and India decided to open a Defence Wing in Ulaanbaatar.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Слайд 5 · Батлан хамгаалах салбарын хамтын ажиллагааны дөрвөн тулгуур — 1 мин
Өнөөдөр хоёр улсын батлан хамгаалах салбарын хамтын ажиллагаа дөрвөн тулгуур дээр тогтож байна.
Нэгдүгээрт, бодлогын яриа хэлэлцээ. Хоёр яамны зөвлөлдөх уулзалт Нью-Дели, Улаанбаатар хотод ээлжлэн жил бүр хуралддаг: 11 дэх нь 2023 оны 2 сард Нью-Делид, 12 дахь нь 2024 оны 5 сард Улаанбаатарт, 13 дахь нь 2025 оны 2 сард Нью-Делид болсон. Өнөөдөр 14 дэх уулзалт.
Хоёрдугаарт, хамтарсан сургууль. "Nomadic Elephant" сургууль 2004 оноос хойш 18 удаа зохион байгуулагдсан бөгөөд сүүлийн хоёр удаагийн сургуульд кибер аюулгүй байдлын сургалт хөтөлбөрт нь орсон. Энэтхэгийн баг "Хаан Квест" сургуульд жил бүр оролцдог.
Гуравдугаарт, сургалт, чадавх бэхжүүлэх. ITEC хөтөлбөрөөр Монголд жил бүр 200 суудал олгодог бөгөөд өдийг хүртэл 3500 гаруй монгол мэргэжилтэн суралцсан. Манай офицерууд Энэтхэгийн цэргийн сургуулиудад суралцаж байна.
Дөрөвдүгээрт, байгууллагууд: энэ төв, шинээр байгуулагдаж буй Батлан хамгаалахын алба, Энэтхэг–Монголын найрамдлын сургууль. Кибер аюулгүй байдлын тэнхим дөрөв дэх тулгуурын гол хэсэг бөгөөд нөгөө гурван тулгуурыг тэжээж байдаг.
— EN —
Our defence cooperation rests on four pillars. Policy dialogue: the Joint Working Group meets every year, alternating between New Delhi and Ulaanbaatar; this is its fourteenth meeting. Exercises: Nomadic Elephant has run since 2004 and in its last two editions included cyber security training, and India sends a contingent to Khaan Quest every year. Training: two hundred ITEC slots a year and more than three and a half thousand Mongolians trained. Institutions: this Centre, the new Defence Wing and the Friendship School. The Cyber Security Department sits at the centre of the fourth pillar and feeds the other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Слайд 6 · Яагаад кибер — 1 мин
Яагаад яг кибер гэдэг асуултад тоогоор хариулъя. Олон улсын цахилгаан холбооны байгууллагын 2024 оны Кибер аюулгүй байдлын дэлхийн индексээр Монгол Улс 56.4 оноотой, 193 улсаас 103 дугаарт байна. 2020 оноос хойш 17 байраар ахисан ч Азийн дунджаас доогуур хэвээр. Үндэсний байгууллагуудын мэдээгээр Монголд долоо хоногт 90 мянга гаруй кибер халдлага илэрдэг. 2021 оны 12 дугаар сард батлагдсан Кибер аюулгүй байдлын тухай анхны хуулиар Зэвсэгт хүчин онц чухал дэд бүтцийг хамгаалахад дэмжлэг үзүүлэх үүрэгтэй болсон. Үүнийг хэрэгжүүлэхэд бэлтгэгдсэн хүн хэрэгтэй.
Хоёр талын хэлэлцээрт кибер асуудал байнгын сэдэв болсон: 2022 онд нээсэн энэ төвийг Энэтхэгийн Батлан хамгаалахын яам кибер чиглэлийн олон улсын хамтын ажиллагааны анхны, цорын ганц төсөл гэж тодорхойлсон; "Nomadic Elephant" сургуулийн сүүлийн хоёр удаад кибер аюулгүй байдлын модуль орсон; Зэвсэгт хүчний Кибер аюулгүй байдлын цэргийн командлал манай төвийн анхны суралцагчдыг илгээсэн гол түнш юм. Хоёр улсын зэвсэгт хүчин ижил аюул заналтай тулгарч байна: хулгайлагч вирус, тагнуул, дэд бүтэц рүү чиглэсэн халдлага, мөн ижил чадварын хомсдол.
— EN —
Why cyber? Mongolia scores 56 in the ITU Global Cybersecurity Index, 103rd of 193. We have climbed seventeen places since 2020, but we remain below the Asian average. National authorities detect more than ninety thousand attacks a week. The 2021 Law on Cyber Security gives the Armed Forces a supporting role in protecting critical infrastructure, and that requires trained people. On the bilateral side, cyber is now a standing item: this Centre, the cyber modules of the last two Nomadic Elephant exercises, and the Cyber Security Military Command, which sent the first cohorts here and is our principal partner.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Слайд 7 · 02 — Төвийг байгуулсан нь
[Хэсгийн хуудас.]
Хоёрдугаар хэсэг: төв хэрхэн бий болсон бэ.
— EN —
Part two: how the Centre came into being.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Слайд 8 · 2015 оны санамж бичгээс 2022 оны нээлт хүртэл — 1.5 мин
Тохиролцооноос нээлт хүртэл долоон жил зарцуулагдсан. [Зүүн талын он дарааллаар дээрээс доош.]
2015 оны 5 дугаар сарын 17-нд санамж бичигт гарын үсэг зурсан. 2021 онд ҮБХИС Цэргийн нэгдсэн сургуулийн байрны нэгдүгээр давхрыг засварлан бэлтгэж, Энэтхэгээс хоёр чингэлэг тоног төхөөрөмж ачигдан гарсан. 2022 оны 2 дугаар сард 93 нэр төрлийн тоног төхөөрөмж, программ, тавилга Улаанбаатарт ирсэн. 3–7 дугаар сард Си-Ди-Эй-Си буюу Энэтхэгийн Тооцоолол хөгжүүлэх төвийн инженер Сандип Кумар манай багтай хамтран лабораториудыг угсарч, ашиглалтад оруулсан; цахим сургалтын платформ 7 дугаар сарын 20-нд ажиллаж эхэлсэн.
2022 оны 9 дүгээр сарын 6-нд Батлан хамгаалахын сайд Г.Сайханбаяр, Энэтхэгийн Батлан хамгаалахын сайд Ражнат Сингх нар төвийг нээсэн. [Баруун талын зураг руу заана.] Энэ бол тэр өдрийн зураг: тууз хайчилж буй мөч, Энэтхэгийн Батлан хамгаалахын сайдад зориулсан хүндэт харуул.
2023 оны 1 дүгээр сард Батлан хамгаалах яам таван орон тоо баталж, төвийн дарга, гурван багшийг томилсон. 2023 оны 8 дугаар сард Энэтхэгийн анхны сургалтын баг ирсэн. 2025 оны 7 дугаар сард төв Цэргийн нэгдсэн сургуулийн бүрэн эрхт тэнхим болсон.
— EN —
The Centre took seven years from agreement to opening. The Memorandum was signed on 17 May 2015. In 2021 NDU renovated the first floor of the Military Institute building while two containers of equipment were dispatched from India. They were delivered in February 2022, and from March to July C-DAC's engineer Sandeep Kumar installed and commissioned the laboratories with our team; the e-learning platform went live on 20 July. On 6 September 2022 Defence Minister Saikhanbayar and Raksha Mantri Shri Rajnath Singh opened the Centre. In January 2023 the Ministry created five posts and appointed the head and three teachers; in August 2023 the first Indian training team arrived; and in July 2025 the Centre became a full department of the Military Institute.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Слайд 9 · Энэтхэгийн хувь нэмэр — 1.5 мин
Энэтхэгийн тал зүгээр нэг анги танхим биш, бүрэн тоноглогдсон, иж бүрэн төв хүлээлгэн өгсөн. Нийлүүлэлтийн нийт үнэ 1.3 тэрбум төгрөг орчим: 984 сая төгрөгийн тоног төхөөрөмж, тавилга, материал — хоёр чингэлэгт 93 нэр төрөл; 68.9 сая төгрөгийн кибер аюулгүй байдлын программ хангамж; 250.4 сая төгрөгийн Си-Ди-Эй-Си-ийн цахим сургалтын систем, таван курсийн агуулга.
[Баруун талын зургаан карт руу заана.] Эдгээр систем кибер аюулгүй байдлын бүх үйл явцыг хамардаг. Тооцоолол, сүлжээ: долоон Cisco сервер, NetApp өгөгдөл хадгалах систем, Cisco свитч, WatchGuard галт хана ба халдлага илрүүлэх систем, 37 ажлын станц. Тоон ул мөрийн шинжилгээ: Tableau хуулагч, бичилт хориглогч, Cellebrite, Oxygen, FTK програм, шинжилгээний ажлын станц. Хортой кодын шинжилгээ: IDA Pro, Hex-Rays декомпилятор, Sandboxie. Ослын хариу арга хэмжээ, аудит: Belkasoft, F-Response, Splunk, Nessus, Burp Suite, Acunetix, Netsparker. Цахим сургалт: Си-Ди-Эй-Си-ийн платформ дээрх таван курс — кибер аюулгүй байдлын суурь ойлголт, сүлжээний аюулгүй байдал, кибер гэмт хэргийн мөрдөн шалгалт, кибер болон гар утасны тоон ул мөрийн шинжилгээ. Мөн Си-Ди-Эй-Си-ийн өөрийн шинжилгээний багц хэрэгслүүд.
Монголын тал Цэргийн нэгдсэн сургуулийн нэгдүгээр давхрын байр, түүний засвар, төвийн бие бүрэлдэхүүн, өдөр тутмын үйл ажиллагааг хариуцсан.
— EN —
India delivered a complete, equipped centre, not just a classroom. The supplies were worth about 1.3 billion tugrik: 984 million in equipment, furniture and materials, 93 items in two containers; 69 million in cyber security software; and 250 million for C-DAC's e-learning system with five courses. The systems cover the full cyber security workflow: servers, storage and a WatchGuard firewall; Tableau, Cellebrite and Oxygen forensic kits; IDA Pro and Hex-Rays for malware analysis; Belkasoft, Splunk, Nessus, Burp Suite and Acunetix for incident response and audit; and C-DAC's own cyber forensic tool kits. Mongolia provided the premises, their renovation, the staff and the operation.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Слайд 10 · Сургалтын орчин — 1 мин
Илтгэлийн дараа та бүхэн энэ бүгдийг нүдээр үзнэ. [Зураг бүрийг богино заана.] Гурван лаборатори, нийт 37 ажлын станц: Тоон ул мөрийн шинжилгээний лаборатори 12 компьютертэй, Хортой кодын шинжилгээний лаборатори 14, Халдлага илрүүлэх ба аудитын лаборатори 11 компьютертэй, тус бүр ухаалаг самбар, принтертэй. 34 суудалтай лекцийн танхим; номын сан; найман багшийн ажлын өрөө; сервер, өгөгдөл хадгалах систем, галт хана, цахим сургалтын платформыг байрлуулсан хоёр рактай дата төв; тэнхимийн даргын өрөө.
— EN —
This is what the delegation will see on the tour: three laboratories with 37 workstations in total – digital forensics with twelve, malware analysis with fourteen, incident response and audit with eleven – each with smart boards and printers; a 34-seat lecture hall; a library; a staff room for eight instructors; a data centre with two racks hosting the servers, storage, firewall and the e-learning platform; and the head's office.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Слайд 11 · Сургалтын төвөөс их сургуулийн тэнхим болсон нь — 1 мин
Төв 2023 оны 1 дүгээр сард таван орон тоотой эхэлсэн: төвийн дарга — миний бие, гурван багш. 2025 оны 7 дугаар сард Цэргийн нэгдсэн сургуулийн Кибер аюулгүй байдлын тэнхим болон өргөжиж, одоо ҮБХИС-ийн Кибер аюулгүй байдал, Сүлжээний инженер, Программ хангамжийн гурван бакалаврын хөтөлбөрийг хэрэгжүүлж байна.
[Зүүн талын жагсаалт руу заана.] Багшлах бүрэлдэхүүн долоон хүн болтлоо өссөн. Ахлах багш дэслэгч Ч.Энхбаатар Энэтхэгт кибер аюулгүй байдлын мэргэжлийн сургалтад хамрагдсан. Энэ жил нэг багш докторын, хоёр багш магистрын зэрэг хамгаалсан. [Баруун доод тоонууд.] 2026 оны эхний хагаст тэнхим бакалаврын 162 кредитийн сургалт явуулж, 13 мэргэших хичээлийн хөтөлбөрийг улсын стандартад нийцүүлэн шинэчилсэн. 5 дугаар сарын 27-нд Кибер аюулгүй байдлын мэргэжлийн анхны энгийн ангийн төгсөлтийн улсын шалгалтыг амжилттай зохион байгуулсан.
— EN —
The Centre began in January 2023 with five posts: Captain Bilegt as head and three teachers. In July 2025 it was restructured into the Cyber Security Department of the Military Institute, which now runs NDU's bachelor programmes in cyber security, network engineering and software engineering. The faculty has grown to seven; two defended master's degrees and one a doctorate this year, and Lieutenant Enkhbaatar trained in India. In 2026 the Department delivered 162 credits of bachelor teaching, rewrote thirteen course units to the national standard, and graduated its first civilian cyber security cohort in May.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Слайд 12 · Энэтхэгийн инженер, сургалтын багууд — 1.5 мин
Энэтхэгийн мэргэжилтнүүд 2022 оны 3 дугаар сараас хойш энд тасралтгүй ажиллаж байна. [Хүснэгтээр дээрээс доош.] Си-Ди-Эй-Си-ийн инженер Сандип Кумар, суурин инженер Викаш Шарма, Таранжит Сингх нар 13 сарын турш угсралт, ашиглалтыг хариуцаж, 2022 оны 9 дүгээр сард манай багш нарыг сургаж, 2023 оны 4 дүгээр сард лабораторийн хэрэгслийн сургалтыг явуулсан.
2023 оны 8 дугаар сараас Энэтхэгийн Агаарын хүчин, Тэнгисийн цэргийн хүчин, Хуурай замын цэргийн хоёр хоёр багш бүхий есөн сургалтын баг дөрвөн сар тутам ээлжлэн ирж, хоёр талын баталсан 2024–2026 оны сургалтын төлөвлөгөөний дагуу баг бүр нэг, хоёр мэргэшүүлэх курс заасан. Эхний баг — доктор М.К.Шарма, Винод Кумар Шарма нар — багш бэлтгэх хөтөлбөр, сүлжээний аюулгүй байдал, хортой кодын шинжилгээг; дараагийн багууд кибер аюулгүй байдлын үндсэн курс, ёс зүйт халдлага, SOC шинжээч, тоон ул мөр, сүлжээний администратор, криптограф, нэвтрэлтийн тест, аудит, суурь курсийг заасан. Долоо дахь баг — дэслэгч хурандаатай дүйх Wing Commander Кишор Ядав тэргүүтэй — арван долоо хоногийн суурь сургалтыг явуулсан. Найм, ес дэх баг 2026 онд хамгаалалтын буюу Blue Team болон ахисан түвшний блокийг хэрэгжүүлсэн.
Энэ ээлжлэх тогтолцоо манай хөтөлбөрийг Энэтхэгийн зэвсэгт хүчний практиктай уялдуулаад зогсохгүй хоёр улсын цэргийн хооронд хувь хүний холбоо, итгэлцлийг бий болгосон.
— EN —
Indian expertise has been on site continuously since March 2022. C-DAC's engineers stayed for thirteen months, trained our teachers in September 2022 and ran the laboratory tools course in April 2023. Since August 2023 nine mobile training teams of two instructors, drawn from the Indian Air Force, Navy and Army, have rotated every four months under the plan the two sides approved for 2024–2026, each delivering one or two specialised courses. [Walk through the table.] Beyond the classroom, the rotation keeps our curriculum aligned with Indian service practice and has built personal links between the two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Слайд 13 · 03 — 2022–2026 оны үр дүн
[Хэсгийн хуудас.]
Гуравдугаар хэсэг: үр дүн.
— EN —
Part three: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Слайд 14 · 300 гаруй мэргэжилтэн — 1.5 мин
[График руу заана.] Энэ графикт 2022 оны 9 сарын багш нарын сургалтаас 2025 оны 6 сарын аудитын курс хүртэлх ээлж бүр харагдаж байна: 13 ээлж, 211 суралцагч. Хамгийн олон хүнтэй нь кибер аюулгүй байдлын үндсэн курс — 24, сүлжээний администратор — 22, нэвтрэлтийн тест — 21 хүн. Үүний дараа долоо, найм, ес дэх баг 2026 оны 7 дугаар сар хүртэл суурь, хамгаалалтын, ахисан түвшний циклийг явуулсан.
Нийтдээ — ҮБХИС энэ сарын эхээр Батлан хамгаалах яаманд тайлагнаснаар — 2022–2026 онд Энэтхэгийн сургалтын багтай хамтран төрийн цэргийн болон хууль сахиулах байгууллагын 300 гаруй мэргэжилтнийг олон улсын жишигт нийцсэн сургалтад хамруулсан. Зөвхөн 2026 оны эхний хагаст тэнхим Энэтхэгийн багтай хамтран 20 кредитийн мэргэшүүлэх сургалт явуулсан.
— EN —
The chart shows every course cohort from the first teacher training in September 2022 to the audit course in June 2025: thirteen cohorts, 211 trainees, with the largest intakes in the basic course, network administration and penetration testing. The seventh, eighth and ninth teams then ran the foundation, blue-team and advanced cycles through July 2026. In total, as NDU reported to the Ministry this month, more than three hundred specialists of the military and law-enforcement agencies have been trained with the Indian teams, and in the first half of 2026 alone the Department delivered twenty credits of specialised training with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Слайд 15 · Хамтран баталсан хөтөлбөр: есөн үе шат — 1 мин
Бид тохиолдлын курс биш, есөн үе шаттай нэгдсэн хөтөлбөрийг хоёр талаас тохиролцон хэрэгжүүлсэн. 2023 онд багш бэлтгэх сургалтаас эхлээд үндсэн курс, ёс зүйт халдлага, хортой код ба тоон ул мөр, сүлжээний администратор ба криптограф, нэвтрэлтийн тест ба аудит гэж ахиж, 2025–2026 оны мэргэжлийн циклээр үргэлжилсэн: арван долоо хоногийн суурь, хамгаалалтын Blue Team блок, эцэст нь CERT-ийн үйл ажиллагаа, цэргийн кибер ажиллагаагаар төгсдөг ахисан түвшний блок. Үе шат бүр нэг сургалтын багт ногдоно. Бүх курсийн хөтөлбөрийг англи, монгол хэлээр боловсруулсан тул тэнхим Энэтхэгийн баггүйгээр ч эдгээр сургалтыг давтан явуулах чадвартай болсон.
— EN —
Rather than ad-hoc courses, the two sides agreed a nine-phase curriculum running from instructor training in 2023 through basic, ethical hacking, malware and forensics, network administration and cryptography, penetration testing and audit, to the 2025–26 professional cycle: a ten-week foundation, a defensive blue-team block and an advanced block ending with CERT operations and military cyber security operations. Each phase matches one training team. All course programmes were written in English and Mongolian, so the Department can repeat them without the Indian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Слайд 16 · Хэнийг сургадаг вэ — 1 мин
Төв зөвхөн Зэвсэгт хүчинд биш, салбарт бүхэлд нь үйлчилдэг. Кибер аюулгүй байдлын цэргийн командлал 2023 оны 4 дүгээр сард анхны ээлжийг илгээсэн, одоо ч гол түнш хэвээр. Зэвсэгт хүчний нэгтгэл, анги, Жанжин штаб мэдлэг олгох сургалтад хамрагддаг. ҮБХИС-ийн багш, сонсогчдыг хамгийн түрүүнд сургасан нь сургалтыг давтан явуулах боломж бүрдүүлсэн. Тагнуулын ерөнхий газар, Төрийн тусгай хамгаалалтын газар, Нийслэлийн онцгой байдлын газар сургалтын гэрээгээр мэргэжилтнээ илгээдэг. 2025 онд тэнхим Үндэсний аюулгүй байдлын зөвлөлийн кибер чадавх бэхжүүлэх хөтөлбөрийн гүйцэтгэгчээр шалгарсан.
[Баруун талын тоонууд.] Байгууллага, хувь хүнтэй найман сургалтын гэрээ байгуулсан, 2025 оны мэргэжил сурталчлах хөтөлбөрөөр 22 сурагчид батламж олгосон, гурван бакалаврын хөтөлбөр хэрэгжүүлж, анхны энгийн ангиа энэ 5 дугаар сард төгсгөсөн.
— EN —
The Centre serves the whole sector, not only the Armed Forces. The Cyber Security Military Command sent the very first cohort in April 2023 and remains our principal partner. Units and the General Staff receive awareness training; NDU's own faculty and cadets were trained first so that the courses could be repeated; the General Intelligence Agency, the State Special Protection Agency and the Capital Emergency Department send specialists under training contracts; and in 2025 the Department was selected to execute the National Security Council's cyber capacity programme. The Department also runs three bachelor programmes and graduated its first civilian cohort in May.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Слайд 17 · Судалгаа, сурах бичиг, инновац — 1 мин
Энэтхэгийн хөтөлбөр манай өөрийн судалгаа, сургалтын материалын үр болсон. [Зүүн талын номнуудыг заана.] 2025 онд багш нар сүлжээний аюулгүй байдлаас мэдээллийн системийн аудит хүртэл ISBN дугаартай найман англи хэлний сурах бичиг эмхэтгэн, тус бүр 20 хувийг ҮБХИС-ийн номын санд байршуулсан. Багш нар өөрсдөө "БЭХИ" сургалтын системийг хөгжүүлсэн нь ҮБХИС-ийн 2025 оны Эрдмийн их чуулганд шилдэг инновацын бүтээлээр шалгарч, Батлан хамгаалахын сайдын нэрэмжит шинжлэх ухаан, технологийн шилдэг бүтээлийн уралдаанд дэд байр эзэлсэн. Мөн найман эрдэм шинжилгээний өгүүлэл нийтлүүлсэн. 2026 оны 2 дугаар сард тэнхим таван их сургууль, академийг оролцуулсан салбарын эрдэм шинжилгээний хурлыг "DefendX-2026" ур чадварын тэмцээний хамт зохион байгуулсан бөгөөд манай сонсогч Улсын компьютерийн сүлжээний олимпиадад тэргүүн байр эзэлсэн.
— EN —
The Indian curriculum has become the seed of our own research and teaching material. In 2025 the faculty compiled eight English-language textbooks with ISBNs, from network security to information systems audit, now in the NDU library. They built the BEKHI learning system, which won the best-innovation award at the 2025 NDU Academic Conference and second place in the Defence Minister's science and technology award, and published eight articles. In February 2026 the Department hosted the sector conference with five universities and academies alongside the DefendX-2026 competition, and our cadet won the national computer network olympiad.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Слайд 18 · Багшийн хөгжил, түншлэлийн сүлжээ — 1 мин
Энэтхэгийн хөрөнгө оруулалт манай хүмүүсийн өсөлтөөр үржиж байна. Дэслэгч Энхбаатар Энэтхэгт суралцсан; энэ жил багш нар нэг доктор, хоёр магистрын зэрэг хамгаалж, Герман, Япон, Америкийн Нэгдсэн Улсад сургалтад хамрагдсан; миний бие "Pacific Endeavor" сургууль, кибер халдлагад хариу үзүүлэх "ITACTIC" команд штабын сургуульд оролцсон.
Төв мөн өргөн түншлэлийн сүлжээний тулгуур болж байна: Кибер аюулгүй байдлын цэргийн командлал, АНУ-ын Энэтхэг–Номхон далайн командлалын мэргэжилтнүүдтэй хамтарсан сургалт; Үндэсний аюулгүй байдлын зөвлөлийн чадавхын хөтөлбөр; үндэсний CERT, гурван их сургууль; манай сонсогчдыг дадлагад авдаг аж ахуйн нэгжүүд.
— EN —
The Indian investment is multiplied by the growth of our own people. Lieutenant Enkhbaatar trained in India; this year the faculty defended one doctorate and two master's degrees and attended courses in Germany, Japan and the United States; and the head took part in Pacific Endeavor and the ITACTIC incident-response exercise. The Centre also anchors a wider network: joint training with the Cyber Security Military Command and US Indo-Pacific Command specialists, the National Security Council's capacity programme, the national CERT, three universities, and industry partners who host our cadets for internships.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Слайд 19 · Энэтхэгийн үргэлжилсэн дэмжлэг: 2025 оны шинэчлэл — 1 мин
Энэтхэгийн дэмжлэг нээлтээр дууссангүй. Энэтхэгийн Батлан хамгаалахын кибер агентлагийн 2025 оны 6 дугаар сарын 10-ны нийлүүлэлтийн захиалгаар Си-Ди-Эй-Си бүх 37 ажлын станцад шинэ санах ой, видео карт, нэг терабайтын диск суурилуулж, 2025 оны 11 дүгээр сарын 6-нд ашиглалтад хүлээлгэн өгсөн. 9–11 дүгээр сард 15 мэргэжлийн программын лицензийг сунгаж, шинээр авсан: FTK, Cellebrite, Oxygen, Belkasoft зэрэг шинжилгээний багц, IDA Pro, Nessus, Burp Suite, Acunetix, Invicti, VMware болон Red Hat платформ, галт ханын захиалга. Тэнхим гаалийн бүрдүүлэлтийг Батлан хамгаалах яамтай хамтран зохион байгуулж, Си-Ди-Эй-Си-ийн инженертэй хамт суурилуулсан.
— EN —
India's support did not stop at the inauguration. Under a supply order of 10 June 2025 from the Defence Cyber Agency, executed by C-DAC, all 37 workstations received new memory, graphics cards and one-terabyte disks, commissioned on 6 November 2025, and fifteen professional licences were renewed or newly issued between September and November: the forensic suites FTK, Cellebrite, Oxygen and Belkasoft, IDA Pro, Nessus, Burp Suite, Acunetix and Invicti, the VMware and Red Hat platforms and the firewall subscription. The Department organised customs clearance with the Ministry and installed the items with the C-DAC engineer.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Слайд 20 · 2022–2026 оны гол үйл явдлууд — 1 мин
Нэг он дараалал дээр тавьж үзвэл хамтын ажиллагаа тогтвортой хэмнэлтэй: Энэтхэгийн талаас нэг алхам, манай талаас нэг алхам, жил бүр зөвлөлдөх уулзалтаар дүгнэдэг. 2024 онд Энэтхэгийн Элчин сайд төвд зочилж, шинэчлэлийн хэрэгцээтэй танилцсан нь 2025 оны шинэчлэлд хүргэсэн. 2025 оны 10 дугаар сарын Төрийн айлчлал, шинээр томилогдсон Батлан хамгаалахын атташе — өнгөрсөн 11 дүгээр сард манай тэнхимд зочилсон — хамтын ажиллагаанд Улаанбаатарт байнгын суваг бий болгосон. Төслийн хэрэгжилтийн хугацаа 2026 оны 7 дугаар сард албан ёсоор дууссан ч Засгийн газар хоорондын санамж бичгийн хүрээнд багш илгээх асуудлыг 2029 он хүртэл үргэлжлүүлэхээр болсон. Энэ нь биднийг саналын хэсэгт хүргэж байна.
— EN —
Put on one timeline, the cooperation shows a steady rhythm: an institutional step on the Indian side, a step on ours, and a Joint Working Group each year to review it. The Ambassador's visit in 2024 led to the 2025 upgrade; the President's visit in October 2025 and the new Defence Attaché, who visited the Department last November, have given the partnership a permanent channel in Ulaanbaatar. The project phase formally ended in July 2026, but under the intergovernmental Memorandum instructor deployment has already been extended to 2029 – which brings us to the proposals.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Слайд 21 · Сургамж, сорилт — 1.5 мин
Сургамжууд бидний саналыг тодорхойлсон тул илэн далангүй хэлье. [Зүүн карт.] Юу үр дүнтэй байсан бэ: Энэтхэгийн технологи, хөтөлбөр, багш, Монголын байр, боловсон хүчин, удирдлага гэсэн хуваарилалттай хамтын загвар; эхний жил суурин инженерүүд ажилласан тул нээлтээс хэдхэн долоо хоногийн дараа сургалт эхэлсэн; дөрвөн сарын ээлжтэй гурван жилийн төлөвлөгөө; Батлан хамгаалахын сайд, ҮБХИС-ийн захирлын тушаалаар явагддаг хоёр хэлний хөтөлбөрүүд; салбар даяар элсүүлсэн суралцагчид; 2025 оны шинэчлэл.
[Баруун карт.] Сорилтууд: 2023 оны дүгнэлтээр багш нарын ачаалал 100 хувь байхад анги танхимын ашиглалт 50 хувь байсан — илүү олон багш хэрэгтэй байсныг 2025 оны бүтцийн өөрчлөлт хэсэгчлэн шийдсэн; манай гэрчилгээ үндэсний хэмжээнд мэргэжлийн хүлээн зөвшөөрөлт аваагүй байна; нийслэлээс гадуурх нэгжүүдэд зориулсан кибер полигон, онлайн сургалтын платформ байхгүй — үүнийг 2024 оноос хойш хүсэлт болгож ирсэн; төсвийн хязгаарлалтаас болж нэг хурал, нэг лаборатори хойшилсон; ээлж бүрт залгамж халаа шаардлагатай; төслийн үе шат 2026 оны 7 сард хаагдсан тул багш илгээхээс цаашилсан хоёрдугаар үе шатны хүрээ хэрэгтэй.
— EN —
Let me be candid, because the lessons shape our proposals. What worked: the shared delivery model, resident engineers in the first year, a three-year plan with four-month rotations, bilingual course programmes, sector-wide recruitment, and India's 2025 renewal. The challenges: our 2023 review found the faculty fully loaded while classrooms were half used – more instructors were needed, which the 2025 restructuring partly addressed; our certificates still lack national professional recognition; we have no cyber range or online platform for units outside the capital, which we have asked for since 2024; budget limits postponed a conference and a laboratory; each rotation needs a handover; and with the project phase closed in July 2026 we need a Phase II framework.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Слайд 22 · 04 — Цаашдын хамтын ажиллагаа
[Хэсгийн хуудас.]
Дөрөвдүгээр хэсэг: бидний санал.
— EN —
Part four: our proposals.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Слайд 23 · ҮБХИС-ийн санал болгосон дөрвөн чиглэл — 1.5 мин
2026 оны 10 дугаар сарын 9-нд ҮБХИС дараагийн үе шатны дөрвөн чиглэлийг Батлан хамгаалах яаманд хүргүүлсэн бөгөөд яам үүнийг энэ зөвлөлдөх уулзалтын ярианы сэдэвт оруулсанд талархаж байна.
Нэг — хамтарсан сургалт: кибер аюулгүй байдлын чиглэлээр хамтарсан бакалавр, магистр, докторын хөтөлбөр; багш, сонсогч, судлаачийн солилцоо; Энэтхэгийн их сургуулиудтай хос диплом олгох хөтөлбөр.
Хоёр — лаборатори, судалгаа: кибер полигон болон Аюулгүй байдлын ажиллагааны төвийн лаборатори; IoT, хиймэл оюун, их өгөгдөл, квант криптографын хамтарсан судалгааны төв; нисгэгчгүй болон алсын удирдлагатай системийн кибер аюулгүй байдлын лаборатори.
Гурав — багшийн чадавх: манай багш, судлаачдыг Энэтхэгийн батлан хамгаалахын их сургууль, судалгааны байгууллагад сургах; кибер аюулгүй байдлын багш бэлтгэх хамтарсан хөтөлбөр.
Дөрөв — олон улсын хамтын ажиллагаа: ITU Cyberdrill, FIRST, APCERT-ийн сургуулиудад хамтран оролцох; хоёр жил тутмын Монгол–Энэтхэгийн кибер аюулгүй байдлын форум; хамтарсан хурал, семинар, сургалт, дадлага сургууль тогтмол зохион байгуулах.
[Доод өгүүлбэр.] Багш илгээх асуудал санамж бичгийн хүрээнд 2029 он хүртэл аль хэдийн сунгагдсан; эдгээр чиглэл тэр суурин дээр дараагийн давхаргыг барина.
— EN —
On 9 October NDU sent the Ministry of Defence four directions for the next phase, and we are grateful that the Ministry proposed them for this Joint Working Group. First, joint education: joint bachelor, master's and doctoral programmes, exchanges, and double degrees. Second, laboratories and research: a cyber range and SOC laboratory, a joint research centre on IoT, AI, big data and quantum cryptography, and a laboratory for the cyber security of unmanned and remotely operated systems. Third, faculty capacity: training our faculty at Indian defence universities and a joint programme for cyber security instructors. Fourth, international cooperation: joint participation in ITU Cyberdrill, FIRST and APCERT exercises, a biennial Mongolia–India Cyber Security Forum, and regular joint events.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Слайд 24 · 2026–2030 оны замын зураг — 1 мин
Хугацааны хуваарь дээр тавьж үзвэл багц ингэж харагдана. Тохиролцсоны дагуу багшийн ээлж 2029 он хүртэл үргэлжилнэ. 2027 оны техникийн үнэлгээний үндсэн дээр кибер полигон, SOC лаборатори 2028 онд ашиглалтад орно. Хамтарсан болон хос дипломын хөтөлбөрийг 2027 онд боловсруулж магадлан итгэмжлүүлээд 2028 оноос анхны элсэлтийг авна. 2027 оноос жил бүр хоёр багш Энэтхэгт суралцана. Хамтарсан судалгааны төв 2028 оноос. Монгол–Энэтхэгийн кибер аюулгүй байдлын анхны форумыг 2027 онд, хоёр дахийг 2029 онд зохион байгуулж, 2027 оноос ITU, FIRST, APCERT-ийн сургуулиудад хамтран оролцоно. 2029 онд санамж бичгийн багш илгээх хугацааг дахин хэлэлцэнэ.
— EN —
Put on a timeline, the package looks like this. Instructor rotations continue to 2029 as already agreed. A technical assessment in 2027 leads to a cyber range and SOC laboratory operational in 2028. Joint and double-degree programmes are designed and accredited in 2027 so that the first intakes start in 2028. Two faculty members a year train in India from 2027. The joint research centre follows in 2028. The first Mongolia–India Cyber Security Forum is held in 2027 and the second in 2029, and from 2027 we take part together in the ITU, FIRST and APCERT exercises. In 2029 the Memorandum's instructor term comes up for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Слайд 25 · 14 дэх зөвлөлдөх уулзалтад оруулах санал — 1.5 мин
Замын зургийг шийдвэр болгохын тулд бид 14 дэх зөвлөлдөх уулзалтад таван тодорхой санал оруулж байна. Энэтхэгийн талыг дараах асуудлыг авч үзэхийг хүсье.
Нэг: Кибер аюулгүй байдлын сургалтын төвийн төслийг өргөжүүлэх — хоёрдугаар үе шат — асуудлыг уулзалтын хэлэлцэх асуудал, протоколд тусгах.
Хоёр: багш илгээхийг 2029 он хүртэл баталгаажуулж, 2024–2026 оны төлөвлөгөөний жишгээр монгол багш бэлтгэх чиглэл бүхий 2027–2029 оны хамтарсан сургалтын төлөвлөгөөг батлах.
Гурав: кибер полигон, SOC лаборатори бүхий хоёрдугаар үе шатны лабораторийн төслийг тохиролцож, 2027 онд Си-Ди-Эй-Си болон Батлан хамгаалахын кибер агентлагийн техникийн үнэлгээ хийлгэх.
Дөрөв: 2027 оноос манай багш нарт Энэтхэгийн батлан хамгаалахын их сургууль, судалгааны байгууллагад суудал гаргаж, хамтарсан болон хос дипломын хөтөлбөрийн боловсруулалтыг эхлүүлэх.
Тав: 2027 онд Монгол–Энэтхэгийн кибер аюулгүй байдлын анхны форумыг зохион байгуулж, олон улсын сургуулиудад хамтран оролцох.
Эдгээр саналын зардал харьцангуй бага бөгөөд яг энэ байранд аль хэдийн бий болсон зүйл дээр шууд суурилна.
— EN —
To turn the roadmap into decisions, we put five proposals to the fourteenth Joint Working Group. One: record the expansion of the Centre project, Phase II, in the agenda and minutes. Two: confirm instructor deployment to 2029 and approve a 2027–2029 joint training plan with a train-the-trainer track. Three: agree a Phase II laboratory project – cyber range and SOC – with a technical assessment in 2027. Four: open seats for our faculty at Indian defence universities from 2027 and start designing joint and double-degree programmes. Five: hold the first Mongolia–India Cyber Security Forum in 2027 and take part together in the international exercises. Each builds directly on what already exists in this 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Слайд 26 · Баярлалаа — 0.5 мин
Анхаарал тавьсанд баярлалаа. Энэ тэнхим Монгол–Энэтхэгийн батлан хамгаалах салбарын хамтын ажиллагааны хамгийн бодит үр дүн юм: Энэтхэгтэй хамт бүтээсэн, Монгол удирдан ажиллуулдаг, аюулгүй байдлын салбарт бүхэлд нь үйлчилдэг. Монголын кибер аюулгүй байдлын мэргэжилтнүүдийг бэлтгэхэд үнэтэй хувь нэмэр оруулсан Бүгд Найрамдах Энэтхэг Улсад, мэдлэг, ур чадвараа хуваалцсан сургалтын багийн бүх офицер, удирдлагад тэнхимийн хамт олны өмнөөс гүн талархал илэрхийлье.
Та бүхний асуултад хариулахад бэлэн байна. Дараа нь лабораториудаар хамт явахыг урьж байна.
— EN —
Thank you. This Department is the most tangible product of India–Mongolia defence cooperation: built with India, run by Mongolia, and serving the whole security sector. We welcome your questions, and then invite you to see the laboratories.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12294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920240"/>
            <a:ext cx="8595360" cy="1737360"/>
          </a:xfrm>
          <a:prstGeom prst="rect">
            <a:avLst/>
          </a:prstGeom>
          <a:noFill/>
          <a:ln/>
        </p:spPr>
        <p:txBody>
          <a:bodyPr wrap="square" rtlCol="0"/>
          <a:lstStyle>
            <a:lvl1pPr indent="0" marL="0">
              <a:buNone/>
              <a:defRPr lang="en-US" sz="4000" b="1" dirty="0">
                <a:solidFill>
                  <a:schemeClr val="bg1"/>
                </a:solidFill>
              </a:defRPr>
            </a:lvl1pPr>
          </a:lstStyle>
          <a:p>
            <a:pPr indent="0" marL="0">
              <a:buNone/>
            </a:pPr>
            <a:endParaRPr lang="en-US" sz="4000" dirty="0"/>
          </a:p>
        </p:txBody>
      </p:sp>
      <p:sp>
        <p:nvSpPr>
          <p:cNvPr id="3" name="Text 0"/>
          <p:cNvSpPr/>
          <p:nvPr>
            <p:ph idx="101" type="body" hasCustomPrompt="1"/>
          </p:nvPr>
        </p:nvSpPr>
        <p:spPr>
          <a:xfrm>
            <a:off x="731520" y="3794760"/>
            <a:ext cx="8595360" cy="1554480"/>
          </a:xfrm>
          <a:prstGeom prst="rect">
            <a:avLst/>
          </a:prstGeom>
          <a:noFill/>
          <a:ln/>
        </p:spPr>
        <p:txBody>
          <a:bodyPr wrap="square" rtlCol="0"/>
          <a:lstStyle>
            <a:lvl1pPr indent="0" marL="0">
              <a:buNone/>
              <a:defRPr lang="en-US" sz="1600" dirty="0">
                <a:solidFill>
                  <a:schemeClr val="accent6"/>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2294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743200"/>
            <a:ext cx="10698480" cy="1097280"/>
          </a:xfrm>
          <a:prstGeom prst="rect">
            <a:avLst/>
          </a:prstGeom>
          <a:noFill/>
          <a:ln/>
        </p:spPr>
        <p:txBody>
          <a:bodyPr wrap="square" rtlCol="0"/>
          <a:lstStyle>
            <a:lvl1pPr indent="0" marL="0">
              <a:buNone/>
              <a:defRPr lang="en-US" sz="4000" b="1" dirty="0">
                <a:solidFill>
                  <a:schemeClr val="bg1"/>
                </a:solidFill>
              </a:defRPr>
            </a:lvl1pPr>
          </a:lstStyle>
          <a:p>
            <a:pPr indent="0" marL="0">
              <a:buNone/>
            </a:pPr>
            <a:endParaRPr lang="en-US" sz="4000" dirty="0"/>
          </a:p>
        </p:txBody>
      </p:sp>
      <p:sp>
        <p:nvSpPr>
          <p:cNvPr id="3" name="Text 0"/>
          <p:cNvSpPr/>
          <p:nvPr>
            <p:ph idx="101" type="body" hasCustomPrompt="1"/>
          </p:nvPr>
        </p:nvSpPr>
        <p:spPr>
          <a:xfrm>
            <a:off x="731520" y="3886200"/>
            <a:ext cx="10698480" cy="731520"/>
          </a:xfrm>
          <a:prstGeom prst="rect">
            <a:avLst/>
          </a:prstGeom>
          <a:noFill/>
          <a:ln/>
        </p:spPr>
        <p:txBody>
          <a:bodyPr wrap="square" rtlCol="0"/>
          <a:lstStyle>
            <a:lvl1pPr indent="0" marL="0">
              <a:buNone/>
              <a:defRPr lang="en-US" sz="1800" dirty="0">
                <a:solidFill>
                  <a:schemeClr val="accent6"/>
                </a:solidFill>
              </a:defRPr>
            </a:lvl1pPr>
          </a:lstStyle>
          <a:p>
            <a:pPr indent="0" marL="0">
              <a:buNone/>
            </a:pPr>
            <a:endParaRPr lang="en-US" sz="18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rtlCol="0"/>
          <a:lstStyle>
            <a:lvl1pPr indent="0" marL="0">
              <a:buNone/>
              <a:defRPr lang="en-US" sz="3000" b="1" dirty="0">
                <a:solidFill>
                  <a:schemeClr val="tx1"/>
                </a:solidFill>
              </a:defRPr>
            </a:lvl1pPr>
          </a:lstStyle>
          <a:p>
            <a:pPr indent="0" marL="0">
              <a:buNone/>
            </a:pPr>
            <a:endParaRPr lang="en-US" sz="3000" dirty="0"/>
          </a:p>
        </p:txBody>
      </p:sp>
      <p:sp>
        <p:nvSpPr>
          <p:cNvPr id="3"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900" dirty="0">
                <a:solidFill>
                  <a:schemeClr val="tx2"/>
                </a:solidFill>
              </a:rPr>
              <a:t>Cyber Security Department · National Defence University of Mongolia · 14th India–Mongolia JWG, 2026</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474"/>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LOSING">
    <p:bg>
      <p:bgPr>
        <a:solidFill>
          <a:srgbClr val="12294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6583680" cy="1188720"/>
          </a:xfrm>
          <a:prstGeom prst="rect">
            <a:avLst/>
          </a:prstGeom>
          <a:noFill/>
          <a:ln/>
        </p:spPr>
        <p:txBody>
          <a:bodyPr wrap="square" rtlCol="0"/>
          <a:lstStyle>
            <a:lvl1pPr indent="0" marL="0">
              <a:buNone/>
              <a:defRPr lang="en-US" sz="4400" b="1" dirty="0">
                <a:solidFill>
                  <a:schemeClr val="bg1"/>
                </a:solidFill>
              </a:defRPr>
            </a:lvl1pPr>
          </a:lstStyle>
          <a:p>
            <a:pPr indent="0" marL="0">
              <a:buNone/>
            </a:pPr>
            <a:endParaRPr lang="en-US" sz="4400" dirty="0"/>
          </a:p>
        </p:txBody>
      </p:sp>
      <p:sp>
        <p:nvSpPr>
          <p:cNvPr id="3" name="Text 0"/>
          <p:cNvSpPr/>
          <p:nvPr>
            <p:ph idx="101" type="body" hasCustomPrompt="1"/>
          </p:nvPr>
        </p:nvSpPr>
        <p:spPr>
          <a:xfrm>
            <a:off x="731520" y="3108960"/>
            <a:ext cx="6583680" cy="2194560"/>
          </a:xfrm>
          <a:prstGeom prst="rect">
            <a:avLst/>
          </a:prstGeom>
          <a:noFill/>
          <a:ln/>
        </p:spPr>
        <p:txBody>
          <a:bodyPr wrap="square" rtlCol="0"/>
          <a:lstStyle>
            <a:lvl1pPr indent="0" marL="0">
              <a:buNone/>
              <a:defRPr lang="en-US" sz="1500" dirty="0">
                <a:solidFill>
                  <a:schemeClr val="accent6"/>
                </a:solidFill>
              </a:defRPr>
            </a:lvl1pPr>
          </a:lstStyle>
          <a:p>
            <a:pPr indent="0" marL="0">
              <a:buNone/>
            </a:pPr>
            <a:endParaRPr lang="en-US" sz="15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47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4.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4.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4.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slideLayout" Target="../slideLayouts/slideLayout4.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4.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jpg"/><Relationship Id="rId5" Type="http://schemas.openxmlformats.org/officeDocument/2006/relationships/image" Target="../media/image-10-5.jpg"/><Relationship Id="rId6" Type="http://schemas.openxmlformats.org/officeDocument/2006/relationships/image" Target="../media/image-10-6.jpg"/><Relationship Id="rId7" Type="http://schemas.openxmlformats.org/officeDocument/2006/relationships/image" Target="../media/image-10-7.jpg"/><Relationship Id="rId8" Type="http://schemas.openxmlformats.org/officeDocument/2006/relationships/image" Target="../media/image-10-8.jpg"/><Relationship Id="rId9" Type="http://schemas.openxmlformats.org/officeDocument/2006/relationships/slideLayout" Target="../slideLayouts/slideLayout4.xml"/><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jpg"/><Relationship Id="rId9" Type="http://schemas.openxmlformats.org/officeDocument/2006/relationships/slideLayout" Target="../slideLayouts/slideLayout4.xml"/><Relationship Id="rId10"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jpg"/><Relationship Id="rId7" Type="http://schemas.openxmlformats.org/officeDocument/2006/relationships/slideLayout" Target="../slideLayouts/slideLayout4.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jp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4.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jpg"/><Relationship Id="rId3" Type="http://schemas.openxmlformats.org/officeDocument/2006/relationships/image" Target="../media/image-18-3.png"/><Relationship Id="rId4" Type="http://schemas.openxmlformats.org/officeDocument/2006/relationships/image" Target="../media/image-18-4.jpg"/><Relationship Id="rId5" Type="http://schemas.openxmlformats.org/officeDocument/2006/relationships/slideLayout" Target="../slideLayouts/slideLayout4.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jpg"/><Relationship Id="rId3" Type="http://schemas.openxmlformats.org/officeDocument/2006/relationships/image" Target="../media/image-19-3.jpg"/><Relationship Id="rId4" Type="http://schemas.openxmlformats.org/officeDocument/2006/relationships/slideLayout" Target="../slideLayouts/slideLayout4.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4.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4.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5.xml"/><Relationship Id="rId3"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NDU emblem" descr="/home/user/research-material/india-cyber-cooperation/images/ndu_emblem.png">    </p:cNvPr>
          <p:cNvPicPr>
            <a:picLocks noChangeAspect="1"/>
          </p:cNvPicPr>
          <p:nvPr/>
        </p:nvPicPr>
        <p:blipFill>
          <a:blip r:embed="rId1"/>
          <a:stretch>
            <a:fillRect/>
          </a:stretch>
        </p:blipFill>
        <p:spPr>
          <a:xfrm>
            <a:off x="731520" y="548640"/>
            <a:ext cx="1005840" cy="1005840"/>
          </a:xfrm>
          <a:prstGeom prst="rect">
            <a:avLst/>
          </a:prstGeom>
        </p:spPr>
      </p:pic>
      <p:sp>
        <p:nvSpPr>
          <p:cNvPr id="3" name="Text 0"/>
          <p:cNvSpPr txBox="1"/>
          <p:nvPr/>
        </p:nvSpPr>
        <p:spPr>
          <a:xfrm>
            <a:off x="1874520" y="566928"/>
            <a:ext cx="6400800" cy="457200"/>
          </a:xfrm>
          <a:prstGeom prst="rect">
            <a:avLst/>
          </a:prstGeom>
          <a:noFill/>
          <a:ln/>
        </p:spPr>
        <p:txBody>
          <a:bodyPr wrap="square" lIns="0" tIns="0" rIns="0" bIns="0" rtlCol="0" anchor="ctr"/>
          <a:lstStyle/>
          <a:p>
            <a:pPr indent="0" marL="0">
              <a:buNone/>
            </a:pPr>
            <a:r>
              <a:rPr lang="en-US" sz="1400" b="1" dirty="0">
                <a:solidFill>
                  <a:schemeClr val="accent6"/>
                </a:solidFill>
              </a:rPr>
              <a:t>National Defence University of Mongolia</a:t>
            </a:r>
            <a:endParaRPr lang="en-US" sz="1400" dirty="0"/>
          </a:p>
        </p:txBody>
      </p:sp>
      <p:sp>
        <p:nvSpPr>
          <p:cNvPr id="4" name="Text 1"/>
          <p:cNvSpPr txBox="1"/>
          <p:nvPr/>
        </p:nvSpPr>
        <p:spPr>
          <a:xfrm>
            <a:off x="1874520" y="978408"/>
            <a:ext cx="6400800" cy="457200"/>
          </a:xfrm>
          <a:prstGeom prst="rect">
            <a:avLst/>
          </a:prstGeom>
          <a:noFill/>
          <a:ln/>
        </p:spPr>
        <p:txBody>
          <a:bodyPr wrap="square" lIns="0" tIns="0" rIns="0" bIns="0" rtlCol="0" anchor="ctr"/>
          <a:lstStyle/>
          <a:p>
            <a:pPr indent="0" marL="0">
              <a:buNone/>
            </a:pPr>
            <a:r>
              <a:rPr lang="en-US" sz="1200" dirty="0">
                <a:solidFill>
                  <a:schemeClr val="accent5"/>
                </a:solidFill>
              </a:rPr>
              <a:t>Military Institute · Cyber Security Department</a:t>
            </a:r>
            <a:endParaRPr lang="en-US" sz="1200" dirty="0"/>
          </a:p>
        </p:txBody>
      </p:sp>
      <p:sp>
        <p:nvSpPr>
          <p:cNvPr id="5" name="Text 0"/>
          <p:cNvSpPr/>
          <p:nvPr>
            <p:ph idx="100" type="title" hasCustomPrompt="1"/>
          </p:nvPr>
        </p:nvSpPr>
        <p:spPr>
          <a:xfrm>
            <a:off x="731520" y="1920240"/>
            <a:ext cx="8595360" cy="1737360"/>
          </a:xfrm>
          <a:prstGeom prst="rect">
            <a:avLst/>
          </a:prstGeom>
          <a:noFill/>
          <a:ln/>
        </p:spPr>
        <p:txBody>
          <a:bodyPr wrap="square" lIns="0" tIns="0" rIns="0" bIns="0" rtlCol="0" anchor="b"/>
          <a:lstStyle/>
          <a:p>
            <a:pPr indent="0" marL="0">
              <a:buNone/>
            </a:pPr>
            <a:r>
              <a:rPr lang="en-US" sz="4000" b="1" dirty="0">
                <a:solidFill>
                  <a:schemeClr val="bg1"/>
                </a:solidFill>
              </a:rPr>
              <a:t>India–Mongolia Cooperation in Cyber Security Education</a:t>
            </a:r>
            <a:endParaRPr lang="en-US" sz="4000" dirty="0"/>
          </a:p>
        </p:txBody>
      </p:sp>
      <p:sp>
        <p:nvSpPr>
          <p:cNvPr id="6" name="Text 0"/>
          <p:cNvSpPr/>
          <p:nvPr>
            <p:ph idx="101" type="body" hasCustomPrompt="1"/>
          </p:nvPr>
        </p:nvSpPr>
        <p:spPr>
          <a:xfrm>
            <a:off x="731520" y="3794760"/>
            <a:ext cx="8595360" cy="1554480"/>
          </a:xfrm>
          <a:prstGeom prst="rect">
            <a:avLst/>
          </a:prstGeom>
          <a:noFill/>
          <a:ln/>
        </p:spPr>
        <p:txBody>
          <a:bodyPr wrap="square" lIns="0" tIns="0" rIns="0" bIns="0" rtlCol="0" anchor="t"/>
          <a:lstStyle/>
          <a:p>
            <a:pPr indent="0" marL="0">
              <a:buNone/>
            </a:pPr>
            <a:r>
              <a:rPr lang="en-US" sz="1600" b="1" dirty="0">
                <a:solidFill>
                  <a:schemeClr val="accent6"/>
                </a:solidFill>
              </a:rPr>
              <a:t>The Cyber Security Training Centre, 2015–2026, and the road to 2030</a:t>
            </a:r>
            <a:endParaRPr lang="en-US" sz="1600" dirty="0"/>
          </a:p>
          <a:p>
            <a:pPr indent="0" marL="0">
              <a:buNone/>
            </a:pPr>
            <a:r>
              <a:rPr lang="en-US" sz="1600" dirty="0">
                <a:solidFill>
                  <a:schemeClr val="accent6"/>
                </a:solidFill>
              </a:rPr>
              <a:t>Briefing for the delegation of the Ministry of Defence, Government of India</a:t>
            </a:r>
            <a:endParaRPr lang="en-US" sz="1600" dirty="0"/>
          </a:p>
          <a:p>
            <a:pPr indent="0" marL="0">
              <a:buNone/>
            </a:pPr>
            <a:r>
              <a:rPr lang="en-US" sz="1600" dirty="0">
                <a:solidFill>
                  <a:schemeClr val="accent6"/>
                </a:solidFill>
              </a:rPr>
              <a:t>14th Meeting of the India–Mongolia Joint Working Group on Defence Cooperation</a:t>
            </a:r>
            <a:endParaRPr lang="en-US" sz="1600" dirty="0"/>
          </a:p>
        </p:txBody>
      </p:sp>
      <p:pic>
        <p:nvPicPr>
          <p:cNvPr id="7" name="Department emblem" descr="/home/user/research-material/india-cyber-cooperation/images/dept_emblem.png">    </p:cNvPr>
          <p:cNvPicPr>
            <a:picLocks noChangeAspect="1"/>
          </p:cNvPicPr>
          <p:nvPr/>
        </p:nvPicPr>
        <p:blipFill>
          <a:blip r:embed="rId2"/>
          <a:stretch>
            <a:fillRect/>
          </a:stretch>
        </p:blipFill>
        <p:spPr>
          <a:xfrm>
            <a:off x="9601200" y="2011680"/>
            <a:ext cx="2011680" cy="2011680"/>
          </a:xfrm>
          <a:prstGeom prst="rect">
            <a:avLst/>
          </a:prstGeom>
        </p:spPr>
      </p:pic>
      <p:sp>
        <p:nvSpPr>
          <p:cNvPr id="8" name="india dot"/>
          <p:cNvSpPr/>
          <p:nvPr/>
        </p:nvSpPr>
        <p:spPr>
          <a:xfrm>
            <a:off x="10058400" y="4297680"/>
            <a:ext cx="411480" cy="411480"/>
          </a:xfrm>
          <a:prstGeom prst="ellipse">
            <a:avLst/>
          </a:prstGeom>
          <a:solidFill>
            <a:schemeClr val="accent1"/>
          </a:solidFill>
          <a:ln w="12700">
            <a:solidFill>
              <a:schemeClr val="accent1"/>
            </a:solidFill>
            <a:prstDash val="solid"/>
          </a:ln>
        </p:spPr>
      </p:sp>
      <p:sp>
        <p:nvSpPr>
          <p:cNvPr id="9" name="mongolia dot"/>
          <p:cNvSpPr/>
          <p:nvPr/>
        </p:nvSpPr>
        <p:spPr>
          <a:xfrm>
            <a:off x="10744200" y="4297680"/>
            <a:ext cx="411480" cy="411480"/>
          </a:xfrm>
          <a:prstGeom prst="ellipse">
            <a:avLst/>
          </a:prstGeom>
          <a:solidFill>
            <a:schemeClr val="accent2"/>
          </a:solidFill>
          <a:ln w="12700">
            <a:solidFill>
              <a:schemeClr val="accent2"/>
            </a:solidFill>
            <a:prstDash val="solid"/>
          </a:ln>
        </p:spPr>
      </p:sp>
      <p:sp>
        <p:nvSpPr>
          <p:cNvPr id="10" name="Text 6"/>
          <p:cNvSpPr txBox="1"/>
          <p:nvPr/>
        </p:nvSpPr>
        <p:spPr>
          <a:xfrm>
            <a:off x="731520" y="5943600"/>
            <a:ext cx="8229600" cy="365760"/>
          </a:xfrm>
          <a:prstGeom prst="rect">
            <a:avLst/>
          </a:prstGeom>
          <a:noFill/>
          <a:ln/>
        </p:spPr>
        <p:txBody>
          <a:bodyPr wrap="square" lIns="0" tIns="0" rIns="0" bIns="0" rtlCol="0" anchor="t"/>
          <a:lstStyle/>
          <a:p>
            <a:pPr indent="0" marL="0">
              <a:buNone/>
            </a:pPr>
            <a:r>
              <a:rPr lang="en-US" sz="1200" dirty="0">
                <a:solidFill>
                  <a:schemeClr val="accent5"/>
                </a:solidFill>
              </a:rPr>
              <a:t>Ulaanbaatar ·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000" b="1" dirty="0">
                <a:solidFill>
                  <a:schemeClr val="tx1"/>
                </a:solidFill>
              </a:rPr>
              <a:t>Welcome to the Cyber Security Department</a:t>
            </a:r>
            <a:endParaRPr lang="en-US" sz="3000" dirty="0"/>
          </a:p>
        </p:txBody>
      </p:sp>
      <p:sp>
        <p:nvSpPr>
          <p:cNvPr id="3" name="card"/>
          <p:cNvSpPr/>
          <p:nvPr/>
        </p:nvSpPr>
        <p:spPr>
          <a:xfrm>
            <a:off x="548640" y="1371600"/>
            <a:ext cx="5669280" cy="4846320"/>
          </a:xfrm>
          <a:prstGeom prst="roundRect">
            <a:avLst>
              <a:gd name="adj" fmla="val 2264"/>
            </a:avLst>
          </a:prstGeom>
          <a:solidFill>
            <a:schemeClr val="bg2"/>
          </a:solidFill>
          <a:ln w="12700">
            <a:solidFill>
              <a:schemeClr val="bg2"/>
            </a:solidFill>
            <a:prstDash val="solid"/>
          </a:ln>
        </p:spPr>
      </p:sp>
      <p:sp>
        <p:nvSpPr>
          <p:cNvPr id="4" name="Text 2"/>
          <p:cNvSpPr txBox="1"/>
          <p:nvPr/>
        </p:nvSpPr>
        <p:spPr>
          <a:xfrm>
            <a:off x="822960" y="1554480"/>
            <a:ext cx="5120640" cy="36576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Distinguished guests</a:t>
            </a:r>
            <a:endParaRPr lang="en-US" sz="1800" dirty="0"/>
          </a:p>
        </p:txBody>
      </p:sp>
      <p:sp>
        <p:nvSpPr>
          <p:cNvPr id="5" name="Text 3"/>
          <p:cNvSpPr txBox="1"/>
          <p:nvPr/>
        </p:nvSpPr>
        <p:spPr>
          <a:xfrm>
            <a:off x="822960" y="1920240"/>
            <a:ext cx="5120640" cy="320040"/>
          </a:xfrm>
          <a:prstGeom prst="rect">
            <a:avLst/>
          </a:prstGeom>
          <a:noFill/>
          <a:ln/>
        </p:spPr>
        <p:txBody>
          <a:bodyPr wrap="square" lIns="0" tIns="0" rIns="0" bIns="0" rtlCol="0" anchor="t"/>
          <a:lstStyle/>
          <a:p>
            <a:pPr indent="0" marL="0">
              <a:buNone/>
            </a:pPr>
            <a:r>
              <a:rPr lang="en-US" sz="1200" dirty="0">
                <a:solidFill>
                  <a:schemeClr val="tx2"/>
                </a:solidFill>
              </a:rPr>
              <a:t>Delegation of the Ministry of Defence, Government of India</a:t>
            </a:r>
            <a:endParaRPr lang="en-US" sz="1200" dirty="0"/>
          </a:p>
        </p:txBody>
      </p:sp>
      <p:sp>
        <p:nvSpPr>
          <p:cNvPr id="6" name="icon circle"/>
          <p:cNvSpPr/>
          <p:nvPr/>
        </p:nvSpPr>
        <p:spPr>
          <a:xfrm>
            <a:off x="822960" y="2377440"/>
            <a:ext cx="566928" cy="566928"/>
          </a:xfrm>
          <a:prstGeom prst="ellipse">
            <a:avLst/>
          </a:prstGeom>
          <a:solidFill>
            <a:schemeClr val="accent1"/>
          </a:solidFill>
          <a:ln w="12700">
            <a:solidFill>
              <a:schemeClr val="accent1"/>
            </a:solidFill>
            <a:prstDash val="solid"/>
          </a:ln>
        </p:spPr>
      </p:sp>
      <p:pic>
        <p:nvPicPr>
          <p:cNvPr id="7" name="FaUserTie" descr="preencoded.png">    </p:cNvPr>
          <p:cNvPicPr>
            <a:picLocks noChangeAspect="1"/>
          </p:cNvPicPr>
          <p:nvPr/>
        </p:nvPicPr>
        <p:blipFill>
          <a:blip r:embed="rId1"/>
          <a:stretch>
            <a:fillRect/>
          </a:stretch>
        </p:blipFill>
        <p:spPr>
          <a:xfrm>
            <a:off x="970361" y="2524841"/>
            <a:ext cx="272125" cy="272125"/>
          </a:xfrm>
          <a:prstGeom prst="rect">
            <a:avLst/>
          </a:prstGeom>
        </p:spPr>
      </p:pic>
      <p:sp>
        <p:nvSpPr>
          <p:cNvPr id="8" name="Text 5"/>
          <p:cNvSpPr txBox="1"/>
          <p:nvPr/>
        </p:nvSpPr>
        <p:spPr>
          <a:xfrm>
            <a:off x="1554480" y="2359152"/>
            <a:ext cx="4480560" cy="320040"/>
          </a:xfrm>
          <a:prstGeom prst="rect">
            <a:avLst/>
          </a:prstGeom>
          <a:noFill/>
          <a:ln/>
        </p:spPr>
        <p:txBody>
          <a:bodyPr wrap="square" lIns="0" tIns="0" rIns="0" bIns="0" rtlCol="0" anchor="t"/>
          <a:lstStyle/>
          <a:p>
            <a:pPr indent="0" marL="0">
              <a:buNone/>
            </a:pPr>
            <a:r>
              <a:rPr lang="en-US" sz="1500" b="1" dirty="0">
                <a:solidFill>
                  <a:schemeClr val="tx1"/>
                </a:solidFill>
              </a:rPr>
              <a:t>Ms Ishita Ganguli Tripathy</a:t>
            </a:r>
            <a:endParaRPr lang="en-US" sz="1500" dirty="0"/>
          </a:p>
        </p:txBody>
      </p:sp>
      <p:sp>
        <p:nvSpPr>
          <p:cNvPr id="9" name="Text 6"/>
          <p:cNvSpPr txBox="1"/>
          <p:nvPr/>
        </p:nvSpPr>
        <p:spPr>
          <a:xfrm>
            <a:off x="1554480" y="2670048"/>
            <a:ext cx="4480560" cy="320040"/>
          </a:xfrm>
          <a:prstGeom prst="rect">
            <a:avLst/>
          </a:prstGeom>
          <a:noFill/>
          <a:ln/>
        </p:spPr>
        <p:txBody>
          <a:bodyPr wrap="square" lIns="0" tIns="0" rIns="0" bIns="0" rtlCol="0" anchor="t"/>
          <a:lstStyle/>
          <a:p>
            <a:pPr indent="0" marL="0">
              <a:buNone/>
            </a:pPr>
            <a:r>
              <a:rPr lang="en-US" sz="1200" dirty="0">
                <a:solidFill>
                  <a:schemeClr val="tx2"/>
                </a:solidFill>
              </a:rPr>
              <a:t>Joint Secretary, Ministry of Defence</a:t>
            </a:r>
            <a:endParaRPr lang="en-US" sz="1200" dirty="0"/>
          </a:p>
        </p:txBody>
      </p:sp>
      <p:sp>
        <p:nvSpPr>
          <p:cNvPr id="10" name="icon circle"/>
          <p:cNvSpPr/>
          <p:nvPr/>
        </p:nvSpPr>
        <p:spPr>
          <a:xfrm>
            <a:off x="822960" y="3291840"/>
            <a:ext cx="566928" cy="566928"/>
          </a:xfrm>
          <a:prstGeom prst="ellipse">
            <a:avLst/>
          </a:prstGeom>
          <a:solidFill>
            <a:schemeClr val="accent1"/>
          </a:solidFill>
          <a:ln w="12700">
            <a:solidFill>
              <a:schemeClr val="accent1"/>
            </a:solidFill>
            <a:prstDash val="solid"/>
          </a:ln>
        </p:spPr>
      </p:sp>
      <p:pic>
        <p:nvPicPr>
          <p:cNvPr id="11" name="FaUserTie" descr="preencoded.png">    </p:cNvPr>
          <p:cNvPicPr>
            <a:picLocks noChangeAspect="1"/>
          </p:cNvPicPr>
          <p:nvPr/>
        </p:nvPicPr>
        <p:blipFill>
          <a:blip r:embed="rId2"/>
          <a:stretch>
            <a:fillRect/>
          </a:stretch>
        </p:blipFill>
        <p:spPr>
          <a:xfrm>
            <a:off x="970361" y="3439241"/>
            <a:ext cx="272125" cy="272125"/>
          </a:xfrm>
          <a:prstGeom prst="rect">
            <a:avLst/>
          </a:prstGeom>
        </p:spPr>
      </p:pic>
      <p:sp>
        <p:nvSpPr>
          <p:cNvPr id="12" name="Text 8"/>
          <p:cNvSpPr txBox="1"/>
          <p:nvPr/>
        </p:nvSpPr>
        <p:spPr>
          <a:xfrm>
            <a:off x="1554480" y="3273552"/>
            <a:ext cx="4480560" cy="320040"/>
          </a:xfrm>
          <a:prstGeom prst="rect">
            <a:avLst/>
          </a:prstGeom>
          <a:noFill/>
          <a:ln/>
        </p:spPr>
        <p:txBody>
          <a:bodyPr wrap="square" lIns="0" tIns="0" rIns="0" bIns="0" rtlCol="0" anchor="t"/>
          <a:lstStyle/>
          <a:p>
            <a:pPr indent="0" marL="0">
              <a:buNone/>
            </a:pPr>
            <a:r>
              <a:rPr lang="en-US" sz="1500" b="1" dirty="0">
                <a:solidFill>
                  <a:schemeClr val="tx1"/>
                </a:solidFill>
              </a:rPr>
              <a:t>Mr Vikash Kumar</a:t>
            </a:r>
            <a:endParaRPr lang="en-US" sz="1500" dirty="0"/>
          </a:p>
        </p:txBody>
      </p:sp>
      <p:sp>
        <p:nvSpPr>
          <p:cNvPr id="13" name="Text 9"/>
          <p:cNvSpPr txBox="1"/>
          <p:nvPr/>
        </p:nvSpPr>
        <p:spPr>
          <a:xfrm>
            <a:off x="1554480" y="3584448"/>
            <a:ext cx="4480560" cy="320040"/>
          </a:xfrm>
          <a:prstGeom prst="rect">
            <a:avLst/>
          </a:prstGeom>
          <a:noFill/>
          <a:ln/>
        </p:spPr>
        <p:txBody>
          <a:bodyPr wrap="square" lIns="0" tIns="0" rIns="0" bIns="0" rtlCol="0" anchor="t"/>
          <a:lstStyle/>
          <a:p>
            <a:pPr indent="0" marL="0">
              <a:buNone/>
            </a:pPr>
            <a:r>
              <a:rPr lang="en-US" sz="1200" dirty="0">
                <a:solidFill>
                  <a:schemeClr val="tx2"/>
                </a:solidFill>
              </a:rPr>
              <a:t>Director</a:t>
            </a:r>
            <a:endParaRPr lang="en-US" sz="1200" dirty="0"/>
          </a:p>
        </p:txBody>
      </p:sp>
      <p:sp>
        <p:nvSpPr>
          <p:cNvPr id="14" name="icon circle"/>
          <p:cNvSpPr/>
          <p:nvPr/>
        </p:nvSpPr>
        <p:spPr>
          <a:xfrm>
            <a:off x="822960" y="4206240"/>
            <a:ext cx="566928" cy="566928"/>
          </a:xfrm>
          <a:prstGeom prst="ellipse">
            <a:avLst/>
          </a:prstGeom>
          <a:solidFill>
            <a:schemeClr val="accent1"/>
          </a:solidFill>
          <a:ln w="12700">
            <a:solidFill>
              <a:schemeClr val="accent1"/>
            </a:solidFill>
            <a:prstDash val="solid"/>
          </a:ln>
        </p:spPr>
      </p:sp>
      <p:pic>
        <p:nvPicPr>
          <p:cNvPr id="15" name="FaUserTie" descr="preencoded.png">    </p:cNvPr>
          <p:cNvPicPr>
            <a:picLocks noChangeAspect="1"/>
          </p:cNvPicPr>
          <p:nvPr/>
        </p:nvPicPr>
        <p:blipFill>
          <a:blip r:embed="rId3"/>
          <a:stretch>
            <a:fillRect/>
          </a:stretch>
        </p:blipFill>
        <p:spPr>
          <a:xfrm>
            <a:off x="970361" y="4353641"/>
            <a:ext cx="272125" cy="272125"/>
          </a:xfrm>
          <a:prstGeom prst="rect">
            <a:avLst/>
          </a:prstGeom>
        </p:spPr>
      </p:pic>
      <p:sp>
        <p:nvSpPr>
          <p:cNvPr id="16" name="Text 11"/>
          <p:cNvSpPr txBox="1"/>
          <p:nvPr/>
        </p:nvSpPr>
        <p:spPr>
          <a:xfrm>
            <a:off x="1554480" y="4187952"/>
            <a:ext cx="4480560" cy="320040"/>
          </a:xfrm>
          <a:prstGeom prst="rect">
            <a:avLst/>
          </a:prstGeom>
          <a:noFill/>
          <a:ln/>
        </p:spPr>
        <p:txBody>
          <a:bodyPr wrap="square" lIns="0" tIns="0" rIns="0" bIns="0" rtlCol="0" anchor="t"/>
          <a:lstStyle/>
          <a:p>
            <a:pPr indent="0" marL="0">
              <a:buNone/>
            </a:pPr>
            <a:r>
              <a:rPr lang="en-US" sz="1500" b="1" dirty="0">
                <a:solidFill>
                  <a:schemeClr val="tx1"/>
                </a:solidFill>
              </a:rPr>
              <a:t>Col Baljit Singh</a:t>
            </a:r>
            <a:endParaRPr lang="en-US" sz="1500" dirty="0"/>
          </a:p>
        </p:txBody>
      </p:sp>
      <p:sp>
        <p:nvSpPr>
          <p:cNvPr id="17" name="Text 12"/>
          <p:cNvSpPr txBox="1"/>
          <p:nvPr/>
        </p:nvSpPr>
        <p:spPr>
          <a:xfrm>
            <a:off x="1554480" y="4498848"/>
            <a:ext cx="4480560" cy="320040"/>
          </a:xfrm>
          <a:prstGeom prst="rect">
            <a:avLst/>
          </a:prstGeom>
          <a:noFill/>
          <a:ln/>
        </p:spPr>
        <p:txBody>
          <a:bodyPr wrap="square" lIns="0" tIns="0" rIns="0" bIns="0" rtlCol="0" anchor="t"/>
          <a:lstStyle/>
          <a:p>
            <a:pPr indent="0" marL="0">
              <a:buNone/>
            </a:pPr>
            <a:r>
              <a:rPr lang="en-US" sz="1200" dirty="0">
                <a:solidFill>
                  <a:schemeClr val="tx2"/>
                </a:solidFill>
              </a:rPr>
              <a:t>Director</a:t>
            </a:r>
            <a:endParaRPr lang="en-US" sz="1200" dirty="0"/>
          </a:p>
        </p:txBody>
      </p:sp>
      <p:sp>
        <p:nvSpPr>
          <p:cNvPr id="18" name="icon circle"/>
          <p:cNvSpPr/>
          <p:nvPr/>
        </p:nvSpPr>
        <p:spPr>
          <a:xfrm>
            <a:off x="822960" y="5120640"/>
            <a:ext cx="566928" cy="566928"/>
          </a:xfrm>
          <a:prstGeom prst="ellipse">
            <a:avLst/>
          </a:prstGeom>
          <a:solidFill>
            <a:schemeClr val="accent1"/>
          </a:solidFill>
          <a:ln w="12700">
            <a:solidFill>
              <a:schemeClr val="accent1"/>
            </a:solidFill>
            <a:prstDash val="solid"/>
          </a:ln>
        </p:spPr>
      </p:sp>
      <p:pic>
        <p:nvPicPr>
          <p:cNvPr id="19" name="FaUserTie" descr="preencoded.png">    </p:cNvPr>
          <p:cNvPicPr>
            <a:picLocks noChangeAspect="1"/>
          </p:cNvPicPr>
          <p:nvPr/>
        </p:nvPicPr>
        <p:blipFill>
          <a:blip r:embed="rId4"/>
          <a:stretch>
            <a:fillRect/>
          </a:stretch>
        </p:blipFill>
        <p:spPr>
          <a:xfrm>
            <a:off x="970361" y="5268041"/>
            <a:ext cx="272125" cy="272125"/>
          </a:xfrm>
          <a:prstGeom prst="rect">
            <a:avLst/>
          </a:prstGeom>
        </p:spPr>
      </p:pic>
      <p:sp>
        <p:nvSpPr>
          <p:cNvPr id="20" name="Text 14"/>
          <p:cNvSpPr txBox="1"/>
          <p:nvPr/>
        </p:nvSpPr>
        <p:spPr>
          <a:xfrm>
            <a:off x="1554480" y="5102352"/>
            <a:ext cx="4480560" cy="320040"/>
          </a:xfrm>
          <a:prstGeom prst="rect">
            <a:avLst/>
          </a:prstGeom>
          <a:noFill/>
          <a:ln/>
        </p:spPr>
        <p:txBody>
          <a:bodyPr wrap="square" lIns="0" tIns="0" rIns="0" bIns="0" rtlCol="0" anchor="t"/>
          <a:lstStyle/>
          <a:p>
            <a:pPr indent="0" marL="0">
              <a:buNone/>
            </a:pPr>
            <a:r>
              <a:rPr lang="en-US" sz="1500" b="1" dirty="0">
                <a:solidFill>
                  <a:schemeClr val="tx1"/>
                </a:solidFill>
              </a:rPr>
              <a:t>Col Mupparty Sanjeev</a:t>
            </a:r>
            <a:endParaRPr lang="en-US" sz="1500" dirty="0"/>
          </a:p>
        </p:txBody>
      </p:sp>
      <p:sp>
        <p:nvSpPr>
          <p:cNvPr id="21" name="Text 15"/>
          <p:cNvSpPr txBox="1"/>
          <p:nvPr/>
        </p:nvSpPr>
        <p:spPr>
          <a:xfrm>
            <a:off x="1554480" y="5413248"/>
            <a:ext cx="4480560" cy="320040"/>
          </a:xfrm>
          <a:prstGeom prst="rect">
            <a:avLst/>
          </a:prstGeom>
          <a:noFill/>
          <a:ln/>
        </p:spPr>
        <p:txBody>
          <a:bodyPr wrap="square" lIns="0" tIns="0" rIns="0" bIns="0" rtlCol="0" anchor="t"/>
          <a:lstStyle/>
          <a:p>
            <a:pPr indent="0" marL="0">
              <a:buNone/>
            </a:pPr>
            <a:r>
              <a:rPr lang="en-US" sz="1200" dirty="0">
                <a:solidFill>
                  <a:schemeClr val="tx2"/>
                </a:solidFill>
              </a:rPr>
              <a:t>Defence Attaché, Embassy of India, Ulaanbaatar</a:t>
            </a:r>
            <a:endParaRPr lang="en-US" sz="1200" dirty="0"/>
          </a:p>
        </p:txBody>
      </p:sp>
      <p:sp>
        <p:nvSpPr>
          <p:cNvPr id="22" name="Text 16"/>
          <p:cNvSpPr txBox="1"/>
          <p:nvPr/>
        </p:nvSpPr>
        <p:spPr>
          <a:xfrm>
            <a:off x="6675120" y="1371600"/>
            <a:ext cx="4937760" cy="36576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Briefing outline · about 23 minutes</a:t>
            </a:r>
            <a:endParaRPr lang="en-US" sz="1800" dirty="0"/>
          </a:p>
        </p:txBody>
      </p:sp>
      <p:sp>
        <p:nvSpPr>
          <p:cNvPr id="23" name="card"/>
          <p:cNvSpPr/>
          <p:nvPr/>
        </p:nvSpPr>
        <p:spPr>
          <a:xfrm>
            <a:off x="6675120" y="1874520"/>
            <a:ext cx="4937760" cy="960120"/>
          </a:xfrm>
          <a:prstGeom prst="roundRect">
            <a:avLst>
              <a:gd name="adj" fmla="val 11429"/>
            </a:avLst>
          </a:prstGeom>
          <a:solidFill>
            <a:schemeClr val="bg1"/>
          </a:solidFill>
          <a:ln w="9525">
            <a:solidFill>
              <a:srgbClr val="DDE3EC"/>
            </a:solidFill>
            <a:prstDash val="solid"/>
          </a:ln>
        </p:spPr>
      </p:sp>
      <p:sp>
        <p:nvSpPr>
          <p:cNvPr id="24" name="Text 18"/>
          <p:cNvSpPr txBox="1"/>
          <p:nvPr/>
        </p:nvSpPr>
        <p:spPr>
          <a:xfrm>
            <a:off x="6858000" y="1984248"/>
            <a:ext cx="731520" cy="731520"/>
          </a:xfrm>
          <a:prstGeom prst="rect">
            <a:avLst/>
          </a:prstGeom>
          <a:noFill/>
          <a:ln/>
        </p:spPr>
        <p:txBody>
          <a:bodyPr wrap="square" lIns="0" tIns="0" rIns="0" bIns="0" rtlCol="0" anchor="ctr"/>
          <a:lstStyle/>
          <a:p>
            <a:pPr indent="0" marL="0">
              <a:buNone/>
            </a:pPr>
            <a:r>
              <a:rPr lang="en-US" sz="2600" b="1" dirty="0">
                <a:solidFill>
                  <a:schemeClr val="accent2"/>
                </a:solidFill>
                <a:latin typeface="Cambria" pitchFamily="34" charset="0"/>
                <a:ea typeface="Cambria" pitchFamily="34" charset="-122"/>
                <a:cs typeface="Cambria" pitchFamily="34" charset="-120"/>
              </a:rPr>
              <a:t>01</a:t>
            </a:r>
            <a:endParaRPr lang="en-US" sz="2600" dirty="0"/>
          </a:p>
        </p:txBody>
      </p:sp>
      <p:sp>
        <p:nvSpPr>
          <p:cNvPr id="25" name="Text 19"/>
          <p:cNvSpPr txBox="1"/>
          <p:nvPr/>
        </p:nvSpPr>
        <p:spPr>
          <a:xfrm>
            <a:off x="7635240" y="2002536"/>
            <a:ext cx="3108960" cy="365760"/>
          </a:xfrm>
          <a:prstGeom prst="rect">
            <a:avLst/>
          </a:prstGeom>
          <a:noFill/>
          <a:ln/>
        </p:spPr>
        <p:txBody>
          <a:bodyPr wrap="square" lIns="0" tIns="0" rIns="0" bIns="0" rtlCol="0" anchor="t"/>
          <a:lstStyle/>
          <a:p>
            <a:pPr indent="0" marL="0">
              <a:buNone/>
            </a:pPr>
            <a:r>
              <a:rPr lang="en-US" sz="1500" b="1" dirty="0">
                <a:solidFill>
                  <a:schemeClr val="tx1"/>
                </a:solidFill>
              </a:rPr>
              <a:t>Partnership context</a:t>
            </a:r>
            <a:endParaRPr lang="en-US" sz="1500" dirty="0"/>
          </a:p>
        </p:txBody>
      </p:sp>
      <p:sp>
        <p:nvSpPr>
          <p:cNvPr id="26" name="Text 20"/>
          <p:cNvSpPr txBox="1"/>
          <p:nvPr/>
        </p:nvSpPr>
        <p:spPr>
          <a:xfrm>
            <a:off x="7635240" y="2350008"/>
            <a:ext cx="3383280" cy="411480"/>
          </a:xfrm>
          <a:prstGeom prst="rect">
            <a:avLst/>
          </a:prstGeom>
          <a:noFill/>
          <a:ln/>
        </p:spPr>
        <p:txBody>
          <a:bodyPr wrap="square" lIns="0" tIns="0" rIns="0" bIns="0" rtlCol="0" anchor="t"/>
          <a:lstStyle/>
          <a:p>
            <a:pPr indent="0" marL="0">
              <a:buNone/>
            </a:pPr>
            <a:r>
              <a:rPr lang="en-US" sz="1100" dirty="0">
                <a:solidFill>
                  <a:schemeClr val="tx2"/>
                </a:solidFill>
              </a:rPr>
              <a:t>70 years of relations; four pillars of defence cooperation</a:t>
            </a:r>
            <a:endParaRPr lang="en-US" sz="1100" dirty="0"/>
          </a:p>
        </p:txBody>
      </p:sp>
      <p:sp>
        <p:nvSpPr>
          <p:cNvPr id="27" name="Text 21"/>
          <p:cNvSpPr txBox="1"/>
          <p:nvPr/>
        </p:nvSpPr>
        <p:spPr>
          <a:xfrm>
            <a:off x="10835640" y="2002536"/>
            <a:ext cx="640080" cy="365760"/>
          </a:xfrm>
          <a:prstGeom prst="rect">
            <a:avLst/>
          </a:prstGeom>
          <a:noFill/>
          <a:ln/>
        </p:spPr>
        <p:txBody>
          <a:bodyPr wrap="square" lIns="0" tIns="0" rIns="0" bIns="0" rtlCol="0" anchor="t"/>
          <a:lstStyle/>
          <a:p>
            <a:pPr algn="r" indent="0" marL="0">
              <a:buNone/>
            </a:pPr>
            <a:r>
              <a:rPr lang="en-US" sz="1200" b="1" dirty="0">
                <a:solidFill>
                  <a:schemeClr val="accent1"/>
                </a:solidFill>
              </a:rPr>
              <a:t>3 min</a:t>
            </a:r>
            <a:endParaRPr lang="en-US" sz="1200" dirty="0"/>
          </a:p>
        </p:txBody>
      </p:sp>
      <p:sp>
        <p:nvSpPr>
          <p:cNvPr id="28" name="card"/>
          <p:cNvSpPr/>
          <p:nvPr/>
        </p:nvSpPr>
        <p:spPr>
          <a:xfrm>
            <a:off x="6675120" y="2971800"/>
            <a:ext cx="4937760" cy="960120"/>
          </a:xfrm>
          <a:prstGeom prst="roundRect">
            <a:avLst>
              <a:gd name="adj" fmla="val 11429"/>
            </a:avLst>
          </a:prstGeom>
          <a:solidFill>
            <a:schemeClr val="bg1"/>
          </a:solidFill>
          <a:ln w="9525">
            <a:solidFill>
              <a:srgbClr val="DDE3EC"/>
            </a:solidFill>
            <a:prstDash val="solid"/>
          </a:ln>
        </p:spPr>
      </p:sp>
      <p:sp>
        <p:nvSpPr>
          <p:cNvPr id="29" name="Text 23"/>
          <p:cNvSpPr txBox="1"/>
          <p:nvPr/>
        </p:nvSpPr>
        <p:spPr>
          <a:xfrm>
            <a:off x="6858000" y="3081528"/>
            <a:ext cx="731520" cy="731520"/>
          </a:xfrm>
          <a:prstGeom prst="rect">
            <a:avLst/>
          </a:prstGeom>
          <a:noFill/>
          <a:ln/>
        </p:spPr>
        <p:txBody>
          <a:bodyPr wrap="square" lIns="0" tIns="0" rIns="0" bIns="0" rtlCol="0" anchor="ctr"/>
          <a:lstStyle/>
          <a:p>
            <a:pPr indent="0" marL="0">
              <a:buNone/>
            </a:pPr>
            <a:r>
              <a:rPr lang="en-US" sz="2600" b="1" dirty="0">
                <a:solidFill>
                  <a:schemeClr val="accent2"/>
                </a:solidFill>
                <a:latin typeface="Cambria" pitchFamily="34" charset="0"/>
                <a:ea typeface="Cambria" pitchFamily="34" charset="-122"/>
                <a:cs typeface="Cambria" pitchFamily="34" charset="-120"/>
              </a:rPr>
              <a:t>02</a:t>
            </a:r>
            <a:endParaRPr lang="en-US" sz="2600" dirty="0"/>
          </a:p>
        </p:txBody>
      </p:sp>
      <p:sp>
        <p:nvSpPr>
          <p:cNvPr id="30" name="Text 24"/>
          <p:cNvSpPr txBox="1"/>
          <p:nvPr/>
        </p:nvSpPr>
        <p:spPr>
          <a:xfrm>
            <a:off x="7635240" y="3099816"/>
            <a:ext cx="3108960" cy="365760"/>
          </a:xfrm>
          <a:prstGeom prst="rect">
            <a:avLst/>
          </a:prstGeom>
          <a:noFill/>
          <a:ln/>
        </p:spPr>
        <p:txBody>
          <a:bodyPr wrap="square" lIns="0" tIns="0" rIns="0" bIns="0" rtlCol="0" anchor="t"/>
          <a:lstStyle/>
          <a:p>
            <a:pPr indent="0" marL="0">
              <a:buNone/>
            </a:pPr>
            <a:r>
              <a:rPr lang="en-US" sz="1500" b="1" dirty="0">
                <a:solidFill>
                  <a:schemeClr val="tx1"/>
                </a:solidFill>
              </a:rPr>
              <a:t>Establishing the Centre</a:t>
            </a:r>
            <a:endParaRPr lang="en-US" sz="1500" dirty="0"/>
          </a:p>
        </p:txBody>
      </p:sp>
      <p:sp>
        <p:nvSpPr>
          <p:cNvPr id="31" name="Text 25"/>
          <p:cNvSpPr txBox="1"/>
          <p:nvPr/>
        </p:nvSpPr>
        <p:spPr>
          <a:xfrm>
            <a:off x="7635240" y="3447288"/>
            <a:ext cx="3383280" cy="411480"/>
          </a:xfrm>
          <a:prstGeom prst="rect">
            <a:avLst/>
          </a:prstGeom>
          <a:noFill/>
          <a:ln/>
        </p:spPr>
        <p:txBody>
          <a:bodyPr wrap="square" lIns="0" tIns="0" rIns="0" bIns="0" rtlCol="0" anchor="t"/>
          <a:lstStyle/>
          <a:p>
            <a:pPr indent="0" marL="0">
              <a:buNone/>
            </a:pPr>
            <a:r>
              <a:rPr lang="en-US" sz="1100" dirty="0">
                <a:solidFill>
                  <a:schemeClr val="tx2"/>
                </a:solidFill>
              </a:rPr>
              <a:t>2015 MoU, 2022 inauguration, India's contribution, people</a:t>
            </a:r>
            <a:endParaRPr lang="en-US" sz="1100" dirty="0"/>
          </a:p>
        </p:txBody>
      </p:sp>
      <p:sp>
        <p:nvSpPr>
          <p:cNvPr id="32" name="Text 26"/>
          <p:cNvSpPr txBox="1"/>
          <p:nvPr/>
        </p:nvSpPr>
        <p:spPr>
          <a:xfrm>
            <a:off x="10835640" y="3099816"/>
            <a:ext cx="640080" cy="365760"/>
          </a:xfrm>
          <a:prstGeom prst="rect">
            <a:avLst/>
          </a:prstGeom>
          <a:noFill/>
          <a:ln/>
        </p:spPr>
        <p:txBody>
          <a:bodyPr wrap="square" lIns="0" tIns="0" rIns="0" bIns="0" rtlCol="0" anchor="t"/>
          <a:lstStyle/>
          <a:p>
            <a:pPr algn="r" indent="0" marL="0">
              <a:buNone/>
            </a:pPr>
            <a:r>
              <a:rPr lang="en-US" sz="1200" b="1" dirty="0">
                <a:solidFill>
                  <a:schemeClr val="accent1"/>
                </a:solidFill>
              </a:rPr>
              <a:t>6 min</a:t>
            </a:r>
            <a:endParaRPr lang="en-US" sz="1200" dirty="0"/>
          </a:p>
        </p:txBody>
      </p:sp>
      <p:sp>
        <p:nvSpPr>
          <p:cNvPr id="33" name="card"/>
          <p:cNvSpPr/>
          <p:nvPr/>
        </p:nvSpPr>
        <p:spPr>
          <a:xfrm>
            <a:off x="6675120" y="4069080"/>
            <a:ext cx="4937760" cy="960120"/>
          </a:xfrm>
          <a:prstGeom prst="roundRect">
            <a:avLst>
              <a:gd name="adj" fmla="val 11429"/>
            </a:avLst>
          </a:prstGeom>
          <a:solidFill>
            <a:schemeClr val="bg1"/>
          </a:solidFill>
          <a:ln w="9525">
            <a:solidFill>
              <a:srgbClr val="DDE3EC"/>
            </a:solidFill>
            <a:prstDash val="solid"/>
          </a:ln>
        </p:spPr>
      </p:sp>
      <p:sp>
        <p:nvSpPr>
          <p:cNvPr id="34" name="Text 28"/>
          <p:cNvSpPr txBox="1"/>
          <p:nvPr/>
        </p:nvSpPr>
        <p:spPr>
          <a:xfrm>
            <a:off x="6858000" y="4178808"/>
            <a:ext cx="731520" cy="731520"/>
          </a:xfrm>
          <a:prstGeom prst="rect">
            <a:avLst/>
          </a:prstGeom>
          <a:noFill/>
          <a:ln/>
        </p:spPr>
        <p:txBody>
          <a:bodyPr wrap="square" lIns="0" tIns="0" rIns="0" bIns="0" rtlCol="0" anchor="ctr"/>
          <a:lstStyle/>
          <a:p>
            <a:pPr indent="0" marL="0">
              <a:buNone/>
            </a:pPr>
            <a:r>
              <a:rPr lang="en-US" sz="2600" b="1" dirty="0">
                <a:solidFill>
                  <a:schemeClr val="accent2"/>
                </a:solidFill>
                <a:latin typeface="Cambria" pitchFamily="34" charset="0"/>
                <a:ea typeface="Cambria" pitchFamily="34" charset="-122"/>
                <a:cs typeface="Cambria" pitchFamily="34" charset="-120"/>
              </a:rPr>
              <a:t>03</a:t>
            </a:r>
            <a:endParaRPr lang="en-US" sz="2600" dirty="0"/>
          </a:p>
        </p:txBody>
      </p:sp>
      <p:sp>
        <p:nvSpPr>
          <p:cNvPr id="35" name="Text 29"/>
          <p:cNvSpPr txBox="1"/>
          <p:nvPr/>
        </p:nvSpPr>
        <p:spPr>
          <a:xfrm>
            <a:off x="7635240" y="4197096"/>
            <a:ext cx="3108960" cy="365760"/>
          </a:xfrm>
          <a:prstGeom prst="rect">
            <a:avLst/>
          </a:prstGeom>
          <a:noFill/>
          <a:ln/>
        </p:spPr>
        <p:txBody>
          <a:bodyPr wrap="square" lIns="0" tIns="0" rIns="0" bIns="0" rtlCol="0" anchor="t"/>
          <a:lstStyle/>
          <a:p>
            <a:pPr indent="0" marL="0">
              <a:buNone/>
            </a:pPr>
            <a:r>
              <a:rPr lang="en-US" sz="1500" b="1" dirty="0">
                <a:solidFill>
                  <a:schemeClr val="tx1"/>
                </a:solidFill>
              </a:rPr>
              <a:t>Results 2022–2026</a:t>
            </a:r>
            <a:endParaRPr lang="en-US" sz="1500" dirty="0"/>
          </a:p>
        </p:txBody>
      </p:sp>
      <p:sp>
        <p:nvSpPr>
          <p:cNvPr id="36" name="Text 30"/>
          <p:cNvSpPr txBox="1"/>
          <p:nvPr/>
        </p:nvSpPr>
        <p:spPr>
          <a:xfrm>
            <a:off x="7635240" y="4544568"/>
            <a:ext cx="3383280" cy="411480"/>
          </a:xfrm>
          <a:prstGeom prst="rect">
            <a:avLst/>
          </a:prstGeom>
          <a:noFill/>
          <a:ln/>
        </p:spPr>
        <p:txBody>
          <a:bodyPr wrap="square" lIns="0" tIns="0" rIns="0" bIns="0" rtlCol="0" anchor="t"/>
          <a:lstStyle/>
          <a:p>
            <a:pPr indent="0" marL="0">
              <a:buNone/>
            </a:pPr>
            <a:r>
              <a:rPr lang="en-US" sz="1100" dirty="0">
                <a:solidFill>
                  <a:schemeClr val="tx2"/>
                </a:solidFill>
              </a:rPr>
              <a:t>Training output, curriculum, research, 2025 upgrade</a:t>
            </a:r>
            <a:endParaRPr lang="en-US" sz="1100" dirty="0"/>
          </a:p>
        </p:txBody>
      </p:sp>
      <p:sp>
        <p:nvSpPr>
          <p:cNvPr id="37" name="Text 31"/>
          <p:cNvSpPr txBox="1"/>
          <p:nvPr/>
        </p:nvSpPr>
        <p:spPr>
          <a:xfrm>
            <a:off x="10835640" y="4197096"/>
            <a:ext cx="640080" cy="365760"/>
          </a:xfrm>
          <a:prstGeom prst="rect">
            <a:avLst/>
          </a:prstGeom>
          <a:noFill/>
          <a:ln/>
        </p:spPr>
        <p:txBody>
          <a:bodyPr wrap="square" lIns="0" tIns="0" rIns="0" bIns="0" rtlCol="0" anchor="t"/>
          <a:lstStyle/>
          <a:p>
            <a:pPr algn="r" indent="0" marL="0">
              <a:buNone/>
            </a:pPr>
            <a:r>
              <a:rPr lang="en-US" sz="1200" b="1" dirty="0">
                <a:solidFill>
                  <a:schemeClr val="accent1"/>
                </a:solidFill>
              </a:rPr>
              <a:t>9 min</a:t>
            </a:r>
            <a:endParaRPr lang="en-US" sz="1200" dirty="0"/>
          </a:p>
        </p:txBody>
      </p:sp>
      <p:sp>
        <p:nvSpPr>
          <p:cNvPr id="38" name="card"/>
          <p:cNvSpPr/>
          <p:nvPr/>
        </p:nvSpPr>
        <p:spPr>
          <a:xfrm>
            <a:off x="6675120" y="5166360"/>
            <a:ext cx="4937760" cy="960120"/>
          </a:xfrm>
          <a:prstGeom prst="roundRect">
            <a:avLst>
              <a:gd name="adj" fmla="val 11429"/>
            </a:avLst>
          </a:prstGeom>
          <a:solidFill>
            <a:schemeClr val="bg1"/>
          </a:solidFill>
          <a:ln w="9525">
            <a:solidFill>
              <a:srgbClr val="DDE3EC"/>
            </a:solidFill>
            <a:prstDash val="solid"/>
          </a:ln>
        </p:spPr>
      </p:sp>
      <p:sp>
        <p:nvSpPr>
          <p:cNvPr id="39" name="Text 33"/>
          <p:cNvSpPr txBox="1"/>
          <p:nvPr/>
        </p:nvSpPr>
        <p:spPr>
          <a:xfrm>
            <a:off x="6858000" y="5276088"/>
            <a:ext cx="731520" cy="731520"/>
          </a:xfrm>
          <a:prstGeom prst="rect">
            <a:avLst/>
          </a:prstGeom>
          <a:noFill/>
          <a:ln/>
        </p:spPr>
        <p:txBody>
          <a:bodyPr wrap="square" lIns="0" tIns="0" rIns="0" bIns="0" rtlCol="0" anchor="ctr"/>
          <a:lstStyle/>
          <a:p>
            <a:pPr indent="0" marL="0">
              <a:buNone/>
            </a:pPr>
            <a:r>
              <a:rPr lang="en-US" sz="2600" b="1" dirty="0">
                <a:solidFill>
                  <a:schemeClr val="accent2"/>
                </a:solidFill>
                <a:latin typeface="Cambria" pitchFamily="34" charset="0"/>
                <a:ea typeface="Cambria" pitchFamily="34" charset="-122"/>
                <a:cs typeface="Cambria" pitchFamily="34" charset="-120"/>
              </a:rPr>
              <a:t>04</a:t>
            </a:r>
            <a:endParaRPr lang="en-US" sz="2600" dirty="0"/>
          </a:p>
        </p:txBody>
      </p:sp>
      <p:sp>
        <p:nvSpPr>
          <p:cNvPr id="40" name="Text 34"/>
          <p:cNvSpPr txBox="1"/>
          <p:nvPr/>
        </p:nvSpPr>
        <p:spPr>
          <a:xfrm>
            <a:off x="7635240" y="5294376"/>
            <a:ext cx="3108960" cy="365760"/>
          </a:xfrm>
          <a:prstGeom prst="rect">
            <a:avLst/>
          </a:prstGeom>
          <a:noFill/>
          <a:ln/>
        </p:spPr>
        <p:txBody>
          <a:bodyPr wrap="square" lIns="0" tIns="0" rIns="0" bIns="0" rtlCol="0" anchor="t"/>
          <a:lstStyle/>
          <a:p>
            <a:pPr indent="0" marL="0">
              <a:buNone/>
            </a:pPr>
            <a:r>
              <a:rPr lang="en-US" sz="1500" b="1" dirty="0">
                <a:solidFill>
                  <a:schemeClr val="tx1"/>
                </a:solidFill>
              </a:rPr>
              <a:t>The road ahead</a:t>
            </a:r>
            <a:endParaRPr lang="en-US" sz="1500" dirty="0"/>
          </a:p>
        </p:txBody>
      </p:sp>
      <p:sp>
        <p:nvSpPr>
          <p:cNvPr id="41" name="Text 35"/>
          <p:cNvSpPr txBox="1"/>
          <p:nvPr/>
        </p:nvSpPr>
        <p:spPr>
          <a:xfrm>
            <a:off x="7635240" y="5641848"/>
            <a:ext cx="3383280" cy="411480"/>
          </a:xfrm>
          <a:prstGeom prst="rect">
            <a:avLst/>
          </a:prstGeom>
          <a:noFill/>
          <a:ln/>
        </p:spPr>
        <p:txBody>
          <a:bodyPr wrap="square" lIns="0" tIns="0" rIns="0" bIns="0" rtlCol="0" anchor="t"/>
          <a:lstStyle/>
          <a:p>
            <a:pPr indent="0" marL="0">
              <a:buNone/>
            </a:pPr>
            <a:r>
              <a:rPr lang="en-US" sz="1100" dirty="0">
                <a:solidFill>
                  <a:schemeClr val="tx2"/>
                </a:solidFill>
              </a:rPr>
              <a:t>Proposals for the next phase and for the 14th JWG</a:t>
            </a:r>
            <a:endParaRPr lang="en-US" sz="1100" dirty="0"/>
          </a:p>
        </p:txBody>
      </p:sp>
      <p:sp>
        <p:nvSpPr>
          <p:cNvPr id="42" name="Text 36"/>
          <p:cNvSpPr txBox="1"/>
          <p:nvPr/>
        </p:nvSpPr>
        <p:spPr>
          <a:xfrm>
            <a:off x="10835640" y="5294376"/>
            <a:ext cx="640080" cy="365760"/>
          </a:xfrm>
          <a:prstGeom prst="rect">
            <a:avLst/>
          </a:prstGeom>
          <a:noFill/>
          <a:ln/>
        </p:spPr>
        <p:txBody>
          <a:bodyPr wrap="square" lIns="0" tIns="0" rIns="0" bIns="0" rtlCol="0" anchor="t"/>
          <a:lstStyle/>
          <a:p>
            <a:pPr algn="r" indent="0" marL="0">
              <a:buNone/>
            </a:pPr>
            <a:r>
              <a:rPr lang="en-US" sz="1200" b="1" dirty="0">
                <a:solidFill>
                  <a:schemeClr val="accent1"/>
                </a:solidFill>
              </a:rPr>
              <a:t>5 min</a:t>
            </a:r>
            <a:endParaRPr lang="en-US" sz="1200" dirty="0"/>
          </a:p>
        </p:txBody>
      </p:sp>
      <p:sp>
        <p:nvSpPr>
          <p:cNvPr id="43" name="Text 37"/>
          <p:cNvSpPr txBox="1"/>
          <p:nvPr/>
        </p:nvSpPr>
        <p:spPr>
          <a:xfrm>
            <a:off x="6675120" y="6309360"/>
            <a:ext cx="4937760" cy="274320"/>
          </a:xfrm>
          <a:prstGeom prst="rect">
            <a:avLst/>
          </a:prstGeom>
          <a:noFill/>
          <a:ln/>
        </p:spPr>
        <p:txBody>
          <a:bodyPr wrap="square" lIns="0" tIns="0" rIns="0" bIns="0" rtlCol="0" anchor="t"/>
          <a:lstStyle/>
          <a:p>
            <a:pPr indent="0" marL="0">
              <a:buNone/>
            </a:pPr>
            <a:r>
              <a:rPr lang="en-US" sz="1100" i="1" dirty="0">
                <a:solidFill>
                  <a:schemeClr val="tx2"/>
                </a:solidFill>
              </a:rPr>
              <a:t>Followed by questions and a tour of the laboratories</a:t>
            </a:r>
            <a:endParaRPr lang="en-US" sz="11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47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731520" y="1737360"/>
            <a:ext cx="2743200" cy="914400"/>
          </a:xfrm>
          <a:prstGeom prst="rect">
            <a:avLst/>
          </a:prstGeom>
          <a:noFill/>
          <a:ln/>
        </p:spPr>
        <p:txBody>
          <a:bodyPr wrap="square" lIns="0" tIns="0" rIns="0" bIns="0" rtlCol="0" anchor="t"/>
          <a:lstStyle/>
          <a:p>
            <a:pPr indent="0" marL="0">
              <a:buNone/>
            </a:pPr>
            <a:r>
              <a:rPr lang="en-US" sz="6000" b="1" dirty="0">
                <a:solidFill>
                  <a:schemeClr val="accent1"/>
                </a:solidFill>
                <a:latin typeface="Cambria" pitchFamily="34" charset="0"/>
                <a:ea typeface="Cambria" pitchFamily="34" charset="-122"/>
                <a:cs typeface="Cambria" pitchFamily="34" charset="-120"/>
              </a:rPr>
              <a:t>01</a:t>
            </a:r>
            <a:endParaRPr lang="en-US" sz="6000" dirty="0"/>
          </a:p>
        </p:txBody>
      </p:sp>
      <p:sp>
        <p:nvSpPr>
          <p:cNvPr id="3" name="Text 0"/>
          <p:cNvSpPr/>
          <p:nvPr>
            <p:ph idx="100" type="title" hasCustomPrompt="1"/>
          </p:nvPr>
        </p:nvSpPr>
        <p:spPr>
          <a:xfrm>
            <a:off x="731520" y="2743200"/>
            <a:ext cx="10698480" cy="1097280"/>
          </a:xfrm>
          <a:prstGeom prst="rect">
            <a:avLst/>
          </a:prstGeom>
          <a:noFill/>
          <a:ln/>
        </p:spPr>
        <p:txBody>
          <a:bodyPr wrap="square" lIns="0" tIns="0" rIns="0" bIns="0" rtlCol="0" anchor="ctr"/>
          <a:lstStyle/>
          <a:p>
            <a:pPr indent="0" marL="0">
              <a:buNone/>
            </a:pPr>
            <a:r>
              <a:rPr lang="en-US" sz="4000" b="1" dirty="0">
                <a:solidFill>
                  <a:schemeClr val="bg1"/>
                </a:solidFill>
              </a:rPr>
              <a:t>Partnership context</a:t>
            </a:r>
            <a:endParaRPr lang="en-US" sz="4000" dirty="0"/>
          </a:p>
        </p:txBody>
      </p:sp>
      <p:sp>
        <p:nvSpPr>
          <p:cNvPr id="4" name="Text 0"/>
          <p:cNvSpPr/>
          <p:nvPr>
            <p:ph idx="101" type="body" hasCustomPrompt="1"/>
          </p:nvPr>
        </p:nvSpPr>
        <p:spPr>
          <a:xfrm>
            <a:off x="731520" y="3886200"/>
            <a:ext cx="10698480" cy="731520"/>
          </a:xfrm>
          <a:prstGeom prst="rect">
            <a:avLst/>
          </a:prstGeom>
          <a:noFill/>
          <a:ln/>
        </p:spPr>
        <p:txBody>
          <a:bodyPr wrap="square" lIns="0" tIns="0" rIns="0" bIns="0" rtlCol="0" anchor="t"/>
          <a:lstStyle/>
          <a:p>
            <a:pPr indent="0" marL="0">
              <a:buNone/>
            </a:pPr>
            <a:r>
              <a:rPr lang="en-US" sz="1800" dirty="0">
                <a:solidFill>
                  <a:schemeClr val="accent6"/>
                </a:solidFill>
              </a:rPr>
              <a:t>Seven decades of friendship, a decade of strategic partnership</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000" b="1" dirty="0">
                <a:solidFill>
                  <a:schemeClr val="tx1"/>
                </a:solidFill>
              </a:rPr>
              <a:t>Seven decades of friendship, a decade of strategic partnership</a:t>
            </a:r>
            <a:endParaRPr lang="en-US" sz="3000" dirty="0"/>
          </a:p>
        </p:txBody>
      </p:sp>
      <p:sp>
        <p:nvSpPr>
          <p:cNvPr id="3" name="timeline"/>
          <p:cNvSpPr/>
          <p:nvPr/>
        </p:nvSpPr>
        <p:spPr>
          <a:xfrm>
            <a:off x="1554480" y="3246120"/>
            <a:ext cx="9144000" cy="0"/>
          </a:xfrm>
          <a:prstGeom prst="line">
            <a:avLst/>
          </a:prstGeom>
          <a:noFill/>
          <a:ln w="25400">
            <a:solidFill>
              <a:schemeClr val="accent5"/>
            </a:solidFill>
            <a:prstDash val="solid"/>
          </a:ln>
        </p:spPr>
      </p:sp>
      <p:sp>
        <p:nvSpPr>
          <p:cNvPr id="4" name="Text 2"/>
          <p:cNvSpPr txBox="1"/>
          <p:nvPr/>
        </p:nvSpPr>
        <p:spPr>
          <a:xfrm>
            <a:off x="640080" y="1463040"/>
            <a:ext cx="1828800" cy="548640"/>
          </a:xfrm>
          <a:prstGeom prst="rect">
            <a:avLst/>
          </a:prstGeom>
          <a:noFill/>
          <a:ln/>
        </p:spPr>
        <p:txBody>
          <a:bodyPr wrap="square" lIns="0" tIns="0" rIns="0" bIns="0" rtlCol="0" anchor="b"/>
          <a:lstStyle/>
          <a:p>
            <a:pPr algn="ctr" indent="0" marL="0">
              <a:buNone/>
            </a:pPr>
            <a:r>
              <a:rPr lang="en-US" sz="2800" b="1" dirty="0">
                <a:solidFill>
                  <a:schemeClr val="accent5"/>
                </a:solidFill>
                <a:latin typeface="Cambria" pitchFamily="34" charset="0"/>
                <a:ea typeface="Cambria" pitchFamily="34" charset="-122"/>
                <a:cs typeface="Cambria" pitchFamily="34" charset="-120"/>
              </a:rPr>
              <a:t>1955</a:t>
            </a:r>
            <a:endParaRPr lang="en-US" sz="2800" dirty="0"/>
          </a:p>
        </p:txBody>
      </p:sp>
      <p:sp>
        <p:nvSpPr>
          <p:cNvPr id="5" name="Text 3"/>
          <p:cNvSpPr txBox="1"/>
          <p:nvPr/>
        </p:nvSpPr>
        <p:spPr>
          <a:xfrm>
            <a:off x="731520" y="2057400"/>
            <a:ext cx="1645920" cy="868680"/>
          </a:xfrm>
          <a:prstGeom prst="rect">
            <a:avLst/>
          </a:prstGeom>
          <a:noFill/>
          <a:ln/>
        </p:spPr>
        <p:txBody>
          <a:bodyPr wrap="square" lIns="0" tIns="0" rIns="0" bIns="0" rtlCol="0" anchor="t"/>
          <a:lstStyle/>
          <a:p>
            <a:pPr algn="ctr" indent="0" marL="0">
              <a:buNone/>
            </a:pPr>
            <a:r>
              <a:rPr lang="en-US" sz="1300" b="1" dirty="0">
                <a:solidFill>
                  <a:schemeClr val="tx1"/>
                </a:solidFill>
              </a:rPr>
              <a:t>Diplomatic relations</a:t>
            </a:r>
            <a:endParaRPr lang="en-US" sz="1300" dirty="0"/>
          </a:p>
        </p:txBody>
      </p:sp>
      <p:sp>
        <p:nvSpPr>
          <p:cNvPr id="6" name="node 1955"/>
          <p:cNvSpPr/>
          <p:nvPr/>
        </p:nvSpPr>
        <p:spPr>
          <a:xfrm>
            <a:off x="1399032" y="3090672"/>
            <a:ext cx="310896" cy="310896"/>
          </a:xfrm>
          <a:prstGeom prst="ellipse">
            <a:avLst/>
          </a:prstGeom>
          <a:solidFill>
            <a:schemeClr val="accent5"/>
          </a:solidFill>
          <a:ln w="25400">
            <a:solidFill>
              <a:schemeClr val="bg1"/>
            </a:solidFill>
            <a:prstDash val="solid"/>
          </a:ln>
        </p:spPr>
      </p:sp>
      <p:sp>
        <p:nvSpPr>
          <p:cNvPr id="7" name="Text 5"/>
          <p:cNvSpPr txBox="1"/>
          <p:nvPr/>
        </p:nvSpPr>
        <p:spPr>
          <a:xfrm>
            <a:off x="731520" y="3611880"/>
            <a:ext cx="1645920" cy="1645920"/>
          </a:xfrm>
          <a:prstGeom prst="rect">
            <a:avLst/>
          </a:prstGeom>
          <a:noFill/>
          <a:ln/>
        </p:spPr>
        <p:txBody>
          <a:bodyPr wrap="square" lIns="0" tIns="0" rIns="0" bIns="0" rtlCol="0" anchor="t"/>
          <a:lstStyle/>
          <a:p>
            <a:pPr algn="ctr" indent="0" marL="0">
              <a:buNone/>
            </a:pPr>
            <a:r>
              <a:rPr lang="en-US" sz="1150" dirty="0">
                <a:solidFill>
                  <a:schemeClr val="tx2"/>
                </a:solidFill>
              </a:rPr>
              <a:t>24 December. India becomes the first country outside the Soviet bloc to establish relations with Mongolia</a:t>
            </a:r>
            <a:endParaRPr lang="en-US" sz="1150" dirty="0"/>
          </a:p>
        </p:txBody>
      </p:sp>
      <p:sp>
        <p:nvSpPr>
          <p:cNvPr id="8" name="Text 6"/>
          <p:cNvSpPr txBox="1"/>
          <p:nvPr/>
        </p:nvSpPr>
        <p:spPr>
          <a:xfrm>
            <a:off x="2468880" y="1463040"/>
            <a:ext cx="1828800" cy="548640"/>
          </a:xfrm>
          <a:prstGeom prst="rect">
            <a:avLst/>
          </a:prstGeom>
          <a:noFill/>
          <a:ln/>
        </p:spPr>
        <p:txBody>
          <a:bodyPr wrap="square" lIns="0" tIns="0" rIns="0" bIns="0" rtlCol="0" anchor="b"/>
          <a:lstStyle/>
          <a:p>
            <a:pPr algn="ctr" indent="0" marL="0">
              <a:buNone/>
            </a:pPr>
            <a:r>
              <a:rPr lang="en-US" sz="2800" b="1" dirty="0">
                <a:solidFill>
                  <a:schemeClr val="accent5"/>
                </a:solidFill>
                <a:latin typeface="Cambria" pitchFamily="34" charset="0"/>
                <a:ea typeface="Cambria" pitchFamily="34" charset="-122"/>
                <a:cs typeface="Cambria" pitchFamily="34" charset="-120"/>
              </a:rPr>
              <a:t>1994</a:t>
            </a:r>
            <a:endParaRPr lang="en-US" sz="2800" dirty="0"/>
          </a:p>
        </p:txBody>
      </p:sp>
      <p:sp>
        <p:nvSpPr>
          <p:cNvPr id="9" name="Text 7"/>
          <p:cNvSpPr txBox="1"/>
          <p:nvPr/>
        </p:nvSpPr>
        <p:spPr>
          <a:xfrm>
            <a:off x="2560320" y="2057400"/>
            <a:ext cx="1645920" cy="868680"/>
          </a:xfrm>
          <a:prstGeom prst="rect">
            <a:avLst/>
          </a:prstGeom>
          <a:noFill/>
          <a:ln/>
        </p:spPr>
        <p:txBody>
          <a:bodyPr wrap="square" lIns="0" tIns="0" rIns="0" bIns="0" rtlCol="0" anchor="t"/>
          <a:lstStyle/>
          <a:p>
            <a:pPr algn="ctr" indent="0" marL="0">
              <a:buNone/>
            </a:pPr>
            <a:r>
              <a:rPr lang="en-US" sz="1300" b="1" dirty="0">
                <a:solidFill>
                  <a:schemeClr val="tx1"/>
                </a:solidFill>
              </a:rPr>
              <a:t>Treaty of Friendly Relations and Cooperation</a:t>
            </a:r>
            <a:endParaRPr lang="en-US" sz="1300" dirty="0"/>
          </a:p>
        </p:txBody>
      </p:sp>
      <p:sp>
        <p:nvSpPr>
          <p:cNvPr id="10" name="node 1994"/>
          <p:cNvSpPr/>
          <p:nvPr/>
        </p:nvSpPr>
        <p:spPr>
          <a:xfrm>
            <a:off x="3227832" y="3090672"/>
            <a:ext cx="310896" cy="310896"/>
          </a:xfrm>
          <a:prstGeom prst="ellipse">
            <a:avLst/>
          </a:prstGeom>
          <a:solidFill>
            <a:schemeClr val="accent5"/>
          </a:solidFill>
          <a:ln w="25400">
            <a:solidFill>
              <a:schemeClr val="bg1"/>
            </a:solidFill>
            <a:prstDash val="solid"/>
          </a:ln>
        </p:spPr>
      </p:sp>
      <p:sp>
        <p:nvSpPr>
          <p:cNvPr id="11" name="Text 9"/>
          <p:cNvSpPr txBox="1"/>
          <p:nvPr/>
        </p:nvSpPr>
        <p:spPr>
          <a:xfrm>
            <a:off x="2560320" y="3611880"/>
            <a:ext cx="1645920" cy="1645920"/>
          </a:xfrm>
          <a:prstGeom prst="rect">
            <a:avLst/>
          </a:prstGeom>
          <a:noFill/>
          <a:ln/>
        </p:spPr>
        <p:txBody>
          <a:bodyPr wrap="square" lIns="0" tIns="0" rIns="0" bIns="0" rtlCol="0" anchor="t"/>
          <a:lstStyle/>
          <a:p>
            <a:pPr algn="ctr" indent="0" marL="0">
              <a:buNone/>
            </a:pPr>
            <a:r>
              <a:rPr lang="en-US" sz="1150" dirty="0">
                <a:solidFill>
                  <a:schemeClr val="tx2"/>
                </a:solidFill>
              </a:rPr>
              <a:t>Legal foundation of the modern partnership</a:t>
            </a:r>
            <a:endParaRPr lang="en-US" sz="1150" dirty="0"/>
          </a:p>
        </p:txBody>
      </p:sp>
      <p:sp>
        <p:nvSpPr>
          <p:cNvPr id="12" name="Text 10"/>
          <p:cNvSpPr txBox="1"/>
          <p:nvPr/>
        </p:nvSpPr>
        <p:spPr>
          <a:xfrm>
            <a:off x="4297680" y="1463040"/>
            <a:ext cx="1828800" cy="548640"/>
          </a:xfrm>
          <a:prstGeom prst="rect">
            <a:avLst/>
          </a:prstGeom>
          <a:noFill/>
          <a:ln/>
        </p:spPr>
        <p:txBody>
          <a:bodyPr wrap="square" lIns="0" tIns="0" rIns="0" bIns="0" rtlCol="0" anchor="b"/>
          <a:lstStyle/>
          <a:p>
            <a:pPr algn="ctr" indent="0" marL="0">
              <a:buNone/>
            </a:pPr>
            <a:r>
              <a:rPr lang="en-US" sz="2800" b="1" dirty="0">
                <a:solidFill>
                  <a:schemeClr val="accent2"/>
                </a:solidFill>
                <a:latin typeface="Cambria" pitchFamily="34" charset="0"/>
                <a:ea typeface="Cambria" pitchFamily="34" charset="-122"/>
                <a:cs typeface="Cambria" pitchFamily="34" charset="-120"/>
              </a:rPr>
              <a:t>2001</a:t>
            </a:r>
            <a:endParaRPr lang="en-US" sz="2800" dirty="0"/>
          </a:p>
        </p:txBody>
      </p:sp>
      <p:sp>
        <p:nvSpPr>
          <p:cNvPr id="13" name="Text 11"/>
          <p:cNvSpPr txBox="1"/>
          <p:nvPr/>
        </p:nvSpPr>
        <p:spPr>
          <a:xfrm>
            <a:off x="4389120" y="2057400"/>
            <a:ext cx="1645920" cy="868680"/>
          </a:xfrm>
          <a:prstGeom prst="rect">
            <a:avLst/>
          </a:prstGeom>
          <a:noFill/>
          <a:ln/>
        </p:spPr>
        <p:txBody>
          <a:bodyPr wrap="square" lIns="0" tIns="0" rIns="0" bIns="0" rtlCol="0" anchor="t"/>
          <a:lstStyle/>
          <a:p>
            <a:pPr algn="ctr" indent="0" marL="0">
              <a:buNone/>
            </a:pPr>
            <a:r>
              <a:rPr lang="en-US" sz="1300" b="1" dirty="0">
                <a:solidFill>
                  <a:schemeClr val="tx1"/>
                </a:solidFill>
              </a:rPr>
              <a:t>Agreement on Defence Cooperation</a:t>
            </a:r>
            <a:endParaRPr lang="en-US" sz="1300" dirty="0"/>
          </a:p>
        </p:txBody>
      </p:sp>
      <p:sp>
        <p:nvSpPr>
          <p:cNvPr id="14" name="node 2001"/>
          <p:cNvSpPr/>
          <p:nvPr/>
        </p:nvSpPr>
        <p:spPr>
          <a:xfrm>
            <a:off x="5056632" y="3090672"/>
            <a:ext cx="310896" cy="310896"/>
          </a:xfrm>
          <a:prstGeom prst="ellipse">
            <a:avLst/>
          </a:prstGeom>
          <a:solidFill>
            <a:schemeClr val="accent2"/>
          </a:solidFill>
          <a:ln w="25400">
            <a:solidFill>
              <a:schemeClr val="bg1"/>
            </a:solidFill>
            <a:prstDash val="solid"/>
          </a:ln>
        </p:spPr>
      </p:sp>
      <p:sp>
        <p:nvSpPr>
          <p:cNvPr id="15" name="Text 13"/>
          <p:cNvSpPr txBox="1"/>
          <p:nvPr/>
        </p:nvSpPr>
        <p:spPr>
          <a:xfrm>
            <a:off x="4389120" y="3611880"/>
            <a:ext cx="1645920" cy="1645920"/>
          </a:xfrm>
          <a:prstGeom prst="rect">
            <a:avLst/>
          </a:prstGeom>
          <a:noFill/>
          <a:ln/>
        </p:spPr>
        <p:txBody>
          <a:bodyPr wrap="square" lIns="0" tIns="0" rIns="0" bIns="0" rtlCol="0" anchor="t"/>
          <a:lstStyle/>
          <a:p>
            <a:pPr algn="ctr" indent="0" marL="0">
              <a:buNone/>
            </a:pPr>
            <a:r>
              <a:rPr lang="en-US" sz="1150" dirty="0">
                <a:solidFill>
                  <a:schemeClr val="tx2"/>
                </a:solidFill>
              </a:rPr>
              <a:t>Followed by the Joint Working Group of the two Defence Ministries, now meeting every year</a:t>
            </a:r>
            <a:endParaRPr lang="en-US" sz="1150" dirty="0"/>
          </a:p>
        </p:txBody>
      </p:sp>
      <p:sp>
        <p:nvSpPr>
          <p:cNvPr id="16" name="Text 14"/>
          <p:cNvSpPr txBox="1"/>
          <p:nvPr/>
        </p:nvSpPr>
        <p:spPr>
          <a:xfrm>
            <a:off x="6126480" y="1463040"/>
            <a:ext cx="1828800" cy="548640"/>
          </a:xfrm>
          <a:prstGeom prst="rect">
            <a:avLst/>
          </a:prstGeom>
          <a:noFill/>
          <a:ln/>
        </p:spPr>
        <p:txBody>
          <a:bodyPr wrap="square" lIns="0" tIns="0" rIns="0" bIns="0" rtlCol="0" anchor="b"/>
          <a:lstStyle/>
          <a:p>
            <a:pPr algn="ctr" indent="0" marL="0">
              <a:buNone/>
            </a:pPr>
            <a:r>
              <a:rPr lang="en-US" sz="2800" b="1" dirty="0">
                <a:solidFill>
                  <a:schemeClr val="accent1"/>
                </a:solidFill>
                <a:latin typeface="Cambria" pitchFamily="34" charset="0"/>
                <a:ea typeface="Cambria" pitchFamily="34" charset="-122"/>
                <a:cs typeface="Cambria" pitchFamily="34" charset="-120"/>
              </a:rPr>
              <a:t>2015</a:t>
            </a:r>
            <a:endParaRPr lang="en-US" sz="2800" dirty="0"/>
          </a:p>
        </p:txBody>
      </p:sp>
      <p:sp>
        <p:nvSpPr>
          <p:cNvPr id="17" name="Text 15"/>
          <p:cNvSpPr txBox="1"/>
          <p:nvPr/>
        </p:nvSpPr>
        <p:spPr>
          <a:xfrm>
            <a:off x="6217920" y="2057400"/>
            <a:ext cx="1645920" cy="868680"/>
          </a:xfrm>
          <a:prstGeom prst="rect">
            <a:avLst/>
          </a:prstGeom>
          <a:noFill/>
          <a:ln/>
        </p:spPr>
        <p:txBody>
          <a:bodyPr wrap="square" lIns="0" tIns="0" rIns="0" bIns="0" rtlCol="0" anchor="t"/>
          <a:lstStyle/>
          <a:p>
            <a:pPr algn="ctr" indent="0" marL="0">
              <a:buNone/>
            </a:pPr>
            <a:r>
              <a:rPr lang="en-US" sz="1300" b="1" dirty="0">
                <a:solidFill>
                  <a:schemeClr val="tx1"/>
                </a:solidFill>
              </a:rPr>
              <a:t>Strategic Partnership</a:t>
            </a:r>
            <a:endParaRPr lang="en-US" sz="1300" dirty="0"/>
          </a:p>
        </p:txBody>
      </p:sp>
      <p:sp>
        <p:nvSpPr>
          <p:cNvPr id="18" name="node 2015"/>
          <p:cNvSpPr/>
          <p:nvPr/>
        </p:nvSpPr>
        <p:spPr>
          <a:xfrm>
            <a:off x="6885432" y="3090672"/>
            <a:ext cx="310896" cy="310896"/>
          </a:xfrm>
          <a:prstGeom prst="ellipse">
            <a:avLst/>
          </a:prstGeom>
          <a:solidFill>
            <a:schemeClr val="accent1"/>
          </a:solidFill>
          <a:ln w="25400">
            <a:solidFill>
              <a:schemeClr val="bg1"/>
            </a:solidFill>
            <a:prstDash val="solid"/>
          </a:ln>
        </p:spPr>
      </p:sp>
      <p:sp>
        <p:nvSpPr>
          <p:cNvPr id="19" name="Text 17"/>
          <p:cNvSpPr txBox="1"/>
          <p:nvPr/>
        </p:nvSpPr>
        <p:spPr>
          <a:xfrm>
            <a:off x="6217920" y="3611880"/>
            <a:ext cx="1645920" cy="1645920"/>
          </a:xfrm>
          <a:prstGeom prst="rect">
            <a:avLst/>
          </a:prstGeom>
          <a:noFill/>
          <a:ln/>
        </p:spPr>
        <p:txBody>
          <a:bodyPr wrap="square" lIns="0" tIns="0" rIns="0" bIns="0" rtlCol="0" anchor="t"/>
          <a:lstStyle/>
          <a:p>
            <a:pPr algn="ctr" indent="0" marL="0">
              <a:buNone/>
            </a:pPr>
            <a:r>
              <a:rPr lang="en-US" sz="1150" dirty="0">
                <a:solidFill>
                  <a:schemeClr val="tx2"/>
                </a:solidFill>
              </a:rPr>
              <a:t>First visit of an Indian Prime Minister; 17 May: Memorandum to establish a Cyber Security Training Centre at the Ministry of Defence</a:t>
            </a:r>
            <a:endParaRPr lang="en-US" sz="1150" dirty="0"/>
          </a:p>
        </p:txBody>
      </p:sp>
      <p:sp>
        <p:nvSpPr>
          <p:cNvPr id="20" name="Text 18"/>
          <p:cNvSpPr txBox="1"/>
          <p:nvPr/>
        </p:nvSpPr>
        <p:spPr>
          <a:xfrm>
            <a:off x="7955280" y="1463040"/>
            <a:ext cx="1828800" cy="548640"/>
          </a:xfrm>
          <a:prstGeom prst="rect">
            <a:avLst/>
          </a:prstGeom>
          <a:noFill/>
          <a:ln/>
        </p:spPr>
        <p:txBody>
          <a:bodyPr wrap="square" lIns="0" tIns="0" rIns="0" bIns="0" rtlCol="0" anchor="b"/>
          <a:lstStyle/>
          <a:p>
            <a:pPr algn="ctr" indent="0" marL="0">
              <a:buNone/>
            </a:pPr>
            <a:r>
              <a:rPr lang="en-US" sz="2800" b="1" dirty="0">
                <a:solidFill>
                  <a:schemeClr val="accent1"/>
                </a:solidFill>
                <a:latin typeface="Cambria" pitchFamily="34" charset="0"/>
                <a:ea typeface="Cambria" pitchFamily="34" charset="-122"/>
                <a:cs typeface="Cambria" pitchFamily="34" charset="-120"/>
              </a:rPr>
              <a:t>2022</a:t>
            </a:r>
            <a:endParaRPr lang="en-US" sz="2800" dirty="0"/>
          </a:p>
        </p:txBody>
      </p:sp>
      <p:sp>
        <p:nvSpPr>
          <p:cNvPr id="21" name="Text 19"/>
          <p:cNvSpPr txBox="1"/>
          <p:nvPr/>
        </p:nvSpPr>
        <p:spPr>
          <a:xfrm>
            <a:off x="8046720" y="2057400"/>
            <a:ext cx="1645920" cy="868680"/>
          </a:xfrm>
          <a:prstGeom prst="rect">
            <a:avLst/>
          </a:prstGeom>
          <a:noFill/>
          <a:ln/>
        </p:spPr>
        <p:txBody>
          <a:bodyPr wrap="square" lIns="0" tIns="0" rIns="0" bIns="0" rtlCol="0" anchor="t"/>
          <a:lstStyle/>
          <a:p>
            <a:pPr algn="ctr" indent="0" marL="0">
              <a:buNone/>
            </a:pPr>
            <a:r>
              <a:rPr lang="en-US" sz="1300" b="1" dirty="0">
                <a:solidFill>
                  <a:schemeClr val="tx1"/>
                </a:solidFill>
              </a:rPr>
              <a:t>Cyber Security Training Centre opens</a:t>
            </a:r>
            <a:endParaRPr lang="en-US" sz="1300" dirty="0"/>
          </a:p>
        </p:txBody>
      </p:sp>
      <p:sp>
        <p:nvSpPr>
          <p:cNvPr id="22" name="node 2022"/>
          <p:cNvSpPr/>
          <p:nvPr/>
        </p:nvSpPr>
        <p:spPr>
          <a:xfrm>
            <a:off x="8714232" y="3090672"/>
            <a:ext cx="310896" cy="310896"/>
          </a:xfrm>
          <a:prstGeom prst="ellipse">
            <a:avLst/>
          </a:prstGeom>
          <a:solidFill>
            <a:schemeClr val="accent1"/>
          </a:solidFill>
          <a:ln w="25400">
            <a:solidFill>
              <a:schemeClr val="bg1"/>
            </a:solidFill>
            <a:prstDash val="solid"/>
          </a:ln>
        </p:spPr>
      </p:sp>
      <p:sp>
        <p:nvSpPr>
          <p:cNvPr id="23" name="Text 21"/>
          <p:cNvSpPr txBox="1"/>
          <p:nvPr/>
        </p:nvSpPr>
        <p:spPr>
          <a:xfrm>
            <a:off x="8046720" y="3611880"/>
            <a:ext cx="1645920" cy="1645920"/>
          </a:xfrm>
          <a:prstGeom prst="rect">
            <a:avLst/>
          </a:prstGeom>
          <a:noFill/>
          <a:ln/>
        </p:spPr>
        <p:txBody>
          <a:bodyPr wrap="square" lIns="0" tIns="0" rIns="0" bIns="0" rtlCol="0" anchor="t"/>
          <a:lstStyle/>
          <a:p>
            <a:pPr algn="ctr" indent="0" marL="0">
              <a:buNone/>
            </a:pPr>
            <a:r>
              <a:rPr lang="en-US" sz="1150" dirty="0">
                <a:solidFill>
                  <a:schemeClr val="tx2"/>
                </a:solidFill>
              </a:rPr>
              <a:t>6 September. First visit of an Indian Defence Minister; Centre inaugurated at NDU by the two Defence Ministers</a:t>
            </a:r>
            <a:endParaRPr lang="en-US" sz="1150" dirty="0"/>
          </a:p>
        </p:txBody>
      </p:sp>
      <p:sp>
        <p:nvSpPr>
          <p:cNvPr id="24" name="Text 22"/>
          <p:cNvSpPr txBox="1"/>
          <p:nvPr/>
        </p:nvSpPr>
        <p:spPr>
          <a:xfrm>
            <a:off x="9784080" y="1463040"/>
            <a:ext cx="1828800" cy="548640"/>
          </a:xfrm>
          <a:prstGeom prst="rect">
            <a:avLst/>
          </a:prstGeom>
          <a:noFill/>
          <a:ln/>
        </p:spPr>
        <p:txBody>
          <a:bodyPr wrap="square" lIns="0" tIns="0" rIns="0" bIns="0" rtlCol="0" anchor="b"/>
          <a:lstStyle/>
          <a:p>
            <a:pPr algn="ctr" indent="0" marL="0">
              <a:buNone/>
            </a:pPr>
            <a:r>
              <a:rPr lang="en-US" sz="2800" b="1" dirty="0">
                <a:solidFill>
                  <a:schemeClr val="accent2"/>
                </a:solidFill>
                <a:latin typeface="Cambria" pitchFamily="34" charset="0"/>
                <a:ea typeface="Cambria" pitchFamily="34" charset="-122"/>
                <a:cs typeface="Cambria" pitchFamily="34" charset="-120"/>
              </a:rPr>
              <a:t>2025</a:t>
            </a:r>
            <a:endParaRPr lang="en-US" sz="2800" dirty="0"/>
          </a:p>
        </p:txBody>
      </p:sp>
      <p:sp>
        <p:nvSpPr>
          <p:cNvPr id="25" name="Text 23"/>
          <p:cNvSpPr txBox="1"/>
          <p:nvPr/>
        </p:nvSpPr>
        <p:spPr>
          <a:xfrm>
            <a:off x="9875520" y="2057400"/>
            <a:ext cx="1645920" cy="868680"/>
          </a:xfrm>
          <a:prstGeom prst="rect">
            <a:avLst/>
          </a:prstGeom>
          <a:noFill/>
          <a:ln/>
        </p:spPr>
        <p:txBody>
          <a:bodyPr wrap="square" lIns="0" tIns="0" rIns="0" bIns="0" rtlCol="0" anchor="t"/>
          <a:lstStyle/>
          <a:p>
            <a:pPr algn="ctr" indent="0" marL="0">
              <a:buNone/>
            </a:pPr>
            <a:r>
              <a:rPr lang="en-US" sz="1300" b="1" dirty="0">
                <a:solidFill>
                  <a:schemeClr val="tx1"/>
                </a:solidFill>
              </a:rPr>
              <a:t>70 years · State visit to India</a:t>
            </a:r>
            <a:endParaRPr lang="en-US" sz="1300" dirty="0"/>
          </a:p>
        </p:txBody>
      </p:sp>
      <p:sp>
        <p:nvSpPr>
          <p:cNvPr id="26" name="node 2025"/>
          <p:cNvSpPr/>
          <p:nvPr/>
        </p:nvSpPr>
        <p:spPr>
          <a:xfrm>
            <a:off x="10543032" y="3090672"/>
            <a:ext cx="310896" cy="310896"/>
          </a:xfrm>
          <a:prstGeom prst="ellipse">
            <a:avLst/>
          </a:prstGeom>
          <a:solidFill>
            <a:schemeClr val="accent2"/>
          </a:solidFill>
          <a:ln w="25400">
            <a:solidFill>
              <a:schemeClr val="bg1"/>
            </a:solidFill>
            <a:prstDash val="solid"/>
          </a:ln>
        </p:spPr>
      </p:sp>
      <p:sp>
        <p:nvSpPr>
          <p:cNvPr id="27" name="Text 25"/>
          <p:cNvSpPr txBox="1"/>
          <p:nvPr/>
        </p:nvSpPr>
        <p:spPr>
          <a:xfrm>
            <a:off x="9875520" y="3611880"/>
            <a:ext cx="1645920" cy="1645920"/>
          </a:xfrm>
          <a:prstGeom prst="rect">
            <a:avLst/>
          </a:prstGeom>
          <a:noFill/>
          <a:ln/>
        </p:spPr>
        <p:txBody>
          <a:bodyPr wrap="square" lIns="0" tIns="0" rIns="0" bIns="0" rtlCol="0" anchor="t"/>
          <a:lstStyle/>
          <a:p>
            <a:pPr algn="ctr" indent="0" marL="0">
              <a:buNone/>
            </a:pPr>
            <a:r>
              <a:rPr lang="en-US" sz="1150" dirty="0">
                <a:solidFill>
                  <a:schemeClr val="tx2"/>
                </a:solidFill>
              </a:rPr>
              <a:t>13–16 October. President Khurelsukh in New Delhi; India to open a Defence Wing in Ulaanbaatar</a:t>
            </a:r>
            <a:endParaRPr lang="en-US" sz="1150" dirty="0"/>
          </a:p>
        </p:txBody>
      </p:sp>
      <p:sp>
        <p:nvSpPr>
          <p:cNvPr id="28" name="card"/>
          <p:cNvSpPr/>
          <p:nvPr/>
        </p:nvSpPr>
        <p:spPr>
          <a:xfrm>
            <a:off x="640080" y="5349240"/>
            <a:ext cx="10972800" cy="868680"/>
          </a:xfrm>
          <a:prstGeom prst="roundRect">
            <a:avLst>
              <a:gd name="adj" fmla="val 12632"/>
            </a:avLst>
          </a:prstGeom>
          <a:solidFill>
            <a:schemeClr val="bg2"/>
          </a:solidFill>
          <a:ln w="12700">
            <a:solidFill>
              <a:schemeClr val="bg2"/>
            </a:solidFill>
            <a:prstDash val="solid"/>
          </a:ln>
        </p:spPr>
      </p:sp>
      <p:sp>
        <p:nvSpPr>
          <p:cNvPr id="29" name="icon circle"/>
          <p:cNvSpPr/>
          <p:nvPr/>
        </p:nvSpPr>
        <p:spPr>
          <a:xfrm>
            <a:off x="868680" y="5486400"/>
            <a:ext cx="594360" cy="594360"/>
          </a:xfrm>
          <a:prstGeom prst="ellipse">
            <a:avLst/>
          </a:prstGeom>
          <a:solidFill>
            <a:schemeClr val="accent3"/>
          </a:solidFill>
          <a:ln w="12700">
            <a:solidFill>
              <a:schemeClr val="accent3"/>
            </a:solidFill>
            <a:prstDash val="solid"/>
          </a:ln>
        </p:spPr>
      </p:sp>
      <p:pic>
        <p:nvPicPr>
          <p:cNvPr id="30" name="FaHandshake" descr="preencoded.png">    </p:cNvPr>
          <p:cNvPicPr>
            <a:picLocks noChangeAspect="1"/>
          </p:cNvPicPr>
          <p:nvPr/>
        </p:nvPicPr>
        <p:blipFill>
          <a:blip r:embed="rId1"/>
          <a:stretch>
            <a:fillRect/>
          </a:stretch>
        </p:blipFill>
        <p:spPr>
          <a:xfrm>
            <a:off x="1023214" y="5640934"/>
            <a:ext cx="285293" cy="285293"/>
          </a:xfrm>
          <a:prstGeom prst="rect">
            <a:avLst/>
          </a:prstGeom>
        </p:spPr>
      </p:pic>
      <p:sp>
        <p:nvSpPr>
          <p:cNvPr id="31" name="Text 28"/>
          <p:cNvSpPr txBox="1"/>
          <p:nvPr/>
        </p:nvSpPr>
        <p:spPr>
          <a:xfrm>
            <a:off x="1645920" y="5440680"/>
            <a:ext cx="9784080" cy="685800"/>
          </a:xfrm>
          <a:prstGeom prst="rect">
            <a:avLst/>
          </a:prstGeom>
          <a:noFill/>
          <a:ln/>
        </p:spPr>
        <p:txBody>
          <a:bodyPr wrap="square" lIns="0" tIns="0" rIns="0" bIns="0" rtlCol="0" anchor="ctr"/>
          <a:lstStyle/>
          <a:p>
            <a:pPr indent="0" marL="0">
              <a:buNone/>
            </a:pPr>
            <a:r>
              <a:rPr lang="en-US" sz="1300" dirty="0">
                <a:solidFill>
                  <a:schemeClr val="tx1"/>
                </a:solidFill>
              </a:rPr>
              <a:t>The Cyber Security Training Centre was agreed in 2015, built in 2021–2022 and has run with Indian training teams since 2023. It is the most tangible institution of the defence partnership.</a:t>
            </a:r>
            <a:endParaRPr lang="en-US" sz="13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47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000" b="1" dirty="0">
                <a:solidFill>
                  <a:schemeClr val="tx1"/>
                </a:solidFill>
              </a:rPr>
              <a:t>Defence cooperation today rests on four pillars</a:t>
            </a:r>
            <a:endParaRPr lang="en-US" sz="3000" dirty="0"/>
          </a:p>
        </p:txBody>
      </p:sp>
      <p:sp>
        <p:nvSpPr>
          <p:cNvPr id="3" name="card"/>
          <p:cNvSpPr/>
          <p:nvPr/>
        </p:nvSpPr>
        <p:spPr>
          <a:xfrm>
            <a:off x="548640" y="1371600"/>
            <a:ext cx="2651760" cy="4846320"/>
          </a:xfrm>
          <a:prstGeom prst="roundRect">
            <a:avLst>
              <a:gd name="adj" fmla="val 4138"/>
            </a:avLst>
          </a:prstGeom>
          <a:solidFill>
            <a:schemeClr val="bg2"/>
          </a:solidFill>
          <a:ln w="12700">
            <a:solidFill>
              <a:schemeClr val="bg2"/>
            </a:solidFill>
            <a:prstDash val="solid"/>
          </a:ln>
        </p:spPr>
      </p:sp>
      <p:sp>
        <p:nvSpPr>
          <p:cNvPr id="4" name="icon circle"/>
          <p:cNvSpPr/>
          <p:nvPr/>
        </p:nvSpPr>
        <p:spPr>
          <a:xfrm>
            <a:off x="777240" y="1600200"/>
            <a:ext cx="640080" cy="640080"/>
          </a:xfrm>
          <a:prstGeom prst="ellipse">
            <a:avLst/>
          </a:prstGeom>
          <a:solidFill>
            <a:schemeClr val="accent2"/>
          </a:solidFill>
          <a:ln w="12700">
            <a:solidFill>
              <a:schemeClr val="accent2"/>
            </a:solidFill>
            <a:prstDash val="solid"/>
          </a:ln>
        </p:spPr>
      </p:sp>
      <p:pic>
        <p:nvPicPr>
          <p:cNvPr id="5" name="FaComments" descr="preencoded.png">    </p:cNvPr>
          <p:cNvPicPr>
            <a:picLocks noChangeAspect="1"/>
          </p:cNvPicPr>
          <p:nvPr/>
        </p:nvPicPr>
        <p:blipFill>
          <a:blip r:embed="rId1"/>
          <a:stretch>
            <a:fillRect/>
          </a:stretch>
        </p:blipFill>
        <p:spPr>
          <a:xfrm>
            <a:off x="943661" y="1766621"/>
            <a:ext cx="307238" cy="307238"/>
          </a:xfrm>
          <a:prstGeom prst="rect">
            <a:avLst/>
          </a:prstGeom>
        </p:spPr>
      </p:pic>
      <p:sp>
        <p:nvSpPr>
          <p:cNvPr id="6" name="Text 3"/>
          <p:cNvSpPr txBox="1"/>
          <p:nvPr/>
        </p:nvSpPr>
        <p:spPr>
          <a:xfrm>
            <a:off x="1554480" y="1645920"/>
            <a:ext cx="1463040" cy="548640"/>
          </a:xfrm>
          <a:prstGeom prst="rect">
            <a:avLst/>
          </a:prstGeom>
          <a:noFill/>
          <a:ln/>
        </p:spPr>
        <p:txBody>
          <a:bodyPr wrap="square" lIns="0" tIns="0" rIns="0" bIns="0" rtlCol="0" anchor="ctr"/>
          <a:lstStyle/>
          <a:p>
            <a:pPr indent="0" marL="0">
              <a:buNone/>
            </a:pPr>
            <a:r>
              <a:rPr lang="en-US" sz="1700" b="1" dirty="0">
                <a:solidFill>
                  <a:schemeClr val="tx1"/>
                </a:solidFill>
              </a:rPr>
              <a:t>Policy dialogue</a:t>
            </a:r>
            <a:endParaRPr lang="en-US" sz="1700" dirty="0"/>
          </a:p>
        </p:txBody>
      </p:sp>
      <p:sp>
        <p:nvSpPr>
          <p:cNvPr id="7" name="Text 4"/>
          <p:cNvSpPr txBox="1"/>
          <p:nvPr/>
        </p:nvSpPr>
        <p:spPr>
          <a:xfrm>
            <a:off x="777240" y="2423160"/>
            <a:ext cx="2194560" cy="731520"/>
          </a:xfrm>
          <a:prstGeom prst="rect">
            <a:avLst/>
          </a:prstGeom>
          <a:noFill/>
          <a:ln/>
        </p:spPr>
        <p:txBody>
          <a:bodyPr wrap="square" lIns="0" tIns="0" rIns="0" bIns="0" rtlCol="0" anchor="ctr"/>
          <a:lstStyle/>
          <a:p>
            <a:pPr indent="0" marL="0">
              <a:buNone/>
            </a:pPr>
            <a:r>
              <a:rPr lang="en-US" sz="3600" b="1" dirty="0">
                <a:solidFill>
                  <a:schemeClr val="accent2"/>
                </a:solidFill>
                <a:latin typeface="Cambria" pitchFamily="34" charset="0"/>
                <a:ea typeface="Cambria" pitchFamily="34" charset="-122"/>
                <a:cs typeface="Cambria" pitchFamily="34" charset="-120"/>
              </a:rPr>
              <a:t>14th</a:t>
            </a:r>
            <a:endParaRPr lang="en-US" sz="3600" dirty="0"/>
          </a:p>
        </p:txBody>
      </p:sp>
      <p:sp>
        <p:nvSpPr>
          <p:cNvPr id="8" name="Text 5"/>
          <p:cNvSpPr txBox="1"/>
          <p:nvPr/>
        </p:nvSpPr>
        <p:spPr>
          <a:xfrm>
            <a:off x="777240" y="3154680"/>
            <a:ext cx="2194560" cy="548640"/>
          </a:xfrm>
          <a:prstGeom prst="rect">
            <a:avLst/>
          </a:prstGeom>
          <a:noFill/>
          <a:ln/>
        </p:spPr>
        <p:txBody>
          <a:bodyPr wrap="square" lIns="0" tIns="0" rIns="0" bIns="0" rtlCol="0" anchor="t"/>
          <a:lstStyle/>
          <a:p>
            <a:pPr indent="0" marL="0">
              <a:buNone/>
            </a:pPr>
            <a:r>
              <a:rPr lang="en-US" sz="1150" dirty="0">
                <a:solidFill>
                  <a:schemeClr val="tx2"/>
                </a:solidFill>
              </a:rPr>
              <a:t>Joint Working Group meeting, 2026</a:t>
            </a:r>
            <a:endParaRPr lang="en-US" sz="1150" dirty="0"/>
          </a:p>
        </p:txBody>
      </p:sp>
      <p:sp>
        <p:nvSpPr>
          <p:cNvPr id="9" name="Text 6"/>
          <p:cNvSpPr txBox="1"/>
          <p:nvPr/>
        </p:nvSpPr>
        <p:spPr>
          <a:xfrm>
            <a:off x="777240" y="3794760"/>
            <a:ext cx="2240280" cy="2286000"/>
          </a:xfrm>
          <a:prstGeom prst="rect">
            <a:avLst/>
          </a:prstGeom>
          <a:noFill/>
          <a:ln/>
        </p:spPr>
        <p:txBody>
          <a:bodyPr wrap="square" lIns="0" tIns="0" rIns="0" bIns="0" rtlCol="0" anchor="t"/>
          <a:lstStyle/>
          <a:p>
            <a:pPr marL="177800" indent="-177800">
              <a:spcAft>
                <a:spcPts val="500"/>
              </a:spcAft>
              <a:buSzPct val="100000"/>
              <a:buChar char="•"/>
            </a:pPr>
            <a:r>
              <a:rPr lang="en-US" sz="1150" dirty="0">
                <a:solidFill>
                  <a:schemeClr val="tx1"/>
                </a:solidFill>
              </a:rPr>
              <a:t>Annual JWG of the two Defence Ministries</a:t>
            </a:r>
            <a:endParaRPr lang="en-US" sz="1150" dirty="0"/>
          </a:p>
          <a:p>
            <a:pPr marL="177800" indent="-177800">
              <a:spcAft>
                <a:spcPts val="500"/>
              </a:spcAft>
              <a:buSzPct val="100000"/>
              <a:buChar char="•"/>
            </a:pPr>
            <a:r>
              <a:rPr lang="en-US" sz="1150" dirty="0">
                <a:solidFill>
                  <a:schemeClr val="tx1"/>
                </a:solidFill>
              </a:rPr>
              <a:t>11th · New Delhi, Feb 2023</a:t>
            </a:r>
            <a:endParaRPr lang="en-US" sz="1150" dirty="0"/>
          </a:p>
          <a:p>
            <a:pPr marL="177800" indent="-177800">
              <a:spcAft>
                <a:spcPts val="500"/>
              </a:spcAft>
              <a:buSzPct val="100000"/>
              <a:buChar char="•"/>
            </a:pPr>
            <a:r>
              <a:rPr lang="en-US" sz="1150" dirty="0">
                <a:solidFill>
                  <a:schemeClr val="tx1"/>
                </a:solidFill>
              </a:rPr>
              <a:t>12th · Ulaanbaatar, May 2024</a:t>
            </a:r>
            <a:endParaRPr lang="en-US" sz="1150" dirty="0"/>
          </a:p>
          <a:p>
            <a:pPr marL="177800" indent="-177800">
              <a:spcAft>
                <a:spcPts val="500"/>
              </a:spcAft>
              <a:buSzPct val="100000"/>
              <a:buChar char="•"/>
            </a:pPr>
            <a:r>
              <a:rPr lang="en-US" sz="1150" dirty="0">
                <a:solidFill>
                  <a:schemeClr val="tx1"/>
                </a:solidFill>
              </a:rPr>
              <a:t>13th · New Delhi, Feb 2025</a:t>
            </a:r>
            <a:endParaRPr lang="en-US" sz="1150" dirty="0"/>
          </a:p>
        </p:txBody>
      </p:sp>
      <p:sp>
        <p:nvSpPr>
          <p:cNvPr id="10" name="card"/>
          <p:cNvSpPr/>
          <p:nvPr/>
        </p:nvSpPr>
        <p:spPr>
          <a:xfrm>
            <a:off x="3383280" y="1371600"/>
            <a:ext cx="2651760" cy="4846320"/>
          </a:xfrm>
          <a:prstGeom prst="roundRect">
            <a:avLst>
              <a:gd name="adj" fmla="val 4138"/>
            </a:avLst>
          </a:prstGeom>
          <a:solidFill>
            <a:schemeClr val="bg2"/>
          </a:solidFill>
          <a:ln w="12700">
            <a:solidFill>
              <a:schemeClr val="bg2"/>
            </a:solidFill>
            <a:prstDash val="solid"/>
          </a:ln>
        </p:spPr>
      </p:sp>
      <p:sp>
        <p:nvSpPr>
          <p:cNvPr id="11" name="icon circle"/>
          <p:cNvSpPr/>
          <p:nvPr/>
        </p:nvSpPr>
        <p:spPr>
          <a:xfrm>
            <a:off x="3611880" y="1600200"/>
            <a:ext cx="640080" cy="640080"/>
          </a:xfrm>
          <a:prstGeom prst="ellipse">
            <a:avLst/>
          </a:prstGeom>
          <a:solidFill>
            <a:schemeClr val="accent3"/>
          </a:solidFill>
          <a:ln w="12700">
            <a:solidFill>
              <a:schemeClr val="accent3"/>
            </a:solidFill>
            <a:prstDash val="solid"/>
          </a:ln>
        </p:spPr>
      </p:sp>
      <p:pic>
        <p:nvPicPr>
          <p:cNvPr id="12" name="FaMedal" descr="preencoded.png">    </p:cNvPr>
          <p:cNvPicPr>
            <a:picLocks noChangeAspect="1"/>
          </p:cNvPicPr>
          <p:nvPr/>
        </p:nvPicPr>
        <p:blipFill>
          <a:blip r:embed="rId2"/>
          <a:stretch>
            <a:fillRect/>
          </a:stretch>
        </p:blipFill>
        <p:spPr>
          <a:xfrm>
            <a:off x="3778301" y="1766621"/>
            <a:ext cx="307238" cy="307238"/>
          </a:xfrm>
          <a:prstGeom prst="rect">
            <a:avLst/>
          </a:prstGeom>
        </p:spPr>
      </p:pic>
      <p:sp>
        <p:nvSpPr>
          <p:cNvPr id="13" name="Text 9"/>
          <p:cNvSpPr txBox="1"/>
          <p:nvPr/>
        </p:nvSpPr>
        <p:spPr>
          <a:xfrm>
            <a:off x="4389120" y="1645920"/>
            <a:ext cx="1463040" cy="548640"/>
          </a:xfrm>
          <a:prstGeom prst="rect">
            <a:avLst/>
          </a:prstGeom>
          <a:noFill/>
          <a:ln/>
        </p:spPr>
        <p:txBody>
          <a:bodyPr wrap="square" lIns="0" tIns="0" rIns="0" bIns="0" rtlCol="0" anchor="ctr"/>
          <a:lstStyle/>
          <a:p>
            <a:pPr indent="0" marL="0">
              <a:buNone/>
            </a:pPr>
            <a:r>
              <a:rPr lang="en-US" sz="1700" b="1" dirty="0">
                <a:solidFill>
                  <a:schemeClr val="tx1"/>
                </a:solidFill>
              </a:rPr>
              <a:t>Exercises</a:t>
            </a:r>
            <a:endParaRPr lang="en-US" sz="1700" dirty="0"/>
          </a:p>
        </p:txBody>
      </p:sp>
      <p:sp>
        <p:nvSpPr>
          <p:cNvPr id="14" name="Text 10"/>
          <p:cNvSpPr txBox="1"/>
          <p:nvPr/>
        </p:nvSpPr>
        <p:spPr>
          <a:xfrm>
            <a:off x="3611880" y="2423160"/>
            <a:ext cx="2194560" cy="731520"/>
          </a:xfrm>
          <a:prstGeom prst="rect">
            <a:avLst/>
          </a:prstGeom>
          <a:noFill/>
          <a:ln/>
        </p:spPr>
        <p:txBody>
          <a:bodyPr wrap="square" lIns="0" tIns="0" rIns="0" bIns="0" rtlCol="0" anchor="ctr"/>
          <a:lstStyle/>
          <a:p>
            <a:pPr indent="0" marL="0">
              <a:buNone/>
            </a:pPr>
            <a:r>
              <a:rPr lang="en-US" sz="3600" b="1" dirty="0">
                <a:solidFill>
                  <a:schemeClr val="accent3"/>
                </a:solidFill>
                <a:latin typeface="Cambria" pitchFamily="34" charset="0"/>
                <a:ea typeface="Cambria" pitchFamily="34" charset="-122"/>
                <a:cs typeface="Cambria" pitchFamily="34" charset="-120"/>
              </a:rPr>
              <a:t>18</a:t>
            </a:r>
            <a:endParaRPr lang="en-US" sz="3600" dirty="0"/>
          </a:p>
        </p:txBody>
      </p:sp>
      <p:sp>
        <p:nvSpPr>
          <p:cNvPr id="15" name="Text 11"/>
          <p:cNvSpPr txBox="1"/>
          <p:nvPr/>
        </p:nvSpPr>
        <p:spPr>
          <a:xfrm>
            <a:off x="3611880" y="3154680"/>
            <a:ext cx="2194560" cy="548640"/>
          </a:xfrm>
          <a:prstGeom prst="rect">
            <a:avLst/>
          </a:prstGeom>
          <a:noFill/>
          <a:ln/>
        </p:spPr>
        <p:txBody>
          <a:bodyPr wrap="square" lIns="0" tIns="0" rIns="0" bIns="0" rtlCol="0" anchor="t"/>
          <a:lstStyle/>
          <a:p>
            <a:pPr indent="0" marL="0">
              <a:buNone/>
            </a:pPr>
            <a:r>
              <a:rPr lang="en-US" sz="1150" dirty="0">
                <a:solidFill>
                  <a:schemeClr val="tx2"/>
                </a:solidFill>
              </a:rPr>
              <a:t>editions of Nomadic Elephant since 2004</a:t>
            </a:r>
            <a:endParaRPr lang="en-US" sz="1150" dirty="0"/>
          </a:p>
        </p:txBody>
      </p:sp>
      <p:sp>
        <p:nvSpPr>
          <p:cNvPr id="16" name="Text 12"/>
          <p:cNvSpPr txBox="1"/>
          <p:nvPr/>
        </p:nvSpPr>
        <p:spPr>
          <a:xfrm>
            <a:off x="3611880" y="3794760"/>
            <a:ext cx="2240280" cy="2286000"/>
          </a:xfrm>
          <a:prstGeom prst="rect">
            <a:avLst/>
          </a:prstGeom>
          <a:noFill/>
          <a:ln/>
        </p:spPr>
        <p:txBody>
          <a:bodyPr wrap="square" lIns="0" tIns="0" rIns="0" bIns="0" rtlCol="0" anchor="t"/>
          <a:lstStyle/>
          <a:p>
            <a:pPr marL="177800" indent="-177800">
              <a:spcAft>
                <a:spcPts val="500"/>
              </a:spcAft>
              <a:buSzPct val="100000"/>
              <a:buChar char="•"/>
            </a:pPr>
            <a:r>
              <a:rPr lang="en-US" sz="1150" dirty="0">
                <a:solidFill>
                  <a:schemeClr val="tx1"/>
                </a:solidFill>
              </a:rPr>
              <a:t>Nomadic Elephant 2026 · Pithoragarh, Sept 2026 – cyber security in the curriculum</a:t>
            </a:r>
            <a:endParaRPr lang="en-US" sz="1150" dirty="0"/>
          </a:p>
          <a:p>
            <a:pPr marL="177800" indent="-177800">
              <a:spcAft>
                <a:spcPts val="500"/>
              </a:spcAft>
              <a:buSzPct val="100000"/>
              <a:buChar char="•"/>
            </a:pPr>
            <a:r>
              <a:rPr lang="en-US" sz="1150" dirty="0">
                <a:solidFill>
                  <a:schemeClr val="tx1"/>
                </a:solidFill>
              </a:rPr>
              <a:t>Nomadic Elephant 2025 · Ulaanbaatar</a:t>
            </a:r>
            <a:endParaRPr lang="en-US" sz="1150" dirty="0"/>
          </a:p>
          <a:p>
            <a:pPr marL="177800" indent="-177800">
              <a:spcAft>
                <a:spcPts val="500"/>
              </a:spcAft>
              <a:buSzPct val="100000"/>
              <a:buChar char="•"/>
            </a:pPr>
            <a:r>
              <a:rPr lang="en-US" sz="1150" dirty="0">
                <a:solidFill>
                  <a:schemeClr val="tx1"/>
                </a:solidFill>
              </a:rPr>
              <a:t>Khaan Quest – Indian contingent every year</a:t>
            </a:r>
            <a:endParaRPr lang="en-US" sz="1150" dirty="0"/>
          </a:p>
        </p:txBody>
      </p:sp>
      <p:sp>
        <p:nvSpPr>
          <p:cNvPr id="17" name="card"/>
          <p:cNvSpPr/>
          <p:nvPr/>
        </p:nvSpPr>
        <p:spPr>
          <a:xfrm>
            <a:off x="6217920" y="1371600"/>
            <a:ext cx="2651760" cy="4846320"/>
          </a:xfrm>
          <a:prstGeom prst="roundRect">
            <a:avLst>
              <a:gd name="adj" fmla="val 4138"/>
            </a:avLst>
          </a:prstGeom>
          <a:solidFill>
            <a:schemeClr val="bg2"/>
          </a:solidFill>
          <a:ln w="12700">
            <a:solidFill>
              <a:schemeClr val="bg2"/>
            </a:solidFill>
            <a:prstDash val="solid"/>
          </a:ln>
        </p:spPr>
      </p:sp>
      <p:sp>
        <p:nvSpPr>
          <p:cNvPr id="18" name="icon circle"/>
          <p:cNvSpPr/>
          <p:nvPr/>
        </p:nvSpPr>
        <p:spPr>
          <a:xfrm>
            <a:off x="6446520" y="1600200"/>
            <a:ext cx="640080" cy="640080"/>
          </a:xfrm>
          <a:prstGeom prst="ellipse">
            <a:avLst/>
          </a:prstGeom>
          <a:solidFill>
            <a:schemeClr val="accent1"/>
          </a:solidFill>
          <a:ln w="12700">
            <a:solidFill>
              <a:schemeClr val="accent1"/>
            </a:solidFill>
            <a:prstDash val="solid"/>
          </a:ln>
        </p:spPr>
      </p:sp>
      <p:pic>
        <p:nvPicPr>
          <p:cNvPr id="19" name="FaGraduationCap" descr="preencoded.png">    </p:cNvPr>
          <p:cNvPicPr>
            <a:picLocks noChangeAspect="1"/>
          </p:cNvPicPr>
          <p:nvPr/>
        </p:nvPicPr>
        <p:blipFill>
          <a:blip r:embed="rId3"/>
          <a:stretch>
            <a:fillRect/>
          </a:stretch>
        </p:blipFill>
        <p:spPr>
          <a:xfrm>
            <a:off x="6612941" y="1766621"/>
            <a:ext cx="307238" cy="307238"/>
          </a:xfrm>
          <a:prstGeom prst="rect">
            <a:avLst/>
          </a:prstGeom>
        </p:spPr>
      </p:pic>
      <p:sp>
        <p:nvSpPr>
          <p:cNvPr id="20" name="Text 15"/>
          <p:cNvSpPr txBox="1"/>
          <p:nvPr/>
        </p:nvSpPr>
        <p:spPr>
          <a:xfrm>
            <a:off x="7223760" y="1645920"/>
            <a:ext cx="1463040" cy="548640"/>
          </a:xfrm>
          <a:prstGeom prst="rect">
            <a:avLst/>
          </a:prstGeom>
          <a:noFill/>
          <a:ln/>
        </p:spPr>
        <p:txBody>
          <a:bodyPr wrap="square" lIns="0" tIns="0" rIns="0" bIns="0" rtlCol="0" anchor="ctr"/>
          <a:lstStyle/>
          <a:p>
            <a:pPr indent="0" marL="0">
              <a:buNone/>
            </a:pPr>
            <a:r>
              <a:rPr lang="en-US" sz="1700" b="1" dirty="0">
                <a:solidFill>
                  <a:schemeClr val="tx1"/>
                </a:solidFill>
              </a:rPr>
              <a:t>Training</a:t>
            </a:r>
            <a:endParaRPr lang="en-US" sz="1700" dirty="0"/>
          </a:p>
        </p:txBody>
      </p:sp>
      <p:sp>
        <p:nvSpPr>
          <p:cNvPr id="21" name="Text 16"/>
          <p:cNvSpPr txBox="1"/>
          <p:nvPr/>
        </p:nvSpPr>
        <p:spPr>
          <a:xfrm>
            <a:off x="6446520" y="2423160"/>
            <a:ext cx="2194560" cy="73152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200</a:t>
            </a:r>
            <a:endParaRPr lang="en-US" sz="3600" dirty="0"/>
          </a:p>
        </p:txBody>
      </p:sp>
      <p:sp>
        <p:nvSpPr>
          <p:cNvPr id="22" name="Text 17"/>
          <p:cNvSpPr txBox="1"/>
          <p:nvPr/>
        </p:nvSpPr>
        <p:spPr>
          <a:xfrm>
            <a:off x="6446520" y="3154680"/>
            <a:ext cx="2194560" cy="548640"/>
          </a:xfrm>
          <a:prstGeom prst="rect">
            <a:avLst/>
          </a:prstGeom>
          <a:noFill/>
          <a:ln/>
        </p:spPr>
        <p:txBody>
          <a:bodyPr wrap="square" lIns="0" tIns="0" rIns="0" bIns="0" rtlCol="0" anchor="t"/>
          <a:lstStyle/>
          <a:p>
            <a:pPr indent="0" marL="0">
              <a:buNone/>
            </a:pPr>
            <a:r>
              <a:rPr lang="en-US" sz="1150" dirty="0">
                <a:solidFill>
                  <a:schemeClr val="tx2"/>
                </a:solidFill>
              </a:rPr>
              <a:t>ITEC slots a year for Mongolia</a:t>
            </a:r>
            <a:endParaRPr lang="en-US" sz="1150" dirty="0"/>
          </a:p>
        </p:txBody>
      </p:sp>
      <p:sp>
        <p:nvSpPr>
          <p:cNvPr id="23" name="Text 18"/>
          <p:cNvSpPr txBox="1"/>
          <p:nvPr/>
        </p:nvSpPr>
        <p:spPr>
          <a:xfrm>
            <a:off x="6446520" y="3794760"/>
            <a:ext cx="2240280" cy="2286000"/>
          </a:xfrm>
          <a:prstGeom prst="rect">
            <a:avLst/>
          </a:prstGeom>
          <a:noFill/>
          <a:ln/>
        </p:spPr>
        <p:txBody>
          <a:bodyPr wrap="square" lIns="0" tIns="0" rIns="0" bIns="0" rtlCol="0" anchor="t"/>
          <a:lstStyle/>
          <a:p>
            <a:pPr marL="177800" indent="-177800">
              <a:spcAft>
                <a:spcPts val="500"/>
              </a:spcAft>
              <a:buSzPct val="100000"/>
              <a:buChar char="•"/>
            </a:pPr>
            <a:r>
              <a:rPr lang="en-US" sz="1150" dirty="0">
                <a:solidFill>
                  <a:schemeClr val="tx1"/>
                </a:solidFill>
              </a:rPr>
              <a:t>3,500+ Mongolian professionals trained under ITEC</a:t>
            </a:r>
            <a:endParaRPr lang="en-US" sz="1150" dirty="0"/>
          </a:p>
          <a:p>
            <a:pPr marL="177800" indent="-177800">
              <a:spcAft>
                <a:spcPts val="500"/>
              </a:spcAft>
              <a:buSzPct val="100000"/>
              <a:buChar char="•"/>
            </a:pPr>
            <a:r>
              <a:rPr lang="en-US" sz="1150" dirty="0">
                <a:solidFill>
                  <a:schemeClr val="tx1"/>
                </a:solidFill>
              </a:rPr>
              <a:t>Mongolian officers at Indian military institutions</a:t>
            </a:r>
            <a:endParaRPr lang="en-US" sz="1150" dirty="0"/>
          </a:p>
          <a:p>
            <a:pPr marL="177800" indent="-177800">
              <a:spcAft>
                <a:spcPts val="500"/>
              </a:spcAft>
              <a:buSzPct val="100000"/>
              <a:buChar char="•"/>
            </a:pPr>
            <a:r>
              <a:rPr lang="en-US" sz="1150" dirty="0">
                <a:solidFill>
                  <a:schemeClr val="tx1"/>
                </a:solidFill>
              </a:rPr>
              <a:t>Border security forces capacity-building programme (2025)</a:t>
            </a:r>
            <a:endParaRPr lang="en-US" sz="1150" dirty="0"/>
          </a:p>
        </p:txBody>
      </p:sp>
      <p:sp>
        <p:nvSpPr>
          <p:cNvPr id="24" name="card"/>
          <p:cNvSpPr/>
          <p:nvPr/>
        </p:nvSpPr>
        <p:spPr>
          <a:xfrm>
            <a:off x="9052560" y="1371600"/>
            <a:ext cx="2651760" cy="4846320"/>
          </a:xfrm>
          <a:prstGeom prst="roundRect">
            <a:avLst>
              <a:gd name="adj" fmla="val 4138"/>
            </a:avLst>
          </a:prstGeom>
          <a:solidFill>
            <a:schemeClr val="bg2"/>
          </a:solidFill>
          <a:ln w="12700">
            <a:solidFill>
              <a:schemeClr val="bg2"/>
            </a:solidFill>
            <a:prstDash val="solid"/>
          </a:ln>
        </p:spPr>
      </p:sp>
      <p:sp>
        <p:nvSpPr>
          <p:cNvPr id="25" name="icon circle"/>
          <p:cNvSpPr/>
          <p:nvPr/>
        </p:nvSpPr>
        <p:spPr>
          <a:xfrm>
            <a:off x="9281160" y="1600200"/>
            <a:ext cx="640080" cy="640080"/>
          </a:xfrm>
          <a:prstGeom prst="ellipse">
            <a:avLst/>
          </a:prstGeom>
          <a:solidFill>
            <a:schemeClr val="accent2"/>
          </a:solidFill>
          <a:ln w="12700">
            <a:solidFill>
              <a:schemeClr val="accent2"/>
            </a:solidFill>
            <a:prstDash val="solid"/>
          </a:ln>
        </p:spPr>
      </p:sp>
      <p:pic>
        <p:nvPicPr>
          <p:cNvPr id="26" name="FaUniversity" descr="preencoded.png">    </p:cNvPr>
          <p:cNvPicPr>
            <a:picLocks noChangeAspect="1"/>
          </p:cNvPicPr>
          <p:nvPr/>
        </p:nvPicPr>
        <p:blipFill>
          <a:blip r:embed="rId4"/>
          <a:stretch>
            <a:fillRect/>
          </a:stretch>
        </p:blipFill>
        <p:spPr>
          <a:xfrm>
            <a:off x="9447581" y="1766621"/>
            <a:ext cx="307238" cy="307238"/>
          </a:xfrm>
          <a:prstGeom prst="rect">
            <a:avLst/>
          </a:prstGeom>
        </p:spPr>
      </p:pic>
      <p:sp>
        <p:nvSpPr>
          <p:cNvPr id="27" name="Text 21"/>
          <p:cNvSpPr txBox="1"/>
          <p:nvPr/>
        </p:nvSpPr>
        <p:spPr>
          <a:xfrm>
            <a:off x="10058400" y="1645920"/>
            <a:ext cx="1463040" cy="548640"/>
          </a:xfrm>
          <a:prstGeom prst="rect">
            <a:avLst/>
          </a:prstGeom>
          <a:noFill/>
          <a:ln/>
        </p:spPr>
        <p:txBody>
          <a:bodyPr wrap="square" lIns="0" tIns="0" rIns="0" bIns="0" rtlCol="0" anchor="ctr"/>
          <a:lstStyle/>
          <a:p>
            <a:pPr indent="0" marL="0">
              <a:buNone/>
            </a:pPr>
            <a:r>
              <a:rPr lang="en-US" sz="1700" b="1" dirty="0">
                <a:solidFill>
                  <a:schemeClr val="tx1"/>
                </a:solidFill>
              </a:rPr>
              <a:t>Institutions</a:t>
            </a:r>
            <a:endParaRPr lang="en-US" sz="1700" dirty="0"/>
          </a:p>
        </p:txBody>
      </p:sp>
      <p:sp>
        <p:nvSpPr>
          <p:cNvPr id="28" name="Text 22"/>
          <p:cNvSpPr txBox="1"/>
          <p:nvPr/>
        </p:nvSpPr>
        <p:spPr>
          <a:xfrm>
            <a:off x="9281160" y="2423160"/>
            <a:ext cx="2194560" cy="731520"/>
          </a:xfrm>
          <a:prstGeom prst="rect">
            <a:avLst/>
          </a:prstGeom>
          <a:noFill/>
          <a:ln/>
        </p:spPr>
        <p:txBody>
          <a:bodyPr wrap="square" lIns="0" tIns="0" rIns="0" bIns="0" rtlCol="0" anchor="ctr"/>
          <a:lstStyle/>
          <a:p>
            <a:pPr indent="0" marL="0">
              <a:buNone/>
            </a:pPr>
            <a:r>
              <a:rPr lang="en-US" sz="3600" b="1" dirty="0">
                <a:solidFill>
                  <a:schemeClr val="accent2"/>
                </a:solidFill>
                <a:latin typeface="Cambria" pitchFamily="34" charset="0"/>
                <a:ea typeface="Cambria" pitchFamily="34" charset="-122"/>
                <a:cs typeface="Cambria" pitchFamily="34" charset="-120"/>
              </a:rPr>
              <a:t>2022</a:t>
            </a:r>
            <a:endParaRPr lang="en-US" sz="3600" dirty="0"/>
          </a:p>
        </p:txBody>
      </p:sp>
      <p:sp>
        <p:nvSpPr>
          <p:cNvPr id="29" name="Text 23"/>
          <p:cNvSpPr txBox="1"/>
          <p:nvPr/>
        </p:nvSpPr>
        <p:spPr>
          <a:xfrm>
            <a:off x="9281160" y="3154680"/>
            <a:ext cx="2194560" cy="548640"/>
          </a:xfrm>
          <a:prstGeom prst="rect">
            <a:avLst/>
          </a:prstGeom>
          <a:noFill/>
          <a:ln/>
        </p:spPr>
        <p:txBody>
          <a:bodyPr wrap="square" lIns="0" tIns="0" rIns="0" bIns="0" rtlCol="0" anchor="t"/>
          <a:lstStyle/>
          <a:p>
            <a:pPr indent="0" marL="0">
              <a:buNone/>
            </a:pPr>
            <a:r>
              <a:rPr lang="en-US" sz="1150" dirty="0">
                <a:solidFill>
                  <a:schemeClr val="tx2"/>
                </a:solidFill>
              </a:rPr>
              <a:t>Cyber Security Training Centre, NDU</a:t>
            </a:r>
            <a:endParaRPr lang="en-US" sz="1150" dirty="0"/>
          </a:p>
        </p:txBody>
      </p:sp>
      <p:sp>
        <p:nvSpPr>
          <p:cNvPr id="30" name="Text 24"/>
          <p:cNvSpPr txBox="1"/>
          <p:nvPr/>
        </p:nvSpPr>
        <p:spPr>
          <a:xfrm>
            <a:off x="9281160" y="3794760"/>
            <a:ext cx="2240280" cy="2286000"/>
          </a:xfrm>
          <a:prstGeom prst="rect">
            <a:avLst/>
          </a:prstGeom>
          <a:noFill/>
          <a:ln/>
        </p:spPr>
        <p:txBody>
          <a:bodyPr wrap="square" lIns="0" tIns="0" rIns="0" bIns="0" rtlCol="0" anchor="t"/>
          <a:lstStyle/>
          <a:p>
            <a:pPr marL="177800" indent="-177800">
              <a:spcAft>
                <a:spcPts val="500"/>
              </a:spcAft>
              <a:buSzPct val="100000"/>
              <a:buChar char="•"/>
            </a:pPr>
            <a:r>
              <a:rPr lang="en-US" sz="1150" dirty="0">
                <a:solidFill>
                  <a:schemeClr val="tx1"/>
                </a:solidFill>
              </a:rPr>
              <a:t>Agreed in the 2015 MoU; built with Government of India assistance</a:t>
            </a:r>
            <a:endParaRPr lang="en-US" sz="1150" dirty="0"/>
          </a:p>
          <a:p>
            <a:pPr marL="177800" indent="-177800">
              <a:spcAft>
                <a:spcPts val="500"/>
              </a:spcAft>
              <a:buSzPct val="100000"/>
              <a:buChar char="•"/>
            </a:pPr>
            <a:r>
              <a:rPr lang="en-US" sz="1150" dirty="0">
                <a:solidFill>
                  <a:schemeClr val="tx1"/>
                </a:solidFill>
              </a:rPr>
              <a:t>Defence Wing at the Embassy of India, Ulaanbaatar (announced Oct 2025)</a:t>
            </a:r>
            <a:endParaRPr lang="en-US" sz="1150" dirty="0"/>
          </a:p>
          <a:p>
            <a:pPr marL="177800" indent="-177800">
              <a:spcAft>
                <a:spcPts val="500"/>
              </a:spcAft>
              <a:buSzPct val="100000"/>
              <a:buChar char="•"/>
            </a:pPr>
            <a:r>
              <a:rPr lang="en-US" sz="1150" dirty="0">
                <a:solidFill>
                  <a:schemeClr val="tx1"/>
                </a:solidFill>
              </a:rPr>
              <a:t>India–Mongolia Friendship School</a:t>
            </a:r>
            <a:endParaRPr lang="en-US" sz="115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47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000" b="1" dirty="0">
                <a:solidFill>
                  <a:schemeClr val="tx1"/>
                </a:solidFill>
              </a:rPr>
              <a:t>Why cyber: a shared priority for both armed forces</a:t>
            </a:r>
            <a:endParaRPr lang="en-US" sz="3000" dirty="0"/>
          </a:p>
        </p:txBody>
      </p:sp>
      <p:sp>
        <p:nvSpPr>
          <p:cNvPr id="3" name="Text 1"/>
          <p:cNvSpPr txBox="1"/>
          <p:nvPr/>
        </p:nvSpPr>
        <p:spPr>
          <a:xfrm>
            <a:off x="548640" y="1325880"/>
            <a:ext cx="5760720"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Mongolia's cyber security baseline</a:t>
            </a:r>
            <a:endParaRPr lang="en-US" sz="1600" dirty="0"/>
          </a:p>
        </p:txBody>
      </p:sp>
      <p:sp>
        <p:nvSpPr>
          <p:cNvPr id="4" name="card"/>
          <p:cNvSpPr/>
          <p:nvPr/>
        </p:nvSpPr>
        <p:spPr>
          <a:xfrm>
            <a:off x="548640" y="1783080"/>
            <a:ext cx="2743200" cy="1920240"/>
          </a:xfrm>
          <a:prstGeom prst="roundRect">
            <a:avLst>
              <a:gd name="adj" fmla="val 5714"/>
            </a:avLst>
          </a:prstGeom>
          <a:solidFill>
            <a:schemeClr val="bg2"/>
          </a:solidFill>
          <a:ln w="12700">
            <a:solidFill>
              <a:schemeClr val="bg2"/>
            </a:solidFill>
            <a:prstDash val="solid"/>
          </a:ln>
        </p:spPr>
      </p:sp>
      <p:sp>
        <p:nvSpPr>
          <p:cNvPr id="5" name="Text 3"/>
          <p:cNvSpPr txBox="1"/>
          <p:nvPr/>
        </p:nvSpPr>
        <p:spPr>
          <a:xfrm>
            <a:off x="731520" y="1874520"/>
            <a:ext cx="2377440" cy="960120"/>
          </a:xfrm>
          <a:prstGeom prst="rect">
            <a:avLst/>
          </a:prstGeom>
          <a:noFill/>
          <a:ln/>
        </p:spPr>
        <p:txBody>
          <a:bodyPr wrap="square" lIns="0" tIns="0" rIns="0" bIns="0" rtlCol="0" anchor="ctr"/>
          <a:lstStyle/>
          <a:p>
            <a:pPr indent="0" marL="0">
              <a:buNone/>
            </a:pPr>
            <a:r>
              <a:rPr lang="en-US" sz="3200" b="1" dirty="0">
                <a:solidFill>
                  <a:schemeClr val="accent2"/>
                </a:solidFill>
                <a:latin typeface="Cambria" pitchFamily="34" charset="0"/>
                <a:ea typeface="Cambria" pitchFamily="34" charset="-122"/>
                <a:cs typeface="Cambria" pitchFamily="34" charset="-120"/>
              </a:rPr>
              <a:t>56.4</a:t>
            </a:r>
            <a:endParaRPr lang="en-US" sz="3200" dirty="0"/>
          </a:p>
        </p:txBody>
      </p:sp>
      <p:sp>
        <p:nvSpPr>
          <p:cNvPr id="6" name="Text 4"/>
          <p:cNvSpPr txBox="1"/>
          <p:nvPr/>
        </p:nvSpPr>
        <p:spPr>
          <a:xfrm>
            <a:off x="731520" y="2896819"/>
            <a:ext cx="2377440" cy="768096"/>
          </a:xfrm>
          <a:prstGeom prst="rect">
            <a:avLst/>
          </a:prstGeom>
          <a:noFill/>
          <a:ln/>
        </p:spPr>
        <p:txBody>
          <a:bodyPr wrap="square" lIns="0" tIns="0" rIns="0" bIns="0" rtlCol="0" anchor="t"/>
          <a:lstStyle/>
          <a:p>
            <a:pPr indent="0" marL="0">
              <a:buNone/>
            </a:pPr>
            <a:r>
              <a:rPr lang="en-US" sz="1100" dirty="0">
                <a:solidFill>
                  <a:schemeClr val="tx2"/>
                </a:solidFill>
              </a:rPr>
              <a:t>Mongolia's score in the ITU Global Cybersecurity Index 2024 – ranked 103rd of 193</a:t>
            </a:r>
            <a:endParaRPr lang="en-US" sz="1100" dirty="0"/>
          </a:p>
        </p:txBody>
      </p:sp>
      <p:sp>
        <p:nvSpPr>
          <p:cNvPr id="7" name="card"/>
          <p:cNvSpPr/>
          <p:nvPr/>
        </p:nvSpPr>
        <p:spPr>
          <a:xfrm>
            <a:off x="3474720" y="1783080"/>
            <a:ext cx="2743200" cy="1920240"/>
          </a:xfrm>
          <a:prstGeom prst="roundRect">
            <a:avLst>
              <a:gd name="adj" fmla="val 5714"/>
            </a:avLst>
          </a:prstGeom>
          <a:solidFill>
            <a:schemeClr val="bg2"/>
          </a:solidFill>
          <a:ln w="12700">
            <a:solidFill>
              <a:schemeClr val="bg2"/>
            </a:solidFill>
            <a:prstDash val="solid"/>
          </a:ln>
        </p:spPr>
      </p:sp>
      <p:sp>
        <p:nvSpPr>
          <p:cNvPr id="8" name="Text 6"/>
          <p:cNvSpPr txBox="1"/>
          <p:nvPr/>
        </p:nvSpPr>
        <p:spPr>
          <a:xfrm>
            <a:off x="3657600" y="1874520"/>
            <a:ext cx="2377440" cy="960120"/>
          </a:xfrm>
          <a:prstGeom prst="rect">
            <a:avLst/>
          </a:prstGeom>
          <a:noFill/>
          <a:ln/>
        </p:spPr>
        <p:txBody>
          <a:bodyPr wrap="square" lIns="0" tIns="0" rIns="0" bIns="0" rtlCol="0" anchor="ctr"/>
          <a:lstStyle/>
          <a:p>
            <a:pPr indent="0" marL="0">
              <a:buNone/>
            </a:pPr>
            <a:r>
              <a:rPr lang="en-US" sz="3200" b="1" dirty="0">
                <a:solidFill>
                  <a:schemeClr val="accent3"/>
                </a:solidFill>
                <a:latin typeface="Cambria" pitchFamily="34" charset="0"/>
                <a:ea typeface="Cambria" pitchFamily="34" charset="-122"/>
                <a:cs typeface="Cambria" pitchFamily="34" charset="-120"/>
              </a:rPr>
              <a:t>+17</a:t>
            </a:r>
            <a:endParaRPr lang="en-US" sz="3200" dirty="0"/>
          </a:p>
        </p:txBody>
      </p:sp>
      <p:sp>
        <p:nvSpPr>
          <p:cNvPr id="9" name="Text 7"/>
          <p:cNvSpPr txBox="1"/>
          <p:nvPr/>
        </p:nvSpPr>
        <p:spPr>
          <a:xfrm>
            <a:off x="3657600" y="2896819"/>
            <a:ext cx="2377440" cy="768096"/>
          </a:xfrm>
          <a:prstGeom prst="rect">
            <a:avLst/>
          </a:prstGeom>
          <a:noFill/>
          <a:ln/>
        </p:spPr>
        <p:txBody>
          <a:bodyPr wrap="square" lIns="0" tIns="0" rIns="0" bIns="0" rtlCol="0" anchor="t"/>
          <a:lstStyle/>
          <a:p>
            <a:pPr indent="0" marL="0">
              <a:buNone/>
            </a:pPr>
            <a:r>
              <a:rPr lang="en-US" sz="1100" dirty="0">
                <a:solidFill>
                  <a:schemeClr val="tx2"/>
                </a:solidFill>
              </a:rPr>
              <a:t>places gained in the Index since 2020, still below the Asian average</a:t>
            </a:r>
            <a:endParaRPr lang="en-US" sz="1100" dirty="0"/>
          </a:p>
        </p:txBody>
      </p:sp>
      <p:sp>
        <p:nvSpPr>
          <p:cNvPr id="10" name="card"/>
          <p:cNvSpPr/>
          <p:nvPr/>
        </p:nvSpPr>
        <p:spPr>
          <a:xfrm>
            <a:off x="548640" y="3886200"/>
            <a:ext cx="2743200" cy="1920240"/>
          </a:xfrm>
          <a:prstGeom prst="roundRect">
            <a:avLst>
              <a:gd name="adj" fmla="val 5714"/>
            </a:avLst>
          </a:prstGeom>
          <a:solidFill>
            <a:schemeClr val="bg2"/>
          </a:solidFill>
          <a:ln w="12700">
            <a:solidFill>
              <a:schemeClr val="bg2"/>
            </a:solidFill>
            <a:prstDash val="solid"/>
          </a:ln>
        </p:spPr>
      </p:sp>
      <p:sp>
        <p:nvSpPr>
          <p:cNvPr id="11" name="Text 9"/>
          <p:cNvSpPr txBox="1"/>
          <p:nvPr/>
        </p:nvSpPr>
        <p:spPr>
          <a:xfrm>
            <a:off x="731520" y="3977640"/>
            <a:ext cx="2377440" cy="960120"/>
          </a:xfrm>
          <a:prstGeom prst="rect">
            <a:avLst/>
          </a:prstGeom>
          <a:noFill/>
          <a:ln/>
        </p:spPr>
        <p:txBody>
          <a:bodyPr wrap="square" lIns="0" tIns="0" rIns="0" bIns="0" rtlCol="0" anchor="ctr"/>
          <a:lstStyle/>
          <a:p>
            <a:pPr indent="0" marL="0">
              <a:buNone/>
            </a:pPr>
            <a:r>
              <a:rPr lang="en-US" sz="3200" b="1" dirty="0">
                <a:solidFill>
                  <a:schemeClr val="accent4"/>
                </a:solidFill>
                <a:latin typeface="Cambria" pitchFamily="34" charset="0"/>
                <a:ea typeface="Cambria" pitchFamily="34" charset="-122"/>
                <a:cs typeface="Cambria" pitchFamily="34" charset="-120"/>
              </a:rPr>
              <a:t>90,000+</a:t>
            </a:r>
            <a:endParaRPr lang="en-US" sz="3200" dirty="0"/>
          </a:p>
        </p:txBody>
      </p:sp>
      <p:sp>
        <p:nvSpPr>
          <p:cNvPr id="12" name="Text 10"/>
          <p:cNvSpPr txBox="1"/>
          <p:nvPr/>
        </p:nvSpPr>
        <p:spPr>
          <a:xfrm>
            <a:off x="731520" y="4999939"/>
            <a:ext cx="2377440" cy="768096"/>
          </a:xfrm>
          <a:prstGeom prst="rect">
            <a:avLst/>
          </a:prstGeom>
          <a:noFill/>
          <a:ln/>
        </p:spPr>
        <p:txBody>
          <a:bodyPr wrap="square" lIns="0" tIns="0" rIns="0" bIns="0" rtlCol="0" anchor="t"/>
          <a:lstStyle/>
          <a:p>
            <a:pPr indent="0" marL="0">
              <a:buNone/>
            </a:pPr>
            <a:r>
              <a:rPr lang="en-US" sz="1100" dirty="0">
                <a:solidFill>
                  <a:schemeClr val="tx2"/>
                </a:solidFill>
              </a:rPr>
              <a:t>cyber attacks detected in Mongolia every week (national cyber security officials, Jan 2024)</a:t>
            </a:r>
            <a:endParaRPr lang="en-US" sz="1100" dirty="0"/>
          </a:p>
        </p:txBody>
      </p:sp>
      <p:sp>
        <p:nvSpPr>
          <p:cNvPr id="13" name="card"/>
          <p:cNvSpPr/>
          <p:nvPr/>
        </p:nvSpPr>
        <p:spPr>
          <a:xfrm>
            <a:off x="3474720" y="3886200"/>
            <a:ext cx="2743200" cy="1920240"/>
          </a:xfrm>
          <a:prstGeom prst="roundRect">
            <a:avLst>
              <a:gd name="adj" fmla="val 5714"/>
            </a:avLst>
          </a:prstGeom>
          <a:solidFill>
            <a:schemeClr val="bg2"/>
          </a:solidFill>
          <a:ln w="12700">
            <a:solidFill>
              <a:schemeClr val="bg2"/>
            </a:solidFill>
            <a:prstDash val="solid"/>
          </a:ln>
        </p:spPr>
      </p:sp>
      <p:sp>
        <p:nvSpPr>
          <p:cNvPr id="14" name="Text 12"/>
          <p:cNvSpPr txBox="1"/>
          <p:nvPr/>
        </p:nvSpPr>
        <p:spPr>
          <a:xfrm>
            <a:off x="3657600" y="3977640"/>
            <a:ext cx="2377440" cy="960120"/>
          </a:xfrm>
          <a:prstGeom prst="rect">
            <a:avLst/>
          </a:prstGeom>
          <a:noFill/>
          <a:ln/>
        </p:spPr>
        <p:txBody>
          <a:bodyPr wrap="square" lIns="0" tIns="0" rIns="0" bIns="0" rtlCol="0" anchor="ctr"/>
          <a:lstStyle/>
          <a:p>
            <a:pPr indent="0" marL="0">
              <a:buNone/>
            </a:pPr>
            <a:r>
              <a:rPr lang="en-US" sz="3200" b="1" dirty="0">
                <a:solidFill>
                  <a:schemeClr val="accent1"/>
                </a:solidFill>
                <a:latin typeface="Cambria" pitchFamily="34" charset="0"/>
                <a:ea typeface="Cambria" pitchFamily="34" charset="-122"/>
                <a:cs typeface="Cambria" pitchFamily="34" charset="-120"/>
              </a:rPr>
              <a:t>2021</a:t>
            </a:r>
            <a:endParaRPr lang="en-US" sz="3200" dirty="0"/>
          </a:p>
        </p:txBody>
      </p:sp>
      <p:sp>
        <p:nvSpPr>
          <p:cNvPr id="15" name="Text 13"/>
          <p:cNvSpPr txBox="1"/>
          <p:nvPr/>
        </p:nvSpPr>
        <p:spPr>
          <a:xfrm>
            <a:off x="3657600" y="4999939"/>
            <a:ext cx="2377440" cy="768096"/>
          </a:xfrm>
          <a:prstGeom prst="rect">
            <a:avLst/>
          </a:prstGeom>
          <a:noFill/>
          <a:ln/>
        </p:spPr>
        <p:txBody>
          <a:bodyPr wrap="square" lIns="0" tIns="0" rIns="0" bIns="0" rtlCol="0" anchor="t"/>
          <a:lstStyle/>
          <a:p>
            <a:pPr indent="0" marL="0">
              <a:buNone/>
            </a:pPr>
            <a:r>
              <a:rPr lang="en-US" sz="1100" dirty="0">
                <a:solidFill>
                  <a:schemeClr val="tx2"/>
                </a:solidFill>
              </a:rPr>
              <a:t>first Law on Cyber Security (17 Dec 2021, in force 1 May 2022); the Armed Forces named as a supporting authority</a:t>
            </a:r>
            <a:endParaRPr lang="en-US" sz="1100" dirty="0"/>
          </a:p>
        </p:txBody>
      </p:sp>
      <p:sp>
        <p:nvSpPr>
          <p:cNvPr id="16" name="Text 14"/>
          <p:cNvSpPr txBox="1"/>
          <p:nvPr/>
        </p:nvSpPr>
        <p:spPr>
          <a:xfrm>
            <a:off x="6675120" y="1325880"/>
            <a:ext cx="4937760"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Cyber on the bilateral agenda</a:t>
            </a:r>
            <a:endParaRPr lang="en-US" sz="1600" dirty="0"/>
          </a:p>
        </p:txBody>
      </p:sp>
      <p:sp>
        <p:nvSpPr>
          <p:cNvPr id="17" name="icon circle"/>
          <p:cNvSpPr/>
          <p:nvPr/>
        </p:nvSpPr>
        <p:spPr>
          <a:xfrm>
            <a:off x="6675120" y="1783080"/>
            <a:ext cx="548640" cy="548640"/>
          </a:xfrm>
          <a:prstGeom prst="ellipse">
            <a:avLst/>
          </a:prstGeom>
          <a:solidFill>
            <a:schemeClr val="accent2"/>
          </a:solidFill>
          <a:ln w="12700">
            <a:solidFill>
              <a:schemeClr val="accent2"/>
            </a:solidFill>
            <a:prstDash val="solid"/>
          </a:ln>
        </p:spPr>
      </p:sp>
      <p:pic>
        <p:nvPicPr>
          <p:cNvPr id="18" name="FaShieldAlt" descr="preencoded.png">    </p:cNvPr>
          <p:cNvPicPr>
            <a:picLocks noChangeAspect="1"/>
          </p:cNvPicPr>
          <p:nvPr/>
        </p:nvPicPr>
        <p:blipFill>
          <a:blip r:embed="rId1"/>
          <a:stretch>
            <a:fillRect/>
          </a:stretch>
        </p:blipFill>
        <p:spPr>
          <a:xfrm>
            <a:off x="6817766" y="1925726"/>
            <a:ext cx="263347" cy="263347"/>
          </a:xfrm>
          <a:prstGeom prst="rect">
            <a:avLst/>
          </a:prstGeom>
        </p:spPr>
      </p:pic>
      <p:sp>
        <p:nvSpPr>
          <p:cNvPr id="19" name="Text 16"/>
          <p:cNvSpPr txBox="1"/>
          <p:nvPr/>
        </p:nvSpPr>
        <p:spPr>
          <a:xfrm>
            <a:off x="7406640" y="1737360"/>
            <a:ext cx="4206240" cy="914400"/>
          </a:xfrm>
          <a:prstGeom prst="rect">
            <a:avLst/>
          </a:prstGeom>
          <a:noFill/>
          <a:ln/>
        </p:spPr>
        <p:txBody>
          <a:bodyPr wrap="square" lIns="0" tIns="0" rIns="0" bIns="0" rtlCol="0" anchor="ctr"/>
          <a:lstStyle/>
          <a:p>
            <a:pPr indent="0" marL="0">
              <a:buNone/>
            </a:pPr>
            <a:r>
              <a:rPr lang="en-US" sz="1250" dirty="0">
                <a:solidFill>
                  <a:schemeClr val="tx1"/>
                </a:solidFill>
              </a:rPr>
              <a:t>The 2022 Centre – described by the Indian MoD as a one-of-its-kind cyber-related international cooperation project</a:t>
            </a:r>
            <a:endParaRPr lang="en-US" sz="1250" dirty="0"/>
          </a:p>
        </p:txBody>
      </p:sp>
      <p:sp>
        <p:nvSpPr>
          <p:cNvPr id="20" name="icon circle"/>
          <p:cNvSpPr/>
          <p:nvPr/>
        </p:nvSpPr>
        <p:spPr>
          <a:xfrm>
            <a:off x="6675120" y="2834640"/>
            <a:ext cx="548640" cy="548640"/>
          </a:xfrm>
          <a:prstGeom prst="ellipse">
            <a:avLst/>
          </a:prstGeom>
          <a:solidFill>
            <a:schemeClr val="accent2"/>
          </a:solidFill>
          <a:ln w="12700">
            <a:solidFill>
              <a:schemeClr val="accent2"/>
            </a:solidFill>
            <a:prstDash val="solid"/>
          </a:ln>
        </p:spPr>
      </p:sp>
      <p:pic>
        <p:nvPicPr>
          <p:cNvPr id="21" name="FaMedal" descr="preencoded.png">    </p:cNvPr>
          <p:cNvPicPr>
            <a:picLocks noChangeAspect="1"/>
          </p:cNvPicPr>
          <p:nvPr/>
        </p:nvPicPr>
        <p:blipFill>
          <a:blip r:embed="rId2"/>
          <a:stretch>
            <a:fillRect/>
          </a:stretch>
        </p:blipFill>
        <p:spPr>
          <a:xfrm>
            <a:off x="6817766" y="2977286"/>
            <a:ext cx="263347" cy="263347"/>
          </a:xfrm>
          <a:prstGeom prst="rect">
            <a:avLst/>
          </a:prstGeom>
        </p:spPr>
      </p:pic>
      <p:sp>
        <p:nvSpPr>
          <p:cNvPr id="22" name="Text 18"/>
          <p:cNvSpPr txBox="1"/>
          <p:nvPr/>
        </p:nvSpPr>
        <p:spPr>
          <a:xfrm>
            <a:off x="7406640" y="2788920"/>
            <a:ext cx="4206240" cy="914400"/>
          </a:xfrm>
          <a:prstGeom prst="rect">
            <a:avLst/>
          </a:prstGeom>
          <a:noFill/>
          <a:ln/>
        </p:spPr>
        <p:txBody>
          <a:bodyPr wrap="square" lIns="0" tIns="0" rIns="0" bIns="0" rtlCol="0" anchor="ctr"/>
          <a:lstStyle/>
          <a:p>
            <a:pPr indent="0" marL="0">
              <a:buNone/>
            </a:pPr>
            <a:r>
              <a:rPr lang="en-US" sz="1250" dirty="0">
                <a:solidFill>
                  <a:schemeClr val="tx1"/>
                </a:solidFill>
              </a:rPr>
              <a:t>Cyber security training built into Nomadic Elephant 2025 (Ulaanbaatar) and 2026 (Pithoragarh)</a:t>
            </a:r>
            <a:endParaRPr lang="en-US" sz="1250" dirty="0"/>
          </a:p>
        </p:txBody>
      </p:sp>
      <p:sp>
        <p:nvSpPr>
          <p:cNvPr id="23" name="icon circle"/>
          <p:cNvSpPr/>
          <p:nvPr/>
        </p:nvSpPr>
        <p:spPr>
          <a:xfrm>
            <a:off x="6675120" y="3886200"/>
            <a:ext cx="548640" cy="548640"/>
          </a:xfrm>
          <a:prstGeom prst="ellipse">
            <a:avLst/>
          </a:prstGeom>
          <a:solidFill>
            <a:schemeClr val="accent2"/>
          </a:solidFill>
          <a:ln w="12700">
            <a:solidFill>
              <a:schemeClr val="accent2"/>
            </a:solidFill>
            <a:prstDash val="solid"/>
          </a:ln>
        </p:spPr>
      </p:sp>
      <p:pic>
        <p:nvPicPr>
          <p:cNvPr id="24" name="FaUsers" descr="preencoded.png">    </p:cNvPr>
          <p:cNvPicPr>
            <a:picLocks noChangeAspect="1"/>
          </p:cNvPicPr>
          <p:nvPr/>
        </p:nvPicPr>
        <p:blipFill>
          <a:blip r:embed="rId3"/>
          <a:stretch>
            <a:fillRect/>
          </a:stretch>
        </p:blipFill>
        <p:spPr>
          <a:xfrm>
            <a:off x="6817766" y="4028846"/>
            <a:ext cx="263347" cy="263347"/>
          </a:xfrm>
          <a:prstGeom prst="rect">
            <a:avLst/>
          </a:prstGeom>
        </p:spPr>
      </p:pic>
      <p:sp>
        <p:nvSpPr>
          <p:cNvPr id="25" name="Text 20"/>
          <p:cNvSpPr txBox="1"/>
          <p:nvPr/>
        </p:nvSpPr>
        <p:spPr>
          <a:xfrm>
            <a:off x="7406640" y="3840480"/>
            <a:ext cx="4206240" cy="914400"/>
          </a:xfrm>
          <a:prstGeom prst="rect">
            <a:avLst/>
          </a:prstGeom>
          <a:noFill/>
          <a:ln/>
        </p:spPr>
        <p:txBody>
          <a:bodyPr wrap="square" lIns="0" tIns="0" rIns="0" bIns="0" rtlCol="0" anchor="ctr"/>
          <a:lstStyle/>
          <a:p>
            <a:pPr indent="0" marL="0">
              <a:buNone/>
            </a:pPr>
            <a:r>
              <a:rPr lang="en-US" sz="1250" dirty="0">
                <a:solidFill>
                  <a:schemeClr val="tx1"/>
                </a:solidFill>
              </a:rPr>
              <a:t>The Cyber Security Military Command of the Mongolian Armed Forces is the Centre's principal partner and customer</a:t>
            </a:r>
            <a:endParaRPr lang="en-US" sz="1250" dirty="0"/>
          </a:p>
        </p:txBody>
      </p:sp>
      <p:sp>
        <p:nvSpPr>
          <p:cNvPr id="26" name="icon circle"/>
          <p:cNvSpPr/>
          <p:nvPr/>
        </p:nvSpPr>
        <p:spPr>
          <a:xfrm>
            <a:off x="6675120" y="4937760"/>
            <a:ext cx="548640" cy="548640"/>
          </a:xfrm>
          <a:prstGeom prst="ellipse">
            <a:avLst/>
          </a:prstGeom>
          <a:solidFill>
            <a:schemeClr val="accent2"/>
          </a:solidFill>
          <a:ln w="12700">
            <a:solidFill>
              <a:schemeClr val="accent2"/>
            </a:solidFill>
            <a:prstDash val="solid"/>
          </a:ln>
        </p:spPr>
      </p:sp>
      <p:pic>
        <p:nvPicPr>
          <p:cNvPr id="27" name="FaLightbulb" descr="preencoded.png">    </p:cNvPr>
          <p:cNvPicPr>
            <a:picLocks noChangeAspect="1"/>
          </p:cNvPicPr>
          <p:nvPr/>
        </p:nvPicPr>
        <p:blipFill>
          <a:blip r:embed="rId4"/>
          <a:stretch>
            <a:fillRect/>
          </a:stretch>
        </p:blipFill>
        <p:spPr>
          <a:xfrm>
            <a:off x="6817766" y="5080406"/>
            <a:ext cx="263347" cy="263347"/>
          </a:xfrm>
          <a:prstGeom prst="rect">
            <a:avLst/>
          </a:prstGeom>
        </p:spPr>
      </p:pic>
      <p:sp>
        <p:nvSpPr>
          <p:cNvPr id="28" name="Text 22"/>
          <p:cNvSpPr txBox="1"/>
          <p:nvPr/>
        </p:nvSpPr>
        <p:spPr>
          <a:xfrm>
            <a:off x="7406640" y="4892040"/>
            <a:ext cx="4206240" cy="914400"/>
          </a:xfrm>
          <a:prstGeom prst="rect">
            <a:avLst/>
          </a:prstGeom>
          <a:noFill/>
          <a:ln/>
        </p:spPr>
        <p:txBody>
          <a:bodyPr wrap="square" lIns="0" tIns="0" rIns="0" bIns="0" rtlCol="0" anchor="ctr"/>
          <a:lstStyle/>
          <a:p>
            <a:pPr indent="0" marL="0">
              <a:buNone/>
            </a:pPr>
            <a:r>
              <a:rPr lang="en-US" sz="1250" dirty="0">
                <a:solidFill>
                  <a:schemeClr val="tx1"/>
                </a:solidFill>
              </a:rPr>
              <a:t>Both armed forces face the same threats – ransomware, espionage, attacks on critical infrastructure – and the same skills gap</a:t>
            </a:r>
            <a:endParaRPr lang="en-US" sz="125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47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731520" y="1737360"/>
            <a:ext cx="2743200" cy="914400"/>
          </a:xfrm>
          <a:prstGeom prst="rect">
            <a:avLst/>
          </a:prstGeom>
          <a:noFill/>
          <a:ln/>
        </p:spPr>
        <p:txBody>
          <a:bodyPr wrap="square" lIns="0" tIns="0" rIns="0" bIns="0" rtlCol="0" anchor="t"/>
          <a:lstStyle/>
          <a:p>
            <a:pPr indent="0" marL="0">
              <a:buNone/>
            </a:pPr>
            <a:r>
              <a:rPr lang="en-US" sz="6000" b="1" dirty="0">
                <a:solidFill>
                  <a:schemeClr val="accent1"/>
                </a:solidFill>
                <a:latin typeface="Cambria" pitchFamily="34" charset="0"/>
                <a:ea typeface="Cambria" pitchFamily="34" charset="-122"/>
                <a:cs typeface="Cambria" pitchFamily="34" charset="-120"/>
              </a:rPr>
              <a:t>02</a:t>
            </a:r>
            <a:endParaRPr lang="en-US" sz="6000" dirty="0"/>
          </a:p>
        </p:txBody>
      </p:sp>
      <p:sp>
        <p:nvSpPr>
          <p:cNvPr id="3" name="Text 0"/>
          <p:cNvSpPr/>
          <p:nvPr>
            <p:ph idx="100" type="title" hasCustomPrompt="1"/>
          </p:nvPr>
        </p:nvSpPr>
        <p:spPr>
          <a:xfrm>
            <a:off x="731520" y="2743200"/>
            <a:ext cx="10698480" cy="1097280"/>
          </a:xfrm>
          <a:prstGeom prst="rect">
            <a:avLst/>
          </a:prstGeom>
          <a:noFill/>
          <a:ln/>
        </p:spPr>
        <p:txBody>
          <a:bodyPr wrap="square" lIns="0" tIns="0" rIns="0" bIns="0" rtlCol="0" anchor="ctr"/>
          <a:lstStyle/>
          <a:p>
            <a:pPr indent="0" marL="0">
              <a:buNone/>
            </a:pPr>
            <a:r>
              <a:rPr lang="en-US" sz="4000" b="1" dirty="0">
                <a:solidFill>
                  <a:schemeClr val="bg1"/>
                </a:solidFill>
              </a:rPr>
              <a:t>Establishing the Centre</a:t>
            </a:r>
            <a:endParaRPr lang="en-US" sz="4000" dirty="0"/>
          </a:p>
        </p:txBody>
      </p:sp>
      <p:sp>
        <p:nvSpPr>
          <p:cNvPr id="4" name="Text 0"/>
          <p:cNvSpPr/>
          <p:nvPr>
            <p:ph idx="101" type="body" hasCustomPrompt="1"/>
          </p:nvPr>
        </p:nvSpPr>
        <p:spPr>
          <a:xfrm>
            <a:off x="731520" y="3886200"/>
            <a:ext cx="10698480" cy="731520"/>
          </a:xfrm>
          <a:prstGeom prst="rect">
            <a:avLst/>
          </a:prstGeom>
          <a:noFill/>
          <a:ln/>
        </p:spPr>
        <p:txBody>
          <a:bodyPr wrap="square" lIns="0" tIns="0" rIns="0" bIns="0" rtlCol="0" anchor="t"/>
          <a:lstStyle/>
          <a:p>
            <a:pPr indent="0" marL="0">
              <a:buNone/>
            </a:pPr>
            <a:r>
              <a:rPr lang="en-US" sz="1800" dirty="0">
                <a:solidFill>
                  <a:schemeClr val="accent6"/>
                </a:solidFill>
              </a:rPr>
              <a:t>From the 2015 Memorandum to a university department</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000" b="1" dirty="0">
                <a:solidFill>
                  <a:schemeClr val="tx1"/>
                </a:solidFill>
              </a:rPr>
              <a:t>From the 2015 Memorandum to the 2022 inauguration</a:t>
            </a:r>
            <a:endParaRPr lang="en-US" sz="3000" dirty="0"/>
          </a:p>
        </p:txBody>
      </p:sp>
      <p:sp>
        <p:nvSpPr>
          <p:cNvPr id="3" name="date chip"/>
          <p:cNvSpPr/>
          <p:nvPr/>
        </p:nvSpPr>
        <p:spPr>
          <a:xfrm>
            <a:off x="548640" y="1426464"/>
            <a:ext cx="1234440" cy="310896"/>
          </a:xfrm>
          <a:prstGeom prst="roundRect">
            <a:avLst>
              <a:gd name="adj" fmla="val 50000"/>
            </a:avLst>
          </a:prstGeom>
          <a:solidFill>
            <a:schemeClr val="accent5"/>
          </a:solidFill>
          <a:ln w="12700">
            <a:solidFill>
              <a:schemeClr val="accent5"/>
            </a:solidFill>
            <a:prstDash val="solid"/>
          </a:ln>
        </p:spPr>
      </p:sp>
      <p:sp>
        <p:nvSpPr>
          <p:cNvPr id="4" name="Text 2"/>
          <p:cNvSpPr txBox="1"/>
          <p:nvPr/>
        </p:nvSpPr>
        <p:spPr>
          <a:xfrm>
            <a:off x="548640" y="1426464"/>
            <a:ext cx="1234440" cy="310896"/>
          </a:xfrm>
          <a:prstGeom prst="rect">
            <a:avLst/>
          </a:prstGeom>
          <a:noFill/>
          <a:ln/>
        </p:spPr>
        <p:txBody>
          <a:bodyPr wrap="square" lIns="0" tIns="0" rIns="0" bIns="0" rtlCol="0" anchor="ctr"/>
          <a:lstStyle/>
          <a:p>
            <a:pPr algn="ctr" indent="0" marL="0">
              <a:buNone/>
            </a:pPr>
            <a:r>
              <a:rPr lang="en-US" sz="1050" b="1" dirty="0">
                <a:solidFill>
                  <a:schemeClr val="bg1"/>
                </a:solidFill>
              </a:rPr>
              <a:t>17 May 2015</a:t>
            </a:r>
            <a:endParaRPr lang="en-US" sz="1050" dirty="0"/>
          </a:p>
        </p:txBody>
      </p:sp>
      <p:sp>
        <p:nvSpPr>
          <p:cNvPr id="5" name="Text 3"/>
          <p:cNvSpPr txBox="1"/>
          <p:nvPr/>
        </p:nvSpPr>
        <p:spPr>
          <a:xfrm>
            <a:off x="1920240" y="1371600"/>
            <a:ext cx="4937760" cy="566928"/>
          </a:xfrm>
          <a:prstGeom prst="rect">
            <a:avLst/>
          </a:prstGeom>
          <a:noFill/>
          <a:ln/>
        </p:spPr>
        <p:txBody>
          <a:bodyPr wrap="square" lIns="0" tIns="0" rIns="0" bIns="0" rtlCol="0" anchor="ctr"/>
          <a:lstStyle/>
          <a:p>
            <a:pPr indent="0" marL="0">
              <a:buNone/>
            </a:pPr>
            <a:r>
              <a:rPr lang="en-US" sz="1100" b="1" dirty="0">
                <a:solidFill>
                  <a:schemeClr val="tx1"/>
                </a:solidFill>
              </a:rPr>
              <a:t>Intergovernmental Memorandum. </a:t>
            </a:r>
            <a:pPr indent="0" marL="0">
              <a:buNone/>
            </a:pPr>
            <a:r>
              <a:rPr lang="en-US" sz="1100" dirty="0">
                <a:solidFill>
                  <a:schemeClr val="tx1"/>
                </a:solidFill>
              </a:rPr>
              <a:t>Governments of Mongolia and India agree to establish a Cyber Security Training Centre at the Ministry of Defence of Mongolia</a:t>
            </a:r>
            <a:endParaRPr lang="en-US" sz="1100" dirty="0"/>
          </a:p>
        </p:txBody>
      </p:sp>
      <p:sp>
        <p:nvSpPr>
          <p:cNvPr id="6" name="date chip"/>
          <p:cNvSpPr/>
          <p:nvPr/>
        </p:nvSpPr>
        <p:spPr>
          <a:xfrm>
            <a:off x="548640" y="2048256"/>
            <a:ext cx="1234440" cy="310896"/>
          </a:xfrm>
          <a:prstGeom prst="roundRect">
            <a:avLst>
              <a:gd name="adj" fmla="val 50000"/>
            </a:avLst>
          </a:prstGeom>
          <a:solidFill>
            <a:schemeClr val="accent5"/>
          </a:solidFill>
          <a:ln w="12700">
            <a:solidFill>
              <a:schemeClr val="accent5"/>
            </a:solidFill>
            <a:prstDash val="solid"/>
          </a:ln>
        </p:spPr>
      </p:sp>
      <p:sp>
        <p:nvSpPr>
          <p:cNvPr id="7" name="Text 5"/>
          <p:cNvSpPr txBox="1"/>
          <p:nvPr/>
        </p:nvSpPr>
        <p:spPr>
          <a:xfrm>
            <a:off x="548640" y="2048256"/>
            <a:ext cx="1234440" cy="310896"/>
          </a:xfrm>
          <a:prstGeom prst="rect">
            <a:avLst/>
          </a:prstGeom>
          <a:noFill/>
          <a:ln/>
        </p:spPr>
        <p:txBody>
          <a:bodyPr wrap="square" lIns="0" tIns="0" rIns="0" bIns="0" rtlCol="0" anchor="ctr"/>
          <a:lstStyle/>
          <a:p>
            <a:pPr algn="ctr" indent="0" marL="0">
              <a:buNone/>
            </a:pPr>
            <a:r>
              <a:rPr lang="en-US" sz="1050" b="1" dirty="0">
                <a:solidFill>
                  <a:schemeClr val="bg1"/>
                </a:solidFill>
              </a:rPr>
              <a:t>2021</a:t>
            </a:r>
            <a:endParaRPr lang="en-US" sz="1050" dirty="0"/>
          </a:p>
        </p:txBody>
      </p:sp>
      <p:sp>
        <p:nvSpPr>
          <p:cNvPr id="8" name="Text 6"/>
          <p:cNvSpPr txBox="1"/>
          <p:nvPr/>
        </p:nvSpPr>
        <p:spPr>
          <a:xfrm>
            <a:off x="1920240" y="1993392"/>
            <a:ext cx="4937760" cy="566928"/>
          </a:xfrm>
          <a:prstGeom prst="rect">
            <a:avLst/>
          </a:prstGeom>
          <a:noFill/>
          <a:ln/>
        </p:spPr>
        <p:txBody>
          <a:bodyPr wrap="square" lIns="0" tIns="0" rIns="0" bIns="0" rtlCol="0" anchor="ctr"/>
          <a:lstStyle/>
          <a:p>
            <a:pPr indent="0" marL="0">
              <a:buNone/>
            </a:pPr>
            <a:r>
              <a:rPr lang="en-US" sz="1100" b="1" dirty="0">
                <a:solidFill>
                  <a:schemeClr val="tx1"/>
                </a:solidFill>
              </a:rPr>
              <a:t>Site prepared, equipment shipped. </a:t>
            </a:r>
            <a:pPr indent="0" marL="0">
              <a:buNone/>
            </a:pPr>
            <a:r>
              <a:rPr lang="en-US" sz="1100" dirty="0">
                <a:solidFill>
                  <a:schemeClr val="tx1"/>
                </a:solidFill>
              </a:rPr>
              <a:t>First floor of the Military Institute building at NDU renovated; two containers dispatched from India (Jul–Nov 2021)</a:t>
            </a:r>
            <a:endParaRPr lang="en-US" sz="1100" dirty="0"/>
          </a:p>
        </p:txBody>
      </p:sp>
      <p:sp>
        <p:nvSpPr>
          <p:cNvPr id="9" name="date chip"/>
          <p:cNvSpPr/>
          <p:nvPr/>
        </p:nvSpPr>
        <p:spPr>
          <a:xfrm>
            <a:off x="548640" y="2670048"/>
            <a:ext cx="1234440" cy="310896"/>
          </a:xfrm>
          <a:prstGeom prst="roundRect">
            <a:avLst>
              <a:gd name="adj" fmla="val 50000"/>
            </a:avLst>
          </a:prstGeom>
          <a:solidFill>
            <a:schemeClr val="accent5"/>
          </a:solidFill>
          <a:ln w="12700">
            <a:solidFill>
              <a:schemeClr val="accent5"/>
            </a:solidFill>
            <a:prstDash val="solid"/>
          </a:ln>
        </p:spPr>
      </p:sp>
      <p:sp>
        <p:nvSpPr>
          <p:cNvPr id="10" name="Text 8"/>
          <p:cNvSpPr txBox="1"/>
          <p:nvPr/>
        </p:nvSpPr>
        <p:spPr>
          <a:xfrm>
            <a:off x="548640" y="2670048"/>
            <a:ext cx="1234440" cy="310896"/>
          </a:xfrm>
          <a:prstGeom prst="rect">
            <a:avLst/>
          </a:prstGeom>
          <a:noFill/>
          <a:ln/>
        </p:spPr>
        <p:txBody>
          <a:bodyPr wrap="square" lIns="0" tIns="0" rIns="0" bIns="0" rtlCol="0" anchor="ctr"/>
          <a:lstStyle/>
          <a:p>
            <a:pPr algn="ctr" indent="0" marL="0">
              <a:buNone/>
            </a:pPr>
            <a:r>
              <a:rPr lang="en-US" sz="1050" b="1" dirty="0">
                <a:solidFill>
                  <a:schemeClr val="bg1"/>
                </a:solidFill>
              </a:rPr>
              <a:t>Feb 2022</a:t>
            </a:r>
            <a:endParaRPr lang="en-US" sz="1050" dirty="0"/>
          </a:p>
        </p:txBody>
      </p:sp>
      <p:sp>
        <p:nvSpPr>
          <p:cNvPr id="11" name="Text 9"/>
          <p:cNvSpPr txBox="1"/>
          <p:nvPr/>
        </p:nvSpPr>
        <p:spPr>
          <a:xfrm>
            <a:off x="1920240" y="2615184"/>
            <a:ext cx="4937760" cy="566928"/>
          </a:xfrm>
          <a:prstGeom prst="rect">
            <a:avLst/>
          </a:prstGeom>
          <a:noFill/>
          <a:ln/>
        </p:spPr>
        <p:txBody>
          <a:bodyPr wrap="square" lIns="0" tIns="0" rIns="0" bIns="0" rtlCol="0" anchor="ctr"/>
          <a:lstStyle/>
          <a:p>
            <a:pPr indent="0" marL="0">
              <a:buNone/>
            </a:pPr>
            <a:r>
              <a:rPr lang="en-US" sz="1100" b="1" dirty="0">
                <a:solidFill>
                  <a:schemeClr val="tx1"/>
                </a:solidFill>
              </a:rPr>
              <a:t>Delivery to NDU. </a:t>
            </a:r>
            <a:pPr indent="0" marL="0">
              <a:buNone/>
            </a:pPr>
            <a:r>
              <a:rPr lang="en-US" sz="1100" dirty="0">
                <a:solidFill>
                  <a:schemeClr val="tx1"/>
                </a:solidFill>
              </a:rPr>
              <a:t>93 types of equipment, software and furniture received in Ulaanbaatar</a:t>
            </a:r>
            <a:endParaRPr lang="en-US" sz="1100" dirty="0"/>
          </a:p>
        </p:txBody>
      </p:sp>
      <p:sp>
        <p:nvSpPr>
          <p:cNvPr id="12" name="date chip"/>
          <p:cNvSpPr/>
          <p:nvPr/>
        </p:nvSpPr>
        <p:spPr>
          <a:xfrm>
            <a:off x="548640" y="3291840"/>
            <a:ext cx="1234440" cy="310896"/>
          </a:xfrm>
          <a:prstGeom prst="roundRect">
            <a:avLst>
              <a:gd name="adj" fmla="val 50000"/>
            </a:avLst>
          </a:prstGeom>
          <a:solidFill>
            <a:schemeClr val="accent5"/>
          </a:solidFill>
          <a:ln w="12700">
            <a:solidFill>
              <a:schemeClr val="accent5"/>
            </a:solidFill>
            <a:prstDash val="solid"/>
          </a:ln>
        </p:spPr>
      </p:sp>
      <p:sp>
        <p:nvSpPr>
          <p:cNvPr id="13" name="Text 11"/>
          <p:cNvSpPr txBox="1"/>
          <p:nvPr/>
        </p:nvSpPr>
        <p:spPr>
          <a:xfrm>
            <a:off x="548640" y="3291840"/>
            <a:ext cx="1234440" cy="310896"/>
          </a:xfrm>
          <a:prstGeom prst="rect">
            <a:avLst/>
          </a:prstGeom>
          <a:noFill/>
          <a:ln/>
        </p:spPr>
        <p:txBody>
          <a:bodyPr wrap="square" lIns="0" tIns="0" rIns="0" bIns="0" rtlCol="0" anchor="ctr"/>
          <a:lstStyle/>
          <a:p>
            <a:pPr algn="ctr" indent="0" marL="0">
              <a:buNone/>
            </a:pPr>
            <a:r>
              <a:rPr lang="en-US" sz="1050" b="1" dirty="0">
                <a:solidFill>
                  <a:schemeClr val="bg1"/>
                </a:solidFill>
              </a:rPr>
              <a:t>Mar–Jul 2022</a:t>
            </a:r>
            <a:endParaRPr lang="en-US" sz="1050" dirty="0"/>
          </a:p>
        </p:txBody>
      </p:sp>
      <p:sp>
        <p:nvSpPr>
          <p:cNvPr id="14" name="Text 12"/>
          <p:cNvSpPr txBox="1"/>
          <p:nvPr/>
        </p:nvSpPr>
        <p:spPr>
          <a:xfrm>
            <a:off x="1920240" y="3236976"/>
            <a:ext cx="4937760" cy="566928"/>
          </a:xfrm>
          <a:prstGeom prst="rect">
            <a:avLst/>
          </a:prstGeom>
          <a:noFill/>
          <a:ln/>
        </p:spPr>
        <p:txBody>
          <a:bodyPr wrap="square" lIns="0" tIns="0" rIns="0" bIns="0" rtlCol="0" anchor="ctr"/>
          <a:lstStyle/>
          <a:p>
            <a:pPr indent="0" marL="0">
              <a:buNone/>
            </a:pPr>
            <a:r>
              <a:rPr lang="en-US" sz="1100" b="1" dirty="0">
                <a:solidFill>
                  <a:schemeClr val="tx1"/>
                </a:solidFill>
              </a:rPr>
              <a:t>Installation and commissioning. </a:t>
            </a:r>
            <a:pPr indent="0" marL="0">
              <a:buNone/>
            </a:pPr>
            <a:r>
              <a:rPr lang="en-US" sz="1100" dirty="0">
                <a:solidFill>
                  <a:schemeClr val="tx1"/>
                </a:solidFill>
              </a:rPr>
              <a:t>C-DAC engineer Sandeep Kumar with the NDU team; LMS and course content installed 20 Jul 2022</a:t>
            </a:r>
            <a:endParaRPr lang="en-US" sz="1100" dirty="0"/>
          </a:p>
        </p:txBody>
      </p:sp>
      <p:sp>
        <p:nvSpPr>
          <p:cNvPr id="15" name="date chip"/>
          <p:cNvSpPr/>
          <p:nvPr/>
        </p:nvSpPr>
        <p:spPr>
          <a:xfrm>
            <a:off x="548640" y="3913632"/>
            <a:ext cx="1234440" cy="310896"/>
          </a:xfrm>
          <a:prstGeom prst="roundRect">
            <a:avLst>
              <a:gd name="adj" fmla="val 50000"/>
            </a:avLst>
          </a:prstGeom>
          <a:solidFill>
            <a:schemeClr val="accent1"/>
          </a:solidFill>
          <a:ln w="12700">
            <a:solidFill>
              <a:schemeClr val="accent1"/>
            </a:solidFill>
            <a:prstDash val="solid"/>
          </a:ln>
        </p:spPr>
      </p:sp>
      <p:sp>
        <p:nvSpPr>
          <p:cNvPr id="16" name="Text 14"/>
          <p:cNvSpPr txBox="1"/>
          <p:nvPr/>
        </p:nvSpPr>
        <p:spPr>
          <a:xfrm>
            <a:off x="548640" y="3913632"/>
            <a:ext cx="1234440" cy="310896"/>
          </a:xfrm>
          <a:prstGeom prst="rect">
            <a:avLst/>
          </a:prstGeom>
          <a:noFill/>
          <a:ln/>
        </p:spPr>
        <p:txBody>
          <a:bodyPr wrap="square" lIns="0" tIns="0" rIns="0" bIns="0" rtlCol="0" anchor="ctr"/>
          <a:lstStyle/>
          <a:p>
            <a:pPr algn="ctr" indent="0" marL="0">
              <a:buNone/>
            </a:pPr>
            <a:r>
              <a:rPr lang="en-US" sz="1050" b="1" dirty="0">
                <a:solidFill>
                  <a:schemeClr val="bg1"/>
                </a:solidFill>
              </a:rPr>
              <a:t>6 Sep 2022</a:t>
            </a:r>
            <a:endParaRPr lang="en-US" sz="1050" dirty="0"/>
          </a:p>
        </p:txBody>
      </p:sp>
      <p:sp>
        <p:nvSpPr>
          <p:cNvPr id="17" name="Text 15"/>
          <p:cNvSpPr txBox="1"/>
          <p:nvPr/>
        </p:nvSpPr>
        <p:spPr>
          <a:xfrm>
            <a:off x="1920240" y="3858768"/>
            <a:ext cx="4937760" cy="566928"/>
          </a:xfrm>
          <a:prstGeom prst="rect">
            <a:avLst/>
          </a:prstGeom>
          <a:noFill/>
          <a:ln/>
        </p:spPr>
        <p:txBody>
          <a:bodyPr wrap="square" lIns="0" tIns="0" rIns="0" bIns="0" rtlCol="0" anchor="ctr"/>
          <a:lstStyle/>
          <a:p>
            <a:pPr indent="0" marL="0">
              <a:buNone/>
            </a:pPr>
            <a:r>
              <a:rPr lang="en-US" sz="1100" b="1" dirty="0">
                <a:solidFill>
                  <a:schemeClr val="tx1"/>
                </a:solidFill>
              </a:rPr>
              <a:t>Inauguration. </a:t>
            </a:r>
            <a:pPr indent="0" marL="0">
              <a:buNone/>
            </a:pPr>
            <a:r>
              <a:rPr lang="en-US" sz="1100" dirty="0">
                <a:solidFill>
                  <a:schemeClr val="tx1"/>
                </a:solidFill>
              </a:rPr>
              <a:t>Defence Minister G. Saikhanbayar and Raksha Mantri Shri Rajnath Singh open the Centre</a:t>
            </a:r>
            <a:endParaRPr lang="en-US" sz="1100" dirty="0"/>
          </a:p>
        </p:txBody>
      </p:sp>
      <p:sp>
        <p:nvSpPr>
          <p:cNvPr id="18" name="date chip"/>
          <p:cNvSpPr/>
          <p:nvPr/>
        </p:nvSpPr>
        <p:spPr>
          <a:xfrm>
            <a:off x="548640" y="4535424"/>
            <a:ext cx="1234440" cy="310896"/>
          </a:xfrm>
          <a:prstGeom prst="roundRect">
            <a:avLst>
              <a:gd name="adj" fmla="val 50000"/>
            </a:avLst>
          </a:prstGeom>
          <a:solidFill>
            <a:schemeClr val="accent2"/>
          </a:solidFill>
          <a:ln w="12700">
            <a:solidFill>
              <a:schemeClr val="accent2"/>
            </a:solidFill>
            <a:prstDash val="solid"/>
          </a:ln>
        </p:spPr>
      </p:sp>
      <p:sp>
        <p:nvSpPr>
          <p:cNvPr id="19" name="Text 17"/>
          <p:cNvSpPr txBox="1"/>
          <p:nvPr/>
        </p:nvSpPr>
        <p:spPr>
          <a:xfrm>
            <a:off x="548640" y="4535424"/>
            <a:ext cx="1234440" cy="310896"/>
          </a:xfrm>
          <a:prstGeom prst="rect">
            <a:avLst/>
          </a:prstGeom>
          <a:noFill/>
          <a:ln/>
        </p:spPr>
        <p:txBody>
          <a:bodyPr wrap="square" lIns="0" tIns="0" rIns="0" bIns="0" rtlCol="0" anchor="ctr"/>
          <a:lstStyle/>
          <a:p>
            <a:pPr algn="ctr" indent="0" marL="0">
              <a:buNone/>
            </a:pPr>
            <a:r>
              <a:rPr lang="en-US" sz="1050" b="1" dirty="0">
                <a:solidFill>
                  <a:schemeClr val="bg1"/>
                </a:solidFill>
              </a:rPr>
              <a:t>Jan 2023</a:t>
            </a:r>
            <a:endParaRPr lang="en-US" sz="1050" dirty="0"/>
          </a:p>
        </p:txBody>
      </p:sp>
      <p:sp>
        <p:nvSpPr>
          <p:cNvPr id="20" name="Text 18"/>
          <p:cNvSpPr txBox="1"/>
          <p:nvPr/>
        </p:nvSpPr>
        <p:spPr>
          <a:xfrm>
            <a:off x="1920240" y="4480560"/>
            <a:ext cx="4937760" cy="566928"/>
          </a:xfrm>
          <a:prstGeom prst="rect">
            <a:avLst/>
          </a:prstGeom>
          <a:noFill/>
          <a:ln/>
        </p:spPr>
        <p:txBody>
          <a:bodyPr wrap="square" lIns="0" tIns="0" rIns="0" bIns="0" rtlCol="0" anchor="ctr"/>
          <a:lstStyle/>
          <a:p>
            <a:pPr indent="0" marL="0">
              <a:buNone/>
            </a:pPr>
            <a:r>
              <a:rPr lang="en-US" sz="1100" b="1" dirty="0">
                <a:solidFill>
                  <a:schemeClr val="tx1"/>
                </a:solidFill>
              </a:rPr>
              <a:t>Centre staffed. </a:t>
            </a:r>
            <a:pPr indent="0" marL="0">
              <a:buNone/>
            </a:pPr>
            <a:r>
              <a:rPr lang="en-US" sz="1100" dirty="0">
                <a:solidFill>
                  <a:schemeClr val="tx1"/>
                </a:solidFill>
              </a:rPr>
              <a:t>Head and three teachers appointed (five posts) under the NDU Training Department</a:t>
            </a:r>
            <a:endParaRPr lang="en-US" sz="1100" dirty="0"/>
          </a:p>
        </p:txBody>
      </p:sp>
      <p:sp>
        <p:nvSpPr>
          <p:cNvPr id="21" name="date chip"/>
          <p:cNvSpPr/>
          <p:nvPr/>
        </p:nvSpPr>
        <p:spPr>
          <a:xfrm>
            <a:off x="548640" y="5157216"/>
            <a:ext cx="1234440" cy="310896"/>
          </a:xfrm>
          <a:prstGeom prst="roundRect">
            <a:avLst>
              <a:gd name="adj" fmla="val 50000"/>
            </a:avLst>
          </a:prstGeom>
          <a:solidFill>
            <a:schemeClr val="accent2"/>
          </a:solidFill>
          <a:ln w="12700">
            <a:solidFill>
              <a:schemeClr val="accent2"/>
            </a:solidFill>
            <a:prstDash val="solid"/>
          </a:ln>
        </p:spPr>
      </p:sp>
      <p:sp>
        <p:nvSpPr>
          <p:cNvPr id="22" name="Text 20"/>
          <p:cNvSpPr txBox="1"/>
          <p:nvPr/>
        </p:nvSpPr>
        <p:spPr>
          <a:xfrm>
            <a:off x="548640" y="5157216"/>
            <a:ext cx="1234440" cy="310896"/>
          </a:xfrm>
          <a:prstGeom prst="rect">
            <a:avLst/>
          </a:prstGeom>
          <a:noFill/>
          <a:ln/>
        </p:spPr>
        <p:txBody>
          <a:bodyPr wrap="square" lIns="0" tIns="0" rIns="0" bIns="0" rtlCol="0" anchor="ctr"/>
          <a:lstStyle/>
          <a:p>
            <a:pPr algn="ctr" indent="0" marL="0">
              <a:buNone/>
            </a:pPr>
            <a:r>
              <a:rPr lang="en-US" sz="1050" b="1" dirty="0">
                <a:solidFill>
                  <a:schemeClr val="bg1"/>
                </a:solidFill>
              </a:rPr>
              <a:t>Aug 2023</a:t>
            </a:r>
            <a:endParaRPr lang="en-US" sz="1050" dirty="0"/>
          </a:p>
        </p:txBody>
      </p:sp>
      <p:sp>
        <p:nvSpPr>
          <p:cNvPr id="23" name="Text 21"/>
          <p:cNvSpPr txBox="1"/>
          <p:nvPr/>
        </p:nvSpPr>
        <p:spPr>
          <a:xfrm>
            <a:off x="1920240" y="5102352"/>
            <a:ext cx="4937760" cy="566928"/>
          </a:xfrm>
          <a:prstGeom prst="rect">
            <a:avLst/>
          </a:prstGeom>
          <a:noFill/>
          <a:ln/>
        </p:spPr>
        <p:txBody>
          <a:bodyPr wrap="square" lIns="0" tIns="0" rIns="0" bIns="0" rtlCol="0" anchor="ctr"/>
          <a:lstStyle/>
          <a:p>
            <a:pPr indent="0" marL="0">
              <a:buNone/>
            </a:pPr>
            <a:r>
              <a:rPr lang="en-US" sz="1100" b="1" dirty="0">
                <a:solidFill>
                  <a:schemeClr val="tx1"/>
                </a:solidFill>
              </a:rPr>
              <a:t>First Indian training team. </a:t>
            </a:r>
            <a:pPr indent="0" marL="0">
              <a:buNone/>
            </a:pPr>
            <a:r>
              <a:rPr lang="en-US" sz="1100" dirty="0">
                <a:solidFill>
                  <a:schemeClr val="tx1"/>
                </a:solidFill>
              </a:rPr>
              <a:t>Mobile training teams of two instructors rotate every four months</a:t>
            </a:r>
            <a:endParaRPr lang="en-US" sz="1100" dirty="0"/>
          </a:p>
        </p:txBody>
      </p:sp>
      <p:sp>
        <p:nvSpPr>
          <p:cNvPr id="24" name="date chip"/>
          <p:cNvSpPr/>
          <p:nvPr/>
        </p:nvSpPr>
        <p:spPr>
          <a:xfrm>
            <a:off x="548640" y="5779008"/>
            <a:ext cx="1234440" cy="310896"/>
          </a:xfrm>
          <a:prstGeom prst="roundRect">
            <a:avLst>
              <a:gd name="adj" fmla="val 50000"/>
            </a:avLst>
          </a:prstGeom>
          <a:solidFill>
            <a:schemeClr val="accent2"/>
          </a:solidFill>
          <a:ln w="12700">
            <a:solidFill>
              <a:schemeClr val="accent2"/>
            </a:solidFill>
            <a:prstDash val="solid"/>
          </a:ln>
        </p:spPr>
      </p:sp>
      <p:sp>
        <p:nvSpPr>
          <p:cNvPr id="25" name="Text 23"/>
          <p:cNvSpPr txBox="1"/>
          <p:nvPr/>
        </p:nvSpPr>
        <p:spPr>
          <a:xfrm>
            <a:off x="548640" y="5779008"/>
            <a:ext cx="1234440" cy="310896"/>
          </a:xfrm>
          <a:prstGeom prst="rect">
            <a:avLst/>
          </a:prstGeom>
          <a:noFill/>
          <a:ln/>
        </p:spPr>
        <p:txBody>
          <a:bodyPr wrap="square" lIns="0" tIns="0" rIns="0" bIns="0" rtlCol="0" anchor="ctr"/>
          <a:lstStyle/>
          <a:p>
            <a:pPr algn="ctr" indent="0" marL="0">
              <a:buNone/>
            </a:pPr>
            <a:r>
              <a:rPr lang="en-US" sz="1050" b="1" dirty="0">
                <a:solidFill>
                  <a:schemeClr val="bg1"/>
                </a:solidFill>
              </a:rPr>
              <a:t>Jul 2025</a:t>
            </a:r>
            <a:endParaRPr lang="en-US" sz="1050" dirty="0"/>
          </a:p>
        </p:txBody>
      </p:sp>
      <p:sp>
        <p:nvSpPr>
          <p:cNvPr id="26" name="Text 24"/>
          <p:cNvSpPr txBox="1"/>
          <p:nvPr/>
        </p:nvSpPr>
        <p:spPr>
          <a:xfrm>
            <a:off x="1920240" y="5724144"/>
            <a:ext cx="4937760" cy="566928"/>
          </a:xfrm>
          <a:prstGeom prst="rect">
            <a:avLst/>
          </a:prstGeom>
          <a:noFill/>
          <a:ln/>
        </p:spPr>
        <p:txBody>
          <a:bodyPr wrap="square" lIns="0" tIns="0" rIns="0" bIns="0" rtlCol="0" anchor="ctr"/>
          <a:lstStyle/>
          <a:p>
            <a:pPr indent="0" marL="0">
              <a:buNone/>
            </a:pPr>
            <a:r>
              <a:rPr lang="en-US" sz="1100" b="1" dirty="0">
                <a:solidFill>
                  <a:schemeClr val="tx1"/>
                </a:solidFill>
              </a:rPr>
              <a:t>University department. </a:t>
            </a:r>
            <a:pPr indent="0" marL="0">
              <a:buNone/>
            </a:pPr>
            <a:r>
              <a:rPr lang="en-US" sz="1100" dirty="0">
                <a:solidFill>
                  <a:schemeClr val="tx1"/>
                </a:solidFill>
              </a:rPr>
              <a:t>Centre becomes the Cyber Security Department of the Military Institute, NDU</a:t>
            </a:r>
            <a:endParaRPr lang="en-US" sz="1100" dirty="0"/>
          </a:p>
        </p:txBody>
      </p:sp>
      <p:pic>
        <p:nvPicPr>
          <p:cNvPr id="27" name="inauguration_ribbon.jpg" descr="/home/user/research-material/india-cyber-cooperation/images/inauguration_ribbon.jpg">    </p:cNvPr>
          <p:cNvPicPr>
            <a:picLocks noChangeAspect="1"/>
          </p:cNvPicPr>
          <p:nvPr/>
        </p:nvPicPr>
        <p:blipFill>
          <a:blip r:embed="rId1"/>
          <a:srcRect l="0" r="0" t="0" b="0"/>
          <a:stretch/>
        </p:blipFill>
        <p:spPr>
          <a:xfrm>
            <a:off x="7132320" y="1371600"/>
            <a:ext cx="4480560" cy="2331720"/>
          </a:xfrm>
          <a:prstGeom prst="rect">
            <a:avLst/>
          </a:prstGeom>
        </p:spPr>
      </p:pic>
      <p:sp>
        <p:nvSpPr>
          <p:cNvPr id="28" name="Text 25"/>
          <p:cNvSpPr txBox="1"/>
          <p:nvPr/>
        </p:nvSpPr>
        <p:spPr>
          <a:xfrm>
            <a:off x="7132320" y="3749040"/>
            <a:ext cx="4480560" cy="411480"/>
          </a:xfrm>
          <a:prstGeom prst="rect">
            <a:avLst/>
          </a:prstGeom>
          <a:noFill/>
          <a:ln/>
        </p:spPr>
        <p:txBody>
          <a:bodyPr wrap="square" lIns="0" tIns="0" rIns="0" bIns="0" rtlCol="0" anchor="t"/>
          <a:lstStyle/>
          <a:p>
            <a:pPr indent="0" marL="0">
              <a:buNone/>
            </a:pPr>
            <a:r>
              <a:rPr lang="en-US" sz="1050" dirty="0">
                <a:solidFill>
                  <a:schemeClr val="tx2"/>
                </a:solidFill>
              </a:rPr>
              <a:t>6 September 2022: Defence Minister G. Saikhanbayar and Raksha Mantri Shri Rajnath Singh cut the ribbon</a:t>
            </a:r>
            <a:endParaRPr lang="en-US" sz="1050" dirty="0"/>
          </a:p>
        </p:txBody>
      </p:sp>
      <p:pic>
        <p:nvPicPr>
          <p:cNvPr id="29" name="inauguration_guard.jpg" descr="/home/user/research-material/india-cyber-cooperation/images/inauguration_guard.jpg">    </p:cNvPr>
          <p:cNvPicPr>
            <a:picLocks noChangeAspect="1"/>
          </p:cNvPicPr>
          <p:nvPr/>
        </p:nvPicPr>
        <p:blipFill>
          <a:blip r:embed="rId2"/>
          <a:srcRect l="0" r="0" t="0" b="0"/>
          <a:stretch/>
        </p:blipFill>
        <p:spPr>
          <a:xfrm>
            <a:off x="7132320" y="4160520"/>
            <a:ext cx="4480560" cy="1920240"/>
          </a:xfrm>
          <a:prstGeom prst="rect">
            <a:avLst/>
          </a:prstGeom>
        </p:spPr>
      </p:pic>
      <p:sp>
        <p:nvSpPr>
          <p:cNvPr id="30" name="Text 26"/>
          <p:cNvSpPr txBox="1"/>
          <p:nvPr/>
        </p:nvSpPr>
        <p:spPr>
          <a:xfrm>
            <a:off x="7132320" y="6126480"/>
            <a:ext cx="4480560" cy="320040"/>
          </a:xfrm>
          <a:prstGeom prst="rect">
            <a:avLst/>
          </a:prstGeom>
          <a:noFill/>
          <a:ln/>
        </p:spPr>
        <p:txBody>
          <a:bodyPr wrap="square" lIns="0" tIns="0" rIns="0" bIns="0" rtlCol="0" anchor="t"/>
          <a:lstStyle/>
          <a:p>
            <a:pPr indent="0" marL="0">
              <a:buNone/>
            </a:pPr>
            <a:r>
              <a:rPr lang="en-US" sz="1050" dirty="0">
                <a:solidFill>
                  <a:schemeClr val="tx2"/>
                </a:solidFill>
              </a:rPr>
              <a:t>Guard of honour for the Indian Defence Minister at NDU</a:t>
            </a:r>
            <a:endParaRPr lang="en-US" sz="105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47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000" b="1" dirty="0">
                <a:solidFill>
                  <a:schemeClr val="tx1"/>
                </a:solidFill>
              </a:rPr>
              <a:t>India's contribution: a complete, equipped training centre</a:t>
            </a:r>
            <a:endParaRPr lang="en-US" sz="3000" dirty="0"/>
          </a:p>
        </p:txBody>
      </p:sp>
      <p:sp>
        <p:nvSpPr>
          <p:cNvPr id="3" name="card"/>
          <p:cNvSpPr/>
          <p:nvPr/>
        </p:nvSpPr>
        <p:spPr>
          <a:xfrm>
            <a:off x="548640" y="1371600"/>
            <a:ext cx="3291840" cy="1600200"/>
          </a:xfrm>
          <a:prstGeom prst="roundRect">
            <a:avLst>
              <a:gd name="adj" fmla="val 6857"/>
            </a:avLst>
          </a:prstGeom>
          <a:solidFill>
            <a:schemeClr val="bg2"/>
          </a:solidFill>
          <a:ln w="12700">
            <a:solidFill>
              <a:schemeClr val="bg2"/>
            </a:solidFill>
            <a:prstDash val="solid"/>
          </a:ln>
        </p:spPr>
      </p:sp>
      <p:sp>
        <p:nvSpPr>
          <p:cNvPr id="4" name="Text 2"/>
          <p:cNvSpPr txBox="1"/>
          <p:nvPr/>
        </p:nvSpPr>
        <p:spPr>
          <a:xfrm>
            <a:off x="731520" y="1463040"/>
            <a:ext cx="2926080" cy="80010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₮1.3 bn</a:t>
            </a:r>
            <a:endParaRPr lang="en-US" sz="4000" dirty="0"/>
          </a:p>
        </p:txBody>
      </p:sp>
      <p:sp>
        <p:nvSpPr>
          <p:cNvPr id="5" name="Text 3"/>
          <p:cNvSpPr txBox="1"/>
          <p:nvPr/>
        </p:nvSpPr>
        <p:spPr>
          <a:xfrm>
            <a:off x="731520" y="2299716"/>
            <a:ext cx="2926080" cy="640080"/>
          </a:xfrm>
          <a:prstGeom prst="rect">
            <a:avLst/>
          </a:prstGeom>
          <a:noFill/>
          <a:ln/>
        </p:spPr>
        <p:txBody>
          <a:bodyPr wrap="square" lIns="0" tIns="0" rIns="0" bIns="0" rtlCol="0" anchor="t"/>
          <a:lstStyle/>
          <a:p>
            <a:pPr indent="0" marL="0">
              <a:buNone/>
            </a:pPr>
            <a:r>
              <a:rPr lang="en-US" sz="1100" dirty="0">
                <a:solidFill>
                  <a:schemeClr val="tx2"/>
                </a:solidFill>
              </a:rPr>
              <a:t>value of Indian supplies (MNT 1,303 million)</a:t>
            </a:r>
            <a:endParaRPr lang="en-US" sz="1100" dirty="0"/>
          </a:p>
        </p:txBody>
      </p:sp>
      <p:sp>
        <p:nvSpPr>
          <p:cNvPr id="6" name="card"/>
          <p:cNvSpPr/>
          <p:nvPr/>
        </p:nvSpPr>
        <p:spPr>
          <a:xfrm>
            <a:off x="548640" y="3154680"/>
            <a:ext cx="3291840" cy="914400"/>
          </a:xfrm>
          <a:prstGeom prst="roundRect">
            <a:avLst>
              <a:gd name="adj" fmla="val 12000"/>
            </a:avLst>
          </a:prstGeom>
          <a:solidFill>
            <a:schemeClr val="bg1"/>
          </a:solidFill>
          <a:ln w="9525">
            <a:solidFill>
              <a:srgbClr val="DDE3EC"/>
            </a:solidFill>
            <a:prstDash val="solid"/>
          </a:ln>
        </p:spPr>
      </p:sp>
      <p:sp>
        <p:nvSpPr>
          <p:cNvPr id="7" name="Text 5"/>
          <p:cNvSpPr txBox="1"/>
          <p:nvPr/>
        </p:nvSpPr>
        <p:spPr>
          <a:xfrm>
            <a:off x="731520" y="3227832"/>
            <a:ext cx="2926080" cy="365760"/>
          </a:xfrm>
          <a:prstGeom prst="rect">
            <a:avLst/>
          </a:prstGeom>
          <a:noFill/>
          <a:ln/>
        </p:spPr>
        <p:txBody>
          <a:bodyPr wrap="square" lIns="0" tIns="0" rIns="0" bIns="0" rtlCol="0" anchor="t"/>
          <a:lstStyle/>
          <a:p>
            <a:pPr indent="0" marL="0">
              <a:buNone/>
            </a:pPr>
            <a:r>
              <a:rPr lang="en-US" sz="1800" b="1" dirty="0">
                <a:solidFill>
                  <a:schemeClr val="accent2"/>
                </a:solidFill>
                <a:latin typeface="Cambria" pitchFamily="34" charset="0"/>
                <a:ea typeface="Cambria" pitchFamily="34" charset="-122"/>
                <a:cs typeface="Cambria" pitchFamily="34" charset="-120"/>
              </a:rPr>
              <a:t>₮984.0 m</a:t>
            </a:r>
            <a:endParaRPr lang="en-US" sz="1800" dirty="0"/>
          </a:p>
        </p:txBody>
      </p:sp>
      <p:sp>
        <p:nvSpPr>
          <p:cNvPr id="8" name="Text 6"/>
          <p:cNvSpPr txBox="1"/>
          <p:nvPr/>
        </p:nvSpPr>
        <p:spPr>
          <a:xfrm>
            <a:off x="731520" y="3593592"/>
            <a:ext cx="2926080" cy="457200"/>
          </a:xfrm>
          <a:prstGeom prst="rect">
            <a:avLst/>
          </a:prstGeom>
          <a:noFill/>
          <a:ln/>
        </p:spPr>
        <p:txBody>
          <a:bodyPr wrap="square" lIns="0" tIns="0" rIns="0" bIns="0" rtlCol="0" anchor="t"/>
          <a:lstStyle/>
          <a:p>
            <a:pPr indent="0" marL="0">
              <a:buNone/>
            </a:pPr>
            <a:r>
              <a:rPr lang="en-US" sz="1050" dirty="0">
                <a:solidFill>
                  <a:schemeClr val="tx2"/>
                </a:solidFill>
              </a:rPr>
              <a:t>equipment, furniture and materials – 93 items in two containers</a:t>
            </a:r>
            <a:endParaRPr lang="en-US" sz="1050" dirty="0"/>
          </a:p>
        </p:txBody>
      </p:sp>
      <p:sp>
        <p:nvSpPr>
          <p:cNvPr id="9" name="card"/>
          <p:cNvSpPr/>
          <p:nvPr/>
        </p:nvSpPr>
        <p:spPr>
          <a:xfrm>
            <a:off x="548640" y="4178808"/>
            <a:ext cx="3291840" cy="914400"/>
          </a:xfrm>
          <a:prstGeom prst="roundRect">
            <a:avLst>
              <a:gd name="adj" fmla="val 12000"/>
            </a:avLst>
          </a:prstGeom>
          <a:solidFill>
            <a:schemeClr val="bg1"/>
          </a:solidFill>
          <a:ln w="9525">
            <a:solidFill>
              <a:srgbClr val="DDE3EC"/>
            </a:solidFill>
            <a:prstDash val="solid"/>
          </a:ln>
        </p:spPr>
      </p:sp>
      <p:sp>
        <p:nvSpPr>
          <p:cNvPr id="10" name="Text 8"/>
          <p:cNvSpPr txBox="1"/>
          <p:nvPr/>
        </p:nvSpPr>
        <p:spPr>
          <a:xfrm>
            <a:off x="731520" y="4251960"/>
            <a:ext cx="2926080" cy="365760"/>
          </a:xfrm>
          <a:prstGeom prst="rect">
            <a:avLst/>
          </a:prstGeom>
          <a:noFill/>
          <a:ln/>
        </p:spPr>
        <p:txBody>
          <a:bodyPr wrap="square" lIns="0" tIns="0" rIns="0" bIns="0" rtlCol="0" anchor="t"/>
          <a:lstStyle/>
          <a:p>
            <a:pPr indent="0" marL="0">
              <a:buNone/>
            </a:pPr>
            <a:r>
              <a:rPr lang="en-US" sz="1800" b="1" dirty="0">
                <a:solidFill>
                  <a:schemeClr val="accent2"/>
                </a:solidFill>
                <a:latin typeface="Cambria" pitchFamily="34" charset="0"/>
                <a:ea typeface="Cambria" pitchFamily="34" charset="-122"/>
                <a:cs typeface="Cambria" pitchFamily="34" charset="-120"/>
              </a:rPr>
              <a:t>₮68.9 m</a:t>
            </a:r>
            <a:endParaRPr lang="en-US" sz="1800" dirty="0"/>
          </a:p>
        </p:txBody>
      </p:sp>
      <p:sp>
        <p:nvSpPr>
          <p:cNvPr id="11" name="Text 9"/>
          <p:cNvSpPr txBox="1"/>
          <p:nvPr/>
        </p:nvSpPr>
        <p:spPr>
          <a:xfrm>
            <a:off x="731520" y="4617720"/>
            <a:ext cx="2926080" cy="457200"/>
          </a:xfrm>
          <a:prstGeom prst="rect">
            <a:avLst/>
          </a:prstGeom>
          <a:noFill/>
          <a:ln/>
        </p:spPr>
        <p:txBody>
          <a:bodyPr wrap="square" lIns="0" tIns="0" rIns="0" bIns="0" rtlCol="0" anchor="t"/>
          <a:lstStyle/>
          <a:p>
            <a:pPr indent="0" marL="0">
              <a:buNone/>
            </a:pPr>
            <a:r>
              <a:rPr lang="en-US" sz="1050" dirty="0">
                <a:solidFill>
                  <a:schemeClr val="tx2"/>
                </a:solidFill>
              </a:rPr>
              <a:t>cyber security software and tools – 5 product families</a:t>
            </a:r>
            <a:endParaRPr lang="en-US" sz="1050" dirty="0"/>
          </a:p>
        </p:txBody>
      </p:sp>
      <p:sp>
        <p:nvSpPr>
          <p:cNvPr id="12" name="card"/>
          <p:cNvSpPr/>
          <p:nvPr/>
        </p:nvSpPr>
        <p:spPr>
          <a:xfrm>
            <a:off x="548640" y="5202936"/>
            <a:ext cx="3291840" cy="914400"/>
          </a:xfrm>
          <a:prstGeom prst="roundRect">
            <a:avLst>
              <a:gd name="adj" fmla="val 12000"/>
            </a:avLst>
          </a:prstGeom>
          <a:solidFill>
            <a:schemeClr val="bg1"/>
          </a:solidFill>
          <a:ln w="9525">
            <a:solidFill>
              <a:srgbClr val="DDE3EC"/>
            </a:solidFill>
            <a:prstDash val="solid"/>
          </a:ln>
        </p:spPr>
      </p:sp>
      <p:sp>
        <p:nvSpPr>
          <p:cNvPr id="13" name="Text 11"/>
          <p:cNvSpPr txBox="1"/>
          <p:nvPr/>
        </p:nvSpPr>
        <p:spPr>
          <a:xfrm>
            <a:off x="731520" y="5276088"/>
            <a:ext cx="2926080" cy="365760"/>
          </a:xfrm>
          <a:prstGeom prst="rect">
            <a:avLst/>
          </a:prstGeom>
          <a:noFill/>
          <a:ln/>
        </p:spPr>
        <p:txBody>
          <a:bodyPr wrap="square" lIns="0" tIns="0" rIns="0" bIns="0" rtlCol="0" anchor="t"/>
          <a:lstStyle/>
          <a:p>
            <a:pPr indent="0" marL="0">
              <a:buNone/>
            </a:pPr>
            <a:r>
              <a:rPr lang="en-US" sz="1800" b="1" dirty="0">
                <a:solidFill>
                  <a:schemeClr val="accent2"/>
                </a:solidFill>
                <a:latin typeface="Cambria" pitchFamily="34" charset="0"/>
                <a:ea typeface="Cambria" pitchFamily="34" charset="-122"/>
                <a:cs typeface="Cambria" pitchFamily="34" charset="-120"/>
              </a:rPr>
              <a:t>₮250.4 m</a:t>
            </a:r>
            <a:endParaRPr lang="en-US" sz="1800" dirty="0"/>
          </a:p>
        </p:txBody>
      </p:sp>
      <p:sp>
        <p:nvSpPr>
          <p:cNvPr id="14" name="Text 12"/>
          <p:cNvSpPr txBox="1"/>
          <p:nvPr/>
        </p:nvSpPr>
        <p:spPr>
          <a:xfrm>
            <a:off x="731520" y="5641848"/>
            <a:ext cx="2926080" cy="457200"/>
          </a:xfrm>
          <a:prstGeom prst="rect">
            <a:avLst/>
          </a:prstGeom>
          <a:noFill/>
          <a:ln/>
        </p:spPr>
        <p:txBody>
          <a:bodyPr wrap="square" lIns="0" tIns="0" rIns="0" bIns="0" rtlCol="0" anchor="t"/>
          <a:lstStyle/>
          <a:p>
            <a:pPr indent="0" marL="0">
              <a:buNone/>
            </a:pPr>
            <a:r>
              <a:rPr lang="en-US" sz="1050" dirty="0">
                <a:solidFill>
                  <a:schemeClr val="tx2"/>
                </a:solidFill>
              </a:rPr>
              <a:t>C-DAC e-learning system and course content</a:t>
            </a:r>
            <a:endParaRPr lang="en-US" sz="1050" dirty="0"/>
          </a:p>
        </p:txBody>
      </p:sp>
      <p:sp>
        <p:nvSpPr>
          <p:cNvPr id="15" name="card"/>
          <p:cNvSpPr/>
          <p:nvPr/>
        </p:nvSpPr>
        <p:spPr>
          <a:xfrm>
            <a:off x="4114800" y="1371600"/>
            <a:ext cx="3657600" cy="1481328"/>
          </a:xfrm>
          <a:prstGeom prst="roundRect">
            <a:avLst>
              <a:gd name="adj" fmla="val 7407"/>
            </a:avLst>
          </a:prstGeom>
          <a:solidFill>
            <a:schemeClr val="bg2"/>
          </a:solidFill>
          <a:ln w="12700">
            <a:solidFill>
              <a:schemeClr val="bg2"/>
            </a:solidFill>
            <a:prstDash val="solid"/>
          </a:ln>
        </p:spPr>
      </p:sp>
      <p:sp>
        <p:nvSpPr>
          <p:cNvPr id="16" name="icon circle"/>
          <p:cNvSpPr/>
          <p:nvPr/>
        </p:nvSpPr>
        <p:spPr>
          <a:xfrm>
            <a:off x="4297680" y="1554480"/>
            <a:ext cx="502920" cy="502920"/>
          </a:xfrm>
          <a:prstGeom prst="ellipse">
            <a:avLst/>
          </a:prstGeom>
          <a:solidFill>
            <a:schemeClr val="accent2"/>
          </a:solidFill>
          <a:ln w="12700">
            <a:solidFill>
              <a:schemeClr val="accent2"/>
            </a:solidFill>
            <a:prstDash val="solid"/>
          </a:ln>
        </p:spPr>
      </p:sp>
      <p:pic>
        <p:nvPicPr>
          <p:cNvPr id="17" name="FaServer" descr="preencoded.png">    </p:cNvPr>
          <p:cNvPicPr>
            <a:picLocks noChangeAspect="1"/>
          </p:cNvPicPr>
          <p:nvPr/>
        </p:nvPicPr>
        <p:blipFill>
          <a:blip r:embed="rId1"/>
          <a:stretch>
            <a:fillRect/>
          </a:stretch>
        </p:blipFill>
        <p:spPr>
          <a:xfrm>
            <a:off x="4428439" y="1685239"/>
            <a:ext cx="241402" cy="241402"/>
          </a:xfrm>
          <a:prstGeom prst="rect">
            <a:avLst/>
          </a:prstGeom>
        </p:spPr>
      </p:pic>
      <p:sp>
        <p:nvSpPr>
          <p:cNvPr id="18" name="Text 15"/>
          <p:cNvSpPr txBox="1"/>
          <p:nvPr/>
        </p:nvSpPr>
        <p:spPr>
          <a:xfrm>
            <a:off x="4937760" y="1554480"/>
            <a:ext cx="2651760" cy="502920"/>
          </a:xfrm>
          <a:prstGeom prst="rect">
            <a:avLst/>
          </a:prstGeom>
          <a:noFill/>
          <a:ln/>
        </p:spPr>
        <p:txBody>
          <a:bodyPr wrap="square" lIns="0" tIns="0" rIns="0" bIns="0" rtlCol="0" anchor="ctr"/>
          <a:lstStyle/>
          <a:p>
            <a:pPr indent="0" marL="0">
              <a:buNone/>
            </a:pPr>
            <a:r>
              <a:rPr lang="en-US" sz="1300" b="1" dirty="0">
                <a:solidFill>
                  <a:schemeClr val="tx1"/>
                </a:solidFill>
              </a:rPr>
              <a:t>Compute and network</a:t>
            </a:r>
            <a:endParaRPr lang="en-US" sz="1300" dirty="0"/>
          </a:p>
        </p:txBody>
      </p:sp>
      <p:sp>
        <p:nvSpPr>
          <p:cNvPr id="19" name="Text 16"/>
          <p:cNvSpPr txBox="1"/>
          <p:nvPr/>
        </p:nvSpPr>
        <p:spPr>
          <a:xfrm>
            <a:off x="4297680" y="2121408"/>
            <a:ext cx="3291840" cy="713232"/>
          </a:xfrm>
          <a:prstGeom prst="rect">
            <a:avLst/>
          </a:prstGeom>
          <a:noFill/>
          <a:ln/>
        </p:spPr>
        <p:txBody>
          <a:bodyPr wrap="square" lIns="0" tIns="0" rIns="0" bIns="0" rtlCol="0" anchor="t"/>
          <a:lstStyle/>
          <a:p>
            <a:pPr indent="0" marL="0">
              <a:buNone/>
            </a:pPr>
            <a:r>
              <a:rPr lang="en-US" sz="1050" dirty="0">
                <a:solidFill>
                  <a:schemeClr val="tx2"/>
                </a:solidFill>
              </a:rPr>
              <a:t>7 Cisco UCS C240 servers, NetApp SAN, Cisco switches, WatchGuard M470 firewall and IPS, 37 HP EliteDesk workstations</a:t>
            </a:r>
            <a:endParaRPr lang="en-US" sz="1050" dirty="0"/>
          </a:p>
        </p:txBody>
      </p:sp>
      <p:sp>
        <p:nvSpPr>
          <p:cNvPr id="20" name="card"/>
          <p:cNvSpPr/>
          <p:nvPr/>
        </p:nvSpPr>
        <p:spPr>
          <a:xfrm>
            <a:off x="7909560" y="1371600"/>
            <a:ext cx="3657600" cy="1481328"/>
          </a:xfrm>
          <a:prstGeom prst="roundRect">
            <a:avLst>
              <a:gd name="adj" fmla="val 7407"/>
            </a:avLst>
          </a:prstGeom>
          <a:solidFill>
            <a:schemeClr val="bg2"/>
          </a:solidFill>
          <a:ln w="12700">
            <a:solidFill>
              <a:schemeClr val="bg2"/>
            </a:solidFill>
            <a:prstDash val="solid"/>
          </a:ln>
        </p:spPr>
      </p:sp>
      <p:sp>
        <p:nvSpPr>
          <p:cNvPr id="21" name="icon circle"/>
          <p:cNvSpPr/>
          <p:nvPr/>
        </p:nvSpPr>
        <p:spPr>
          <a:xfrm>
            <a:off x="8092440" y="1554480"/>
            <a:ext cx="502920" cy="502920"/>
          </a:xfrm>
          <a:prstGeom prst="ellipse">
            <a:avLst/>
          </a:prstGeom>
          <a:solidFill>
            <a:schemeClr val="accent2"/>
          </a:solidFill>
          <a:ln w="12700">
            <a:solidFill>
              <a:schemeClr val="accent2"/>
            </a:solidFill>
            <a:prstDash val="solid"/>
          </a:ln>
        </p:spPr>
      </p:sp>
      <p:pic>
        <p:nvPicPr>
          <p:cNvPr id="22" name="FaSearch" descr="preencoded.png">    </p:cNvPr>
          <p:cNvPicPr>
            <a:picLocks noChangeAspect="1"/>
          </p:cNvPicPr>
          <p:nvPr/>
        </p:nvPicPr>
        <p:blipFill>
          <a:blip r:embed="rId2"/>
          <a:stretch>
            <a:fillRect/>
          </a:stretch>
        </p:blipFill>
        <p:spPr>
          <a:xfrm>
            <a:off x="8223199" y="1685239"/>
            <a:ext cx="241402" cy="241402"/>
          </a:xfrm>
          <a:prstGeom prst="rect">
            <a:avLst/>
          </a:prstGeom>
        </p:spPr>
      </p:pic>
      <p:sp>
        <p:nvSpPr>
          <p:cNvPr id="23" name="Text 19"/>
          <p:cNvSpPr txBox="1"/>
          <p:nvPr/>
        </p:nvSpPr>
        <p:spPr>
          <a:xfrm>
            <a:off x="8732520" y="1554480"/>
            <a:ext cx="2651760" cy="502920"/>
          </a:xfrm>
          <a:prstGeom prst="rect">
            <a:avLst/>
          </a:prstGeom>
          <a:noFill/>
          <a:ln/>
        </p:spPr>
        <p:txBody>
          <a:bodyPr wrap="square" lIns="0" tIns="0" rIns="0" bIns="0" rtlCol="0" anchor="ctr"/>
          <a:lstStyle/>
          <a:p>
            <a:pPr indent="0" marL="0">
              <a:buNone/>
            </a:pPr>
            <a:r>
              <a:rPr lang="en-US" sz="1300" b="1" dirty="0">
                <a:solidFill>
                  <a:schemeClr val="tx1"/>
                </a:solidFill>
              </a:rPr>
              <a:t>Digital forensics</a:t>
            </a:r>
            <a:endParaRPr lang="en-US" sz="1300" dirty="0"/>
          </a:p>
        </p:txBody>
      </p:sp>
      <p:sp>
        <p:nvSpPr>
          <p:cNvPr id="24" name="Text 20"/>
          <p:cNvSpPr txBox="1"/>
          <p:nvPr/>
        </p:nvSpPr>
        <p:spPr>
          <a:xfrm>
            <a:off x="8092440" y="2121408"/>
            <a:ext cx="3291840" cy="713232"/>
          </a:xfrm>
          <a:prstGeom prst="rect">
            <a:avLst/>
          </a:prstGeom>
          <a:noFill/>
          <a:ln/>
        </p:spPr>
        <p:txBody>
          <a:bodyPr wrap="square" lIns="0" tIns="0" rIns="0" bIns="0" rtlCol="0" anchor="t"/>
          <a:lstStyle/>
          <a:p>
            <a:pPr indent="0" marL="0">
              <a:buNone/>
            </a:pPr>
            <a:r>
              <a:rPr lang="en-US" sz="1050" dirty="0">
                <a:solidFill>
                  <a:schemeClr val="tx2"/>
                </a:solidFill>
              </a:rPr>
              <a:t>Tableau duplicators and write-blockers, Cellebrite UFED, Oxygen Forensics, FTK, forensic workstations, Faraday bags</a:t>
            </a:r>
            <a:endParaRPr lang="en-US" sz="1050" dirty="0"/>
          </a:p>
        </p:txBody>
      </p:sp>
      <p:sp>
        <p:nvSpPr>
          <p:cNvPr id="25" name="card"/>
          <p:cNvSpPr/>
          <p:nvPr/>
        </p:nvSpPr>
        <p:spPr>
          <a:xfrm>
            <a:off x="4114800" y="2990088"/>
            <a:ext cx="3657600" cy="1481328"/>
          </a:xfrm>
          <a:prstGeom prst="roundRect">
            <a:avLst>
              <a:gd name="adj" fmla="val 7407"/>
            </a:avLst>
          </a:prstGeom>
          <a:solidFill>
            <a:schemeClr val="bg2"/>
          </a:solidFill>
          <a:ln w="12700">
            <a:solidFill>
              <a:schemeClr val="bg2"/>
            </a:solidFill>
            <a:prstDash val="solid"/>
          </a:ln>
        </p:spPr>
      </p:sp>
      <p:sp>
        <p:nvSpPr>
          <p:cNvPr id="26" name="icon circle"/>
          <p:cNvSpPr/>
          <p:nvPr/>
        </p:nvSpPr>
        <p:spPr>
          <a:xfrm>
            <a:off x="4297680" y="3172968"/>
            <a:ext cx="502920" cy="502920"/>
          </a:xfrm>
          <a:prstGeom prst="ellipse">
            <a:avLst/>
          </a:prstGeom>
          <a:solidFill>
            <a:schemeClr val="accent2"/>
          </a:solidFill>
          <a:ln w="12700">
            <a:solidFill>
              <a:schemeClr val="accent2"/>
            </a:solidFill>
            <a:prstDash val="solid"/>
          </a:ln>
        </p:spPr>
      </p:sp>
      <p:pic>
        <p:nvPicPr>
          <p:cNvPr id="27" name="FaUserSecret" descr="preencoded.png">    </p:cNvPr>
          <p:cNvPicPr>
            <a:picLocks noChangeAspect="1"/>
          </p:cNvPicPr>
          <p:nvPr/>
        </p:nvPicPr>
        <p:blipFill>
          <a:blip r:embed="rId3"/>
          <a:stretch>
            <a:fillRect/>
          </a:stretch>
        </p:blipFill>
        <p:spPr>
          <a:xfrm>
            <a:off x="4428439" y="3303727"/>
            <a:ext cx="241402" cy="241402"/>
          </a:xfrm>
          <a:prstGeom prst="rect">
            <a:avLst/>
          </a:prstGeom>
        </p:spPr>
      </p:pic>
      <p:sp>
        <p:nvSpPr>
          <p:cNvPr id="28" name="Text 23"/>
          <p:cNvSpPr txBox="1"/>
          <p:nvPr/>
        </p:nvSpPr>
        <p:spPr>
          <a:xfrm>
            <a:off x="4937760" y="3172968"/>
            <a:ext cx="2651760" cy="502920"/>
          </a:xfrm>
          <a:prstGeom prst="rect">
            <a:avLst/>
          </a:prstGeom>
          <a:noFill/>
          <a:ln/>
        </p:spPr>
        <p:txBody>
          <a:bodyPr wrap="square" lIns="0" tIns="0" rIns="0" bIns="0" rtlCol="0" anchor="ctr"/>
          <a:lstStyle/>
          <a:p>
            <a:pPr indent="0" marL="0">
              <a:buNone/>
            </a:pPr>
            <a:r>
              <a:rPr lang="en-US" sz="1300" b="1" dirty="0">
                <a:solidFill>
                  <a:schemeClr val="tx1"/>
                </a:solidFill>
              </a:rPr>
              <a:t>Malware analysis</a:t>
            </a:r>
            <a:endParaRPr lang="en-US" sz="1300" dirty="0"/>
          </a:p>
        </p:txBody>
      </p:sp>
      <p:sp>
        <p:nvSpPr>
          <p:cNvPr id="29" name="Text 24"/>
          <p:cNvSpPr txBox="1"/>
          <p:nvPr/>
        </p:nvSpPr>
        <p:spPr>
          <a:xfrm>
            <a:off x="4297680" y="3739896"/>
            <a:ext cx="3291840" cy="713232"/>
          </a:xfrm>
          <a:prstGeom prst="rect">
            <a:avLst/>
          </a:prstGeom>
          <a:noFill/>
          <a:ln/>
        </p:spPr>
        <p:txBody>
          <a:bodyPr wrap="square" lIns="0" tIns="0" rIns="0" bIns="0" rtlCol="0" anchor="t"/>
          <a:lstStyle/>
          <a:p>
            <a:pPr indent="0" marL="0">
              <a:buNone/>
            </a:pPr>
            <a:r>
              <a:rPr lang="en-US" sz="1050" dirty="0">
                <a:solidFill>
                  <a:schemeClr val="tx2"/>
                </a:solidFill>
              </a:rPr>
              <a:t>IDA Pro, Hex-Rays x86/x64 decompilers, Sandboxie</a:t>
            </a:r>
            <a:endParaRPr lang="en-US" sz="1050" dirty="0"/>
          </a:p>
        </p:txBody>
      </p:sp>
      <p:sp>
        <p:nvSpPr>
          <p:cNvPr id="30" name="card"/>
          <p:cNvSpPr/>
          <p:nvPr/>
        </p:nvSpPr>
        <p:spPr>
          <a:xfrm>
            <a:off x="7909560" y="2990088"/>
            <a:ext cx="3657600" cy="1481328"/>
          </a:xfrm>
          <a:prstGeom prst="roundRect">
            <a:avLst>
              <a:gd name="adj" fmla="val 7407"/>
            </a:avLst>
          </a:prstGeom>
          <a:solidFill>
            <a:schemeClr val="bg2"/>
          </a:solidFill>
          <a:ln w="12700">
            <a:solidFill>
              <a:schemeClr val="bg2"/>
            </a:solidFill>
            <a:prstDash val="solid"/>
          </a:ln>
        </p:spPr>
      </p:sp>
      <p:sp>
        <p:nvSpPr>
          <p:cNvPr id="31" name="icon circle"/>
          <p:cNvSpPr/>
          <p:nvPr/>
        </p:nvSpPr>
        <p:spPr>
          <a:xfrm>
            <a:off x="8092440" y="3172968"/>
            <a:ext cx="502920" cy="502920"/>
          </a:xfrm>
          <a:prstGeom prst="ellipse">
            <a:avLst/>
          </a:prstGeom>
          <a:solidFill>
            <a:schemeClr val="accent2"/>
          </a:solidFill>
          <a:ln w="12700">
            <a:solidFill>
              <a:schemeClr val="accent2"/>
            </a:solidFill>
            <a:prstDash val="solid"/>
          </a:ln>
        </p:spPr>
      </p:sp>
      <p:pic>
        <p:nvPicPr>
          <p:cNvPr id="32" name="FaShieldAlt" descr="preencoded.png">    </p:cNvPr>
          <p:cNvPicPr>
            <a:picLocks noChangeAspect="1"/>
          </p:cNvPicPr>
          <p:nvPr/>
        </p:nvPicPr>
        <p:blipFill>
          <a:blip r:embed="rId4"/>
          <a:stretch>
            <a:fillRect/>
          </a:stretch>
        </p:blipFill>
        <p:spPr>
          <a:xfrm>
            <a:off x="8223199" y="3303727"/>
            <a:ext cx="241402" cy="241402"/>
          </a:xfrm>
          <a:prstGeom prst="rect">
            <a:avLst/>
          </a:prstGeom>
        </p:spPr>
      </p:pic>
      <p:sp>
        <p:nvSpPr>
          <p:cNvPr id="33" name="Text 27"/>
          <p:cNvSpPr txBox="1"/>
          <p:nvPr/>
        </p:nvSpPr>
        <p:spPr>
          <a:xfrm>
            <a:off x="8732520" y="3172968"/>
            <a:ext cx="2651760" cy="502920"/>
          </a:xfrm>
          <a:prstGeom prst="rect">
            <a:avLst/>
          </a:prstGeom>
          <a:noFill/>
          <a:ln/>
        </p:spPr>
        <p:txBody>
          <a:bodyPr wrap="square" lIns="0" tIns="0" rIns="0" bIns="0" rtlCol="0" anchor="ctr"/>
          <a:lstStyle/>
          <a:p>
            <a:pPr indent="0" marL="0">
              <a:buNone/>
            </a:pPr>
            <a:r>
              <a:rPr lang="en-US" sz="1300" b="1" dirty="0">
                <a:solidFill>
                  <a:schemeClr val="tx1"/>
                </a:solidFill>
              </a:rPr>
              <a:t>Incident response and audit</a:t>
            </a:r>
            <a:endParaRPr lang="en-US" sz="1300" dirty="0"/>
          </a:p>
        </p:txBody>
      </p:sp>
      <p:sp>
        <p:nvSpPr>
          <p:cNvPr id="34" name="Text 28"/>
          <p:cNvSpPr txBox="1"/>
          <p:nvPr/>
        </p:nvSpPr>
        <p:spPr>
          <a:xfrm>
            <a:off x="8092440" y="3739896"/>
            <a:ext cx="3291840" cy="713232"/>
          </a:xfrm>
          <a:prstGeom prst="rect">
            <a:avLst/>
          </a:prstGeom>
          <a:noFill/>
          <a:ln/>
        </p:spPr>
        <p:txBody>
          <a:bodyPr wrap="square" lIns="0" tIns="0" rIns="0" bIns="0" rtlCol="0" anchor="t"/>
          <a:lstStyle/>
          <a:p>
            <a:pPr indent="0" marL="0">
              <a:buNone/>
            </a:pPr>
            <a:r>
              <a:rPr lang="en-US" sz="1050" dirty="0">
                <a:solidFill>
                  <a:schemeClr val="tx2"/>
                </a:solidFill>
              </a:rPr>
              <a:t>Belkasoft, F-Response, Splunk, Nessus, Burp Suite, Acunetix, Netsparker</a:t>
            </a:r>
            <a:endParaRPr lang="en-US" sz="1050" dirty="0"/>
          </a:p>
        </p:txBody>
      </p:sp>
      <p:sp>
        <p:nvSpPr>
          <p:cNvPr id="35" name="card"/>
          <p:cNvSpPr/>
          <p:nvPr/>
        </p:nvSpPr>
        <p:spPr>
          <a:xfrm>
            <a:off x="4114800" y="4608576"/>
            <a:ext cx="3657600" cy="1481328"/>
          </a:xfrm>
          <a:prstGeom prst="roundRect">
            <a:avLst>
              <a:gd name="adj" fmla="val 7407"/>
            </a:avLst>
          </a:prstGeom>
          <a:solidFill>
            <a:schemeClr val="bg2"/>
          </a:solidFill>
          <a:ln w="12700">
            <a:solidFill>
              <a:schemeClr val="bg2"/>
            </a:solidFill>
            <a:prstDash val="solid"/>
          </a:ln>
        </p:spPr>
      </p:sp>
      <p:sp>
        <p:nvSpPr>
          <p:cNvPr id="36" name="icon circle"/>
          <p:cNvSpPr/>
          <p:nvPr/>
        </p:nvSpPr>
        <p:spPr>
          <a:xfrm>
            <a:off x="4297680" y="4791456"/>
            <a:ext cx="502920" cy="502920"/>
          </a:xfrm>
          <a:prstGeom prst="ellipse">
            <a:avLst/>
          </a:prstGeom>
          <a:solidFill>
            <a:schemeClr val="accent2"/>
          </a:solidFill>
          <a:ln w="12700">
            <a:solidFill>
              <a:schemeClr val="accent2"/>
            </a:solidFill>
            <a:prstDash val="solid"/>
          </a:ln>
        </p:spPr>
      </p:sp>
      <p:pic>
        <p:nvPicPr>
          <p:cNvPr id="37" name="FaBookOpen" descr="preencoded.png">    </p:cNvPr>
          <p:cNvPicPr>
            <a:picLocks noChangeAspect="1"/>
          </p:cNvPicPr>
          <p:nvPr/>
        </p:nvPicPr>
        <p:blipFill>
          <a:blip r:embed="rId5"/>
          <a:stretch>
            <a:fillRect/>
          </a:stretch>
        </p:blipFill>
        <p:spPr>
          <a:xfrm>
            <a:off x="4428439" y="4922215"/>
            <a:ext cx="241402" cy="241402"/>
          </a:xfrm>
          <a:prstGeom prst="rect">
            <a:avLst/>
          </a:prstGeom>
        </p:spPr>
      </p:pic>
      <p:sp>
        <p:nvSpPr>
          <p:cNvPr id="38" name="Text 31"/>
          <p:cNvSpPr txBox="1"/>
          <p:nvPr/>
        </p:nvSpPr>
        <p:spPr>
          <a:xfrm>
            <a:off x="4937760" y="4791456"/>
            <a:ext cx="2651760" cy="502920"/>
          </a:xfrm>
          <a:prstGeom prst="rect">
            <a:avLst/>
          </a:prstGeom>
          <a:noFill/>
          <a:ln/>
        </p:spPr>
        <p:txBody>
          <a:bodyPr wrap="square" lIns="0" tIns="0" rIns="0" bIns="0" rtlCol="0" anchor="ctr"/>
          <a:lstStyle/>
          <a:p>
            <a:pPr indent="0" marL="0">
              <a:buNone/>
            </a:pPr>
            <a:r>
              <a:rPr lang="en-US" sz="1300" b="1" dirty="0">
                <a:solidFill>
                  <a:schemeClr val="tx1"/>
                </a:solidFill>
              </a:rPr>
              <a:t>E-learning</a:t>
            </a:r>
            <a:endParaRPr lang="en-US" sz="1300" dirty="0"/>
          </a:p>
        </p:txBody>
      </p:sp>
      <p:sp>
        <p:nvSpPr>
          <p:cNvPr id="39" name="Text 32"/>
          <p:cNvSpPr txBox="1"/>
          <p:nvPr/>
        </p:nvSpPr>
        <p:spPr>
          <a:xfrm>
            <a:off x="4297680" y="5358384"/>
            <a:ext cx="3291840" cy="713232"/>
          </a:xfrm>
          <a:prstGeom prst="rect">
            <a:avLst/>
          </a:prstGeom>
          <a:noFill/>
          <a:ln/>
        </p:spPr>
        <p:txBody>
          <a:bodyPr wrap="square" lIns="0" tIns="0" rIns="0" bIns="0" rtlCol="0" anchor="t"/>
          <a:lstStyle/>
          <a:p>
            <a:pPr indent="0" marL="0">
              <a:buNone/>
            </a:pPr>
            <a:r>
              <a:rPr lang="en-US" sz="1050" dirty="0">
                <a:solidFill>
                  <a:schemeClr val="tx2"/>
                </a:solidFill>
              </a:rPr>
              <a:t>C-DAC LMS with five courses: awareness, network security, cyber crime investigation, cyber forensics, mobile forensics</a:t>
            </a:r>
            <a:endParaRPr lang="en-US" sz="1050" dirty="0"/>
          </a:p>
        </p:txBody>
      </p:sp>
      <p:sp>
        <p:nvSpPr>
          <p:cNvPr id="40" name="card"/>
          <p:cNvSpPr/>
          <p:nvPr/>
        </p:nvSpPr>
        <p:spPr>
          <a:xfrm>
            <a:off x="7909560" y="4608576"/>
            <a:ext cx="3657600" cy="1481328"/>
          </a:xfrm>
          <a:prstGeom prst="roundRect">
            <a:avLst>
              <a:gd name="adj" fmla="val 7407"/>
            </a:avLst>
          </a:prstGeom>
          <a:solidFill>
            <a:schemeClr val="bg2"/>
          </a:solidFill>
          <a:ln w="12700">
            <a:solidFill>
              <a:schemeClr val="bg2"/>
            </a:solidFill>
            <a:prstDash val="solid"/>
          </a:ln>
        </p:spPr>
      </p:sp>
      <p:sp>
        <p:nvSpPr>
          <p:cNvPr id="41" name="icon circle"/>
          <p:cNvSpPr/>
          <p:nvPr/>
        </p:nvSpPr>
        <p:spPr>
          <a:xfrm>
            <a:off x="8092440" y="4791456"/>
            <a:ext cx="502920" cy="502920"/>
          </a:xfrm>
          <a:prstGeom prst="ellipse">
            <a:avLst/>
          </a:prstGeom>
          <a:solidFill>
            <a:schemeClr val="accent2"/>
          </a:solidFill>
          <a:ln w="12700">
            <a:solidFill>
              <a:schemeClr val="accent2"/>
            </a:solidFill>
            <a:prstDash val="solid"/>
          </a:ln>
        </p:spPr>
      </p:sp>
      <p:pic>
        <p:nvPicPr>
          <p:cNvPr id="42" name="FaMobileAlt" descr="preencoded.png">    </p:cNvPr>
          <p:cNvPicPr>
            <a:picLocks noChangeAspect="1"/>
          </p:cNvPicPr>
          <p:nvPr/>
        </p:nvPicPr>
        <p:blipFill>
          <a:blip r:embed="rId6"/>
          <a:stretch>
            <a:fillRect/>
          </a:stretch>
        </p:blipFill>
        <p:spPr>
          <a:xfrm>
            <a:off x="8223199" y="4922215"/>
            <a:ext cx="241402" cy="241402"/>
          </a:xfrm>
          <a:prstGeom prst="rect">
            <a:avLst/>
          </a:prstGeom>
        </p:spPr>
      </p:pic>
      <p:sp>
        <p:nvSpPr>
          <p:cNvPr id="43" name="Text 35"/>
          <p:cNvSpPr txBox="1"/>
          <p:nvPr/>
        </p:nvSpPr>
        <p:spPr>
          <a:xfrm>
            <a:off x="8732520" y="4791456"/>
            <a:ext cx="2651760" cy="502920"/>
          </a:xfrm>
          <a:prstGeom prst="rect">
            <a:avLst/>
          </a:prstGeom>
          <a:noFill/>
          <a:ln/>
        </p:spPr>
        <p:txBody>
          <a:bodyPr wrap="square" lIns="0" tIns="0" rIns="0" bIns="0" rtlCol="0" anchor="ctr"/>
          <a:lstStyle/>
          <a:p>
            <a:pPr indent="0" marL="0">
              <a:buNone/>
            </a:pPr>
            <a:r>
              <a:rPr lang="en-US" sz="1300" b="1" dirty="0">
                <a:solidFill>
                  <a:schemeClr val="tx1"/>
                </a:solidFill>
              </a:rPr>
              <a:t>Cyber forensic tool kits</a:t>
            </a:r>
            <a:endParaRPr lang="en-US" sz="1300" dirty="0"/>
          </a:p>
        </p:txBody>
      </p:sp>
      <p:sp>
        <p:nvSpPr>
          <p:cNvPr id="44" name="Text 36"/>
          <p:cNvSpPr txBox="1"/>
          <p:nvPr/>
        </p:nvSpPr>
        <p:spPr>
          <a:xfrm>
            <a:off x="8092440" y="5358384"/>
            <a:ext cx="3291840" cy="713232"/>
          </a:xfrm>
          <a:prstGeom prst="rect">
            <a:avLst/>
          </a:prstGeom>
          <a:noFill/>
          <a:ln/>
        </p:spPr>
        <p:txBody>
          <a:bodyPr wrap="square" lIns="0" tIns="0" rIns="0" bIns="0" rtlCol="0" anchor="t"/>
          <a:lstStyle/>
          <a:p>
            <a:pPr indent="0" marL="0">
              <a:buNone/>
            </a:pPr>
            <a:r>
              <a:rPr lang="en-US" sz="1050" dirty="0">
                <a:solidFill>
                  <a:schemeClr val="tx2"/>
                </a:solidFill>
              </a:rPr>
              <a:t>CyberCheck, MobileCheck, CDR analyser, SIMXtractor, network session analysers</a:t>
            </a:r>
            <a:endParaRPr lang="en-US" sz="1050" dirty="0"/>
          </a:p>
        </p:txBody>
      </p:sp>
      <p:sp>
        <p:nvSpPr>
          <p:cNvPr id="45" name="Text 37"/>
          <p:cNvSpPr txBox="1"/>
          <p:nvPr/>
        </p:nvSpPr>
        <p:spPr>
          <a:xfrm>
            <a:off x="4114800" y="6263640"/>
            <a:ext cx="7498080" cy="228600"/>
          </a:xfrm>
          <a:prstGeom prst="rect">
            <a:avLst/>
          </a:prstGeom>
          <a:noFill/>
          <a:ln/>
        </p:spPr>
        <p:txBody>
          <a:bodyPr wrap="square" lIns="0" tIns="0" rIns="0" bIns="0" rtlCol="0" anchor="t"/>
          <a:lstStyle/>
          <a:p>
            <a:pPr indent="0" marL="0">
              <a:buNone/>
            </a:pPr>
            <a:r>
              <a:rPr lang="en-US" sz="1050" i="1" dirty="0">
                <a:solidFill>
                  <a:schemeClr val="tx2"/>
                </a:solidFill>
              </a:rPr>
              <a:t>Mongolia provided the premises on the first floor of the Military Institute, their renovation, the Centre's staff and its day-to-day operation.</a:t>
            </a:r>
            <a:endParaRPr lang="en-US" sz="105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47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000" b="1" dirty="0">
                <a:solidFill>
                  <a:schemeClr val="tx1"/>
                </a:solidFill>
              </a:rPr>
              <a:t>The learning environment: three laboratories and a data centre</a:t>
            </a:r>
            <a:endParaRPr lang="en-US" sz="3000" dirty="0"/>
          </a:p>
        </p:txBody>
      </p:sp>
      <p:pic>
        <p:nvPicPr>
          <p:cNvPr id="3" name="lab_forensic.jpg" descr="/home/user/research-material/india-cyber-cooperation/images/lab_forensic.jpg">    </p:cNvPr>
          <p:cNvPicPr>
            <a:picLocks noChangeAspect="1"/>
          </p:cNvPicPr>
          <p:nvPr/>
        </p:nvPicPr>
        <p:blipFill>
          <a:blip r:embed="rId1"/>
          <a:srcRect l="0" r="0" t="0" b="0"/>
          <a:stretch/>
        </p:blipFill>
        <p:spPr>
          <a:xfrm>
            <a:off x="548640" y="1371600"/>
            <a:ext cx="2697480" cy="1691640"/>
          </a:xfrm>
          <a:prstGeom prst="rect">
            <a:avLst/>
          </a:prstGeom>
        </p:spPr>
      </p:pic>
      <p:sp>
        <p:nvSpPr>
          <p:cNvPr id="4" name="Text 1"/>
          <p:cNvSpPr txBox="1"/>
          <p:nvPr/>
        </p:nvSpPr>
        <p:spPr>
          <a:xfrm>
            <a:off x="548640" y="3108960"/>
            <a:ext cx="2697480" cy="274320"/>
          </a:xfrm>
          <a:prstGeom prst="rect">
            <a:avLst/>
          </a:prstGeom>
          <a:noFill/>
          <a:ln/>
        </p:spPr>
        <p:txBody>
          <a:bodyPr wrap="square" lIns="0" tIns="0" rIns="0" bIns="0" rtlCol="0" anchor="t"/>
          <a:lstStyle/>
          <a:p>
            <a:pPr indent="0" marL="0">
              <a:buNone/>
            </a:pPr>
            <a:r>
              <a:rPr lang="en-US" sz="1200" b="1" dirty="0">
                <a:solidFill>
                  <a:schemeClr val="tx1"/>
                </a:solidFill>
              </a:rPr>
              <a:t>Digital forensics laboratory</a:t>
            </a:r>
            <a:endParaRPr lang="en-US" sz="1200" dirty="0"/>
          </a:p>
        </p:txBody>
      </p:sp>
      <p:sp>
        <p:nvSpPr>
          <p:cNvPr id="5" name="Text 2"/>
          <p:cNvSpPr txBox="1"/>
          <p:nvPr/>
        </p:nvSpPr>
        <p:spPr>
          <a:xfrm>
            <a:off x="548640" y="3364992"/>
            <a:ext cx="2697480" cy="274320"/>
          </a:xfrm>
          <a:prstGeom prst="rect">
            <a:avLst/>
          </a:prstGeom>
          <a:noFill/>
          <a:ln/>
        </p:spPr>
        <p:txBody>
          <a:bodyPr wrap="square" lIns="0" tIns="0" rIns="0" bIns="0" rtlCol="0" anchor="t"/>
          <a:lstStyle/>
          <a:p>
            <a:pPr indent="0" marL="0">
              <a:buNone/>
            </a:pPr>
            <a:r>
              <a:rPr lang="en-US" sz="1050" dirty="0">
                <a:solidFill>
                  <a:schemeClr val="tx2"/>
                </a:solidFill>
              </a:rPr>
              <a:t>12 workstations</a:t>
            </a:r>
            <a:endParaRPr lang="en-US" sz="1050" dirty="0"/>
          </a:p>
        </p:txBody>
      </p:sp>
      <p:pic>
        <p:nvPicPr>
          <p:cNvPr id="6" name="lab_malware.jpg" descr="/home/user/research-material/india-cyber-cooperation/images/lab_malware.jpg">    </p:cNvPr>
          <p:cNvPicPr>
            <a:picLocks noChangeAspect="1"/>
          </p:cNvPicPr>
          <p:nvPr/>
        </p:nvPicPr>
        <p:blipFill>
          <a:blip r:embed="rId2"/>
          <a:srcRect l="0" r="0" t="0" b="0"/>
          <a:stretch/>
        </p:blipFill>
        <p:spPr>
          <a:xfrm>
            <a:off x="3337560" y="1371600"/>
            <a:ext cx="2697480" cy="1691640"/>
          </a:xfrm>
          <a:prstGeom prst="rect">
            <a:avLst/>
          </a:prstGeom>
        </p:spPr>
      </p:pic>
      <p:sp>
        <p:nvSpPr>
          <p:cNvPr id="7" name="Text 3"/>
          <p:cNvSpPr txBox="1"/>
          <p:nvPr/>
        </p:nvSpPr>
        <p:spPr>
          <a:xfrm>
            <a:off x="3337560" y="3108960"/>
            <a:ext cx="2697480" cy="274320"/>
          </a:xfrm>
          <a:prstGeom prst="rect">
            <a:avLst/>
          </a:prstGeom>
          <a:noFill/>
          <a:ln/>
        </p:spPr>
        <p:txBody>
          <a:bodyPr wrap="square" lIns="0" tIns="0" rIns="0" bIns="0" rtlCol="0" anchor="t"/>
          <a:lstStyle/>
          <a:p>
            <a:pPr indent="0" marL="0">
              <a:buNone/>
            </a:pPr>
            <a:r>
              <a:rPr lang="en-US" sz="1200" b="1" dirty="0">
                <a:solidFill>
                  <a:schemeClr val="tx1"/>
                </a:solidFill>
              </a:rPr>
              <a:t>Malware analysis laboratory</a:t>
            </a:r>
            <a:endParaRPr lang="en-US" sz="1200" dirty="0"/>
          </a:p>
        </p:txBody>
      </p:sp>
      <p:sp>
        <p:nvSpPr>
          <p:cNvPr id="8" name="Text 4"/>
          <p:cNvSpPr txBox="1"/>
          <p:nvPr/>
        </p:nvSpPr>
        <p:spPr>
          <a:xfrm>
            <a:off x="3337560" y="3364992"/>
            <a:ext cx="2697480" cy="274320"/>
          </a:xfrm>
          <a:prstGeom prst="rect">
            <a:avLst/>
          </a:prstGeom>
          <a:noFill/>
          <a:ln/>
        </p:spPr>
        <p:txBody>
          <a:bodyPr wrap="square" lIns="0" tIns="0" rIns="0" bIns="0" rtlCol="0" anchor="t"/>
          <a:lstStyle/>
          <a:p>
            <a:pPr indent="0" marL="0">
              <a:buNone/>
            </a:pPr>
            <a:r>
              <a:rPr lang="en-US" sz="1050" dirty="0">
                <a:solidFill>
                  <a:schemeClr val="tx2"/>
                </a:solidFill>
              </a:rPr>
              <a:t>14 workstations</a:t>
            </a:r>
            <a:endParaRPr lang="en-US" sz="1050" dirty="0"/>
          </a:p>
        </p:txBody>
      </p:sp>
      <p:pic>
        <p:nvPicPr>
          <p:cNvPr id="9" name="lab_incident.jpg" descr="/home/user/research-material/india-cyber-cooperation/images/lab_incident.jpg">    </p:cNvPr>
          <p:cNvPicPr>
            <a:picLocks noChangeAspect="1"/>
          </p:cNvPicPr>
          <p:nvPr/>
        </p:nvPicPr>
        <p:blipFill>
          <a:blip r:embed="rId3"/>
          <a:srcRect l="0" r="0" t="0" b="0"/>
          <a:stretch/>
        </p:blipFill>
        <p:spPr>
          <a:xfrm>
            <a:off x="6126480" y="1371600"/>
            <a:ext cx="2697480" cy="1691640"/>
          </a:xfrm>
          <a:prstGeom prst="rect">
            <a:avLst/>
          </a:prstGeom>
        </p:spPr>
      </p:pic>
      <p:sp>
        <p:nvSpPr>
          <p:cNvPr id="10" name="Text 5"/>
          <p:cNvSpPr txBox="1"/>
          <p:nvPr/>
        </p:nvSpPr>
        <p:spPr>
          <a:xfrm>
            <a:off x="6126480" y="3108960"/>
            <a:ext cx="2697480" cy="274320"/>
          </a:xfrm>
          <a:prstGeom prst="rect">
            <a:avLst/>
          </a:prstGeom>
          <a:noFill/>
          <a:ln/>
        </p:spPr>
        <p:txBody>
          <a:bodyPr wrap="square" lIns="0" tIns="0" rIns="0" bIns="0" rtlCol="0" anchor="t"/>
          <a:lstStyle/>
          <a:p>
            <a:pPr indent="0" marL="0">
              <a:buNone/>
            </a:pPr>
            <a:r>
              <a:rPr lang="en-US" sz="1200" b="1" dirty="0">
                <a:solidFill>
                  <a:schemeClr val="tx1"/>
                </a:solidFill>
              </a:rPr>
              <a:t>Incident and audit laboratory</a:t>
            </a:r>
            <a:endParaRPr lang="en-US" sz="1200" dirty="0"/>
          </a:p>
        </p:txBody>
      </p:sp>
      <p:sp>
        <p:nvSpPr>
          <p:cNvPr id="11" name="Text 6"/>
          <p:cNvSpPr txBox="1"/>
          <p:nvPr/>
        </p:nvSpPr>
        <p:spPr>
          <a:xfrm>
            <a:off x="6126480" y="3364992"/>
            <a:ext cx="2697480" cy="274320"/>
          </a:xfrm>
          <a:prstGeom prst="rect">
            <a:avLst/>
          </a:prstGeom>
          <a:noFill/>
          <a:ln/>
        </p:spPr>
        <p:txBody>
          <a:bodyPr wrap="square" lIns="0" tIns="0" rIns="0" bIns="0" rtlCol="0" anchor="t"/>
          <a:lstStyle/>
          <a:p>
            <a:pPr indent="0" marL="0">
              <a:buNone/>
            </a:pPr>
            <a:r>
              <a:rPr lang="en-US" sz="1050" dirty="0">
                <a:solidFill>
                  <a:schemeClr val="tx2"/>
                </a:solidFill>
              </a:rPr>
              <a:t>11 workstations</a:t>
            </a:r>
            <a:endParaRPr lang="en-US" sz="1050" dirty="0"/>
          </a:p>
        </p:txBody>
      </p:sp>
      <p:pic>
        <p:nvPicPr>
          <p:cNvPr id="12" name="lecture_hall.jpg" descr="/home/user/research-material/india-cyber-cooperation/images/lecture_hall.jpg">    </p:cNvPr>
          <p:cNvPicPr>
            <a:picLocks noChangeAspect="1"/>
          </p:cNvPicPr>
          <p:nvPr/>
        </p:nvPicPr>
        <p:blipFill>
          <a:blip r:embed="rId4"/>
          <a:srcRect l="0" r="0" t="0" b="0"/>
          <a:stretch/>
        </p:blipFill>
        <p:spPr>
          <a:xfrm>
            <a:off x="8915400" y="1371600"/>
            <a:ext cx="2697480" cy="1691640"/>
          </a:xfrm>
          <a:prstGeom prst="rect">
            <a:avLst/>
          </a:prstGeom>
        </p:spPr>
      </p:pic>
      <p:sp>
        <p:nvSpPr>
          <p:cNvPr id="13" name="Text 7"/>
          <p:cNvSpPr txBox="1"/>
          <p:nvPr/>
        </p:nvSpPr>
        <p:spPr>
          <a:xfrm>
            <a:off x="8915400" y="3108960"/>
            <a:ext cx="2697480" cy="274320"/>
          </a:xfrm>
          <a:prstGeom prst="rect">
            <a:avLst/>
          </a:prstGeom>
          <a:noFill/>
          <a:ln/>
        </p:spPr>
        <p:txBody>
          <a:bodyPr wrap="square" lIns="0" tIns="0" rIns="0" bIns="0" rtlCol="0" anchor="t"/>
          <a:lstStyle/>
          <a:p>
            <a:pPr indent="0" marL="0">
              <a:buNone/>
            </a:pPr>
            <a:r>
              <a:rPr lang="en-US" sz="1200" b="1" dirty="0">
                <a:solidFill>
                  <a:schemeClr val="tx1"/>
                </a:solidFill>
              </a:rPr>
              <a:t>Lecture hall</a:t>
            </a:r>
            <a:endParaRPr lang="en-US" sz="1200" dirty="0"/>
          </a:p>
        </p:txBody>
      </p:sp>
      <p:sp>
        <p:nvSpPr>
          <p:cNvPr id="14" name="Text 8"/>
          <p:cNvSpPr txBox="1"/>
          <p:nvPr/>
        </p:nvSpPr>
        <p:spPr>
          <a:xfrm>
            <a:off x="8915400" y="3364992"/>
            <a:ext cx="2697480" cy="274320"/>
          </a:xfrm>
          <a:prstGeom prst="rect">
            <a:avLst/>
          </a:prstGeom>
          <a:noFill/>
          <a:ln/>
        </p:spPr>
        <p:txBody>
          <a:bodyPr wrap="square" lIns="0" tIns="0" rIns="0" bIns="0" rtlCol="0" anchor="t"/>
          <a:lstStyle/>
          <a:p>
            <a:pPr indent="0" marL="0">
              <a:buNone/>
            </a:pPr>
            <a:r>
              <a:rPr lang="en-US" sz="1050" dirty="0">
                <a:solidFill>
                  <a:schemeClr val="tx2"/>
                </a:solidFill>
              </a:rPr>
              <a:t>34 seats, smart board, 2 displays</a:t>
            </a:r>
            <a:endParaRPr lang="en-US" sz="1050" dirty="0"/>
          </a:p>
        </p:txBody>
      </p:sp>
      <p:pic>
        <p:nvPicPr>
          <p:cNvPr id="15" name="library.jpg" descr="/home/user/research-material/india-cyber-cooperation/images/library.jpg">    </p:cNvPr>
          <p:cNvPicPr>
            <a:picLocks noChangeAspect="1"/>
          </p:cNvPicPr>
          <p:nvPr/>
        </p:nvPicPr>
        <p:blipFill>
          <a:blip r:embed="rId5"/>
          <a:srcRect l="0" r="0" t="0" b="0"/>
          <a:stretch/>
        </p:blipFill>
        <p:spPr>
          <a:xfrm>
            <a:off x="548640" y="3886200"/>
            <a:ext cx="2697480" cy="1691640"/>
          </a:xfrm>
          <a:prstGeom prst="rect">
            <a:avLst/>
          </a:prstGeom>
        </p:spPr>
      </p:pic>
      <p:sp>
        <p:nvSpPr>
          <p:cNvPr id="16" name="Text 9"/>
          <p:cNvSpPr txBox="1"/>
          <p:nvPr/>
        </p:nvSpPr>
        <p:spPr>
          <a:xfrm>
            <a:off x="548640" y="5623560"/>
            <a:ext cx="2697480" cy="274320"/>
          </a:xfrm>
          <a:prstGeom prst="rect">
            <a:avLst/>
          </a:prstGeom>
          <a:noFill/>
          <a:ln/>
        </p:spPr>
        <p:txBody>
          <a:bodyPr wrap="square" lIns="0" tIns="0" rIns="0" bIns="0" rtlCol="0" anchor="t"/>
          <a:lstStyle/>
          <a:p>
            <a:pPr indent="0" marL="0">
              <a:buNone/>
            </a:pPr>
            <a:r>
              <a:rPr lang="en-US" sz="1200" b="1" dirty="0">
                <a:solidFill>
                  <a:schemeClr val="tx1"/>
                </a:solidFill>
              </a:rPr>
              <a:t>Library</a:t>
            </a:r>
            <a:endParaRPr lang="en-US" sz="1200" dirty="0"/>
          </a:p>
        </p:txBody>
      </p:sp>
      <p:sp>
        <p:nvSpPr>
          <p:cNvPr id="17" name="Text 10"/>
          <p:cNvSpPr txBox="1"/>
          <p:nvPr/>
        </p:nvSpPr>
        <p:spPr>
          <a:xfrm>
            <a:off x="548640" y="5879592"/>
            <a:ext cx="2697480" cy="274320"/>
          </a:xfrm>
          <a:prstGeom prst="rect">
            <a:avLst/>
          </a:prstGeom>
          <a:noFill/>
          <a:ln/>
        </p:spPr>
        <p:txBody>
          <a:bodyPr wrap="square" lIns="0" tIns="0" rIns="0" bIns="0" rtlCol="0" anchor="t"/>
          <a:lstStyle/>
          <a:p>
            <a:pPr indent="0" marL="0">
              <a:buNone/>
            </a:pPr>
            <a:r>
              <a:rPr lang="en-US" sz="1050" dirty="0">
                <a:solidFill>
                  <a:schemeClr val="tx2"/>
                </a:solidFill>
              </a:rPr>
              <a:t>Textbooks and study desks</a:t>
            </a:r>
            <a:endParaRPr lang="en-US" sz="1050" dirty="0"/>
          </a:p>
        </p:txBody>
      </p:sp>
      <p:pic>
        <p:nvPicPr>
          <p:cNvPr id="18" name="staff_room.jpg" descr="/home/user/research-material/india-cyber-cooperation/images/staff_room.jpg">    </p:cNvPr>
          <p:cNvPicPr>
            <a:picLocks noChangeAspect="1"/>
          </p:cNvPicPr>
          <p:nvPr/>
        </p:nvPicPr>
        <p:blipFill>
          <a:blip r:embed="rId6"/>
          <a:srcRect l="0" r="0" t="0" b="0"/>
          <a:stretch/>
        </p:blipFill>
        <p:spPr>
          <a:xfrm>
            <a:off x="3337560" y="3886200"/>
            <a:ext cx="2697480" cy="1691640"/>
          </a:xfrm>
          <a:prstGeom prst="rect">
            <a:avLst/>
          </a:prstGeom>
        </p:spPr>
      </p:pic>
      <p:sp>
        <p:nvSpPr>
          <p:cNvPr id="19" name="Text 11"/>
          <p:cNvSpPr txBox="1"/>
          <p:nvPr/>
        </p:nvSpPr>
        <p:spPr>
          <a:xfrm>
            <a:off x="3337560" y="5623560"/>
            <a:ext cx="2697480" cy="274320"/>
          </a:xfrm>
          <a:prstGeom prst="rect">
            <a:avLst/>
          </a:prstGeom>
          <a:noFill/>
          <a:ln/>
        </p:spPr>
        <p:txBody>
          <a:bodyPr wrap="square" lIns="0" tIns="0" rIns="0" bIns="0" rtlCol="0" anchor="t"/>
          <a:lstStyle/>
          <a:p>
            <a:pPr indent="0" marL="0">
              <a:buNone/>
            </a:pPr>
            <a:r>
              <a:rPr lang="en-US" sz="1200" b="1" dirty="0">
                <a:solidFill>
                  <a:schemeClr val="tx1"/>
                </a:solidFill>
              </a:rPr>
              <a:t>Staff room</a:t>
            </a:r>
            <a:endParaRPr lang="en-US" sz="1200" dirty="0"/>
          </a:p>
        </p:txBody>
      </p:sp>
      <p:sp>
        <p:nvSpPr>
          <p:cNvPr id="20" name="Text 12"/>
          <p:cNvSpPr txBox="1"/>
          <p:nvPr/>
        </p:nvSpPr>
        <p:spPr>
          <a:xfrm>
            <a:off x="3337560" y="5879592"/>
            <a:ext cx="2697480" cy="274320"/>
          </a:xfrm>
          <a:prstGeom prst="rect">
            <a:avLst/>
          </a:prstGeom>
          <a:noFill/>
          <a:ln/>
        </p:spPr>
        <p:txBody>
          <a:bodyPr wrap="square" lIns="0" tIns="0" rIns="0" bIns="0" rtlCol="0" anchor="t"/>
          <a:lstStyle/>
          <a:p>
            <a:pPr indent="0" marL="0">
              <a:buNone/>
            </a:pPr>
            <a:r>
              <a:rPr lang="en-US" sz="1050" dirty="0">
                <a:solidFill>
                  <a:schemeClr val="tx2"/>
                </a:solidFill>
              </a:rPr>
              <a:t>8 instructor desks</a:t>
            </a:r>
            <a:endParaRPr lang="en-US" sz="1050" dirty="0"/>
          </a:p>
        </p:txBody>
      </p:sp>
      <p:pic>
        <p:nvPicPr>
          <p:cNvPr id="21" name="server_room.jpg" descr="/home/user/research-material/india-cyber-cooperation/images/server_room.jpg">    </p:cNvPr>
          <p:cNvPicPr>
            <a:picLocks noChangeAspect="1"/>
          </p:cNvPicPr>
          <p:nvPr/>
        </p:nvPicPr>
        <p:blipFill>
          <a:blip r:embed="rId7"/>
          <a:srcRect l="0" r="0" t="0" b="0"/>
          <a:stretch/>
        </p:blipFill>
        <p:spPr>
          <a:xfrm>
            <a:off x="6126480" y="3886200"/>
            <a:ext cx="2697480" cy="1691640"/>
          </a:xfrm>
          <a:prstGeom prst="rect">
            <a:avLst/>
          </a:prstGeom>
        </p:spPr>
      </p:pic>
      <p:sp>
        <p:nvSpPr>
          <p:cNvPr id="22" name="Text 13"/>
          <p:cNvSpPr txBox="1"/>
          <p:nvPr/>
        </p:nvSpPr>
        <p:spPr>
          <a:xfrm>
            <a:off x="6126480" y="5623560"/>
            <a:ext cx="2697480" cy="274320"/>
          </a:xfrm>
          <a:prstGeom prst="rect">
            <a:avLst/>
          </a:prstGeom>
          <a:noFill/>
          <a:ln/>
        </p:spPr>
        <p:txBody>
          <a:bodyPr wrap="square" lIns="0" tIns="0" rIns="0" bIns="0" rtlCol="0" anchor="t"/>
          <a:lstStyle/>
          <a:p>
            <a:pPr indent="0" marL="0">
              <a:buNone/>
            </a:pPr>
            <a:r>
              <a:rPr lang="en-US" sz="1200" b="1" dirty="0">
                <a:solidFill>
                  <a:schemeClr val="tx1"/>
                </a:solidFill>
              </a:rPr>
              <a:t>Data centre</a:t>
            </a:r>
            <a:endParaRPr lang="en-US" sz="1200" dirty="0"/>
          </a:p>
        </p:txBody>
      </p:sp>
      <p:sp>
        <p:nvSpPr>
          <p:cNvPr id="23" name="Text 14"/>
          <p:cNvSpPr txBox="1"/>
          <p:nvPr/>
        </p:nvSpPr>
        <p:spPr>
          <a:xfrm>
            <a:off x="6126480" y="5879592"/>
            <a:ext cx="2697480" cy="274320"/>
          </a:xfrm>
          <a:prstGeom prst="rect">
            <a:avLst/>
          </a:prstGeom>
          <a:noFill/>
          <a:ln/>
        </p:spPr>
        <p:txBody>
          <a:bodyPr wrap="square" lIns="0" tIns="0" rIns="0" bIns="0" rtlCol="0" anchor="t"/>
          <a:lstStyle/>
          <a:p>
            <a:pPr indent="0" marL="0">
              <a:buNone/>
            </a:pPr>
            <a:r>
              <a:rPr lang="en-US" sz="1050" dirty="0">
                <a:solidFill>
                  <a:schemeClr val="tx2"/>
                </a:solidFill>
              </a:rPr>
              <a:t>2 racks, servers, SAN, firewall</a:t>
            </a:r>
            <a:endParaRPr lang="en-US" sz="1050" dirty="0"/>
          </a:p>
        </p:txBody>
      </p:sp>
      <p:pic>
        <p:nvPicPr>
          <p:cNvPr id="24" name="head_office.jpg" descr="/home/user/research-material/india-cyber-cooperation/images/head_office.jpg">    </p:cNvPr>
          <p:cNvPicPr>
            <a:picLocks noChangeAspect="1"/>
          </p:cNvPicPr>
          <p:nvPr/>
        </p:nvPicPr>
        <p:blipFill>
          <a:blip r:embed="rId8"/>
          <a:srcRect l="0" r="0" t="0" b="0"/>
          <a:stretch/>
        </p:blipFill>
        <p:spPr>
          <a:xfrm>
            <a:off x="8915400" y="3886200"/>
            <a:ext cx="2697480" cy="1691640"/>
          </a:xfrm>
          <a:prstGeom prst="rect">
            <a:avLst/>
          </a:prstGeom>
        </p:spPr>
      </p:pic>
      <p:sp>
        <p:nvSpPr>
          <p:cNvPr id="25" name="Text 15"/>
          <p:cNvSpPr txBox="1"/>
          <p:nvPr/>
        </p:nvSpPr>
        <p:spPr>
          <a:xfrm>
            <a:off x="8915400" y="5623560"/>
            <a:ext cx="2697480" cy="274320"/>
          </a:xfrm>
          <a:prstGeom prst="rect">
            <a:avLst/>
          </a:prstGeom>
          <a:noFill/>
          <a:ln/>
        </p:spPr>
        <p:txBody>
          <a:bodyPr wrap="square" lIns="0" tIns="0" rIns="0" bIns="0" rtlCol="0" anchor="t"/>
          <a:lstStyle/>
          <a:p>
            <a:pPr indent="0" marL="0">
              <a:buNone/>
            </a:pPr>
            <a:r>
              <a:rPr lang="en-US" sz="1200" b="1" dirty="0">
                <a:solidFill>
                  <a:schemeClr val="tx1"/>
                </a:solidFill>
              </a:rPr>
              <a:t>Head of department</a:t>
            </a:r>
            <a:endParaRPr lang="en-US" sz="1200" dirty="0"/>
          </a:p>
        </p:txBody>
      </p:sp>
      <p:sp>
        <p:nvSpPr>
          <p:cNvPr id="26" name="Text 16"/>
          <p:cNvSpPr txBox="1"/>
          <p:nvPr/>
        </p:nvSpPr>
        <p:spPr>
          <a:xfrm>
            <a:off x="8915400" y="5879592"/>
            <a:ext cx="2697480" cy="274320"/>
          </a:xfrm>
          <a:prstGeom prst="rect">
            <a:avLst/>
          </a:prstGeom>
          <a:noFill/>
          <a:ln/>
        </p:spPr>
        <p:txBody>
          <a:bodyPr wrap="square" lIns="0" tIns="0" rIns="0" bIns="0" rtlCol="0" anchor="t"/>
          <a:lstStyle/>
          <a:p>
            <a:pPr indent="0" marL="0">
              <a:buNone/>
            </a:pPr>
            <a:r>
              <a:rPr lang="en-US" sz="1050" dirty="0">
                <a:solidFill>
                  <a:schemeClr val="tx2"/>
                </a:solidFill>
              </a:rPr>
              <a:t>Office and meeting table</a:t>
            </a:r>
            <a:endParaRPr lang="en-US" sz="105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47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000" b="1" dirty="0">
                <a:solidFill>
                  <a:schemeClr val="tx1"/>
                </a:solidFill>
              </a:rPr>
              <a:t>From a training centre to a university department</a:t>
            </a:r>
            <a:endParaRPr lang="en-US" sz="3000" dirty="0"/>
          </a:p>
        </p:txBody>
      </p:sp>
      <p:sp>
        <p:nvSpPr>
          <p:cNvPr id="3" name="card"/>
          <p:cNvSpPr/>
          <p:nvPr/>
        </p:nvSpPr>
        <p:spPr>
          <a:xfrm>
            <a:off x="548640" y="1371600"/>
            <a:ext cx="5760720" cy="4846320"/>
          </a:xfrm>
          <a:prstGeom prst="roundRect">
            <a:avLst>
              <a:gd name="adj" fmla="val 2264"/>
            </a:avLst>
          </a:prstGeom>
          <a:solidFill>
            <a:schemeClr val="bg2"/>
          </a:solidFill>
          <a:ln w="12700">
            <a:solidFill>
              <a:schemeClr val="bg2"/>
            </a:solidFill>
            <a:prstDash val="solid"/>
          </a:ln>
        </p:spPr>
      </p:sp>
      <p:sp>
        <p:nvSpPr>
          <p:cNvPr id="4" name="Text 2"/>
          <p:cNvSpPr txBox="1"/>
          <p:nvPr/>
        </p:nvSpPr>
        <p:spPr>
          <a:xfrm>
            <a:off x="822960" y="1508760"/>
            <a:ext cx="5303520"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Mongolian faculty</a:t>
            </a:r>
            <a:endParaRPr lang="en-US" sz="1600" dirty="0"/>
          </a:p>
        </p:txBody>
      </p:sp>
      <p:sp>
        <p:nvSpPr>
          <p:cNvPr id="5" name="Text 3"/>
          <p:cNvSpPr txBox="1"/>
          <p:nvPr/>
        </p:nvSpPr>
        <p:spPr>
          <a:xfrm>
            <a:off x="822960" y="1874520"/>
            <a:ext cx="5303520" cy="548640"/>
          </a:xfrm>
          <a:prstGeom prst="rect">
            <a:avLst/>
          </a:prstGeom>
          <a:noFill/>
          <a:ln/>
        </p:spPr>
        <p:txBody>
          <a:bodyPr wrap="square" lIns="0" tIns="0" rIns="0" bIns="0" rtlCol="0" anchor="t"/>
          <a:lstStyle/>
          <a:p>
            <a:pPr indent="0" marL="0">
              <a:buNone/>
            </a:pPr>
            <a:r>
              <a:rPr lang="en-US" sz="1050" dirty="0">
                <a:solidFill>
                  <a:schemeClr val="tx2"/>
                </a:solidFill>
              </a:rPr>
              <a:t>January 2023: Cyber Security Training Centre, five posts under the NDU Training Department · July 2025: Cyber Security Department of the Military Institute</a:t>
            </a:r>
            <a:endParaRPr lang="en-US" sz="1050" dirty="0"/>
          </a:p>
        </p:txBody>
      </p:sp>
      <p:sp>
        <p:nvSpPr>
          <p:cNvPr id="6" name="icon circle"/>
          <p:cNvSpPr/>
          <p:nvPr/>
        </p:nvSpPr>
        <p:spPr>
          <a:xfrm>
            <a:off x="822960" y="2514600"/>
            <a:ext cx="384048" cy="384048"/>
          </a:xfrm>
          <a:prstGeom prst="ellipse">
            <a:avLst/>
          </a:prstGeom>
          <a:solidFill>
            <a:schemeClr val="accent1"/>
          </a:solidFill>
          <a:ln w="12700">
            <a:solidFill>
              <a:schemeClr val="accent1"/>
            </a:solidFill>
            <a:prstDash val="solid"/>
          </a:ln>
        </p:spPr>
      </p:sp>
      <p:pic>
        <p:nvPicPr>
          <p:cNvPr id="7" name="FaUserTie" descr="preencoded.png">    </p:cNvPr>
          <p:cNvPicPr>
            <a:picLocks noChangeAspect="1"/>
          </p:cNvPicPr>
          <p:nvPr/>
        </p:nvPicPr>
        <p:blipFill>
          <a:blip r:embed="rId1"/>
          <a:stretch>
            <a:fillRect/>
          </a:stretch>
        </p:blipFill>
        <p:spPr>
          <a:xfrm>
            <a:off x="922812" y="2614452"/>
            <a:ext cx="184343" cy="184343"/>
          </a:xfrm>
          <a:prstGeom prst="rect">
            <a:avLst/>
          </a:prstGeom>
        </p:spPr>
      </p:pic>
      <p:sp>
        <p:nvSpPr>
          <p:cNvPr id="8" name="Text 5"/>
          <p:cNvSpPr txBox="1"/>
          <p:nvPr/>
        </p:nvSpPr>
        <p:spPr>
          <a:xfrm>
            <a:off x="1325880" y="2478024"/>
            <a:ext cx="4846320" cy="457200"/>
          </a:xfrm>
          <a:prstGeom prst="rect">
            <a:avLst/>
          </a:prstGeom>
          <a:noFill/>
          <a:ln/>
        </p:spPr>
        <p:txBody>
          <a:bodyPr wrap="square" lIns="0" tIns="0" rIns="0" bIns="0" rtlCol="0" anchor="ctr"/>
          <a:lstStyle/>
          <a:p>
            <a:pPr indent="0" marL="0">
              <a:buNone/>
            </a:pPr>
            <a:r>
              <a:rPr lang="en-US" sz="1250" b="1" dirty="0">
                <a:solidFill>
                  <a:schemeClr val="tx1"/>
                </a:solidFill>
              </a:rPr>
              <a:t>Captain S. Bilegt  </a:t>
            </a:r>
            <a:pPr indent="0" marL="0">
              <a:buNone/>
            </a:pPr>
            <a:r>
              <a:rPr lang="en-US" sz="1050" dirty="0">
                <a:solidFill>
                  <a:schemeClr val="tx2"/>
                </a:solidFill>
              </a:rPr>
              <a:t>Head of Department (since Jan 2023)</a:t>
            </a:r>
            <a:endParaRPr lang="en-US" sz="1250" dirty="0"/>
          </a:p>
        </p:txBody>
      </p:sp>
      <p:sp>
        <p:nvSpPr>
          <p:cNvPr id="9" name="icon circle"/>
          <p:cNvSpPr/>
          <p:nvPr/>
        </p:nvSpPr>
        <p:spPr>
          <a:xfrm>
            <a:off x="822960" y="3035808"/>
            <a:ext cx="384048" cy="384048"/>
          </a:xfrm>
          <a:prstGeom prst="ellipse">
            <a:avLst/>
          </a:prstGeom>
          <a:solidFill>
            <a:schemeClr val="accent2"/>
          </a:solidFill>
          <a:ln w="12700">
            <a:solidFill>
              <a:schemeClr val="accent2"/>
            </a:solidFill>
            <a:prstDash val="solid"/>
          </a:ln>
        </p:spPr>
      </p:sp>
      <p:pic>
        <p:nvPicPr>
          <p:cNvPr id="10" name="FaChalkboardTeacher" descr="preencoded.png">    </p:cNvPr>
          <p:cNvPicPr>
            <a:picLocks noChangeAspect="1"/>
          </p:cNvPicPr>
          <p:nvPr/>
        </p:nvPicPr>
        <p:blipFill>
          <a:blip r:embed="rId2"/>
          <a:stretch>
            <a:fillRect/>
          </a:stretch>
        </p:blipFill>
        <p:spPr>
          <a:xfrm>
            <a:off x="922812" y="3135660"/>
            <a:ext cx="184343" cy="184343"/>
          </a:xfrm>
          <a:prstGeom prst="rect">
            <a:avLst/>
          </a:prstGeom>
        </p:spPr>
      </p:pic>
      <p:sp>
        <p:nvSpPr>
          <p:cNvPr id="11" name="Text 7"/>
          <p:cNvSpPr txBox="1"/>
          <p:nvPr/>
        </p:nvSpPr>
        <p:spPr>
          <a:xfrm>
            <a:off x="1325880" y="2999232"/>
            <a:ext cx="4846320" cy="457200"/>
          </a:xfrm>
          <a:prstGeom prst="rect">
            <a:avLst/>
          </a:prstGeom>
          <a:noFill/>
          <a:ln/>
        </p:spPr>
        <p:txBody>
          <a:bodyPr wrap="square" lIns="0" tIns="0" rIns="0" bIns="0" rtlCol="0" anchor="ctr"/>
          <a:lstStyle/>
          <a:p>
            <a:pPr indent="0" marL="0">
              <a:buNone/>
            </a:pPr>
            <a:r>
              <a:rPr lang="en-US" sz="1250" b="1" dirty="0">
                <a:solidFill>
                  <a:schemeClr val="tx1"/>
                </a:solidFill>
              </a:rPr>
              <a:t>Lt Ch. Enkhbaatar  </a:t>
            </a:r>
            <a:pPr indent="0" marL="0">
              <a:buNone/>
            </a:pPr>
            <a:r>
              <a:rPr lang="en-US" sz="1050" dirty="0">
                <a:solidFill>
                  <a:schemeClr val="tx2"/>
                </a:solidFill>
              </a:rPr>
              <a:t>Senior teacher · trained in India 2024–25 · MSc 2026</a:t>
            </a:r>
            <a:endParaRPr lang="en-US" sz="1250" dirty="0"/>
          </a:p>
        </p:txBody>
      </p:sp>
      <p:sp>
        <p:nvSpPr>
          <p:cNvPr id="12" name="icon circle"/>
          <p:cNvSpPr/>
          <p:nvPr/>
        </p:nvSpPr>
        <p:spPr>
          <a:xfrm>
            <a:off x="822960" y="3557016"/>
            <a:ext cx="384048" cy="384048"/>
          </a:xfrm>
          <a:prstGeom prst="ellipse">
            <a:avLst/>
          </a:prstGeom>
          <a:solidFill>
            <a:schemeClr val="accent2"/>
          </a:solidFill>
          <a:ln w="12700">
            <a:solidFill>
              <a:schemeClr val="accent2"/>
            </a:solidFill>
            <a:prstDash val="solid"/>
          </a:ln>
        </p:spPr>
      </p:sp>
      <p:pic>
        <p:nvPicPr>
          <p:cNvPr id="13" name="FaChalkboardTeacher" descr="preencoded.png">    </p:cNvPr>
          <p:cNvPicPr>
            <a:picLocks noChangeAspect="1"/>
          </p:cNvPicPr>
          <p:nvPr/>
        </p:nvPicPr>
        <p:blipFill>
          <a:blip r:embed="rId3"/>
          <a:stretch>
            <a:fillRect/>
          </a:stretch>
        </p:blipFill>
        <p:spPr>
          <a:xfrm>
            <a:off x="922812" y="3656868"/>
            <a:ext cx="184343" cy="184343"/>
          </a:xfrm>
          <a:prstGeom prst="rect">
            <a:avLst/>
          </a:prstGeom>
        </p:spPr>
      </p:pic>
      <p:sp>
        <p:nvSpPr>
          <p:cNvPr id="14" name="Text 9"/>
          <p:cNvSpPr txBox="1"/>
          <p:nvPr/>
        </p:nvSpPr>
        <p:spPr>
          <a:xfrm>
            <a:off x="1325880" y="3520440"/>
            <a:ext cx="4846320" cy="457200"/>
          </a:xfrm>
          <a:prstGeom prst="rect">
            <a:avLst/>
          </a:prstGeom>
          <a:noFill/>
          <a:ln/>
        </p:spPr>
        <p:txBody>
          <a:bodyPr wrap="square" lIns="0" tIns="0" rIns="0" bIns="0" rtlCol="0" anchor="ctr"/>
          <a:lstStyle/>
          <a:p>
            <a:pPr indent="0" marL="0">
              <a:buNone/>
            </a:pPr>
            <a:r>
              <a:rPr lang="en-US" sz="1250" b="1" dirty="0">
                <a:solidFill>
                  <a:schemeClr val="tx1"/>
                </a:solidFill>
              </a:rPr>
              <a:t>Dr E. Munkhtsetseg  </a:t>
            </a:r>
            <a:pPr indent="0" marL="0">
              <a:buNone/>
            </a:pPr>
            <a:r>
              <a:rPr lang="en-US" sz="1050" dirty="0">
                <a:solidFill>
                  <a:schemeClr val="tx2"/>
                </a:solidFill>
              </a:rPr>
              <a:t>Senior teacher · PhD 2026</a:t>
            </a:r>
            <a:endParaRPr lang="en-US" sz="1250" dirty="0"/>
          </a:p>
        </p:txBody>
      </p:sp>
      <p:sp>
        <p:nvSpPr>
          <p:cNvPr id="15" name="icon circle"/>
          <p:cNvSpPr/>
          <p:nvPr/>
        </p:nvSpPr>
        <p:spPr>
          <a:xfrm>
            <a:off x="822960" y="4078224"/>
            <a:ext cx="384048" cy="384048"/>
          </a:xfrm>
          <a:prstGeom prst="ellipse">
            <a:avLst/>
          </a:prstGeom>
          <a:solidFill>
            <a:schemeClr val="accent2"/>
          </a:solidFill>
          <a:ln w="12700">
            <a:solidFill>
              <a:schemeClr val="accent2"/>
            </a:solidFill>
            <a:prstDash val="solid"/>
          </a:ln>
        </p:spPr>
      </p:sp>
      <p:pic>
        <p:nvPicPr>
          <p:cNvPr id="16" name="FaChalkboardTeacher" descr="preencoded.png">    </p:cNvPr>
          <p:cNvPicPr>
            <a:picLocks noChangeAspect="1"/>
          </p:cNvPicPr>
          <p:nvPr/>
        </p:nvPicPr>
        <p:blipFill>
          <a:blip r:embed="rId4"/>
          <a:stretch>
            <a:fillRect/>
          </a:stretch>
        </p:blipFill>
        <p:spPr>
          <a:xfrm>
            <a:off x="922812" y="4178076"/>
            <a:ext cx="184343" cy="184343"/>
          </a:xfrm>
          <a:prstGeom prst="rect">
            <a:avLst/>
          </a:prstGeom>
        </p:spPr>
      </p:pic>
      <p:sp>
        <p:nvSpPr>
          <p:cNvPr id="17" name="Text 11"/>
          <p:cNvSpPr txBox="1"/>
          <p:nvPr/>
        </p:nvSpPr>
        <p:spPr>
          <a:xfrm>
            <a:off x="1325880" y="4041648"/>
            <a:ext cx="4846320" cy="457200"/>
          </a:xfrm>
          <a:prstGeom prst="rect">
            <a:avLst/>
          </a:prstGeom>
          <a:noFill/>
          <a:ln/>
        </p:spPr>
        <p:txBody>
          <a:bodyPr wrap="square" lIns="0" tIns="0" rIns="0" bIns="0" rtlCol="0" anchor="ctr"/>
          <a:lstStyle/>
          <a:p>
            <a:pPr indent="0" marL="0">
              <a:buNone/>
            </a:pPr>
            <a:r>
              <a:rPr lang="en-US" sz="1250" b="1" dirty="0">
                <a:solidFill>
                  <a:schemeClr val="tx1"/>
                </a:solidFill>
              </a:rPr>
              <a:t>Lt D. Khulan  </a:t>
            </a:r>
            <a:pPr indent="0" marL="0">
              <a:buNone/>
            </a:pPr>
            <a:r>
              <a:rPr lang="en-US" sz="1050" dirty="0">
                <a:solidFill>
                  <a:schemeClr val="tx2"/>
                </a:solidFill>
              </a:rPr>
              <a:t>Teacher · MSc 2026</a:t>
            </a:r>
            <a:endParaRPr lang="en-US" sz="1250" dirty="0"/>
          </a:p>
        </p:txBody>
      </p:sp>
      <p:sp>
        <p:nvSpPr>
          <p:cNvPr id="18" name="icon circle"/>
          <p:cNvSpPr/>
          <p:nvPr/>
        </p:nvSpPr>
        <p:spPr>
          <a:xfrm>
            <a:off x="822960" y="4599432"/>
            <a:ext cx="384048" cy="384048"/>
          </a:xfrm>
          <a:prstGeom prst="ellipse">
            <a:avLst/>
          </a:prstGeom>
          <a:solidFill>
            <a:schemeClr val="accent2"/>
          </a:solidFill>
          <a:ln w="12700">
            <a:solidFill>
              <a:schemeClr val="accent2"/>
            </a:solidFill>
            <a:prstDash val="solid"/>
          </a:ln>
        </p:spPr>
      </p:sp>
      <p:pic>
        <p:nvPicPr>
          <p:cNvPr id="19" name="FaChalkboardTeacher" descr="preencoded.png">    </p:cNvPr>
          <p:cNvPicPr>
            <a:picLocks noChangeAspect="1"/>
          </p:cNvPicPr>
          <p:nvPr/>
        </p:nvPicPr>
        <p:blipFill>
          <a:blip r:embed="rId5"/>
          <a:stretch>
            <a:fillRect/>
          </a:stretch>
        </p:blipFill>
        <p:spPr>
          <a:xfrm>
            <a:off x="922812" y="4699284"/>
            <a:ext cx="184343" cy="184343"/>
          </a:xfrm>
          <a:prstGeom prst="rect">
            <a:avLst/>
          </a:prstGeom>
        </p:spPr>
      </p:pic>
      <p:sp>
        <p:nvSpPr>
          <p:cNvPr id="20" name="Text 13"/>
          <p:cNvSpPr txBox="1"/>
          <p:nvPr/>
        </p:nvSpPr>
        <p:spPr>
          <a:xfrm>
            <a:off x="1325880" y="4562856"/>
            <a:ext cx="4846320" cy="457200"/>
          </a:xfrm>
          <a:prstGeom prst="rect">
            <a:avLst/>
          </a:prstGeom>
          <a:noFill/>
          <a:ln/>
        </p:spPr>
        <p:txBody>
          <a:bodyPr wrap="square" lIns="0" tIns="0" rIns="0" bIns="0" rtlCol="0" anchor="ctr"/>
          <a:lstStyle/>
          <a:p>
            <a:pPr indent="0" marL="0">
              <a:buNone/>
            </a:pPr>
            <a:r>
              <a:rPr lang="en-US" sz="1250" b="1" dirty="0">
                <a:solidFill>
                  <a:schemeClr val="tx1"/>
                </a:solidFill>
              </a:rPr>
              <a:t>Ts. Ochir-Erdene  </a:t>
            </a:r>
            <a:pPr indent="0" marL="0">
              <a:buNone/>
            </a:pPr>
            <a:r>
              <a:rPr lang="en-US" sz="1050" dirty="0">
                <a:solidFill>
                  <a:schemeClr val="tx2"/>
                </a:solidFill>
              </a:rPr>
              <a:t>Teacher</a:t>
            </a:r>
            <a:endParaRPr lang="en-US" sz="1250" dirty="0"/>
          </a:p>
        </p:txBody>
      </p:sp>
      <p:sp>
        <p:nvSpPr>
          <p:cNvPr id="21" name="icon circle"/>
          <p:cNvSpPr/>
          <p:nvPr/>
        </p:nvSpPr>
        <p:spPr>
          <a:xfrm>
            <a:off x="822960" y="5120640"/>
            <a:ext cx="384048" cy="384048"/>
          </a:xfrm>
          <a:prstGeom prst="ellipse">
            <a:avLst/>
          </a:prstGeom>
          <a:solidFill>
            <a:schemeClr val="accent2"/>
          </a:solidFill>
          <a:ln w="12700">
            <a:solidFill>
              <a:schemeClr val="accent2"/>
            </a:solidFill>
            <a:prstDash val="solid"/>
          </a:ln>
        </p:spPr>
      </p:sp>
      <p:pic>
        <p:nvPicPr>
          <p:cNvPr id="22" name="FaChalkboardTeacher" descr="preencoded.png">    </p:cNvPr>
          <p:cNvPicPr>
            <a:picLocks noChangeAspect="1"/>
          </p:cNvPicPr>
          <p:nvPr/>
        </p:nvPicPr>
        <p:blipFill>
          <a:blip r:embed="rId6"/>
          <a:stretch>
            <a:fillRect/>
          </a:stretch>
        </p:blipFill>
        <p:spPr>
          <a:xfrm>
            <a:off x="922812" y="5220492"/>
            <a:ext cx="184343" cy="184343"/>
          </a:xfrm>
          <a:prstGeom prst="rect">
            <a:avLst/>
          </a:prstGeom>
        </p:spPr>
      </p:pic>
      <p:sp>
        <p:nvSpPr>
          <p:cNvPr id="23" name="Text 15"/>
          <p:cNvSpPr txBox="1"/>
          <p:nvPr/>
        </p:nvSpPr>
        <p:spPr>
          <a:xfrm>
            <a:off x="1325880" y="5084064"/>
            <a:ext cx="4846320" cy="457200"/>
          </a:xfrm>
          <a:prstGeom prst="rect">
            <a:avLst/>
          </a:prstGeom>
          <a:noFill/>
          <a:ln/>
        </p:spPr>
        <p:txBody>
          <a:bodyPr wrap="square" lIns="0" tIns="0" rIns="0" bIns="0" rtlCol="0" anchor="ctr"/>
          <a:lstStyle/>
          <a:p>
            <a:pPr indent="0" marL="0">
              <a:buNone/>
            </a:pPr>
            <a:r>
              <a:rPr lang="en-US" sz="1250" b="1" dirty="0">
                <a:solidFill>
                  <a:schemeClr val="tx1"/>
                </a:solidFill>
              </a:rPr>
              <a:t>G. Enkhtuul  </a:t>
            </a:r>
            <a:pPr indent="0" marL="0">
              <a:buNone/>
            </a:pPr>
            <a:r>
              <a:rPr lang="en-US" sz="1050" dirty="0">
                <a:solidFill>
                  <a:schemeClr val="tx2"/>
                </a:solidFill>
              </a:rPr>
              <a:t>Teacher</a:t>
            </a:r>
            <a:endParaRPr lang="en-US" sz="1250" dirty="0"/>
          </a:p>
        </p:txBody>
      </p:sp>
      <p:sp>
        <p:nvSpPr>
          <p:cNvPr id="24" name="icon circle"/>
          <p:cNvSpPr/>
          <p:nvPr/>
        </p:nvSpPr>
        <p:spPr>
          <a:xfrm>
            <a:off x="822960" y="5641848"/>
            <a:ext cx="384048" cy="384048"/>
          </a:xfrm>
          <a:prstGeom prst="ellipse">
            <a:avLst/>
          </a:prstGeom>
          <a:solidFill>
            <a:schemeClr val="accent2"/>
          </a:solidFill>
          <a:ln w="12700">
            <a:solidFill>
              <a:schemeClr val="accent2"/>
            </a:solidFill>
            <a:prstDash val="solid"/>
          </a:ln>
        </p:spPr>
      </p:sp>
      <p:pic>
        <p:nvPicPr>
          <p:cNvPr id="25" name="FaChalkboardTeacher" descr="preencoded.png">    </p:cNvPr>
          <p:cNvPicPr>
            <a:picLocks noChangeAspect="1"/>
          </p:cNvPicPr>
          <p:nvPr/>
        </p:nvPicPr>
        <p:blipFill>
          <a:blip r:embed="rId7"/>
          <a:stretch>
            <a:fillRect/>
          </a:stretch>
        </p:blipFill>
        <p:spPr>
          <a:xfrm>
            <a:off x="922812" y="5741700"/>
            <a:ext cx="184343" cy="184343"/>
          </a:xfrm>
          <a:prstGeom prst="rect">
            <a:avLst/>
          </a:prstGeom>
        </p:spPr>
      </p:pic>
      <p:sp>
        <p:nvSpPr>
          <p:cNvPr id="26" name="Text 17"/>
          <p:cNvSpPr txBox="1"/>
          <p:nvPr/>
        </p:nvSpPr>
        <p:spPr>
          <a:xfrm>
            <a:off x="1325880" y="5605272"/>
            <a:ext cx="4846320" cy="457200"/>
          </a:xfrm>
          <a:prstGeom prst="rect">
            <a:avLst/>
          </a:prstGeom>
          <a:noFill/>
          <a:ln/>
        </p:spPr>
        <p:txBody>
          <a:bodyPr wrap="square" lIns="0" tIns="0" rIns="0" bIns="0" rtlCol="0" anchor="ctr"/>
          <a:lstStyle/>
          <a:p>
            <a:pPr indent="0" marL="0">
              <a:buNone/>
            </a:pPr>
            <a:r>
              <a:rPr lang="en-US" sz="1250" b="1" dirty="0">
                <a:solidFill>
                  <a:schemeClr val="tx1"/>
                </a:solidFill>
              </a:rPr>
              <a:t>J. Munguntsetseg  </a:t>
            </a:r>
            <a:pPr indent="0" marL="0">
              <a:buNone/>
            </a:pPr>
            <a:r>
              <a:rPr lang="en-US" sz="1050" dirty="0">
                <a:solidFill>
                  <a:schemeClr val="tx2"/>
                </a:solidFill>
              </a:rPr>
              <a:t>Teacher</a:t>
            </a:r>
            <a:endParaRPr lang="en-US" sz="1250" dirty="0"/>
          </a:p>
        </p:txBody>
      </p:sp>
      <p:pic>
        <p:nvPicPr>
          <p:cNvPr id="27" name="group_hall2.jpg" descr="/home/user/research-material/india-cyber-cooperation/images/group_hall2.jpg">    </p:cNvPr>
          <p:cNvPicPr>
            <a:picLocks noChangeAspect="1"/>
          </p:cNvPicPr>
          <p:nvPr/>
        </p:nvPicPr>
        <p:blipFill>
          <a:blip r:embed="rId8"/>
          <a:srcRect l="0" r="0" t="0" b="0"/>
          <a:stretch/>
        </p:blipFill>
        <p:spPr>
          <a:xfrm>
            <a:off x="6583680" y="1371600"/>
            <a:ext cx="5029200" cy="2194560"/>
          </a:xfrm>
          <a:prstGeom prst="rect">
            <a:avLst/>
          </a:prstGeom>
        </p:spPr>
      </p:pic>
      <p:sp>
        <p:nvSpPr>
          <p:cNvPr id="28" name="Text 18"/>
          <p:cNvSpPr txBox="1"/>
          <p:nvPr/>
        </p:nvSpPr>
        <p:spPr>
          <a:xfrm>
            <a:off x="6583680" y="3611880"/>
            <a:ext cx="5029200" cy="274320"/>
          </a:xfrm>
          <a:prstGeom prst="rect">
            <a:avLst/>
          </a:prstGeom>
          <a:noFill/>
          <a:ln/>
        </p:spPr>
        <p:txBody>
          <a:bodyPr wrap="square" lIns="0" tIns="0" rIns="0" bIns="0" rtlCol="0" anchor="t"/>
          <a:lstStyle/>
          <a:p>
            <a:pPr indent="0" marL="0">
              <a:buNone/>
            </a:pPr>
            <a:r>
              <a:rPr lang="en-US" sz="1050" dirty="0">
                <a:solidFill>
                  <a:schemeClr val="tx2"/>
                </a:solidFill>
              </a:rPr>
              <a:t>Faculty, trainees and the Indian training team at the Military Institute</a:t>
            </a:r>
            <a:endParaRPr lang="en-US" sz="1050" dirty="0"/>
          </a:p>
        </p:txBody>
      </p:sp>
      <p:sp>
        <p:nvSpPr>
          <p:cNvPr id="29" name="card"/>
          <p:cNvSpPr/>
          <p:nvPr/>
        </p:nvSpPr>
        <p:spPr>
          <a:xfrm>
            <a:off x="6583680" y="3977640"/>
            <a:ext cx="2468880" cy="1097280"/>
          </a:xfrm>
          <a:prstGeom prst="roundRect">
            <a:avLst>
              <a:gd name="adj" fmla="val 10000"/>
            </a:avLst>
          </a:prstGeom>
          <a:solidFill>
            <a:schemeClr val="bg2"/>
          </a:solidFill>
          <a:ln w="12700">
            <a:solidFill>
              <a:schemeClr val="bg2"/>
            </a:solidFill>
            <a:prstDash val="solid"/>
          </a:ln>
        </p:spPr>
      </p:sp>
      <p:sp>
        <p:nvSpPr>
          <p:cNvPr id="30" name="Text 20"/>
          <p:cNvSpPr txBox="1"/>
          <p:nvPr/>
        </p:nvSpPr>
        <p:spPr>
          <a:xfrm>
            <a:off x="6766560" y="4069080"/>
            <a:ext cx="2103120" cy="548640"/>
          </a:xfrm>
          <a:prstGeom prst="rect">
            <a:avLst/>
          </a:prstGeom>
          <a:noFill/>
          <a:ln/>
        </p:spPr>
        <p:txBody>
          <a:bodyPr wrap="square" lIns="0" tIns="0" rIns="0" bIns="0" rtlCol="0" anchor="ctr"/>
          <a:lstStyle/>
          <a:p>
            <a:pPr indent="0" marL="0">
              <a:buNone/>
            </a:pPr>
            <a:r>
              <a:rPr lang="en-US" sz="2400" b="1" dirty="0">
                <a:solidFill>
                  <a:schemeClr val="accent2"/>
                </a:solidFill>
                <a:latin typeface="Cambria" pitchFamily="34" charset="0"/>
                <a:ea typeface="Cambria" pitchFamily="34" charset="-122"/>
                <a:cs typeface="Cambria" pitchFamily="34" charset="-120"/>
              </a:rPr>
              <a:t>3</a:t>
            </a:r>
            <a:endParaRPr lang="en-US" sz="2400" dirty="0"/>
          </a:p>
        </p:txBody>
      </p:sp>
      <p:sp>
        <p:nvSpPr>
          <p:cNvPr id="31" name="Text 21"/>
          <p:cNvSpPr txBox="1"/>
          <p:nvPr/>
        </p:nvSpPr>
        <p:spPr>
          <a:xfrm>
            <a:off x="6766560" y="4614062"/>
            <a:ext cx="2103120" cy="438912"/>
          </a:xfrm>
          <a:prstGeom prst="rect">
            <a:avLst/>
          </a:prstGeom>
          <a:noFill/>
          <a:ln/>
        </p:spPr>
        <p:txBody>
          <a:bodyPr wrap="square" lIns="0" tIns="0" rIns="0" bIns="0" rtlCol="0" anchor="t"/>
          <a:lstStyle/>
          <a:p>
            <a:pPr indent="0" marL="0">
              <a:buNone/>
            </a:pPr>
            <a:r>
              <a:rPr lang="en-US" sz="1000" dirty="0">
                <a:solidFill>
                  <a:schemeClr val="tx2"/>
                </a:solidFill>
              </a:rPr>
              <a:t>bachelor programmes: cyber security, network engineering, software engineering (military)</a:t>
            </a:r>
            <a:endParaRPr lang="en-US" sz="1000" dirty="0"/>
          </a:p>
        </p:txBody>
      </p:sp>
      <p:sp>
        <p:nvSpPr>
          <p:cNvPr id="32" name="card"/>
          <p:cNvSpPr/>
          <p:nvPr/>
        </p:nvSpPr>
        <p:spPr>
          <a:xfrm>
            <a:off x="9144000" y="3977640"/>
            <a:ext cx="2468880" cy="1097280"/>
          </a:xfrm>
          <a:prstGeom prst="roundRect">
            <a:avLst>
              <a:gd name="adj" fmla="val 10000"/>
            </a:avLst>
          </a:prstGeom>
          <a:solidFill>
            <a:schemeClr val="bg2"/>
          </a:solidFill>
          <a:ln w="12700">
            <a:solidFill>
              <a:schemeClr val="bg2"/>
            </a:solidFill>
            <a:prstDash val="solid"/>
          </a:ln>
        </p:spPr>
      </p:sp>
      <p:sp>
        <p:nvSpPr>
          <p:cNvPr id="33" name="Text 23"/>
          <p:cNvSpPr txBox="1"/>
          <p:nvPr/>
        </p:nvSpPr>
        <p:spPr>
          <a:xfrm>
            <a:off x="9326880" y="4069080"/>
            <a:ext cx="2103120" cy="548640"/>
          </a:xfrm>
          <a:prstGeom prst="rect">
            <a:avLst/>
          </a:prstGeom>
          <a:noFill/>
          <a:ln/>
        </p:spPr>
        <p:txBody>
          <a:bodyPr wrap="square" lIns="0" tIns="0" rIns="0" bIns="0" rtlCol="0" anchor="ctr"/>
          <a:lstStyle/>
          <a:p>
            <a:pPr indent="0" marL="0">
              <a:buNone/>
            </a:pPr>
            <a:r>
              <a:rPr lang="en-US" sz="2400" b="1" dirty="0">
                <a:solidFill>
                  <a:schemeClr val="accent2"/>
                </a:solidFill>
                <a:latin typeface="Cambria" pitchFamily="34" charset="0"/>
                <a:ea typeface="Cambria" pitchFamily="34" charset="-122"/>
                <a:cs typeface="Cambria" pitchFamily="34" charset="-120"/>
              </a:rPr>
              <a:t>162</a:t>
            </a:r>
            <a:endParaRPr lang="en-US" sz="2400" dirty="0"/>
          </a:p>
        </p:txBody>
      </p:sp>
      <p:sp>
        <p:nvSpPr>
          <p:cNvPr id="34" name="Text 24"/>
          <p:cNvSpPr txBox="1"/>
          <p:nvPr/>
        </p:nvSpPr>
        <p:spPr>
          <a:xfrm>
            <a:off x="9326880" y="4614062"/>
            <a:ext cx="2103120" cy="438912"/>
          </a:xfrm>
          <a:prstGeom prst="rect">
            <a:avLst/>
          </a:prstGeom>
          <a:noFill/>
          <a:ln/>
        </p:spPr>
        <p:txBody>
          <a:bodyPr wrap="square" lIns="0" tIns="0" rIns="0" bIns="0" rtlCol="0" anchor="t"/>
          <a:lstStyle/>
          <a:p>
            <a:pPr indent="0" marL="0">
              <a:buNone/>
            </a:pPr>
            <a:r>
              <a:rPr lang="en-US" sz="1000" dirty="0">
                <a:solidFill>
                  <a:schemeClr val="tx2"/>
                </a:solidFill>
              </a:rPr>
              <a:t>credits of bachelor teaching in the first half of 2026 (156 in all of 2025)</a:t>
            </a:r>
            <a:endParaRPr lang="en-US" sz="1000" dirty="0"/>
          </a:p>
        </p:txBody>
      </p:sp>
      <p:sp>
        <p:nvSpPr>
          <p:cNvPr id="35" name="card"/>
          <p:cNvSpPr/>
          <p:nvPr/>
        </p:nvSpPr>
        <p:spPr>
          <a:xfrm>
            <a:off x="6583680" y="5120640"/>
            <a:ext cx="2468880" cy="1097280"/>
          </a:xfrm>
          <a:prstGeom prst="roundRect">
            <a:avLst>
              <a:gd name="adj" fmla="val 10000"/>
            </a:avLst>
          </a:prstGeom>
          <a:solidFill>
            <a:schemeClr val="bg2"/>
          </a:solidFill>
          <a:ln w="12700">
            <a:solidFill>
              <a:schemeClr val="bg2"/>
            </a:solidFill>
            <a:prstDash val="solid"/>
          </a:ln>
        </p:spPr>
      </p:sp>
      <p:sp>
        <p:nvSpPr>
          <p:cNvPr id="36" name="Text 26"/>
          <p:cNvSpPr txBox="1"/>
          <p:nvPr/>
        </p:nvSpPr>
        <p:spPr>
          <a:xfrm>
            <a:off x="6766560" y="5212080"/>
            <a:ext cx="2103120" cy="548640"/>
          </a:xfrm>
          <a:prstGeom prst="rect">
            <a:avLst/>
          </a:prstGeom>
          <a:noFill/>
          <a:ln/>
        </p:spPr>
        <p:txBody>
          <a:bodyPr wrap="square" lIns="0" tIns="0" rIns="0" bIns="0" rtlCol="0" anchor="ctr"/>
          <a:lstStyle/>
          <a:p>
            <a:pPr indent="0" marL="0">
              <a:buNone/>
            </a:pPr>
            <a:r>
              <a:rPr lang="en-US" sz="2400" b="1" dirty="0">
                <a:solidFill>
                  <a:schemeClr val="accent2"/>
                </a:solidFill>
                <a:latin typeface="Cambria" pitchFamily="34" charset="0"/>
                <a:ea typeface="Cambria" pitchFamily="34" charset="-122"/>
                <a:cs typeface="Cambria" pitchFamily="34" charset="-120"/>
              </a:rPr>
              <a:t>13</a:t>
            </a:r>
            <a:endParaRPr lang="en-US" sz="2400" dirty="0"/>
          </a:p>
        </p:txBody>
      </p:sp>
      <p:sp>
        <p:nvSpPr>
          <p:cNvPr id="37" name="Text 27"/>
          <p:cNvSpPr txBox="1"/>
          <p:nvPr/>
        </p:nvSpPr>
        <p:spPr>
          <a:xfrm>
            <a:off x="6766560" y="5757062"/>
            <a:ext cx="2103120" cy="438912"/>
          </a:xfrm>
          <a:prstGeom prst="rect">
            <a:avLst/>
          </a:prstGeom>
          <a:noFill/>
          <a:ln/>
        </p:spPr>
        <p:txBody>
          <a:bodyPr wrap="square" lIns="0" tIns="0" rIns="0" bIns="0" rtlCol="0" anchor="t"/>
          <a:lstStyle/>
          <a:p>
            <a:pPr indent="0" marL="0">
              <a:buNone/>
            </a:pPr>
            <a:r>
              <a:rPr lang="en-US" sz="1000" dirty="0">
                <a:solidFill>
                  <a:schemeClr val="tx2"/>
                </a:solidFill>
              </a:rPr>
              <a:t>specialised course units rewritten in 2026 to the national standard</a:t>
            </a:r>
            <a:endParaRPr lang="en-US" sz="1000" dirty="0"/>
          </a:p>
        </p:txBody>
      </p:sp>
      <p:sp>
        <p:nvSpPr>
          <p:cNvPr id="38" name="card"/>
          <p:cNvSpPr/>
          <p:nvPr/>
        </p:nvSpPr>
        <p:spPr>
          <a:xfrm>
            <a:off x="9144000" y="5120640"/>
            <a:ext cx="2468880" cy="1097280"/>
          </a:xfrm>
          <a:prstGeom prst="roundRect">
            <a:avLst>
              <a:gd name="adj" fmla="val 10000"/>
            </a:avLst>
          </a:prstGeom>
          <a:solidFill>
            <a:schemeClr val="bg2"/>
          </a:solidFill>
          <a:ln w="12700">
            <a:solidFill>
              <a:schemeClr val="bg2"/>
            </a:solidFill>
            <a:prstDash val="solid"/>
          </a:ln>
        </p:spPr>
      </p:sp>
      <p:sp>
        <p:nvSpPr>
          <p:cNvPr id="39" name="Text 29"/>
          <p:cNvSpPr txBox="1"/>
          <p:nvPr/>
        </p:nvSpPr>
        <p:spPr>
          <a:xfrm>
            <a:off x="9326880" y="5212080"/>
            <a:ext cx="2103120" cy="548640"/>
          </a:xfrm>
          <a:prstGeom prst="rect">
            <a:avLst/>
          </a:prstGeom>
          <a:noFill/>
          <a:ln/>
        </p:spPr>
        <p:txBody>
          <a:bodyPr wrap="square" lIns="0" tIns="0" rIns="0" bIns="0" rtlCol="0" anchor="ctr"/>
          <a:lstStyle/>
          <a:p>
            <a:pPr indent="0" marL="0">
              <a:buNone/>
            </a:pPr>
            <a:r>
              <a:rPr lang="en-US" sz="2400" b="1" dirty="0">
                <a:solidFill>
                  <a:schemeClr val="accent2"/>
                </a:solidFill>
                <a:latin typeface="Cambria" pitchFamily="34" charset="0"/>
                <a:ea typeface="Cambria" pitchFamily="34" charset="-122"/>
                <a:cs typeface="Cambria" pitchFamily="34" charset="-120"/>
              </a:rPr>
              <a:t>1st</a:t>
            </a:r>
            <a:endParaRPr lang="en-US" sz="2400" dirty="0"/>
          </a:p>
        </p:txBody>
      </p:sp>
      <p:sp>
        <p:nvSpPr>
          <p:cNvPr id="40" name="Text 30"/>
          <p:cNvSpPr txBox="1"/>
          <p:nvPr/>
        </p:nvSpPr>
        <p:spPr>
          <a:xfrm>
            <a:off x="9326880" y="5757062"/>
            <a:ext cx="2103120" cy="438912"/>
          </a:xfrm>
          <a:prstGeom prst="rect">
            <a:avLst/>
          </a:prstGeom>
          <a:noFill/>
          <a:ln/>
        </p:spPr>
        <p:txBody>
          <a:bodyPr wrap="square" lIns="0" tIns="0" rIns="0" bIns="0" rtlCol="0" anchor="t"/>
          <a:lstStyle/>
          <a:p>
            <a:pPr indent="0" marL="0">
              <a:buNone/>
            </a:pPr>
            <a:r>
              <a:rPr lang="en-US" sz="1000" dirty="0">
                <a:solidFill>
                  <a:schemeClr val="tx2"/>
                </a:solidFill>
              </a:rPr>
              <a:t>civilian cyber security cohort graduated, state exam 27 May 2026</a:t>
            </a:r>
            <a:endParaRPr lang="en-US" sz="10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47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000" b="1" dirty="0">
                <a:solidFill>
                  <a:schemeClr val="tx1"/>
                </a:solidFill>
              </a:rPr>
              <a:t>Indian engineers and training teams at the Centre, 2022–2026</a:t>
            </a:r>
            <a:endParaRPr lang="en-US" sz="3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731520"/>
                <a:gridCol w="1554480"/>
                <a:gridCol w="3657600"/>
                <a:gridCol w="5120640"/>
              </a:tblGrid>
              <a:tr h="402336">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Team</a:t>
                      </a:r>
                      <a:endParaRPr lang="en-US" sz="1000" dirty="0">
                        <a:latin typeface="Calibri" charset="0"/>
                        <a:ea typeface="Calibri" charset="0"/>
                        <a:cs typeface="Calibri" charset="0"/>
                      </a:endParaRPr>
                    </a:p>
                  </a:txBody>
                  <a:tcPr marL="45720" marR="4572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F6FD1"/>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Period</a:t>
                      </a:r>
                      <a:endParaRPr lang="en-US" sz="1000" dirty="0">
                        <a:latin typeface="Calibri" charset="0"/>
                        <a:ea typeface="Calibri" charset="0"/>
                        <a:cs typeface="Calibri" charset="0"/>
                      </a:endParaRPr>
                    </a:p>
                  </a:txBody>
                  <a:tcPr marL="45720" marR="4572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F6FD1"/>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Members</a:t>
                      </a:r>
                      <a:endParaRPr lang="en-US" sz="1000" dirty="0">
                        <a:latin typeface="Calibri" charset="0"/>
                        <a:ea typeface="Calibri" charset="0"/>
                        <a:cs typeface="Calibri" charset="0"/>
                      </a:endParaRPr>
                    </a:p>
                  </a:txBody>
                  <a:tcPr marL="45720" marR="4572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F6FD1"/>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Courses and contribution</a:t>
                      </a:r>
                      <a:endParaRPr lang="en-US" sz="1000" dirty="0">
                        <a:latin typeface="Calibri" charset="0"/>
                        <a:ea typeface="Calibri" charset="0"/>
                        <a:cs typeface="Calibri" charset="0"/>
                      </a:endParaRPr>
                    </a:p>
                  </a:txBody>
                  <a:tcPr marL="45720" marR="4572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F6FD1"/>
                    </a:solidFill>
                  </a:tcPr>
                </a:tc>
              </a:tr>
              <a:tr h="402336">
                <a:tc>
                  <a:txBody>
                    <a:bodyPr/>
                    <a:lstStyle/>
                    <a:p>
                      <a:pPr algn="ctr" indent="0" marL="0">
                        <a:buNone/>
                      </a:pPr>
                      <a:r>
                        <a:rPr lang="en-US" sz="1000" b="1" dirty="0">
                          <a:solidFill>
                            <a:srgbClr val="16213A"/>
                          </a:solidFill>
                          <a:latin typeface="Calibri" pitchFamily="34" charset="0"/>
                          <a:ea typeface="Calibri" pitchFamily="34" charset="-122"/>
                          <a:cs typeface="Calibri" pitchFamily="34" charset="-120"/>
                        </a:rPr>
                        <a:t>C-DAC</a:t>
                      </a:r>
                      <a:endParaRPr lang="en-US" sz="1000" dirty="0">
                        <a:latin typeface="Calibri" charset="0"/>
                        <a:ea typeface="Calibri" charset="0"/>
                        <a:cs typeface="Calibri" charset="0"/>
                      </a:endParaRPr>
                    </a:p>
                  </a:txBody>
                  <a:tcPr marL="45720" marR="4572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000" dirty="0">
                          <a:solidFill>
                            <a:srgbClr val="16213A"/>
                          </a:solidFill>
                          <a:latin typeface="Calibri" pitchFamily="34" charset="0"/>
                          <a:ea typeface="Calibri" pitchFamily="34" charset="-122"/>
                          <a:cs typeface="Calibri" pitchFamily="34" charset="-120"/>
                        </a:rPr>
                        <a:t>Mar 2022 – Apr 2023</a:t>
                      </a:r>
                      <a:endParaRPr lang="en-US" sz="1000" dirty="0">
                        <a:latin typeface="Calibri" charset="0"/>
                        <a:ea typeface="Calibri" charset="0"/>
                        <a:cs typeface="Calibri" charset="0"/>
                      </a:endParaRPr>
                    </a:p>
                  </a:txBody>
                  <a:tcPr marL="45720" marR="4572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000" dirty="0">
                          <a:solidFill>
                            <a:srgbClr val="16213A"/>
                          </a:solidFill>
                          <a:latin typeface="Calibri" pitchFamily="34" charset="0"/>
                          <a:ea typeface="Calibri" pitchFamily="34" charset="-122"/>
                          <a:cs typeface="Calibri" pitchFamily="34" charset="-120"/>
                        </a:rPr>
                        <a:t>Sandeep Kumar; resident engineers Vikash Sharma, Taranjeet Singh</a:t>
                      </a:r>
                      <a:endParaRPr lang="en-US" sz="1000" dirty="0">
                        <a:latin typeface="Calibri" charset="0"/>
                        <a:ea typeface="Calibri" charset="0"/>
                        <a:cs typeface="Calibri" charset="0"/>
                      </a:endParaRPr>
                    </a:p>
                  </a:txBody>
                  <a:tcPr marL="45720" marR="4572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000" dirty="0">
                          <a:solidFill>
                            <a:srgbClr val="16213A"/>
                          </a:solidFill>
                          <a:latin typeface="Calibri" pitchFamily="34" charset="0"/>
                          <a:ea typeface="Calibri" pitchFamily="34" charset="-122"/>
                          <a:cs typeface="Calibri" pitchFamily="34" charset="-120"/>
                        </a:rPr>
                        <a:t>Installation and commissioning (13 months); teacher training Sep–Oct 2022; laboratory tools course Apr 2023</a:t>
                      </a:r>
                      <a:endParaRPr lang="en-US" sz="1000" dirty="0">
                        <a:latin typeface="Calibri" charset="0"/>
                        <a:ea typeface="Calibri" charset="0"/>
                        <a:cs typeface="Calibri" charset="0"/>
                      </a:endParaRPr>
                    </a:p>
                  </a:txBody>
                  <a:tcPr marL="45720" marR="4572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r h="402336">
                <a:tc>
                  <a:txBody>
                    <a:bodyPr/>
                    <a:lstStyle/>
                    <a:p>
                      <a:pPr algn="ctr" indent="0" marL="0">
                        <a:buNone/>
                      </a:pPr>
                      <a:r>
                        <a:rPr lang="en-US" sz="1000" b="1" dirty="0">
                          <a:solidFill>
                            <a:srgbClr val="1621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marL="45720" marR="4572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000" dirty="0">
                          <a:solidFill>
                            <a:srgbClr val="16213A"/>
                          </a:solidFill>
                          <a:latin typeface="Calibri" pitchFamily="34" charset="0"/>
                          <a:ea typeface="Calibri" pitchFamily="34" charset="-122"/>
                          <a:cs typeface="Calibri" pitchFamily="34" charset="-120"/>
                        </a:rPr>
                        <a:t>Sep – Dec 2023</a:t>
                      </a:r>
                      <a:endParaRPr lang="en-US" sz="1000" dirty="0">
                        <a:latin typeface="Calibri" charset="0"/>
                        <a:ea typeface="Calibri" charset="0"/>
                        <a:cs typeface="Calibri" charset="0"/>
                      </a:endParaRPr>
                    </a:p>
                  </a:txBody>
                  <a:tcPr marL="45720" marR="4572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000" dirty="0">
                          <a:solidFill>
                            <a:srgbClr val="16213A"/>
                          </a:solidFill>
                          <a:latin typeface="Calibri" pitchFamily="34" charset="0"/>
                          <a:ea typeface="Calibri" pitchFamily="34" charset="-122"/>
                          <a:cs typeface="Calibri" pitchFamily="34" charset="-120"/>
                        </a:rPr>
                        <a:t>Gp Capt (Dr) M.K. Sharma, Sgt Vinod Kumar Sharma</a:t>
                      </a:r>
                      <a:endParaRPr lang="en-US" sz="1000" dirty="0">
                        <a:latin typeface="Calibri" charset="0"/>
                        <a:ea typeface="Calibri" charset="0"/>
                        <a:cs typeface="Calibri" charset="0"/>
                      </a:endParaRPr>
                    </a:p>
                  </a:txBody>
                  <a:tcPr marL="45720" marR="4572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000" dirty="0">
                          <a:solidFill>
                            <a:srgbClr val="16213A"/>
                          </a:solidFill>
                          <a:latin typeface="Calibri" pitchFamily="34" charset="0"/>
                          <a:ea typeface="Calibri" pitchFamily="34" charset="-122"/>
                          <a:cs typeface="Calibri" pitchFamily="34" charset="-120"/>
                        </a:rPr>
                        <a:t>Instructor programme (4 modules); network security; malware analysis</a:t>
                      </a:r>
                      <a:endParaRPr lang="en-US" sz="1000" dirty="0">
                        <a:latin typeface="Calibri" charset="0"/>
                        <a:ea typeface="Calibri" charset="0"/>
                        <a:cs typeface="Calibri" charset="0"/>
                      </a:endParaRPr>
                    </a:p>
                  </a:txBody>
                  <a:tcPr marL="45720" marR="4572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r h="402336">
                <a:tc>
                  <a:txBody>
                    <a:bodyPr/>
                    <a:lstStyle/>
                    <a:p>
                      <a:pPr algn="ctr" indent="0" marL="0">
                        <a:buNone/>
                      </a:pPr>
                      <a:r>
                        <a:rPr lang="en-US" sz="1000" b="1" dirty="0">
                          <a:solidFill>
                            <a:srgbClr val="1621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marL="45720" marR="4572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000" dirty="0">
                          <a:solidFill>
                            <a:srgbClr val="16213A"/>
                          </a:solidFill>
                          <a:latin typeface="Calibri" pitchFamily="34" charset="0"/>
                          <a:ea typeface="Calibri" pitchFamily="34" charset="-122"/>
                          <a:cs typeface="Calibri" pitchFamily="34" charset="-120"/>
                        </a:rPr>
                        <a:t>Jan – Apr 2024</a:t>
                      </a:r>
                      <a:endParaRPr lang="en-US" sz="1000" dirty="0">
                        <a:latin typeface="Calibri" charset="0"/>
                        <a:ea typeface="Calibri" charset="0"/>
                        <a:cs typeface="Calibri" charset="0"/>
                      </a:endParaRPr>
                    </a:p>
                  </a:txBody>
                  <a:tcPr marL="45720" marR="4572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000" dirty="0">
                          <a:solidFill>
                            <a:srgbClr val="16213A"/>
                          </a:solidFill>
                          <a:latin typeface="Calibri" pitchFamily="34" charset="0"/>
                          <a:ea typeface="Calibri" pitchFamily="34" charset="-122"/>
                          <a:cs typeface="Calibri" pitchFamily="34" charset="-120"/>
                        </a:rPr>
                        <a:t>Gp Capt Saurabh Malhotra, Sgt Durairaj A.</a:t>
                      </a:r>
                      <a:endParaRPr lang="en-US" sz="1000" dirty="0">
                        <a:latin typeface="Calibri" charset="0"/>
                        <a:ea typeface="Calibri" charset="0"/>
                        <a:cs typeface="Calibri" charset="0"/>
                      </a:endParaRPr>
                    </a:p>
                  </a:txBody>
                  <a:tcPr marL="45720" marR="4572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000" dirty="0">
                          <a:solidFill>
                            <a:srgbClr val="16213A"/>
                          </a:solidFill>
                          <a:latin typeface="Calibri" pitchFamily="34" charset="0"/>
                          <a:ea typeface="Calibri" pitchFamily="34" charset="-122"/>
                          <a:cs typeface="Calibri" pitchFamily="34" charset="-120"/>
                        </a:rPr>
                        <a:t>Cyber security basic course (networking, network security, cyber security)</a:t>
                      </a:r>
                      <a:endParaRPr lang="en-US" sz="1000" dirty="0">
                        <a:latin typeface="Calibri" charset="0"/>
                        <a:ea typeface="Calibri" charset="0"/>
                        <a:cs typeface="Calibri" charset="0"/>
                      </a:endParaRPr>
                    </a:p>
                  </a:txBody>
                  <a:tcPr marL="45720" marR="4572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r h="402336">
                <a:tc>
                  <a:txBody>
                    <a:bodyPr/>
                    <a:lstStyle/>
                    <a:p>
                      <a:pPr algn="ctr" indent="0" marL="0">
                        <a:buNone/>
                      </a:pPr>
                      <a:r>
                        <a:rPr lang="en-US" sz="1000" b="1" dirty="0">
                          <a:solidFill>
                            <a:srgbClr val="1621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marL="45720" marR="4572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000" dirty="0">
                          <a:solidFill>
                            <a:srgbClr val="16213A"/>
                          </a:solidFill>
                          <a:latin typeface="Calibri" pitchFamily="34" charset="0"/>
                          <a:ea typeface="Calibri" pitchFamily="34" charset="-122"/>
                          <a:cs typeface="Calibri" pitchFamily="34" charset="-120"/>
                        </a:rPr>
                        <a:t>May – Aug 2024</a:t>
                      </a:r>
                      <a:endParaRPr lang="en-US" sz="1000" dirty="0">
                        <a:latin typeface="Calibri" charset="0"/>
                        <a:ea typeface="Calibri" charset="0"/>
                        <a:cs typeface="Calibri" charset="0"/>
                      </a:endParaRPr>
                    </a:p>
                  </a:txBody>
                  <a:tcPr marL="45720" marR="4572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000" dirty="0">
                          <a:solidFill>
                            <a:srgbClr val="16213A"/>
                          </a:solidFill>
                          <a:latin typeface="Calibri" pitchFamily="34" charset="0"/>
                          <a:ea typeface="Calibri" pitchFamily="34" charset="-122"/>
                          <a:cs typeface="Calibri" pitchFamily="34" charset="-120"/>
                        </a:rPr>
                        <a:t>Wg Cdr P.A. Siddapur, Hav Amal Raj</a:t>
                      </a:r>
                      <a:endParaRPr lang="en-US" sz="1000" dirty="0">
                        <a:latin typeface="Calibri" charset="0"/>
                        <a:ea typeface="Calibri" charset="0"/>
                        <a:cs typeface="Calibri" charset="0"/>
                      </a:endParaRPr>
                    </a:p>
                  </a:txBody>
                  <a:tcPr marL="45720" marR="4572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000" dirty="0">
                          <a:solidFill>
                            <a:srgbClr val="16213A"/>
                          </a:solidFill>
                          <a:latin typeface="Calibri" pitchFamily="34" charset="0"/>
                          <a:ea typeface="Calibri" pitchFamily="34" charset="-122"/>
                          <a:cs typeface="Calibri" pitchFamily="34" charset="-120"/>
                        </a:rPr>
                        <a:t>Ethical hacking (10 weeks)</a:t>
                      </a:r>
                      <a:endParaRPr lang="en-US" sz="1000" dirty="0">
                        <a:latin typeface="Calibri" charset="0"/>
                        <a:ea typeface="Calibri" charset="0"/>
                        <a:cs typeface="Calibri" charset="0"/>
                      </a:endParaRPr>
                    </a:p>
                  </a:txBody>
                  <a:tcPr marL="45720" marR="4572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r h="402336">
                <a:tc>
                  <a:txBody>
                    <a:bodyPr/>
                    <a:lstStyle/>
                    <a:p>
                      <a:pPr algn="ctr" indent="0" marL="0">
                        <a:buNone/>
                      </a:pPr>
                      <a:r>
                        <a:rPr lang="en-US" sz="1000" b="1" dirty="0">
                          <a:solidFill>
                            <a:srgbClr val="16213A"/>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marL="45720" marR="4572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000" dirty="0">
                          <a:solidFill>
                            <a:srgbClr val="16213A"/>
                          </a:solidFill>
                          <a:latin typeface="Calibri" pitchFamily="34" charset="0"/>
                          <a:ea typeface="Calibri" pitchFamily="34" charset="-122"/>
                          <a:cs typeface="Calibri" pitchFamily="34" charset="-120"/>
                        </a:rPr>
                        <a:t>Sep – Dec 2024</a:t>
                      </a:r>
                      <a:endParaRPr lang="en-US" sz="1000" dirty="0">
                        <a:latin typeface="Calibri" charset="0"/>
                        <a:ea typeface="Calibri" charset="0"/>
                        <a:cs typeface="Calibri" charset="0"/>
                      </a:endParaRPr>
                    </a:p>
                  </a:txBody>
                  <a:tcPr marL="45720" marR="4572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000" dirty="0">
                          <a:solidFill>
                            <a:srgbClr val="16213A"/>
                          </a:solidFill>
                          <a:latin typeface="Calibri" pitchFamily="34" charset="0"/>
                          <a:ea typeface="Calibri" pitchFamily="34" charset="-122"/>
                          <a:cs typeface="Calibri" pitchFamily="34" charset="-120"/>
                        </a:rPr>
                        <a:t>Wg Cdr Rakesh Kumar Siwal, Sgt Mohit Panchal</a:t>
                      </a:r>
                      <a:endParaRPr lang="en-US" sz="1000" dirty="0">
                        <a:latin typeface="Calibri" charset="0"/>
                        <a:ea typeface="Calibri" charset="0"/>
                        <a:cs typeface="Calibri" charset="0"/>
                      </a:endParaRPr>
                    </a:p>
                  </a:txBody>
                  <a:tcPr marL="45720" marR="4572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000" dirty="0">
                          <a:solidFill>
                            <a:srgbClr val="16213A"/>
                          </a:solidFill>
                          <a:latin typeface="Calibri" pitchFamily="34" charset="0"/>
                          <a:ea typeface="Calibri" pitchFamily="34" charset="-122"/>
                          <a:cs typeface="Calibri" pitchFamily="34" charset="-120"/>
                        </a:rPr>
                        <a:t>SOC analyst; digital forensics</a:t>
                      </a:r>
                      <a:endParaRPr lang="en-US" sz="1000" dirty="0">
                        <a:latin typeface="Calibri" charset="0"/>
                        <a:ea typeface="Calibri" charset="0"/>
                        <a:cs typeface="Calibri" charset="0"/>
                      </a:endParaRPr>
                    </a:p>
                  </a:txBody>
                  <a:tcPr marL="45720" marR="4572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r h="402336">
                <a:tc>
                  <a:txBody>
                    <a:bodyPr/>
                    <a:lstStyle/>
                    <a:p>
                      <a:pPr algn="ctr" indent="0" marL="0">
                        <a:buNone/>
                      </a:pPr>
                      <a:r>
                        <a:rPr lang="en-US" sz="1000" b="1" dirty="0">
                          <a:solidFill>
                            <a:srgbClr val="16213A"/>
                          </a:solidFill>
                          <a:latin typeface="Calibri" pitchFamily="34" charset="0"/>
                          <a:ea typeface="Calibri" pitchFamily="34" charset="-122"/>
                          <a:cs typeface="Calibri" pitchFamily="34" charset="-120"/>
                        </a:rPr>
                        <a:t>5</a:t>
                      </a:r>
                      <a:endParaRPr lang="en-US" sz="1000" dirty="0">
                        <a:latin typeface="Calibri" charset="0"/>
                        <a:ea typeface="Calibri" charset="0"/>
                        <a:cs typeface="Calibri" charset="0"/>
                      </a:endParaRPr>
                    </a:p>
                  </a:txBody>
                  <a:tcPr marL="45720" marR="4572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000" dirty="0">
                          <a:solidFill>
                            <a:srgbClr val="16213A"/>
                          </a:solidFill>
                          <a:latin typeface="Calibri" pitchFamily="34" charset="0"/>
                          <a:ea typeface="Calibri" pitchFamily="34" charset="-122"/>
                          <a:cs typeface="Calibri" pitchFamily="34" charset="-120"/>
                        </a:rPr>
                        <a:t>Jan – Apr 2025</a:t>
                      </a:r>
                      <a:endParaRPr lang="en-US" sz="1000" dirty="0">
                        <a:latin typeface="Calibri" charset="0"/>
                        <a:ea typeface="Calibri" charset="0"/>
                        <a:cs typeface="Calibri" charset="0"/>
                      </a:endParaRPr>
                    </a:p>
                  </a:txBody>
                  <a:tcPr marL="45720" marR="4572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000" dirty="0">
                          <a:solidFill>
                            <a:srgbClr val="16213A"/>
                          </a:solidFill>
                          <a:latin typeface="Calibri" pitchFamily="34" charset="0"/>
                          <a:ea typeface="Calibri" pitchFamily="34" charset="-122"/>
                          <a:cs typeface="Calibri" pitchFamily="34" charset="-120"/>
                        </a:rPr>
                        <a:t>Lt Cdr Vikash, Sgt Rajendra Kumar Jat</a:t>
                      </a:r>
                      <a:endParaRPr lang="en-US" sz="1000" dirty="0">
                        <a:latin typeface="Calibri" charset="0"/>
                        <a:ea typeface="Calibri" charset="0"/>
                        <a:cs typeface="Calibri" charset="0"/>
                      </a:endParaRPr>
                    </a:p>
                  </a:txBody>
                  <a:tcPr marL="45720" marR="4572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000" dirty="0">
                          <a:solidFill>
                            <a:srgbClr val="16213A"/>
                          </a:solidFill>
                          <a:latin typeface="Calibri" pitchFamily="34" charset="0"/>
                          <a:ea typeface="Calibri" pitchFamily="34" charset="-122"/>
                          <a:cs typeface="Calibri" pitchFamily="34" charset="-120"/>
                        </a:rPr>
                        <a:t>Network administration; cryptography and data security</a:t>
                      </a:r>
                      <a:endParaRPr lang="en-US" sz="1000" dirty="0">
                        <a:latin typeface="Calibri" charset="0"/>
                        <a:ea typeface="Calibri" charset="0"/>
                        <a:cs typeface="Calibri" charset="0"/>
                      </a:endParaRPr>
                    </a:p>
                  </a:txBody>
                  <a:tcPr marL="45720" marR="4572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r h="402336">
                <a:tc>
                  <a:txBody>
                    <a:bodyPr/>
                    <a:lstStyle/>
                    <a:p>
                      <a:pPr algn="ctr" indent="0" marL="0">
                        <a:buNone/>
                      </a:pPr>
                      <a:r>
                        <a:rPr lang="en-US" sz="1000" b="1" dirty="0">
                          <a:solidFill>
                            <a:srgbClr val="1621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marL="45720" marR="4572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000" dirty="0">
                          <a:solidFill>
                            <a:srgbClr val="16213A"/>
                          </a:solidFill>
                          <a:latin typeface="Calibri" pitchFamily="34" charset="0"/>
                          <a:ea typeface="Calibri" pitchFamily="34" charset="-122"/>
                          <a:cs typeface="Calibri" pitchFamily="34" charset="-120"/>
                        </a:rPr>
                        <a:t>May – Aug 2025</a:t>
                      </a:r>
                      <a:endParaRPr lang="en-US" sz="1000" dirty="0">
                        <a:latin typeface="Calibri" charset="0"/>
                        <a:ea typeface="Calibri" charset="0"/>
                        <a:cs typeface="Calibri" charset="0"/>
                      </a:endParaRPr>
                    </a:p>
                  </a:txBody>
                  <a:tcPr marL="45720" marR="4572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000" dirty="0">
                          <a:solidFill>
                            <a:srgbClr val="16213A"/>
                          </a:solidFill>
                          <a:latin typeface="Calibri" pitchFamily="34" charset="0"/>
                          <a:ea typeface="Calibri" pitchFamily="34" charset="-122"/>
                          <a:cs typeface="Calibri" pitchFamily="34" charset="-120"/>
                        </a:rPr>
                        <a:t>Lt Cdr Shubham Singh, Hav Ponnaganti Srinivasulu</a:t>
                      </a:r>
                      <a:endParaRPr lang="en-US" sz="1000" dirty="0">
                        <a:latin typeface="Calibri" charset="0"/>
                        <a:ea typeface="Calibri" charset="0"/>
                        <a:cs typeface="Calibri" charset="0"/>
                      </a:endParaRPr>
                    </a:p>
                  </a:txBody>
                  <a:tcPr marL="45720" marR="4572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000" dirty="0">
                          <a:solidFill>
                            <a:srgbClr val="16213A"/>
                          </a:solidFill>
                          <a:latin typeface="Calibri" pitchFamily="34" charset="0"/>
                          <a:ea typeface="Calibri" pitchFamily="34" charset="-122"/>
                          <a:cs typeface="Calibri" pitchFamily="34" charset="-120"/>
                        </a:rPr>
                        <a:t>Vulnerability assessment and penetration testing; cyber security audit</a:t>
                      </a:r>
                      <a:endParaRPr lang="en-US" sz="1000" dirty="0">
                        <a:latin typeface="Calibri" charset="0"/>
                        <a:ea typeface="Calibri" charset="0"/>
                        <a:cs typeface="Calibri" charset="0"/>
                      </a:endParaRPr>
                    </a:p>
                  </a:txBody>
                  <a:tcPr marL="45720" marR="4572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r h="402336">
                <a:tc>
                  <a:txBody>
                    <a:bodyPr/>
                    <a:lstStyle/>
                    <a:p>
                      <a:pPr algn="ctr" indent="0" marL="0">
                        <a:buNone/>
                      </a:pPr>
                      <a:r>
                        <a:rPr lang="en-US" sz="1000" b="1" dirty="0">
                          <a:solidFill>
                            <a:srgbClr val="16213A"/>
                          </a:solidFill>
                          <a:latin typeface="Calibri" pitchFamily="34" charset="0"/>
                          <a:ea typeface="Calibri" pitchFamily="34" charset="-122"/>
                          <a:cs typeface="Calibri" pitchFamily="34" charset="-120"/>
                        </a:rPr>
                        <a:t>7</a:t>
                      </a:r>
                      <a:endParaRPr lang="en-US" sz="1000" dirty="0">
                        <a:latin typeface="Calibri" charset="0"/>
                        <a:ea typeface="Calibri" charset="0"/>
                        <a:cs typeface="Calibri" charset="0"/>
                      </a:endParaRPr>
                    </a:p>
                  </a:txBody>
                  <a:tcPr marL="45720" marR="4572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000" dirty="0">
                          <a:solidFill>
                            <a:srgbClr val="16213A"/>
                          </a:solidFill>
                          <a:latin typeface="Calibri" pitchFamily="34" charset="0"/>
                          <a:ea typeface="Calibri" pitchFamily="34" charset="-122"/>
                          <a:cs typeface="Calibri" pitchFamily="34" charset="-120"/>
                        </a:rPr>
                        <a:t>Sep – Dec 2025</a:t>
                      </a:r>
                      <a:endParaRPr lang="en-US" sz="1000" dirty="0">
                        <a:latin typeface="Calibri" charset="0"/>
                        <a:ea typeface="Calibri" charset="0"/>
                        <a:cs typeface="Calibri" charset="0"/>
                      </a:endParaRPr>
                    </a:p>
                  </a:txBody>
                  <a:tcPr marL="45720" marR="4572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000" dirty="0">
                          <a:solidFill>
                            <a:srgbClr val="16213A"/>
                          </a:solidFill>
                          <a:latin typeface="Calibri" pitchFamily="34" charset="0"/>
                          <a:ea typeface="Calibri" pitchFamily="34" charset="-122"/>
                          <a:cs typeface="Calibri" pitchFamily="34" charset="-120"/>
                        </a:rPr>
                        <a:t>Wg Cdr Kishore Yadav, PO Harisankar P.P.</a:t>
                      </a:r>
                      <a:endParaRPr lang="en-US" sz="1000" dirty="0">
                        <a:latin typeface="Calibri" charset="0"/>
                        <a:ea typeface="Calibri" charset="0"/>
                        <a:cs typeface="Calibri" charset="0"/>
                      </a:endParaRPr>
                    </a:p>
                  </a:txBody>
                  <a:tcPr marL="45720" marR="4572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000" dirty="0">
                          <a:solidFill>
                            <a:srgbClr val="16213A"/>
                          </a:solidFill>
                          <a:latin typeface="Calibri" pitchFamily="34" charset="0"/>
                          <a:ea typeface="Calibri" pitchFamily="34" charset="-122"/>
                          <a:cs typeface="Calibri" pitchFamily="34" charset="-120"/>
                        </a:rPr>
                        <a:t>Foundation of cyber security (10 weeks): OS, network security, programming, data security, red/blue team</a:t>
                      </a:r>
                      <a:endParaRPr lang="en-US" sz="1000" dirty="0">
                        <a:latin typeface="Calibri" charset="0"/>
                        <a:ea typeface="Calibri" charset="0"/>
                        <a:cs typeface="Calibri" charset="0"/>
                      </a:endParaRPr>
                    </a:p>
                  </a:txBody>
                  <a:tcPr marL="45720" marR="4572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r h="402336">
                <a:tc>
                  <a:txBody>
                    <a:bodyPr/>
                    <a:lstStyle/>
                    <a:p>
                      <a:pPr algn="ctr" indent="0" marL="0">
                        <a:buNone/>
                      </a:pPr>
                      <a:r>
                        <a:rPr lang="en-US" sz="1000" b="1" dirty="0">
                          <a:solidFill>
                            <a:srgbClr val="B3261E"/>
                          </a:solidFill>
                          <a:latin typeface="Calibri" pitchFamily="34" charset="0"/>
                          <a:ea typeface="Calibri" pitchFamily="34" charset="-122"/>
                          <a:cs typeface="Calibri" pitchFamily="34" charset="-120"/>
                        </a:rPr>
                        <a:t>8</a:t>
                      </a:r>
                      <a:endParaRPr lang="en-US" sz="1000" dirty="0">
                        <a:latin typeface="Calibri" charset="0"/>
                        <a:ea typeface="Calibri" charset="0"/>
                        <a:cs typeface="Calibri" charset="0"/>
                      </a:endParaRPr>
                    </a:p>
                  </a:txBody>
                  <a:tcPr marL="45720" marR="4572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000" dirty="0">
                          <a:solidFill>
                            <a:srgbClr val="B3261E"/>
                          </a:solidFill>
                          <a:latin typeface="Calibri" pitchFamily="34" charset="0"/>
                          <a:ea typeface="Calibri" pitchFamily="34" charset="-122"/>
                          <a:cs typeface="Calibri" pitchFamily="34" charset="-120"/>
                        </a:rPr>
                        <a:t>Dec 2025 – Mar 2026</a:t>
                      </a:r>
                      <a:endParaRPr lang="en-US" sz="1000" dirty="0">
                        <a:latin typeface="Calibri" charset="0"/>
                        <a:ea typeface="Calibri" charset="0"/>
                        <a:cs typeface="Calibri" charset="0"/>
                      </a:endParaRPr>
                    </a:p>
                  </a:txBody>
                  <a:tcPr marL="45720" marR="4572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000" i="1" dirty="0">
                          <a:solidFill>
                            <a:srgbClr val="B3261E"/>
                          </a:solidFill>
                          <a:latin typeface="Calibri" pitchFamily="34" charset="0"/>
                          <a:ea typeface="Calibri" pitchFamily="34" charset="-122"/>
                          <a:cs typeface="Calibri" pitchFamily="34" charset="-120"/>
                        </a:rPr>
                        <a:t>Names per department records</a:t>
                      </a:r>
                      <a:endParaRPr lang="en-US" sz="1000" dirty="0">
                        <a:latin typeface="Calibri" charset="0"/>
                        <a:ea typeface="Calibri" charset="0"/>
                        <a:cs typeface="Calibri" charset="0"/>
                      </a:endParaRPr>
                    </a:p>
                  </a:txBody>
                  <a:tcPr marL="45720" marR="4572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000" dirty="0">
                          <a:solidFill>
                            <a:srgbClr val="B3261E"/>
                          </a:solidFill>
                          <a:latin typeface="Calibri" pitchFamily="34" charset="0"/>
                          <a:ea typeface="Calibri" pitchFamily="34" charset="-122"/>
                          <a:cs typeface="Calibri" pitchFamily="34" charset="-120"/>
                        </a:rPr>
                        <a:t>Blue team: SOC analyst, malware analysis, digital forensics, audit</a:t>
                      </a:r>
                      <a:endParaRPr lang="en-US" sz="1000" dirty="0">
                        <a:latin typeface="Calibri" charset="0"/>
                        <a:ea typeface="Calibri" charset="0"/>
                        <a:cs typeface="Calibri" charset="0"/>
                      </a:endParaRPr>
                    </a:p>
                  </a:txBody>
                  <a:tcPr marL="45720" marR="4572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r h="402336">
                <a:tc>
                  <a:txBody>
                    <a:bodyPr/>
                    <a:lstStyle/>
                    <a:p>
                      <a:pPr algn="ctr" indent="0" marL="0">
                        <a:buNone/>
                      </a:pPr>
                      <a:r>
                        <a:rPr lang="en-US" sz="1000" b="1" dirty="0">
                          <a:solidFill>
                            <a:srgbClr val="B3261E"/>
                          </a:solidFill>
                          <a:latin typeface="Calibri" pitchFamily="34" charset="0"/>
                          <a:ea typeface="Calibri" pitchFamily="34" charset="-122"/>
                          <a:cs typeface="Calibri" pitchFamily="34" charset="-120"/>
                        </a:rPr>
                        <a:t>9</a:t>
                      </a:r>
                      <a:endParaRPr lang="en-US" sz="1000" dirty="0">
                        <a:latin typeface="Calibri" charset="0"/>
                        <a:ea typeface="Calibri" charset="0"/>
                        <a:cs typeface="Calibri" charset="0"/>
                      </a:endParaRPr>
                    </a:p>
                  </a:txBody>
                  <a:tcPr marL="45720" marR="4572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000" dirty="0">
                          <a:solidFill>
                            <a:srgbClr val="B3261E"/>
                          </a:solidFill>
                          <a:latin typeface="Calibri" pitchFamily="34" charset="0"/>
                          <a:ea typeface="Calibri" pitchFamily="34" charset="-122"/>
                          <a:cs typeface="Calibri" pitchFamily="34" charset="-120"/>
                        </a:rPr>
                        <a:t>Mar – Jul 2026</a:t>
                      </a:r>
                      <a:endParaRPr lang="en-US" sz="1000" dirty="0">
                        <a:latin typeface="Calibri" charset="0"/>
                        <a:ea typeface="Calibri" charset="0"/>
                        <a:cs typeface="Calibri" charset="0"/>
                      </a:endParaRPr>
                    </a:p>
                  </a:txBody>
                  <a:tcPr marL="45720" marR="4572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000" i="1" dirty="0">
                          <a:solidFill>
                            <a:srgbClr val="B3261E"/>
                          </a:solidFill>
                          <a:latin typeface="Calibri" pitchFamily="34" charset="0"/>
                          <a:ea typeface="Calibri" pitchFamily="34" charset="-122"/>
                          <a:cs typeface="Calibri" pitchFamily="34" charset="-120"/>
                        </a:rPr>
                        <a:t>Names per department records</a:t>
                      </a:r>
                      <a:endParaRPr lang="en-US" sz="1000" dirty="0">
                        <a:latin typeface="Calibri" charset="0"/>
                        <a:ea typeface="Calibri" charset="0"/>
                        <a:cs typeface="Calibri" charset="0"/>
                      </a:endParaRPr>
                    </a:p>
                  </a:txBody>
                  <a:tcPr marL="45720" marR="4572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000" dirty="0">
                          <a:solidFill>
                            <a:srgbClr val="B3261E"/>
                          </a:solidFill>
                          <a:latin typeface="Calibri" pitchFamily="34" charset="0"/>
                          <a:ea typeface="Calibri" pitchFamily="34" charset="-122"/>
                          <a:cs typeface="Calibri" pitchFamily="34" charset="-120"/>
                        </a:rPr>
                        <a:t>Advanced: VAPT, CERT operations, military cyber security operations</a:t>
                      </a:r>
                      <a:endParaRPr lang="en-US" sz="1000" dirty="0">
                        <a:latin typeface="Calibri" charset="0"/>
                        <a:ea typeface="Calibri" charset="0"/>
                        <a:cs typeface="Calibri" charset="0"/>
                      </a:endParaRPr>
                    </a:p>
                  </a:txBody>
                  <a:tcPr marL="45720" marR="4572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bl>
          </a:graphicData>
        </a:graphic>
      </p:graphicFrame>
      <p:sp>
        <p:nvSpPr>
          <p:cNvPr id="4" name="note badge"/>
          <p:cNvSpPr/>
          <p:nvPr/>
        </p:nvSpPr>
        <p:spPr>
          <a:xfrm>
            <a:off x="8321040" y="5943600"/>
            <a:ext cx="3291840" cy="274320"/>
          </a:xfrm>
          <a:prstGeom prst="roundRect">
            <a:avLst>
              <a:gd name="adj" fmla="val 50000"/>
            </a:avLst>
          </a:prstGeom>
          <a:solidFill>
            <a:schemeClr val="accent4"/>
          </a:solidFill>
          <a:ln w="12700">
            <a:solidFill>
              <a:schemeClr val="accent4"/>
            </a:solidFill>
            <a:prstDash val="solid"/>
          </a:ln>
        </p:spPr>
      </p:sp>
      <p:sp>
        <p:nvSpPr>
          <p:cNvPr id="5" name="Text 2"/>
          <p:cNvSpPr txBox="1"/>
          <p:nvPr/>
        </p:nvSpPr>
        <p:spPr>
          <a:xfrm>
            <a:off x="8321040" y="5943600"/>
            <a:ext cx="3291840" cy="274320"/>
          </a:xfrm>
          <a:prstGeom prst="rect">
            <a:avLst/>
          </a:prstGeom>
          <a:noFill/>
          <a:ln/>
        </p:spPr>
        <p:txBody>
          <a:bodyPr wrap="square" lIns="0" tIns="0" rIns="0" bIns="0" rtlCol="0" anchor="ctr"/>
          <a:lstStyle/>
          <a:p>
            <a:pPr algn="ctr" indent="0" marL="0">
              <a:buNone/>
            </a:pPr>
            <a:r>
              <a:rPr lang="en-US" sz="900" b="1" dirty="0">
                <a:solidFill>
                  <a:schemeClr val="bg1"/>
                </a:solidFill>
              </a:rPr>
              <a:t>RED ROWS – names to be completed from records</a:t>
            </a:r>
            <a:endParaRPr lang="en-US" sz="900" dirty="0"/>
          </a:p>
        </p:txBody>
      </p:sp>
      <p:sp>
        <p:nvSpPr>
          <p:cNvPr id="6" name="Text 3"/>
          <p:cNvSpPr txBox="1"/>
          <p:nvPr/>
        </p:nvSpPr>
        <p:spPr>
          <a:xfrm>
            <a:off x="548640" y="5943600"/>
            <a:ext cx="7498080" cy="365760"/>
          </a:xfrm>
          <a:prstGeom prst="rect">
            <a:avLst/>
          </a:prstGeom>
          <a:noFill/>
          <a:ln/>
        </p:spPr>
        <p:txBody>
          <a:bodyPr wrap="square" lIns="0" tIns="0" rIns="0" bIns="0" rtlCol="0" anchor="ctr"/>
          <a:lstStyle/>
          <a:p>
            <a:pPr indent="0" marL="0">
              <a:buNone/>
            </a:pPr>
            <a:r>
              <a:rPr lang="en-US" sz="1050" i="1" dirty="0">
                <a:solidFill>
                  <a:schemeClr val="tx2"/>
                </a:solidFill>
              </a:rPr>
              <a:t>Two-instructor mobile training teams from the Indian Air Force, Navy and Army rotate every four months under the jointly approved training plan.</a:t>
            </a:r>
            <a:endParaRPr lang="en-US" sz="105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47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731520" y="1737360"/>
            <a:ext cx="2743200" cy="914400"/>
          </a:xfrm>
          <a:prstGeom prst="rect">
            <a:avLst/>
          </a:prstGeom>
          <a:noFill/>
          <a:ln/>
        </p:spPr>
        <p:txBody>
          <a:bodyPr wrap="square" lIns="0" tIns="0" rIns="0" bIns="0" rtlCol="0" anchor="t"/>
          <a:lstStyle/>
          <a:p>
            <a:pPr indent="0" marL="0">
              <a:buNone/>
            </a:pPr>
            <a:r>
              <a:rPr lang="en-US" sz="6000" b="1" dirty="0">
                <a:solidFill>
                  <a:schemeClr val="accent1"/>
                </a:solidFill>
                <a:latin typeface="Cambria" pitchFamily="34" charset="0"/>
                <a:ea typeface="Cambria" pitchFamily="34" charset="-122"/>
                <a:cs typeface="Cambria" pitchFamily="34" charset="-120"/>
              </a:rPr>
              <a:t>03</a:t>
            </a:r>
            <a:endParaRPr lang="en-US" sz="6000" dirty="0"/>
          </a:p>
        </p:txBody>
      </p:sp>
      <p:sp>
        <p:nvSpPr>
          <p:cNvPr id="3" name="Text 0"/>
          <p:cNvSpPr/>
          <p:nvPr>
            <p:ph idx="100" type="title" hasCustomPrompt="1"/>
          </p:nvPr>
        </p:nvSpPr>
        <p:spPr>
          <a:xfrm>
            <a:off x="731520" y="2743200"/>
            <a:ext cx="10698480" cy="1097280"/>
          </a:xfrm>
          <a:prstGeom prst="rect">
            <a:avLst/>
          </a:prstGeom>
          <a:noFill/>
          <a:ln/>
        </p:spPr>
        <p:txBody>
          <a:bodyPr wrap="square" lIns="0" tIns="0" rIns="0" bIns="0" rtlCol="0" anchor="ctr"/>
          <a:lstStyle/>
          <a:p>
            <a:pPr indent="0" marL="0">
              <a:buNone/>
            </a:pPr>
            <a:r>
              <a:rPr lang="en-US" sz="4000" b="1" dirty="0">
                <a:solidFill>
                  <a:schemeClr val="bg1"/>
                </a:solidFill>
              </a:rPr>
              <a:t>Results 2022–2026</a:t>
            </a:r>
            <a:endParaRPr lang="en-US" sz="4000" dirty="0"/>
          </a:p>
        </p:txBody>
      </p:sp>
      <p:sp>
        <p:nvSpPr>
          <p:cNvPr id="4" name="Text 0"/>
          <p:cNvSpPr/>
          <p:nvPr>
            <p:ph idx="101" type="body" hasCustomPrompt="1"/>
          </p:nvPr>
        </p:nvSpPr>
        <p:spPr>
          <a:xfrm>
            <a:off x="731520" y="3886200"/>
            <a:ext cx="10698480" cy="731520"/>
          </a:xfrm>
          <a:prstGeom prst="rect">
            <a:avLst/>
          </a:prstGeom>
          <a:noFill/>
          <a:ln/>
        </p:spPr>
        <p:txBody>
          <a:bodyPr wrap="square" lIns="0" tIns="0" rIns="0" bIns="0" rtlCol="0" anchor="t"/>
          <a:lstStyle/>
          <a:p>
            <a:pPr indent="0" marL="0">
              <a:buNone/>
            </a:pPr>
            <a:r>
              <a:rPr lang="en-US" sz="1800" dirty="0">
                <a:solidFill>
                  <a:schemeClr val="accent6"/>
                </a:solidFill>
              </a:rPr>
              <a:t>What the partnership has delivered in four years</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000" b="1" dirty="0">
                <a:solidFill>
                  <a:schemeClr val="tx1"/>
                </a:solidFill>
              </a:rPr>
              <a:t>More than 300 specialists trained with Indian teams since 2022</a:t>
            </a:r>
            <a:endParaRPr lang="en-US" sz="3000" dirty="0"/>
          </a:p>
        </p:txBody>
      </p:sp>
      <p:sp>
        <p:nvSpPr>
          <p:cNvPr id="3" name="card"/>
          <p:cNvSpPr/>
          <p:nvPr/>
        </p:nvSpPr>
        <p:spPr>
          <a:xfrm>
            <a:off x="548640" y="1371600"/>
            <a:ext cx="7223760" cy="4846320"/>
          </a:xfrm>
          <a:prstGeom prst="roundRect">
            <a:avLst>
              <a:gd name="adj" fmla="val 2264"/>
            </a:avLst>
          </a:prstGeom>
          <a:solidFill>
            <a:schemeClr val="bg1"/>
          </a:solidFill>
          <a:ln w="9525">
            <a:solidFill>
              <a:srgbClr val="DDE3EC"/>
            </a:solidFill>
            <a:prstDash val="solid"/>
          </a:ln>
        </p:spPr>
      </p:sp>
      <p:sp>
        <p:nvSpPr>
          <p:cNvPr id="4" name="Text 2"/>
          <p:cNvSpPr txBox="1"/>
          <p:nvPr/>
        </p:nvSpPr>
        <p:spPr>
          <a:xfrm>
            <a:off x="822960" y="1481328"/>
            <a:ext cx="6675120" cy="320040"/>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Trainees per course cohort, September 2022 – June 2025</a:t>
            </a:r>
            <a:endParaRPr lang="en-US" sz="1300" dirty="0"/>
          </a:p>
        </p:txBody>
      </p:sp>
      <p:graphicFrame>
        <p:nvGraphicFramePr>
          <p:cNvPr id="5" name="Chart 0" descr=""/>
          <p:cNvGraphicFramePr/>
          <p:nvPr/>
        </p:nvGraphicFramePr>
        <p:xfrm>
          <a:off x="640080" y="1828800"/>
          <a:ext cx="7040880" cy="4297680"/>
        </p:xfrm>
        <a:graphic xmlns:a="http://schemas.openxmlformats.org/drawingml/2006/main">
          <a:graphicData uri="http://schemas.openxmlformats.org/drawingml/2006/chart">
            <c:chart xmlns:c="http://schemas.openxmlformats.org/drawingml/2006/chart" r:id="rId1"/>
          </a:graphicData>
        </a:graphic>
      </p:graphicFrame>
      <p:sp>
        <p:nvSpPr>
          <p:cNvPr id="6" name="card"/>
          <p:cNvSpPr/>
          <p:nvPr/>
        </p:nvSpPr>
        <p:spPr>
          <a:xfrm>
            <a:off x="8046720" y="1371600"/>
            <a:ext cx="3566160" cy="1508760"/>
          </a:xfrm>
          <a:prstGeom prst="roundRect">
            <a:avLst>
              <a:gd name="adj" fmla="val 7273"/>
            </a:avLst>
          </a:prstGeom>
          <a:solidFill>
            <a:schemeClr val="bg2"/>
          </a:solidFill>
          <a:ln w="12700">
            <a:solidFill>
              <a:schemeClr val="bg2"/>
            </a:solidFill>
            <a:prstDash val="solid"/>
          </a:ln>
        </p:spPr>
      </p:sp>
      <p:sp>
        <p:nvSpPr>
          <p:cNvPr id="7" name="Text 4"/>
          <p:cNvSpPr txBox="1"/>
          <p:nvPr/>
        </p:nvSpPr>
        <p:spPr>
          <a:xfrm>
            <a:off x="8229600" y="1463040"/>
            <a:ext cx="3200400" cy="754380"/>
          </a:xfrm>
          <a:prstGeom prst="rect">
            <a:avLst/>
          </a:prstGeom>
          <a:noFill/>
          <a:ln/>
        </p:spPr>
        <p:txBody>
          <a:bodyPr wrap="square" lIns="0" tIns="0" rIns="0" bIns="0" rtlCol="0" anchor="ctr"/>
          <a:lstStyle/>
          <a:p>
            <a:pPr indent="0" marL="0">
              <a:buNone/>
            </a:pPr>
            <a:r>
              <a:rPr lang="en-US" sz="3400" b="1" dirty="0">
                <a:solidFill>
                  <a:schemeClr val="accent1"/>
                </a:solidFill>
                <a:latin typeface="Cambria" pitchFamily="34" charset="0"/>
                <a:ea typeface="Cambria" pitchFamily="34" charset="-122"/>
                <a:cs typeface="Cambria" pitchFamily="34" charset="-120"/>
              </a:rPr>
              <a:t>300+</a:t>
            </a:r>
            <a:endParaRPr lang="en-US" sz="3400" dirty="0"/>
          </a:p>
        </p:txBody>
      </p:sp>
      <p:sp>
        <p:nvSpPr>
          <p:cNvPr id="8" name="Text 5"/>
          <p:cNvSpPr txBox="1"/>
          <p:nvPr/>
        </p:nvSpPr>
        <p:spPr>
          <a:xfrm>
            <a:off x="8229600" y="2246681"/>
            <a:ext cx="3200400" cy="603504"/>
          </a:xfrm>
          <a:prstGeom prst="rect">
            <a:avLst/>
          </a:prstGeom>
          <a:noFill/>
          <a:ln/>
        </p:spPr>
        <p:txBody>
          <a:bodyPr wrap="square" lIns="0" tIns="0" rIns="0" bIns="0" rtlCol="0" anchor="t"/>
          <a:lstStyle/>
          <a:p>
            <a:pPr indent="0" marL="0">
              <a:buNone/>
            </a:pPr>
            <a:r>
              <a:rPr lang="en-US" sz="1050" dirty="0">
                <a:solidFill>
                  <a:schemeClr val="tx2"/>
                </a:solidFill>
              </a:rPr>
              <a:t>specialists of military and law-enforcement agencies trained with Indian teams, 2022–2026 (NDU letter, Oct 2026)</a:t>
            </a:r>
            <a:endParaRPr lang="en-US" sz="1050" dirty="0"/>
          </a:p>
        </p:txBody>
      </p:sp>
      <p:sp>
        <p:nvSpPr>
          <p:cNvPr id="9" name="card"/>
          <p:cNvSpPr/>
          <p:nvPr/>
        </p:nvSpPr>
        <p:spPr>
          <a:xfrm>
            <a:off x="8046720" y="3017520"/>
            <a:ext cx="3566160" cy="1508760"/>
          </a:xfrm>
          <a:prstGeom prst="roundRect">
            <a:avLst>
              <a:gd name="adj" fmla="val 7273"/>
            </a:avLst>
          </a:prstGeom>
          <a:solidFill>
            <a:schemeClr val="bg2"/>
          </a:solidFill>
          <a:ln w="12700">
            <a:solidFill>
              <a:schemeClr val="bg2"/>
            </a:solidFill>
            <a:prstDash val="solid"/>
          </a:ln>
        </p:spPr>
      </p:sp>
      <p:sp>
        <p:nvSpPr>
          <p:cNvPr id="10" name="Text 7"/>
          <p:cNvSpPr txBox="1"/>
          <p:nvPr/>
        </p:nvSpPr>
        <p:spPr>
          <a:xfrm>
            <a:off x="8229600" y="3108960"/>
            <a:ext cx="3200400" cy="754380"/>
          </a:xfrm>
          <a:prstGeom prst="rect">
            <a:avLst/>
          </a:prstGeom>
          <a:noFill/>
          <a:ln/>
        </p:spPr>
        <p:txBody>
          <a:bodyPr wrap="square" lIns="0" tIns="0" rIns="0" bIns="0" rtlCol="0" anchor="ctr"/>
          <a:lstStyle/>
          <a:p>
            <a:pPr indent="0" marL="0">
              <a:buNone/>
            </a:pPr>
            <a:r>
              <a:rPr lang="en-US" sz="3400" b="1" dirty="0">
                <a:solidFill>
                  <a:schemeClr val="accent2"/>
                </a:solidFill>
                <a:latin typeface="Cambria" pitchFamily="34" charset="0"/>
                <a:ea typeface="Cambria" pitchFamily="34" charset="-122"/>
                <a:cs typeface="Cambria" pitchFamily="34" charset="-120"/>
              </a:rPr>
              <a:t>211</a:t>
            </a:r>
            <a:endParaRPr lang="en-US" sz="3400" dirty="0"/>
          </a:p>
        </p:txBody>
      </p:sp>
      <p:sp>
        <p:nvSpPr>
          <p:cNvPr id="11" name="Text 8"/>
          <p:cNvSpPr txBox="1"/>
          <p:nvPr/>
        </p:nvSpPr>
        <p:spPr>
          <a:xfrm>
            <a:off x="8229600" y="3892601"/>
            <a:ext cx="3200400" cy="603504"/>
          </a:xfrm>
          <a:prstGeom prst="rect">
            <a:avLst/>
          </a:prstGeom>
          <a:noFill/>
          <a:ln/>
        </p:spPr>
        <p:txBody>
          <a:bodyPr wrap="square" lIns="0" tIns="0" rIns="0" bIns="0" rtlCol="0" anchor="t"/>
          <a:lstStyle/>
          <a:p>
            <a:pPr indent="0" marL="0">
              <a:buNone/>
            </a:pPr>
            <a:r>
              <a:rPr lang="en-US" sz="1050" dirty="0">
                <a:solidFill>
                  <a:schemeClr val="tx2"/>
                </a:solidFill>
              </a:rPr>
              <a:t>trainees in the 13 cohorts charted here (Sep 2022 – Jun 2025); the 7th–9th team cycles add the balance</a:t>
            </a:r>
            <a:endParaRPr lang="en-US" sz="1050" dirty="0"/>
          </a:p>
        </p:txBody>
      </p:sp>
      <p:sp>
        <p:nvSpPr>
          <p:cNvPr id="12" name="card"/>
          <p:cNvSpPr/>
          <p:nvPr/>
        </p:nvSpPr>
        <p:spPr>
          <a:xfrm>
            <a:off x="8046720" y="4663440"/>
            <a:ext cx="3566160" cy="1508760"/>
          </a:xfrm>
          <a:prstGeom prst="roundRect">
            <a:avLst>
              <a:gd name="adj" fmla="val 7273"/>
            </a:avLst>
          </a:prstGeom>
          <a:solidFill>
            <a:schemeClr val="bg2"/>
          </a:solidFill>
          <a:ln w="12700">
            <a:solidFill>
              <a:schemeClr val="bg2"/>
            </a:solidFill>
            <a:prstDash val="solid"/>
          </a:ln>
        </p:spPr>
      </p:sp>
      <p:sp>
        <p:nvSpPr>
          <p:cNvPr id="13" name="Text 10"/>
          <p:cNvSpPr txBox="1"/>
          <p:nvPr/>
        </p:nvSpPr>
        <p:spPr>
          <a:xfrm>
            <a:off x="8229600" y="4754880"/>
            <a:ext cx="3200400" cy="754380"/>
          </a:xfrm>
          <a:prstGeom prst="rect">
            <a:avLst/>
          </a:prstGeom>
          <a:noFill/>
          <a:ln/>
        </p:spPr>
        <p:txBody>
          <a:bodyPr wrap="square" lIns="0" tIns="0" rIns="0" bIns="0" rtlCol="0" anchor="ctr"/>
          <a:lstStyle/>
          <a:p>
            <a:pPr indent="0" marL="0">
              <a:buNone/>
            </a:pPr>
            <a:r>
              <a:rPr lang="en-US" sz="3400" b="1" dirty="0">
                <a:solidFill>
                  <a:schemeClr val="accent2"/>
                </a:solidFill>
                <a:latin typeface="Cambria" pitchFamily="34" charset="0"/>
                <a:ea typeface="Cambria" pitchFamily="34" charset="-122"/>
                <a:cs typeface="Cambria" pitchFamily="34" charset="-120"/>
              </a:rPr>
              <a:t>20</a:t>
            </a:r>
            <a:endParaRPr lang="en-US" sz="3400" dirty="0"/>
          </a:p>
        </p:txBody>
      </p:sp>
      <p:sp>
        <p:nvSpPr>
          <p:cNvPr id="14" name="Text 11"/>
          <p:cNvSpPr txBox="1"/>
          <p:nvPr/>
        </p:nvSpPr>
        <p:spPr>
          <a:xfrm>
            <a:off x="8229600" y="5538521"/>
            <a:ext cx="3200400" cy="603504"/>
          </a:xfrm>
          <a:prstGeom prst="rect">
            <a:avLst/>
          </a:prstGeom>
          <a:noFill/>
          <a:ln/>
        </p:spPr>
        <p:txBody>
          <a:bodyPr wrap="square" lIns="0" tIns="0" rIns="0" bIns="0" rtlCol="0" anchor="t"/>
          <a:lstStyle/>
          <a:p>
            <a:pPr indent="0" marL="0">
              <a:buNone/>
            </a:pPr>
            <a:r>
              <a:rPr lang="en-US" sz="1050" dirty="0">
                <a:solidFill>
                  <a:schemeClr val="tx2"/>
                </a:solidFill>
              </a:rPr>
              <a:t>credits of specialised training delivered with the Indian team in the first half of 2026 alone</a:t>
            </a:r>
            <a:endParaRPr lang="en-US" sz="105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474"/>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000" b="1" dirty="0">
                <a:solidFill>
                  <a:schemeClr val="tx1"/>
                </a:solidFill>
              </a:rPr>
              <a:t>A jointly approved curriculum: nine training phases, 2023–2026</a:t>
            </a:r>
            <a:endParaRPr lang="en-US" sz="3000" dirty="0"/>
          </a:p>
        </p:txBody>
      </p:sp>
      <p:sp>
        <p:nvSpPr>
          <p:cNvPr id="3" name="card"/>
          <p:cNvSpPr/>
          <p:nvPr/>
        </p:nvSpPr>
        <p:spPr>
          <a:xfrm>
            <a:off x="548640" y="1371600"/>
            <a:ext cx="3566160" cy="1463040"/>
          </a:xfrm>
          <a:prstGeom prst="roundRect">
            <a:avLst>
              <a:gd name="adj" fmla="val 7500"/>
            </a:avLst>
          </a:prstGeom>
          <a:solidFill>
            <a:schemeClr val="bg2"/>
          </a:solidFill>
          <a:ln w="12700">
            <a:solidFill>
              <a:schemeClr val="bg2"/>
            </a:solidFill>
            <a:prstDash val="solid"/>
          </a:ln>
        </p:spPr>
      </p:sp>
      <p:sp>
        <p:nvSpPr>
          <p:cNvPr id="4" name="phase"/>
          <p:cNvSpPr/>
          <p:nvPr/>
        </p:nvSpPr>
        <p:spPr>
          <a:xfrm>
            <a:off x="731520" y="1554480"/>
            <a:ext cx="502920" cy="502920"/>
          </a:xfrm>
          <a:prstGeom prst="ellipse">
            <a:avLst/>
          </a:prstGeom>
          <a:solidFill>
            <a:schemeClr val="accent2"/>
          </a:solidFill>
          <a:ln w="12700">
            <a:solidFill>
              <a:schemeClr val="accent2"/>
            </a:solidFill>
            <a:prstDash val="solid"/>
          </a:ln>
        </p:spPr>
      </p:sp>
      <p:sp>
        <p:nvSpPr>
          <p:cNvPr id="5" name="Text 3"/>
          <p:cNvSpPr txBox="1"/>
          <p:nvPr/>
        </p:nvSpPr>
        <p:spPr>
          <a:xfrm>
            <a:off x="731520" y="155448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4"/>
          <p:cNvSpPr txBox="1"/>
          <p:nvPr/>
        </p:nvSpPr>
        <p:spPr>
          <a:xfrm>
            <a:off x="1371600" y="1554480"/>
            <a:ext cx="2560320" cy="502920"/>
          </a:xfrm>
          <a:prstGeom prst="rect">
            <a:avLst/>
          </a:prstGeom>
          <a:noFill/>
          <a:ln/>
        </p:spPr>
        <p:txBody>
          <a:bodyPr wrap="square" lIns="0" tIns="0" rIns="0" bIns="0" rtlCol="0" anchor="ctr"/>
          <a:lstStyle/>
          <a:p>
            <a:pPr indent="0" marL="0">
              <a:buNone/>
            </a:pPr>
            <a:r>
              <a:rPr lang="en-US" sz="1300" b="1" dirty="0">
                <a:solidFill>
                  <a:schemeClr val="tx1"/>
                </a:solidFill>
              </a:rPr>
              <a:t>Sep–Dec 2023</a:t>
            </a:r>
            <a:endParaRPr lang="en-US" sz="1300" dirty="0"/>
          </a:p>
        </p:txBody>
      </p:sp>
      <p:sp>
        <p:nvSpPr>
          <p:cNvPr id="7" name="Text 5"/>
          <p:cNvSpPr txBox="1"/>
          <p:nvPr/>
        </p:nvSpPr>
        <p:spPr>
          <a:xfrm>
            <a:off x="731520" y="2148840"/>
            <a:ext cx="3200400" cy="640080"/>
          </a:xfrm>
          <a:prstGeom prst="rect">
            <a:avLst/>
          </a:prstGeom>
          <a:noFill/>
          <a:ln/>
        </p:spPr>
        <p:txBody>
          <a:bodyPr wrap="square" lIns="0" tIns="0" rIns="0" bIns="0" rtlCol="0" anchor="t"/>
          <a:lstStyle/>
          <a:p>
            <a:pPr indent="0" marL="0">
              <a:buNone/>
            </a:pPr>
            <a:r>
              <a:rPr lang="en-US" sz="1050" dirty="0">
                <a:solidFill>
                  <a:schemeClr val="tx2"/>
                </a:solidFill>
              </a:rPr>
              <a:t>Instructor programme · Certificate course (network security, malware analysis)</a:t>
            </a:r>
            <a:endParaRPr lang="en-US" sz="1050" dirty="0"/>
          </a:p>
        </p:txBody>
      </p:sp>
      <p:sp>
        <p:nvSpPr>
          <p:cNvPr id="8" name="card"/>
          <p:cNvSpPr/>
          <p:nvPr/>
        </p:nvSpPr>
        <p:spPr>
          <a:xfrm>
            <a:off x="4297680" y="1371600"/>
            <a:ext cx="3566160" cy="1463040"/>
          </a:xfrm>
          <a:prstGeom prst="roundRect">
            <a:avLst>
              <a:gd name="adj" fmla="val 7500"/>
            </a:avLst>
          </a:prstGeom>
          <a:solidFill>
            <a:schemeClr val="bg2"/>
          </a:solidFill>
          <a:ln w="12700">
            <a:solidFill>
              <a:schemeClr val="bg2"/>
            </a:solidFill>
            <a:prstDash val="solid"/>
          </a:ln>
        </p:spPr>
      </p:sp>
      <p:sp>
        <p:nvSpPr>
          <p:cNvPr id="9" name="phase"/>
          <p:cNvSpPr/>
          <p:nvPr/>
        </p:nvSpPr>
        <p:spPr>
          <a:xfrm>
            <a:off x="4480560" y="1554480"/>
            <a:ext cx="502920" cy="502920"/>
          </a:xfrm>
          <a:prstGeom prst="ellipse">
            <a:avLst/>
          </a:prstGeom>
          <a:solidFill>
            <a:schemeClr val="accent2"/>
          </a:solidFill>
          <a:ln w="12700">
            <a:solidFill>
              <a:schemeClr val="accent2"/>
            </a:solidFill>
            <a:prstDash val="solid"/>
          </a:ln>
        </p:spPr>
      </p:sp>
      <p:sp>
        <p:nvSpPr>
          <p:cNvPr id="10" name="Text 8"/>
          <p:cNvSpPr txBox="1"/>
          <p:nvPr/>
        </p:nvSpPr>
        <p:spPr>
          <a:xfrm>
            <a:off x="4480560" y="155448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Text 9"/>
          <p:cNvSpPr txBox="1"/>
          <p:nvPr/>
        </p:nvSpPr>
        <p:spPr>
          <a:xfrm>
            <a:off x="5120640" y="1554480"/>
            <a:ext cx="2560320" cy="502920"/>
          </a:xfrm>
          <a:prstGeom prst="rect">
            <a:avLst/>
          </a:prstGeom>
          <a:noFill/>
          <a:ln/>
        </p:spPr>
        <p:txBody>
          <a:bodyPr wrap="square" lIns="0" tIns="0" rIns="0" bIns="0" rtlCol="0" anchor="ctr"/>
          <a:lstStyle/>
          <a:p>
            <a:pPr indent="0" marL="0">
              <a:buNone/>
            </a:pPr>
            <a:r>
              <a:rPr lang="en-US" sz="1300" b="1" dirty="0">
                <a:solidFill>
                  <a:schemeClr val="tx1"/>
                </a:solidFill>
              </a:rPr>
              <a:t>Jan–Apr 2024</a:t>
            </a:r>
            <a:endParaRPr lang="en-US" sz="1300" dirty="0"/>
          </a:p>
        </p:txBody>
      </p:sp>
      <p:sp>
        <p:nvSpPr>
          <p:cNvPr id="12" name="Text 10"/>
          <p:cNvSpPr txBox="1"/>
          <p:nvPr/>
        </p:nvSpPr>
        <p:spPr>
          <a:xfrm>
            <a:off x="4480560" y="2148840"/>
            <a:ext cx="3200400" cy="640080"/>
          </a:xfrm>
          <a:prstGeom prst="rect">
            <a:avLst/>
          </a:prstGeom>
          <a:noFill/>
          <a:ln/>
        </p:spPr>
        <p:txBody>
          <a:bodyPr wrap="square" lIns="0" tIns="0" rIns="0" bIns="0" rtlCol="0" anchor="t"/>
          <a:lstStyle/>
          <a:p>
            <a:pPr indent="0" marL="0">
              <a:buNone/>
            </a:pPr>
            <a:r>
              <a:rPr lang="en-US" sz="1050" dirty="0">
                <a:solidFill>
                  <a:schemeClr val="tx2"/>
                </a:solidFill>
              </a:rPr>
              <a:t>Basic and intermediate cyber security: networking, network security, cyber security</a:t>
            </a:r>
            <a:endParaRPr lang="en-US" sz="1050" dirty="0"/>
          </a:p>
        </p:txBody>
      </p:sp>
      <p:sp>
        <p:nvSpPr>
          <p:cNvPr id="13" name="card"/>
          <p:cNvSpPr/>
          <p:nvPr/>
        </p:nvSpPr>
        <p:spPr>
          <a:xfrm>
            <a:off x="8046720" y="1371600"/>
            <a:ext cx="3566160" cy="1463040"/>
          </a:xfrm>
          <a:prstGeom prst="roundRect">
            <a:avLst>
              <a:gd name="adj" fmla="val 7500"/>
            </a:avLst>
          </a:prstGeom>
          <a:solidFill>
            <a:schemeClr val="bg2"/>
          </a:solidFill>
          <a:ln w="12700">
            <a:solidFill>
              <a:schemeClr val="bg2"/>
            </a:solidFill>
            <a:prstDash val="solid"/>
          </a:ln>
        </p:spPr>
      </p:sp>
      <p:sp>
        <p:nvSpPr>
          <p:cNvPr id="14" name="phase"/>
          <p:cNvSpPr/>
          <p:nvPr/>
        </p:nvSpPr>
        <p:spPr>
          <a:xfrm>
            <a:off x="8229600" y="1554480"/>
            <a:ext cx="502920" cy="502920"/>
          </a:xfrm>
          <a:prstGeom prst="ellipse">
            <a:avLst/>
          </a:prstGeom>
          <a:solidFill>
            <a:schemeClr val="accent2"/>
          </a:solidFill>
          <a:ln w="12700">
            <a:solidFill>
              <a:schemeClr val="accent2"/>
            </a:solidFill>
            <a:prstDash val="solid"/>
          </a:ln>
        </p:spPr>
      </p:sp>
      <p:sp>
        <p:nvSpPr>
          <p:cNvPr id="15" name="Text 13"/>
          <p:cNvSpPr txBox="1"/>
          <p:nvPr/>
        </p:nvSpPr>
        <p:spPr>
          <a:xfrm>
            <a:off x="8229600" y="155448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6" name="Text 14"/>
          <p:cNvSpPr txBox="1"/>
          <p:nvPr/>
        </p:nvSpPr>
        <p:spPr>
          <a:xfrm>
            <a:off x="8869680" y="1554480"/>
            <a:ext cx="2560320" cy="502920"/>
          </a:xfrm>
          <a:prstGeom prst="rect">
            <a:avLst/>
          </a:prstGeom>
          <a:noFill/>
          <a:ln/>
        </p:spPr>
        <p:txBody>
          <a:bodyPr wrap="square" lIns="0" tIns="0" rIns="0" bIns="0" rtlCol="0" anchor="ctr"/>
          <a:lstStyle/>
          <a:p>
            <a:pPr indent="0" marL="0">
              <a:buNone/>
            </a:pPr>
            <a:r>
              <a:rPr lang="en-US" sz="1300" b="1" dirty="0">
                <a:solidFill>
                  <a:schemeClr val="tx1"/>
                </a:solidFill>
              </a:rPr>
              <a:t>May–Aug 2024</a:t>
            </a:r>
            <a:endParaRPr lang="en-US" sz="1300" dirty="0"/>
          </a:p>
        </p:txBody>
      </p:sp>
      <p:sp>
        <p:nvSpPr>
          <p:cNvPr id="17" name="Text 15"/>
          <p:cNvSpPr txBox="1"/>
          <p:nvPr/>
        </p:nvSpPr>
        <p:spPr>
          <a:xfrm>
            <a:off x="8229600" y="2148840"/>
            <a:ext cx="3200400" cy="640080"/>
          </a:xfrm>
          <a:prstGeom prst="rect">
            <a:avLst/>
          </a:prstGeom>
          <a:noFill/>
          <a:ln/>
        </p:spPr>
        <p:txBody>
          <a:bodyPr wrap="square" lIns="0" tIns="0" rIns="0" bIns="0" rtlCol="0" anchor="t"/>
          <a:lstStyle/>
          <a:p>
            <a:pPr indent="0" marL="0">
              <a:buNone/>
            </a:pPr>
            <a:r>
              <a:rPr lang="en-US" sz="1050" dirty="0">
                <a:solidFill>
                  <a:schemeClr val="tx2"/>
                </a:solidFill>
              </a:rPr>
              <a:t>Certified Ethical Hacker (12 weeks) · Coding basics (4 weeks)</a:t>
            </a:r>
            <a:endParaRPr lang="en-US" sz="1050" dirty="0"/>
          </a:p>
        </p:txBody>
      </p:sp>
      <p:sp>
        <p:nvSpPr>
          <p:cNvPr id="18" name="card"/>
          <p:cNvSpPr/>
          <p:nvPr/>
        </p:nvSpPr>
        <p:spPr>
          <a:xfrm>
            <a:off x="548640" y="2944368"/>
            <a:ext cx="3566160" cy="1463040"/>
          </a:xfrm>
          <a:prstGeom prst="roundRect">
            <a:avLst>
              <a:gd name="adj" fmla="val 7500"/>
            </a:avLst>
          </a:prstGeom>
          <a:solidFill>
            <a:schemeClr val="bg2"/>
          </a:solidFill>
          <a:ln w="12700">
            <a:solidFill>
              <a:schemeClr val="bg2"/>
            </a:solidFill>
            <a:prstDash val="solid"/>
          </a:ln>
        </p:spPr>
      </p:sp>
      <p:sp>
        <p:nvSpPr>
          <p:cNvPr id="19" name="phase"/>
          <p:cNvSpPr/>
          <p:nvPr/>
        </p:nvSpPr>
        <p:spPr>
          <a:xfrm>
            <a:off x="731520" y="3127248"/>
            <a:ext cx="502920" cy="502920"/>
          </a:xfrm>
          <a:prstGeom prst="ellipse">
            <a:avLst/>
          </a:prstGeom>
          <a:solidFill>
            <a:schemeClr val="accent2"/>
          </a:solidFill>
          <a:ln w="12700">
            <a:solidFill>
              <a:schemeClr val="accent2"/>
            </a:solidFill>
            <a:prstDash val="solid"/>
          </a:ln>
        </p:spPr>
      </p:sp>
      <p:sp>
        <p:nvSpPr>
          <p:cNvPr id="20" name="Text 18"/>
          <p:cNvSpPr txBox="1"/>
          <p:nvPr/>
        </p:nvSpPr>
        <p:spPr>
          <a:xfrm>
            <a:off x="731520" y="312724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1" name="Text 19"/>
          <p:cNvSpPr txBox="1"/>
          <p:nvPr/>
        </p:nvSpPr>
        <p:spPr>
          <a:xfrm>
            <a:off x="1371600" y="3127248"/>
            <a:ext cx="2560320" cy="502920"/>
          </a:xfrm>
          <a:prstGeom prst="rect">
            <a:avLst/>
          </a:prstGeom>
          <a:noFill/>
          <a:ln/>
        </p:spPr>
        <p:txBody>
          <a:bodyPr wrap="square" lIns="0" tIns="0" rIns="0" bIns="0" rtlCol="0" anchor="ctr"/>
          <a:lstStyle/>
          <a:p>
            <a:pPr indent="0" marL="0">
              <a:buNone/>
            </a:pPr>
            <a:r>
              <a:rPr lang="en-US" sz="1300" b="1" dirty="0">
                <a:solidFill>
                  <a:schemeClr val="tx1"/>
                </a:solidFill>
              </a:rPr>
              <a:t>Sep–Dec 2024</a:t>
            </a:r>
            <a:endParaRPr lang="en-US" sz="1300" dirty="0"/>
          </a:p>
        </p:txBody>
      </p:sp>
      <p:sp>
        <p:nvSpPr>
          <p:cNvPr id="22" name="Text 20"/>
          <p:cNvSpPr txBox="1"/>
          <p:nvPr/>
        </p:nvSpPr>
        <p:spPr>
          <a:xfrm>
            <a:off x="731520" y="3721608"/>
            <a:ext cx="3200400" cy="640080"/>
          </a:xfrm>
          <a:prstGeom prst="rect">
            <a:avLst/>
          </a:prstGeom>
          <a:noFill/>
          <a:ln/>
        </p:spPr>
        <p:txBody>
          <a:bodyPr wrap="square" lIns="0" tIns="0" rIns="0" bIns="0" rtlCol="0" anchor="t"/>
          <a:lstStyle/>
          <a:p>
            <a:pPr indent="0" marL="0">
              <a:buNone/>
            </a:pPr>
            <a:r>
              <a:rPr lang="en-US" sz="1050" dirty="0">
                <a:solidFill>
                  <a:schemeClr val="tx2"/>
                </a:solidFill>
              </a:rPr>
              <a:t>Malware analysis (8 weeks) · Digital forensics (8 weeks)</a:t>
            </a:r>
            <a:endParaRPr lang="en-US" sz="1050" dirty="0"/>
          </a:p>
        </p:txBody>
      </p:sp>
      <p:sp>
        <p:nvSpPr>
          <p:cNvPr id="23" name="card"/>
          <p:cNvSpPr/>
          <p:nvPr/>
        </p:nvSpPr>
        <p:spPr>
          <a:xfrm>
            <a:off x="4297680" y="2944368"/>
            <a:ext cx="3566160" cy="1463040"/>
          </a:xfrm>
          <a:prstGeom prst="roundRect">
            <a:avLst>
              <a:gd name="adj" fmla="val 7500"/>
            </a:avLst>
          </a:prstGeom>
          <a:solidFill>
            <a:schemeClr val="bg2"/>
          </a:solidFill>
          <a:ln w="12700">
            <a:solidFill>
              <a:schemeClr val="bg2"/>
            </a:solidFill>
            <a:prstDash val="solid"/>
          </a:ln>
        </p:spPr>
      </p:sp>
      <p:sp>
        <p:nvSpPr>
          <p:cNvPr id="24" name="phase"/>
          <p:cNvSpPr/>
          <p:nvPr/>
        </p:nvSpPr>
        <p:spPr>
          <a:xfrm>
            <a:off x="4480560" y="3127248"/>
            <a:ext cx="502920" cy="502920"/>
          </a:xfrm>
          <a:prstGeom prst="ellipse">
            <a:avLst/>
          </a:prstGeom>
          <a:solidFill>
            <a:schemeClr val="accent2"/>
          </a:solidFill>
          <a:ln w="12700">
            <a:solidFill>
              <a:schemeClr val="accent2"/>
            </a:solidFill>
            <a:prstDash val="solid"/>
          </a:ln>
        </p:spPr>
      </p:sp>
      <p:sp>
        <p:nvSpPr>
          <p:cNvPr id="25" name="Text 23"/>
          <p:cNvSpPr txBox="1"/>
          <p:nvPr/>
        </p:nvSpPr>
        <p:spPr>
          <a:xfrm>
            <a:off x="4480560" y="312724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6" name="Text 24"/>
          <p:cNvSpPr txBox="1"/>
          <p:nvPr/>
        </p:nvSpPr>
        <p:spPr>
          <a:xfrm>
            <a:off x="5120640" y="3127248"/>
            <a:ext cx="2560320" cy="502920"/>
          </a:xfrm>
          <a:prstGeom prst="rect">
            <a:avLst/>
          </a:prstGeom>
          <a:noFill/>
          <a:ln/>
        </p:spPr>
        <p:txBody>
          <a:bodyPr wrap="square" lIns="0" tIns="0" rIns="0" bIns="0" rtlCol="0" anchor="ctr"/>
          <a:lstStyle/>
          <a:p>
            <a:pPr indent="0" marL="0">
              <a:buNone/>
            </a:pPr>
            <a:r>
              <a:rPr lang="en-US" sz="1300" b="1" dirty="0">
                <a:solidFill>
                  <a:schemeClr val="tx1"/>
                </a:solidFill>
              </a:rPr>
              <a:t>Jan–Apr 2025</a:t>
            </a:r>
            <a:endParaRPr lang="en-US" sz="1300" dirty="0"/>
          </a:p>
        </p:txBody>
      </p:sp>
      <p:sp>
        <p:nvSpPr>
          <p:cNvPr id="27" name="Text 25"/>
          <p:cNvSpPr txBox="1"/>
          <p:nvPr/>
        </p:nvSpPr>
        <p:spPr>
          <a:xfrm>
            <a:off x="4480560" y="3721608"/>
            <a:ext cx="3200400" cy="640080"/>
          </a:xfrm>
          <a:prstGeom prst="rect">
            <a:avLst/>
          </a:prstGeom>
          <a:noFill/>
          <a:ln/>
        </p:spPr>
        <p:txBody>
          <a:bodyPr wrap="square" lIns="0" tIns="0" rIns="0" bIns="0" rtlCol="0" anchor="t"/>
          <a:lstStyle/>
          <a:p>
            <a:pPr indent="0" marL="0">
              <a:buNone/>
            </a:pPr>
            <a:r>
              <a:rPr lang="en-US" sz="1050" dirty="0">
                <a:solidFill>
                  <a:schemeClr val="tx2"/>
                </a:solidFill>
              </a:rPr>
              <a:t>Network administrator (8 weeks) · Data security · Cryptography</a:t>
            </a:r>
            <a:endParaRPr lang="en-US" sz="1050" dirty="0"/>
          </a:p>
        </p:txBody>
      </p:sp>
      <p:sp>
        <p:nvSpPr>
          <p:cNvPr id="28" name="card"/>
          <p:cNvSpPr/>
          <p:nvPr/>
        </p:nvSpPr>
        <p:spPr>
          <a:xfrm>
            <a:off x="8046720" y="2944368"/>
            <a:ext cx="3566160" cy="1463040"/>
          </a:xfrm>
          <a:prstGeom prst="roundRect">
            <a:avLst>
              <a:gd name="adj" fmla="val 7500"/>
            </a:avLst>
          </a:prstGeom>
          <a:solidFill>
            <a:schemeClr val="bg2"/>
          </a:solidFill>
          <a:ln w="12700">
            <a:solidFill>
              <a:schemeClr val="bg2"/>
            </a:solidFill>
            <a:prstDash val="solid"/>
          </a:ln>
        </p:spPr>
      </p:sp>
      <p:sp>
        <p:nvSpPr>
          <p:cNvPr id="29" name="phase"/>
          <p:cNvSpPr/>
          <p:nvPr/>
        </p:nvSpPr>
        <p:spPr>
          <a:xfrm>
            <a:off x="8229600" y="3127248"/>
            <a:ext cx="502920" cy="502920"/>
          </a:xfrm>
          <a:prstGeom prst="ellipse">
            <a:avLst/>
          </a:prstGeom>
          <a:solidFill>
            <a:schemeClr val="accent2"/>
          </a:solidFill>
          <a:ln w="12700">
            <a:solidFill>
              <a:schemeClr val="accent2"/>
            </a:solidFill>
            <a:prstDash val="solid"/>
          </a:ln>
        </p:spPr>
      </p:sp>
      <p:sp>
        <p:nvSpPr>
          <p:cNvPr id="30" name="Text 28"/>
          <p:cNvSpPr txBox="1"/>
          <p:nvPr/>
        </p:nvSpPr>
        <p:spPr>
          <a:xfrm>
            <a:off x="8229600" y="312724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31" name="Text 29"/>
          <p:cNvSpPr txBox="1"/>
          <p:nvPr/>
        </p:nvSpPr>
        <p:spPr>
          <a:xfrm>
            <a:off x="8869680" y="3127248"/>
            <a:ext cx="2560320" cy="502920"/>
          </a:xfrm>
          <a:prstGeom prst="rect">
            <a:avLst/>
          </a:prstGeom>
          <a:noFill/>
          <a:ln/>
        </p:spPr>
        <p:txBody>
          <a:bodyPr wrap="square" lIns="0" tIns="0" rIns="0" bIns="0" rtlCol="0" anchor="ctr"/>
          <a:lstStyle/>
          <a:p>
            <a:pPr indent="0" marL="0">
              <a:buNone/>
            </a:pPr>
            <a:r>
              <a:rPr lang="en-US" sz="1300" b="1" dirty="0">
                <a:solidFill>
                  <a:schemeClr val="tx1"/>
                </a:solidFill>
              </a:rPr>
              <a:t>May–Aug 2025</a:t>
            </a:r>
            <a:endParaRPr lang="en-US" sz="1300" dirty="0"/>
          </a:p>
        </p:txBody>
      </p:sp>
      <p:sp>
        <p:nvSpPr>
          <p:cNvPr id="32" name="Text 30"/>
          <p:cNvSpPr txBox="1"/>
          <p:nvPr/>
        </p:nvSpPr>
        <p:spPr>
          <a:xfrm>
            <a:off x="8229600" y="3721608"/>
            <a:ext cx="3200400" cy="640080"/>
          </a:xfrm>
          <a:prstGeom prst="rect">
            <a:avLst/>
          </a:prstGeom>
          <a:noFill/>
          <a:ln/>
        </p:spPr>
        <p:txBody>
          <a:bodyPr wrap="square" lIns="0" tIns="0" rIns="0" bIns="0" rtlCol="0" anchor="t"/>
          <a:lstStyle/>
          <a:p>
            <a:pPr indent="0" marL="0">
              <a:buNone/>
            </a:pPr>
            <a:r>
              <a:rPr lang="en-US" sz="1050" dirty="0">
                <a:solidFill>
                  <a:schemeClr val="tx2"/>
                </a:solidFill>
              </a:rPr>
              <a:t>Vulnerability assessment and penetration testing (12 weeks) · Cyber security audit</a:t>
            </a:r>
            <a:endParaRPr lang="en-US" sz="1050" dirty="0"/>
          </a:p>
        </p:txBody>
      </p:sp>
      <p:sp>
        <p:nvSpPr>
          <p:cNvPr id="33" name="card"/>
          <p:cNvSpPr/>
          <p:nvPr/>
        </p:nvSpPr>
        <p:spPr>
          <a:xfrm>
            <a:off x="548640" y="4517136"/>
            <a:ext cx="3566160" cy="1463040"/>
          </a:xfrm>
          <a:prstGeom prst="roundRect">
            <a:avLst>
              <a:gd name="adj" fmla="val 7500"/>
            </a:avLst>
          </a:prstGeom>
          <a:solidFill>
            <a:schemeClr val="bg2"/>
          </a:solidFill>
          <a:ln w="12700">
            <a:solidFill>
              <a:schemeClr val="bg2"/>
            </a:solidFill>
            <a:prstDash val="solid"/>
          </a:ln>
        </p:spPr>
      </p:sp>
      <p:sp>
        <p:nvSpPr>
          <p:cNvPr id="34" name="phase"/>
          <p:cNvSpPr/>
          <p:nvPr/>
        </p:nvSpPr>
        <p:spPr>
          <a:xfrm>
            <a:off x="731520" y="4700016"/>
            <a:ext cx="502920" cy="502920"/>
          </a:xfrm>
          <a:prstGeom prst="ellipse">
            <a:avLst/>
          </a:prstGeom>
          <a:solidFill>
            <a:schemeClr val="accent1"/>
          </a:solidFill>
          <a:ln w="12700">
            <a:solidFill>
              <a:schemeClr val="accent1"/>
            </a:solidFill>
            <a:prstDash val="solid"/>
          </a:ln>
        </p:spPr>
      </p:sp>
      <p:sp>
        <p:nvSpPr>
          <p:cNvPr id="35" name="Text 33"/>
          <p:cNvSpPr txBox="1"/>
          <p:nvPr/>
        </p:nvSpPr>
        <p:spPr>
          <a:xfrm>
            <a:off x="731520" y="4700016"/>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sp>
        <p:nvSpPr>
          <p:cNvPr id="36" name="Text 34"/>
          <p:cNvSpPr txBox="1"/>
          <p:nvPr/>
        </p:nvSpPr>
        <p:spPr>
          <a:xfrm>
            <a:off x="1371600" y="4700016"/>
            <a:ext cx="2560320" cy="502920"/>
          </a:xfrm>
          <a:prstGeom prst="rect">
            <a:avLst/>
          </a:prstGeom>
          <a:noFill/>
          <a:ln/>
        </p:spPr>
        <p:txBody>
          <a:bodyPr wrap="square" lIns="0" tIns="0" rIns="0" bIns="0" rtlCol="0" anchor="ctr"/>
          <a:lstStyle/>
          <a:p>
            <a:pPr indent="0" marL="0">
              <a:buNone/>
            </a:pPr>
            <a:r>
              <a:rPr lang="en-US" sz="1300" b="1" dirty="0">
                <a:solidFill>
                  <a:schemeClr val="tx1"/>
                </a:solidFill>
              </a:rPr>
              <a:t>Sep–Dec 2025</a:t>
            </a:r>
            <a:endParaRPr lang="en-US" sz="1300" dirty="0"/>
          </a:p>
        </p:txBody>
      </p:sp>
      <p:sp>
        <p:nvSpPr>
          <p:cNvPr id="37" name="Text 35"/>
          <p:cNvSpPr txBox="1"/>
          <p:nvPr/>
        </p:nvSpPr>
        <p:spPr>
          <a:xfrm>
            <a:off x="731520" y="5294376"/>
            <a:ext cx="3200400" cy="640080"/>
          </a:xfrm>
          <a:prstGeom prst="rect">
            <a:avLst/>
          </a:prstGeom>
          <a:noFill/>
          <a:ln/>
        </p:spPr>
        <p:txBody>
          <a:bodyPr wrap="square" lIns="0" tIns="0" rIns="0" bIns="0" rtlCol="0" anchor="t"/>
          <a:lstStyle/>
          <a:p>
            <a:pPr indent="0" marL="0">
              <a:buNone/>
            </a:pPr>
            <a:r>
              <a:rPr lang="en-US" sz="1050" dirty="0">
                <a:solidFill>
                  <a:schemeClr val="tx2"/>
                </a:solidFill>
              </a:rPr>
              <a:t>Foundation: operating systems, network security, programming, data security and cryptography, red/blue team concepts</a:t>
            </a:r>
            <a:endParaRPr lang="en-US" sz="1050" dirty="0"/>
          </a:p>
        </p:txBody>
      </p:sp>
      <p:sp>
        <p:nvSpPr>
          <p:cNvPr id="38" name="card"/>
          <p:cNvSpPr/>
          <p:nvPr/>
        </p:nvSpPr>
        <p:spPr>
          <a:xfrm>
            <a:off x="4297680" y="4517136"/>
            <a:ext cx="3566160" cy="1463040"/>
          </a:xfrm>
          <a:prstGeom prst="roundRect">
            <a:avLst>
              <a:gd name="adj" fmla="val 7500"/>
            </a:avLst>
          </a:prstGeom>
          <a:solidFill>
            <a:schemeClr val="bg2"/>
          </a:solidFill>
          <a:ln w="12700">
            <a:solidFill>
              <a:schemeClr val="bg2"/>
            </a:solidFill>
            <a:prstDash val="solid"/>
          </a:ln>
        </p:spPr>
      </p:sp>
      <p:sp>
        <p:nvSpPr>
          <p:cNvPr id="39" name="phase"/>
          <p:cNvSpPr/>
          <p:nvPr/>
        </p:nvSpPr>
        <p:spPr>
          <a:xfrm>
            <a:off x="4480560" y="4700016"/>
            <a:ext cx="502920" cy="502920"/>
          </a:xfrm>
          <a:prstGeom prst="ellipse">
            <a:avLst/>
          </a:prstGeom>
          <a:solidFill>
            <a:schemeClr val="accent1"/>
          </a:solidFill>
          <a:ln w="12700">
            <a:solidFill>
              <a:schemeClr val="accent1"/>
            </a:solidFill>
            <a:prstDash val="solid"/>
          </a:ln>
        </p:spPr>
      </p:sp>
      <p:sp>
        <p:nvSpPr>
          <p:cNvPr id="40" name="Text 38"/>
          <p:cNvSpPr txBox="1"/>
          <p:nvPr/>
        </p:nvSpPr>
        <p:spPr>
          <a:xfrm>
            <a:off x="4480560" y="4700016"/>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8</a:t>
            </a:r>
            <a:endParaRPr lang="en-US" sz="1600" dirty="0"/>
          </a:p>
        </p:txBody>
      </p:sp>
      <p:sp>
        <p:nvSpPr>
          <p:cNvPr id="41" name="Text 39"/>
          <p:cNvSpPr txBox="1"/>
          <p:nvPr/>
        </p:nvSpPr>
        <p:spPr>
          <a:xfrm>
            <a:off x="5120640" y="4700016"/>
            <a:ext cx="2560320" cy="502920"/>
          </a:xfrm>
          <a:prstGeom prst="rect">
            <a:avLst/>
          </a:prstGeom>
          <a:noFill/>
          <a:ln/>
        </p:spPr>
        <p:txBody>
          <a:bodyPr wrap="square" lIns="0" tIns="0" rIns="0" bIns="0" rtlCol="0" anchor="ctr"/>
          <a:lstStyle/>
          <a:p>
            <a:pPr indent="0" marL="0">
              <a:buNone/>
            </a:pPr>
            <a:r>
              <a:rPr lang="en-US" sz="1300" b="1" dirty="0">
                <a:solidFill>
                  <a:schemeClr val="tx1"/>
                </a:solidFill>
              </a:rPr>
              <a:t>Dec 2025–Mar 2026</a:t>
            </a:r>
            <a:endParaRPr lang="en-US" sz="1300" dirty="0"/>
          </a:p>
        </p:txBody>
      </p:sp>
      <p:sp>
        <p:nvSpPr>
          <p:cNvPr id="42" name="Text 40"/>
          <p:cNvSpPr txBox="1"/>
          <p:nvPr/>
        </p:nvSpPr>
        <p:spPr>
          <a:xfrm>
            <a:off x="4480560" y="5294376"/>
            <a:ext cx="3200400" cy="640080"/>
          </a:xfrm>
          <a:prstGeom prst="rect">
            <a:avLst/>
          </a:prstGeom>
          <a:noFill/>
          <a:ln/>
        </p:spPr>
        <p:txBody>
          <a:bodyPr wrap="square" lIns="0" tIns="0" rIns="0" bIns="0" rtlCol="0" anchor="t"/>
          <a:lstStyle/>
          <a:p>
            <a:pPr indent="0" marL="0">
              <a:buNone/>
            </a:pPr>
            <a:r>
              <a:rPr lang="en-US" sz="1050" dirty="0">
                <a:solidFill>
                  <a:schemeClr val="tx2"/>
                </a:solidFill>
              </a:rPr>
              <a:t>Defensive (Blue Team): SOC analyst, malware analysis, digital forensics, cyber security audit</a:t>
            </a:r>
            <a:endParaRPr lang="en-US" sz="1050" dirty="0"/>
          </a:p>
        </p:txBody>
      </p:sp>
      <p:sp>
        <p:nvSpPr>
          <p:cNvPr id="43" name="card"/>
          <p:cNvSpPr/>
          <p:nvPr/>
        </p:nvSpPr>
        <p:spPr>
          <a:xfrm>
            <a:off x="8046720" y="4517136"/>
            <a:ext cx="3566160" cy="1463040"/>
          </a:xfrm>
          <a:prstGeom prst="roundRect">
            <a:avLst>
              <a:gd name="adj" fmla="val 7500"/>
            </a:avLst>
          </a:prstGeom>
          <a:solidFill>
            <a:schemeClr val="bg2"/>
          </a:solidFill>
          <a:ln w="12700">
            <a:solidFill>
              <a:schemeClr val="bg2"/>
            </a:solidFill>
            <a:prstDash val="solid"/>
          </a:ln>
        </p:spPr>
      </p:sp>
      <p:sp>
        <p:nvSpPr>
          <p:cNvPr id="44" name="phase"/>
          <p:cNvSpPr/>
          <p:nvPr/>
        </p:nvSpPr>
        <p:spPr>
          <a:xfrm>
            <a:off x="8229600" y="4700016"/>
            <a:ext cx="502920" cy="502920"/>
          </a:xfrm>
          <a:prstGeom prst="ellipse">
            <a:avLst/>
          </a:prstGeom>
          <a:solidFill>
            <a:schemeClr val="accent1"/>
          </a:solidFill>
          <a:ln w="12700">
            <a:solidFill>
              <a:schemeClr val="accent1"/>
            </a:solidFill>
            <a:prstDash val="solid"/>
          </a:ln>
        </p:spPr>
      </p:sp>
      <p:sp>
        <p:nvSpPr>
          <p:cNvPr id="45" name="Text 43"/>
          <p:cNvSpPr txBox="1"/>
          <p:nvPr/>
        </p:nvSpPr>
        <p:spPr>
          <a:xfrm>
            <a:off x="8229600" y="4700016"/>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9</a:t>
            </a:r>
            <a:endParaRPr lang="en-US" sz="1600" dirty="0"/>
          </a:p>
        </p:txBody>
      </p:sp>
      <p:sp>
        <p:nvSpPr>
          <p:cNvPr id="46" name="Text 44"/>
          <p:cNvSpPr txBox="1"/>
          <p:nvPr/>
        </p:nvSpPr>
        <p:spPr>
          <a:xfrm>
            <a:off x="8869680" y="4700016"/>
            <a:ext cx="2560320" cy="502920"/>
          </a:xfrm>
          <a:prstGeom prst="rect">
            <a:avLst/>
          </a:prstGeom>
          <a:noFill/>
          <a:ln/>
        </p:spPr>
        <p:txBody>
          <a:bodyPr wrap="square" lIns="0" tIns="0" rIns="0" bIns="0" rtlCol="0" anchor="ctr"/>
          <a:lstStyle/>
          <a:p>
            <a:pPr indent="0" marL="0">
              <a:buNone/>
            </a:pPr>
            <a:r>
              <a:rPr lang="en-US" sz="1300" b="1" dirty="0">
                <a:solidFill>
                  <a:schemeClr val="tx1"/>
                </a:solidFill>
              </a:rPr>
              <a:t>Mar–Jul 2026</a:t>
            </a:r>
            <a:endParaRPr lang="en-US" sz="1300" dirty="0"/>
          </a:p>
        </p:txBody>
      </p:sp>
      <p:sp>
        <p:nvSpPr>
          <p:cNvPr id="47" name="Text 45"/>
          <p:cNvSpPr txBox="1"/>
          <p:nvPr/>
        </p:nvSpPr>
        <p:spPr>
          <a:xfrm>
            <a:off x="8229600" y="5294376"/>
            <a:ext cx="3200400" cy="640080"/>
          </a:xfrm>
          <a:prstGeom prst="rect">
            <a:avLst/>
          </a:prstGeom>
          <a:noFill/>
          <a:ln/>
        </p:spPr>
        <p:txBody>
          <a:bodyPr wrap="square" lIns="0" tIns="0" rIns="0" bIns="0" rtlCol="0" anchor="t"/>
          <a:lstStyle/>
          <a:p>
            <a:pPr indent="0" marL="0">
              <a:buNone/>
            </a:pPr>
            <a:r>
              <a:rPr lang="en-US" sz="1050" dirty="0">
                <a:solidFill>
                  <a:schemeClr val="tx2"/>
                </a:solidFill>
              </a:rPr>
              <a:t>Advanced: VAPT (5 weeks), CERT operations (5 weeks), military cyber security operations (4 weeks)</a:t>
            </a:r>
            <a:endParaRPr lang="en-US" sz="1050" dirty="0"/>
          </a:p>
        </p:txBody>
      </p:sp>
      <p:sp>
        <p:nvSpPr>
          <p:cNvPr id="48" name="Text 46"/>
          <p:cNvSpPr txBox="1"/>
          <p:nvPr/>
        </p:nvSpPr>
        <p:spPr>
          <a:xfrm>
            <a:off x="548640" y="6126480"/>
            <a:ext cx="11064240" cy="274320"/>
          </a:xfrm>
          <a:prstGeom prst="rect">
            <a:avLst/>
          </a:prstGeom>
          <a:noFill/>
          <a:ln/>
        </p:spPr>
        <p:txBody>
          <a:bodyPr wrap="square" lIns="0" tIns="0" rIns="0" bIns="0" rtlCol="0" anchor="t"/>
          <a:lstStyle/>
          <a:p>
            <a:pPr indent="0" marL="0">
              <a:buNone/>
            </a:pPr>
            <a:r>
              <a:rPr lang="en-US" sz="1050" i="1" dirty="0">
                <a:solidFill>
                  <a:schemeClr val="tx2"/>
                </a:solidFill>
              </a:rPr>
              <a:t>Plan approved by the NDU Rector with the Indian training teams in 2024; phases 7–9 (orange) are the 2025–26 professional cycle. Course programmes exist in English and Mongolian.</a:t>
            </a:r>
            <a:endParaRPr lang="en-US" sz="105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474"/>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000" b="1" dirty="0">
                <a:solidFill>
                  <a:schemeClr val="tx1"/>
                </a:solidFill>
              </a:rPr>
              <a:t>Who we train: the whole military and law-enforcement sector</a:t>
            </a:r>
            <a:endParaRPr lang="en-US" sz="3000" dirty="0"/>
          </a:p>
        </p:txBody>
      </p:sp>
      <p:sp>
        <p:nvSpPr>
          <p:cNvPr id="3" name="icon circle"/>
          <p:cNvSpPr/>
          <p:nvPr/>
        </p:nvSpPr>
        <p:spPr>
          <a:xfrm>
            <a:off x="548640" y="1463040"/>
            <a:ext cx="566928" cy="566928"/>
          </a:xfrm>
          <a:prstGeom prst="ellipse">
            <a:avLst/>
          </a:prstGeom>
          <a:solidFill>
            <a:schemeClr val="accent2"/>
          </a:solidFill>
          <a:ln w="12700">
            <a:solidFill>
              <a:schemeClr val="accent2"/>
            </a:solidFill>
            <a:prstDash val="solid"/>
          </a:ln>
        </p:spPr>
      </p:sp>
      <p:pic>
        <p:nvPicPr>
          <p:cNvPr id="4" name="FaShieldAlt" descr="preencoded.png">    </p:cNvPr>
          <p:cNvPicPr>
            <a:picLocks noChangeAspect="1"/>
          </p:cNvPicPr>
          <p:nvPr/>
        </p:nvPicPr>
        <p:blipFill>
          <a:blip r:embed="rId1"/>
          <a:stretch>
            <a:fillRect/>
          </a:stretch>
        </p:blipFill>
        <p:spPr>
          <a:xfrm>
            <a:off x="696041" y="1610441"/>
            <a:ext cx="272125" cy="272125"/>
          </a:xfrm>
          <a:prstGeom prst="rect">
            <a:avLst/>
          </a:prstGeom>
        </p:spPr>
      </p:pic>
      <p:sp>
        <p:nvSpPr>
          <p:cNvPr id="5" name="Text 2"/>
          <p:cNvSpPr txBox="1"/>
          <p:nvPr/>
        </p:nvSpPr>
        <p:spPr>
          <a:xfrm>
            <a:off x="1280160" y="1371600"/>
            <a:ext cx="5120640" cy="822960"/>
          </a:xfrm>
          <a:prstGeom prst="rect">
            <a:avLst/>
          </a:prstGeom>
          <a:noFill/>
          <a:ln/>
        </p:spPr>
        <p:txBody>
          <a:bodyPr wrap="square" lIns="0" tIns="0" rIns="0" bIns="0" rtlCol="0" anchor="ctr"/>
          <a:lstStyle/>
          <a:p>
            <a:pPr indent="0" marL="0">
              <a:buNone/>
            </a:pPr>
            <a:r>
              <a:rPr lang="en-US" sz="1250" dirty="0">
                <a:solidFill>
                  <a:schemeClr val="tx1"/>
                </a:solidFill>
              </a:rPr>
              <a:t>Cyber Security Military Command of the Armed Forces – principal partner; its officers formed the first cohorts (2023)</a:t>
            </a:r>
            <a:endParaRPr lang="en-US" sz="1250" dirty="0"/>
          </a:p>
        </p:txBody>
      </p:sp>
      <p:sp>
        <p:nvSpPr>
          <p:cNvPr id="6" name="icon circle"/>
          <p:cNvSpPr/>
          <p:nvPr/>
        </p:nvSpPr>
        <p:spPr>
          <a:xfrm>
            <a:off x="548640" y="2423160"/>
            <a:ext cx="566928" cy="566928"/>
          </a:xfrm>
          <a:prstGeom prst="ellipse">
            <a:avLst/>
          </a:prstGeom>
          <a:solidFill>
            <a:schemeClr val="accent2"/>
          </a:solidFill>
          <a:ln w="12700">
            <a:solidFill>
              <a:schemeClr val="accent2"/>
            </a:solidFill>
            <a:prstDash val="solid"/>
          </a:ln>
        </p:spPr>
      </p:sp>
      <p:pic>
        <p:nvPicPr>
          <p:cNvPr id="7" name="FaUsers" descr="preencoded.png">    </p:cNvPr>
          <p:cNvPicPr>
            <a:picLocks noChangeAspect="1"/>
          </p:cNvPicPr>
          <p:nvPr/>
        </p:nvPicPr>
        <p:blipFill>
          <a:blip r:embed="rId2"/>
          <a:stretch>
            <a:fillRect/>
          </a:stretch>
        </p:blipFill>
        <p:spPr>
          <a:xfrm>
            <a:off x="696041" y="2570561"/>
            <a:ext cx="272125" cy="272125"/>
          </a:xfrm>
          <a:prstGeom prst="rect">
            <a:avLst/>
          </a:prstGeom>
        </p:spPr>
      </p:pic>
      <p:sp>
        <p:nvSpPr>
          <p:cNvPr id="8" name="Text 4"/>
          <p:cNvSpPr txBox="1"/>
          <p:nvPr/>
        </p:nvSpPr>
        <p:spPr>
          <a:xfrm>
            <a:off x="1280160" y="2331720"/>
            <a:ext cx="5120640" cy="822960"/>
          </a:xfrm>
          <a:prstGeom prst="rect">
            <a:avLst/>
          </a:prstGeom>
          <a:noFill/>
          <a:ln/>
        </p:spPr>
        <p:txBody>
          <a:bodyPr wrap="square" lIns="0" tIns="0" rIns="0" bIns="0" rtlCol="0" anchor="ctr"/>
          <a:lstStyle/>
          <a:p>
            <a:pPr indent="0" marL="0">
              <a:buNone/>
            </a:pPr>
            <a:r>
              <a:rPr lang="en-US" sz="1250" dirty="0">
                <a:solidFill>
                  <a:schemeClr val="tx1"/>
                </a:solidFill>
              </a:rPr>
              <a:t>Armed Forces units and the General Staff – e.g. awareness training for units 016 and 011 (2025–2026)</a:t>
            </a:r>
            <a:endParaRPr lang="en-US" sz="1250" dirty="0"/>
          </a:p>
        </p:txBody>
      </p:sp>
      <p:sp>
        <p:nvSpPr>
          <p:cNvPr id="9" name="icon circle"/>
          <p:cNvSpPr/>
          <p:nvPr/>
        </p:nvSpPr>
        <p:spPr>
          <a:xfrm>
            <a:off x="548640" y="3383280"/>
            <a:ext cx="566928" cy="566928"/>
          </a:xfrm>
          <a:prstGeom prst="ellipse">
            <a:avLst/>
          </a:prstGeom>
          <a:solidFill>
            <a:schemeClr val="accent2"/>
          </a:solidFill>
          <a:ln w="12700">
            <a:solidFill>
              <a:schemeClr val="accent2"/>
            </a:solidFill>
            <a:prstDash val="solid"/>
          </a:ln>
        </p:spPr>
      </p:sp>
      <p:pic>
        <p:nvPicPr>
          <p:cNvPr id="10" name="FaUniversity" descr="preencoded.png">    </p:cNvPr>
          <p:cNvPicPr>
            <a:picLocks noChangeAspect="1"/>
          </p:cNvPicPr>
          <p:nvPr/>
        </p:nvPicPr>
        <p:blipFill>
          <a:blip r:embed="rId3"/>
          <a:stretch>
            <a:fillRect/>
          </a:stretch>
        </p:blipFill>
        <p:spPr>
          <a:xfrm>
            <a:off x="696041" y="3530681"/>
            <a:ext cx="272125" cy="272125"/>
          </a:xfrm>
          <a:prstGeom prst="rect">
            <a:avLst/>
          </a:prstGeom>
        </p:spPr>
      </p:pic>
      <p:sp>
        <p:nvSpPr>
          <p:cNvPr id="11" name="Text 6"/>
          <p:cNvSpPr txBox="1"/>
          <p:nvPr/>
        </p:nvSpPr>
        <p:spPr>
          <a:xfrm>
            <a:off x="1280160" y="3291840"/>
            <a:ext cx="5120640" cy="822960"/>
          </a:xfrm>
          <a:prstGeom prst="rect">
            <a:avLst/>
          </a:prstGeom>
          <a:noFill/>
          <a:ln/>
        </p:spPr>
        <p:txBody>
          <a:bodyPr wrap="square" lIns="0" tIns="0" rIns="0" bIns="0" rtlCol="0" anchor="ctr"/>
          <a:lstStyle/>
          <a:p>
            <a:pPr indent="0" marL="0">
              <a:buNone/>
            </a:pPr>
            <a:r>
              <a:rPr lang="en-US" sz="1250" dirty="0">
                <a:solidFill>
                  <a:schemeClr val="tx1"/>
                </a:solidFill>
              </a:rPr>
              <a:t>NDU faculty, cadets and students – instructor programme (2023) and 156–162 credits of bachelor teaching a year</a:t>
            </a:r>
            <a:endParaRPr lang="en-US" sz="1250" dirty="0"/>
          </a:p>
        </p:txBody>
      </p:sp>
      <p:sp>
        <p:nvSpPr>
          <p:cNvPr id="12" name="icon circle"/>
          <p:cNvSpPr/>
          <p:nvPr/>
        </p:nvSpPr>
        <p:spPr>
          <a:xfrm>
            <a:off x="548640" y="4343400"/>
            <a:ext cx="566928" cy="566928"/>
          </a:xfrm>
          <a:prstGeom prst="ellipse">
            <a:avLst/>
          </a:prstGeom>
          <a:solidFill>
            <a:schemeClr val="accent2"/>
          </a:solidFill>
          <a:ln w="12700">
            <a:solidFill>
              <a:schemeClr val="accent2"/>
            </a:solidFill>
            <a:prstDash val="solid"/>
          </a:ln>
        </p:spPr>
      </p:sp>
      <p:pic>
        <p:nvPicPr>
          <p:cNvPr id="13" name="FaGavel" descr="preencoded.png">    </p:cNvPr>
          <p:cNvPicPr>
            <a:picLocks noChangeAspect="1"/>
          </p:cNvPicPr>
          <p:nvPr/>
        </p:nvPicPr>
        <p:blipFill>
          <a:blip r:embed="rId4"/>
          <a:stretch>
            <a:fillRect/>
          </a:stretch>
        </p:blipFill>
        <p:spPr>
          <a:xfrm>
            <a:off x="696041" y="4490801"/>
            <a:ext cx="272125" cy="272125"/>
          </a:xfrm>
          <a:prstGeom prst="rect">
            <a:avLst/>
          </a:prstGeom>
        </p:spPr>
      </p:pic>
      <p:sp>
        <p:nvSpPr>
          <p:cNvPr id="14" name="Text 8"/>
          <p:cNvSpPr txBox="1"/>
          <p:nvPr/>
        </p:nvSpPr>
        <p:spPr>
          <a:xfrm>
            <a:off x="1280160" y="4251960"/>
            <a:ext cx="5120640" cy="822960"/>
          </a:xfrm>
          <a:prstGeom prst="rect">
            <a:avLst/>
          </a:prstGeom>
          <a:noFill/>
          <a:ln/>
        </p:spPr>
        <p:txBody>
          <a:bodyPr wrap="square" lIns="0" tIns="0" rIns="0" bIns="0" rtlCol="0" anchor="ctr"/>
          <a:lstStyle/>
          <a:p>
            <a:pPr indent="0" marL="0">
              <a:buNone/>
            </a:pPr>
            <a:r>
              <a:rPr lang="en-US" sz="1250" dirty="0">
                <a:solidFill>
                  <a:schemeClr val="tx1"/>
                </a:solidFill>
              </a:rPr>
              <a:t>Law-enforcement and security agencies – General Intelligence Agency, State Special Protection, Capital Emergency Department</a:t>
            </a:r>
            <a:endParaRPr lang="en-US" sz="1250" dirty="0"/>
          </a:p>
        </p:txBody>
      </p:sp>
      <p:sp>
        <p:nvSpPr>
          <p:cNvPr id="15" name="icon circle"/>
          <p:cNvSpPr/>
          <p:nvPr/>
        </p:nvSpPr>
        <p:spPr>
          <a:xfrm>
            <a:off x="548640" y="5303520"/>
            <a:ext cx="566928" cy="566928"/>
          </a:xfrm>
          <a:prstGeom prst="ellipse">
            <a:avLst/>
          </a:prstGeom>
          <a:solidFill>
            <a:schemeClr val="accent2"/>
          </a:solidFill>
          <a:ln w="12700">
            <a:solidFill>
              <a:schemeClr val="accent2"/>
            </a:solidFill>
            <a:prstDash val="solid"/>
          </a:ln>
        </p:spPr>
      </p:sp>
      <p:pic>
        <p:nvPicPr>
          <p:cNvPr id="16" name="FaBuilding" descr="preencoded.png">    </p:cNvPr>
          <p:cNvPicPr>
            <a:picLocks noChangeAspect="1"/>
          </p:cNvPicPr>
          <p:nvPr/>
        </p:nvPicPr>
        <p:blipFill>
          <a:blip r:embed="rId5"/>
          <a:stretch>
            <a:fillRect/>
          </a:stretch>
        </p:blipFill>
        <p:spPr>
          <a:xfrm>
            <a:off x="696041" y="5450921"/>
            <a:ext cx="272125" cy="272125"/>
          </a:xfrm>
          <a:prstGeom prst="rect">
            <a:avLst/>
          </a:prstGeom>
        </p:spPr>
      </p:pic>
      <p:sp>
        <p:nvSpPr>
          <p:cNvPr id="17" name="Text 10"/>
          <p:cNvSpPr txBox="1"/>
          <p:nvPr/>
        </p:nvSpPr>
        <p:spPr>
          <a:xfrm>
            <a:off x="1280160" y="5212080"/>
            <a:ext cx="5120640" cy="822960"/>
          </a:xfrm>
          <a:prstGeom prst="rect">
            <a:avLst/>
          </a:prstGeom>
          <a:noFill/>
          <a:ln/>
        </p:spPr>
        <p:txBody>
          <a:bodyPr wrap="square" lIns="0" tIns="0" rIns="0" bIns="0" rtlCol="0" anchor="ctr"/>
          <a:lstStyle/>
          <a:p>
            <a:pPr indent="0" marL="0">
              <a:buNone/>
            </a:pPr>
            <a:r>
              <a:rPr lang="en-US" sz="1250" dirty="0">
                <a:solidFill>
                  <a:schemeClr val="tx1"/>
                </a:solidFill>
              </a:rPr>
              <a:t>National programmes – executor of the National Security Council's cyber capacity programme (2025)</a:t>
            </a:r>
            <a:endParaRPr lang="en-US" sz="1250" dirty="0"/>
          </a:p>
        </p:txBody>
      </p:sp>
      <p:sp>
        <p:nvSpPr>
          <p:cNvPr id="18" name="card"/>
          <p:cNvSpPr/>
          <p:nvPr/>
        </p:nvSpPr>
        <p:spPr>
          <a:xfrm>
            <a:off x="6766560" y="1371600"/>
            <a:ext cx="2377440" cy="1463040"/>
          </a:xfrm>
          <a:prstGeom prst="roundRect">
            <a:avLst>
              <a:gd name="adj" fmla="val 7500"/>
            </a:avLst>
          </a:prstGeom>
          <a:solidFill>
            <a:schemeClr val="bg2"/>
          </a:solidFill>
          <a:ln w="12700">
            <a:solidFill>
              <a:schemeClr val="bg2"/>
            </a:solidFill>
            <a:prstDash val="solid"/>
          </a:ln>
        </p:spPr>
      </p:sp>
      <p:sp>
        <p:nvSpPr>
          <p:cNvPr id="19" name="Text 12"/>
          <p:cNvSpPr txBox="1"/>
          <p:nvPr/>
        </p:nvSpPr>
        <p:spPr>
          <a:xfrm>
            <a:off x="6949440" y="1463040"/>
            <a:ext cx="2011680" cy="731520"/>
          </a:xfrm>
          <a:prstGeom prst="rect">
            <a:avLst/>
          </a:prstGeom>
          <a:noFill/>
          <a:ln/>
        </p:spPr>
        <p:txBody>
          <a:bodyPr wrap="square" lIns="0" tIns="0" rIns="0" bIns="0" rtlCol="0" anchor="ctr"/>
          <a:lstStyle/>
          <a:p>
            <a:pPr indent="0" marL="0">
              <a:buNone/>
            </a:pPr>
            <a:r>
              <a:rPr lang="en-US" sz="3000" b="1" dirty="0">
                <a:solidFill>
                  <a:schemeClr val="accent3"/>
                </a:solidFill>
                <a:latin typeface="Cambria" pitchFamily="34" charset="0"/>
                <a:ea typeface="Cambria" pitchFamily="34" charset="-122"/>
                <a:cs typeface="Cambria" pitchFamily="34" charset="-120"/>
              </a:rPr>
              <a:t>8</a:t>
            </a:r>
            <a:endParaRPr lang="en-US" sz="3000" dirty="0"/>
          </a:p>
        </p:txBody>
      </p:sp>
      <p:sp>
        <p:nvSpPr>
          <p:cNvPr id="20" name="Text 13"/>
          <p:cNvSpPr txBox="1"/>
          <p:nvPr/>
        </p:nvSpPr>
        <p:spPr>
          <a:xfrm>
            <a:off x="6949440" y="2220163"/>
            <a:ext cx="2011680" cy="585216"/>
          </a:xfrm>
          <a:prstGeom prst="rect">
            <a:avLst/>
          </a:prstGeom>
          <a:noFill/>
          <a:ln/>
        </p:spPr>
        <p:txBody>
          <a:bodyPr wrap="square" lIns="0" tIns="0" rIns="0" bIns="0" rtlCol="0" anchor="t"/>
          <a:lstStyle/>
          <a:p>
            <a:pPr indent="0" marL="0">
              <a:buNone/>
            </a:pPr>
            <a:r>
              <a:rPr lang="en-US" sz="1000" dirty="0">
                <a:solidFill>
                  <a:schemeClr val="tx2"/>
                </a:solidFill>
              </a:rPr>
              <a:t>training contracts with agencies and individuals for paid specialised courses (2025–2026)</a:t>
            </a:r>
            <a:endParaRPr lang="en-US" sz="1000" dirty="0"/>
          </a:p>
        </p:txBody>
      </p:sp>
      <p:sp>
        <p:nvSpPr>
          <p:cNvPr id="21" name="card"/>
          <p:cNvSpPr/>
          <p:nvPr/>
        </p:nvSpPr>
        <p:spPr>
          <a:xfrm>
            <a:off x="9235440" y="1371600"/>
            <a:ext cx="2377440" cy="1463040"/>
          </a:xfrm>
          <a:prstGeom prst="roundRect">
            <a:avLst>
              <a:gd name="adj" fmla="val 7500"/>
            </a:avLst>
          </a:prstGeom>
          <a:solidFill>
            <a:schemeClr val="bg2"/>
          </a:solidFill>
          <a:ln w="12700">
            <a:solidFill>
              <a:schemeClr val="bg2"/>
            </a:solidFill>
            <a:prstDash val="solid"/>
          </a:ln>
        </p:spPr>
      </p:sp>
      <p:sp>
        <p:nvSpPr>
          <p:cNvPr id="22" name="Text 15"/>
          <p:cNvSpPr txBox="1"/>
          <p:nvPr/>
        </p:nvSpPr>
        <p:spPr>
          <a:xfrm>
            <a:off x="9418320" y="1463040"/>
            <a:ext cx="2011680" cy="731520"/>
          </a:xfrm>
          <a:prstGeom prst="rect">
            <a:avLst/>
          </a:prstGeom>
          <a:noFill/>
          <a:ln/>
        </p:spPr>
        <p:txBody>
          <a:bodyPr wrap="square" lIns="0" tIns="0" rIns="0" bIns="0" rtlCol="0" anchor="ctr"/>
          <a:lstStyle/>
          <a:p>
            <a:pPr indent="0" marL="0">
              <a:buNone/>
            </a:pPr>
            <a:r>
              <a:rPr lang="en-US" sz="3000" b="1" dirty="0">
                <a:solidFill>
                  <a:schemeClr val="accent3"/>
                </a:solidFill>
                <a:latin typeface="Cambria" pitchFamily="34" charset="0"/>
                <a:ea typeface="Cambria" pitchFamily="34" charset="-122"/>
                <a:cs typeface="Cambria" pitchFamily="34" charset="-120"/>
              </a:rPr>
              <a:t>22</a:t>
            </a:r>
            <a:endParaRPr lang="en-US" sz="3000" dirty="0"/>
          </a:p>
        </p:txBody>
      </p:sp>
      <p:sp>
        <p:nvSpPr>
          <p:cNvPr id="23" name="Text 16"/>
          <p:cNvSpPr txBox="1"/>
          <p:nvPr/>
        </p:nvSpPr>
        <p:spPr>
          <a:xfrm>
            <a:off x="9418320" y="2220163"/>
            <a:ext cx="2011680" cy="585216"/>
          </a:xfrm>
          <a:prstGeom prst="rect">
            <a:avLst/>
          </a:prstGeom>
          <a:noFill/>
          <a:ln/>
        </p:spPr>
        <p:txBody>
          <a:bodyPr wrap="square" lIns="0" tIns="0" rIns="0" bIns="0" rtlCol="0" anchor="t"/>
          <a:lstStyle/>
          <a:p>
            <a:pPr indent="0" marL="0">
              <a:buNone/>
            </a:pPr>
            <a:r>
              <a:rPr lang="en-US" sz="1000" dirty="0">
                <a:solidFill>
                  <a:schemeClr val="tx2"/>
                </a:solidFill>
              </a:rPr>
              <a:t>high-school pupils certified in the 2025 career-outreach programme</a:t>
            </a:r>
            <a:endParaRPr lang="en-US" sz="1000" dirty="0"/>
          </a:p>
        </p:txBody>
      </p:sp>
      <p:sp>
        <p:nvSpPr>
          <p:cNvPr id="24" name="card"/>
          <p:cNvSpPr/>
          <p:nvPr/>
        </p:nvSpPr>
        <p:spPr>
          <a:xfrm>
            <a:off x="6766560" y="2971800"/>
            <a:ext cx="2377440" cy="1463040"/>
          </a:xfrm>
          <a:prstGeom prst="roundRect">
            <a:avLst>
              <a:gd name="adj" fmla="val 7500"/>
            </a:avLst>
          </a:prstGeom>
          <a:solidFill>
            <a:schemeClr val="bg2"/>
          </a:solidFill>
          <a:ln w="12700">
            <a:solidFill>
              <a:schemeClr val="bg2"/>
            </a:solidFill>
            <a:prstDash val="solid"/>
          </a:ln>
        </p:spPr>
      </p:sp>
      <p:sp>
        <p:nvSpPr>
          <p:cNvPr id="25" name="Text 18"/>
          <p:cNvSpPr txBox="1"/>
          <p:nvPr/>
        </p:nvSpPr>
        <p:spPr>
          <a:xfrm>
            <a:off x="6949440" y="3063240"/>
            <a:ext cx="2011680" cy="731520"/>
          </a:xfrm>
          <a:prstGeom prst="rect">
            <a:avLst/>
          </a:prstGeom>
          <a:noFill/>
          <a:ln/>
        </p:spPr>
        <p:txBody>
          <a:bodyPr wrap="square" lIns="0" tIns="0" rIns="0" bIns="0" rtlCol="0" anchor="ctr"/>
          <a:lstStyle/>
          <a:p>
            <a:pPr indent="0" marL="0">
              <a:buNone/>
            </a:pPr>
            <a:r>
              <a:rPr lang="en-US" sz="3000" b="1" dirty="0">
                <a:solidFill>
                  <a:schemeClr val="accent3"/>
                </a:solidFill>
                <a:latin typeface="Cambria" pitchFamily="34" charset="0"/>
                <a:ea typeface="Cambria" pitchFamily="34" charset="-122"/>
                <a:cs typeface="Cambria" pitchFamily="34" charset="-120"/>
              </a:rPr>
              <a:t>3</a:t>
            </a:r>
            <a:endParaRPr lang="en-US" sz="3000" dirty="0"/>
          </a:p>
        </p:txBody>
      </p:sp>
      <p:sp>
        <p:nvSpPr>
          <p:cNvPr id="26" name="Text 19"/>
          <p:cNvSpPr txBox="1"/>
          <p:nvPr/>
        </p:nvSpPr>
        <p:spPr>
          <a:xfrm>
            <a:off x="6949440" y="3820363"/>
            <a:ext cx="2011680" cy="585216"/>
          </a:xfrm>
          <a:prstGeom prst="rect">
            <a:avLst/>
          </a:prstGeom>
          <a:noFill/>
          <a:ln/>
        </p:spPr>
        <p:txBody>
          <a:bodyPr wrap="square" lIns="0" tIns="0" rIns="0" bIns="0" rtlCol="0" anchor="t"/>
          <a:lstStyle/>
          <a:p>
            <a:pPr indent="0" marL="0">
              <a:buNone/>
            </a:pPr>
            <a:r>
              <a:rPr lang="en-US" sz="1000" dirty="0">
                <a:solidFill>
                  <a:schemeClr val="tx2"/>
                </a:solidFill>
              </a:rPr>
              <a:t>bachelor programmes run by the Department: cyber security, network engineering, software engineering (military)</a:t>
            </a:r>
            <a:endParaRPr lang="en-US" sz="1000" dirty="0"/>
          </a:p>
        </p:txBody>
      </p:sp>
      <p:sp>
        <p:nvSpPr>
          <p:cNvPr id="27" name="card"/>
          <p:cNvSpPr/>
          <p:nvPr/>
        </p:nvSpPr>
        <p:spPr>
          <a:xfrm>
            <a:off x="9235440" y="2971800"/>
            <a:ext cx="2377440" cy="1463040"/>
          </a:xfrm>
          <a:prstGeom prst="roundRect">
            <a:avLst>
              <a:gd name="adj" fmla="val 7500"/>
            </a:avLst>
          </a:prstGeom>
          <a:solidFill>
            <a:schemeClr val="bg2"/>
          </a:solidFill>
          <a:ln w="12700">
            <a:solidFill>
              <a:schemeClr val="bg2"/>
            </a:solidFill>
            <a:prstDash val="solid"/>
          </a:ln>
        </p:spPr>
      </p:sp>
      <p:sp>
        <p:nvSpPr>
          <p:cNvPr id="28" name="Text 21"/>
          <p:cNvSpPr txBox="1"/>
          <p:nvPr/>
        </p:nvSpPr>
        <p:spPr>
          <a:xfrm>
            <a:off x="9418320" y="3063240"/>
            <a:ext cx="2011680" cy="731520"/>
          </a:xfrm>
          <a:prstGeom prst="rect">
            <a:avLst/>
          </a:prstGeom>
          <a:noFill/>
          <a:ln/>
        </p:spPr>
        <p:txBody>
          <a:bodyPr wrap="square" lIns="0" tIns="0" rIns="0" bIns="0" rtlCol="0" anchor="ctr"/>
          <a:lstStyle/>
          <a:p>
            <a:pPr indent="0" marL="0">
              <a:buNone/>
            </a:pPr>
            <a:r>
              <a:rPr lang="en-US" sz="2000" b="1" dirty="0">
                <a:solidFill>
                  <a:schemeClr val="accent3"/>
                </a:solidFill>
                <a:latin typeface="Cambria" pitchFamily="34" charset="0"/>
                <a:ea typeface="Cambria" pitchFamily="34" charset="-122"/>
                <a:cs typeface="Cambria" pitchFamily="34" charset="-120"/>
              </a:rPr>
              <a:t>27 May 2026</a:t>
            </a:r>
            <a:endParaRPr lang="en-US" sz="2000" dirty="0"/>
          </a:p>
        </p:txBody>
      </p:sp>
      <p:sp>
        <p:nvSpPr>
          <p:cNvPr id="29" name="Text 22"/>
          <p:cNvSpPr txBox="1"/>
          <p:nvPr/>
        </p:nvSpPr>
        <p:spPr>
          <a:xfrm>
            <a:off x="9418320" y="3820363"/>
            <a:ext cx="2011680" cy="585216"/>
          </a:xfrm>
          <a:prstGeom prst="rect">
            <a:avLst/>
          </a:prstGeom>
          <a:noFill/>
          <a:ln/>
        </p:spPr>
        <p:txBody>
          <a:bodyPr wrap="square" lIns="0" tIns="0" rIns="0" bIns="0" rtlCol="0" anchor="t"/>
          <a:lstStyle/>
          <a:p>
            <a:pPr indent="0" marL="0">
              <a:buNone/>
            </a:pPr>
            <a:r>
              <a:rPr lang="en-US" sz="1000" dirty="0">
                <a:solidFill>
                  <a:schemeClr val="tx2"/>
                </a:solidFill>
              </a:rPr>
              <a:t>state examination of the first civilian cyber security bachelor cohort</a:t>
            </a:r>
            <a:endParaRPr lang="en-US" sz="1000" dirty="0"/>
          </a:p>
        </p:txBody>
      </p:sp>
      <p:pic>
        <p:nvPicPr>
          <p:cNvPr id="30" name="certificate_award.jpg" descr="/home/user/research-material/india-cyber-cooperation/images/certificate_award.jpg">    </p:cNvPr>
          <p:cNvPicPr>
            <a:picLocks noChangeAspect="1"/>
          </p:cNvPicPr>
          <p:nvPr/>
        </p:nvPicPr>
        <p:blipFill>
          <a:blip r:embed="rId6"/>
          <a:srcRect l="0" r="0" t="0" b="0"/>
          <a:stretch/>
        </p:blipFill>
        <p:spPr>
          <a:xfrm>
            <a:off x="6766560" y="4617720"/>
            <a:ext cx="4846320" cy="1600200"/>
          </a:xfrm>
          <a:prstGeom prst="rect">
            <a:avLst/>
          </a:prstGeom>
        </p:spPr>
      </p:pic>
      <p:sp>
        <p:nvSpPr>
          <p:cNvPr id="31" name="Text 23"/>
          <p:cNvSpPr txBox="1"/>
          <p:nvPr/>
        </p:nvSpPr>
        <p:spPr>
          <a:xfrm>
            <a:off x="6766560" y="6236208"/>
            <a:ext cx="4846320" cy="228600"/>
          </a:xfrm>
          <a:prstGeom prst="rect">
            <a:avLst/>
          </a:prstGeom>
          <a:noFill/>
          <a:ln/>
        </p:spPr>
        <p:txBody>
          <a:bodyPr wrap="square" lIns="0" tIns="0" rIns="0" bIns="0" rtlCol="0" anchor="t"/>
          <a:lstStyle/>
          <a:p>
            <a:pPr indent="0" marL="0">
              <a:buNone/>
            </a:pPr>
            <a:r>
              <a:rPr lang="en-US" sz="1000" dirty="0">
                <a:solidFill>
                  <a:schemeClr val="tx2"/>
                </a:solidFill>
              </a:rPr>
              <a:t>Certificates presented with the Indian training team</a:t>
            </a:r>
            <a:endParaRPr lang="en-US" sz="10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474"/>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000" b="1" dirty="0">
                <a:solidFill>
                  <a:schemeClr val="tx1"/>
                </a:solidFill>
              </a:rPr>
              <a:t>Research, textbooks and innovation built on the Centre</a:t>
            </a:r>
            <a:endParaRPr lang="en-US" sz="3000" dirty="0"/>
          </a:p>
        </p:txBody>
      </p:sp>
      <p:pic>
        <p:nvPicPr>
          <p:cNvPr id="3" name="books.png" descr="/home/user/research-material/india-cyber-cooperation/images/books.png">    </p:cNvPr>
          <p:cNvPicPr>
            <a:picLocks noChangeAspect="1"/>
          </p:cNvPicPr>
          <p:nvPr/>
        </p:nvPicPr>
        <p:blipFill>
          <a:blip r:embed="rId1"/>
          <a:srcRect l="0" r="0" t="0" b="0"/>
          <a:stretch/>
        </p:blipFill>
        <p:spPr>
          <a:xfrm>
            <a:off x="548640" y="1371600"/>
            <a:ext cx="4937760" cy="2286000"/>
          </a:xfrm>
          <a:prstGeom prst="rect">
            <a:avLst/>
          </a:prstGeom>
        </p:spPr>
      </p:pic>
      <p:sp>
        <p:nvSpPr>
          <p:cNvPr id="4" name="Text 1"/>
          <p:cNvSpPr txBox="1"/>
          <p:nvPr/>
        </p:nvSpPr>
        <p:spPr>
          <a:xfrm>
            <a:off x="548640" y="3703320"/>
            <a:ext cx="4937760" cy="457200"/>
          </a:xfrm>
          <a:prstGeom prst="rect">
            <a:avLst/>
          </a:prstGeom>
          <a:noFill/>
          <a:ln/>
        </p:spPr>
        <p:txBody>
          <a:bodyPr wrap="square" lIns="0" tIns="0" rIns="0" bIns="0" rtlCol="0" anchor="t"/>
          <a:lstStyle/>
          <a:p>
            <a:pPr indent="0" marL="0">
              <a:buNone/>
            </a:pPr>
            <a:r>
              <a:rPr lang="en-US" sz="1050" dirty="0">
                <a:solidFill>
                  <a:schemeClr val="tx2"/>
                </a:solidFill>
              </a:rPr>
              <a:t>Eight English-language textbooks compiled by the Department (2025) and the BEKHI learning system</a:t>
            </a:r>
            <a:endParaRPr lang="en-US" sz="1050" dirty="0"/>
          </a:p>
        </p:txBody>
      </p:sp>
      <p:pic>
        <p:nvPicPr>
          <p:cNvPr id="5" name="lab_hires.jpg" descr="/home/user/research-material/india-cyber-cooperation/images/lab_hires.jpg">    </p:cNvPr>
          <p:cNvPicPr>
            <a:picLocks noChangeAspect="1"/>
          </p:cNvPicPr>
          <p:nvPr/>
        </p:nvPicPr>
        <p:blipFill>
          <a:blip r:embed="rId2"/>
          <a:srcRect l="0" r="0" t="0" b="0"/>
          <a:stretch/>
        </p:blipFill>
        <p:spPr>
          <a:xfrm>
            <a:off x="548640" y="4206240"/>
            <a:ext cx="4937760" cy="1965960"/>
          </a:xfrm>
          <a:prstGeom prst="rect">
            <a:avLst/>
          </a:prstGeom>
        </p:spPr>
      </p:pic>
      <p:sp>
        <p:nvSpPr>
          <p:cNvPr id="6" name="card"/>
          <p:cNvSpPr/>
          <p:nvPr/>
        </p:nvSpPr>
        <p:spPr>
          <a:xfrm>
            <a:off x="5760720" y="1371600"/>
            <a:ext cx="5852160" cy="1124712"/>
          </a:xfrm>
          <a:prstGeom prst="roundRect">
            <a:avLst>
              <a:gd name="adj" fmla="val 9756"/>
            </a:avLst>
          </a:prstGeom>
          <a:solidFill>
            <a:schemeClr val="bg2"/>
          </a:solidFill>
          <a:ln w="12700">
            <a:solidFill>
              <a:schemeClr val="bg2"/>
            </a:solidFill>
            <a:prstDash val="solid"/>
          </a:ln>
        </p:spPr>
      </p:sp>
      <p:sp>
        <p:nvSpPr>
          <p:cNvPr id="7" name="icon circle"/>
          <p:cNvSpPr/>
          <p:nvPr/>
        </p:nvSpPr>
        <p:spPr>
          <a:xfrm>
            <a:off x="5943600" y="1554480"/>
            <a:ext cx="502920" cy="502920"/>
          </a:xfrm>
          <a:prstGeom prst="ellipse">
            <a:avLst/>
          </a:prstGeom>
          <a:solidFill>
            <a:schemeClr val="accent1"/>
          </a:solidFill>
          <a:ln w="12700">
            <a:solidFill>
              <a:schemeClr val="accent1"/>
            </a:solidFill>
            <a:prstDash val="solid"/>
          </a:ln>
        </p:spPr>
      </p:sp>
      <p:pic>
        <p:nvPicPr>
          <p:cNvPr id="8" name="FaBookOpen" descr="preencoded.png">    </p:cNvPr>
          <p:cNvPicPr>
            <a:picLocks noChangeAspect="1"/>
          </p:cNvPicPr>
          <p:nvPr/>
        </p:nvPicPr>
        <p:blipFill>
          <a:blip r:embed="rId3"/>
          <a:stretch>
            <a:fillRect/>
          </a:stretch>
        </p:blipFill>
        <p:spPr>
          <a:xfrm>
            <a:off x="6074359" y="1685239"/>
            <a:ext cx="241402" cy="241402"/>
          </a:xfrm>
          <a:prstGeom prst="rect">
            <a:avLst/>
          </a:prstGeom>
        </p:spPr>
      </p:pic>
      <p:sp>
        <p:nvSpPr>
          <p:cNvPr id="9" name="Text 4"/>
          <p:cNvSpPr txBox="1"/>
          <p:nvPr/>
        </p:nvSpPr>
        <p:spPr>
          <a:xfrm>
            <a:off x="6583680" y="1481328"/>
            <a:ext cx="4937760" cy="320040"/>
          </a:xfrm>
          <a:prstGeom prst="rect">
            <a:avLst/>
          </a:prstGeom>
          <a:noFill/>
          <a:ln/>
        </p:spPr>
        <p:txBody>
          <a:bodyPr wrap="square" lIns="0" tIns="0" rIns="0" bIns="0" rtlCol="0" anchor="ctr"/>
          <a:lstStyle/>
          <a:p>
            <a:pPr indent="0" marL="0">
              <a:buNone/>
            </a:pPr>
            <a:r>
              <a:rPr lang="en-US" sz="1250" b="1" dirty="0">
                <a:solidFill>
                  <a:schemeClr val="tx1"/>
                </a:solidFill>
              </a:rPr>
              <a:t>8 English-language textbooks with ISBN (2025)</a:t>
            </a:r>
            <a:endParaRPr lang="en-US" sz="1250" dirty="0"/>
          </a:p>
        </p:txBody>
      </p:sp>
      <p:sp>
        <p:nvSpPr>
          <p:cNvPr id="10" name="Text 5"/>
          <p:cNvSpPr txBox="1"/>
          <p:nvPr/>
        </p:nvSpPr>
        <p:spPr>
          <a:xfrm>
            <a:off x="6583680" y="1801368"/>
            <a:ext cx="4937760" cy="658368"/>
          </a:xfrm>
          <a:prstGeom prst="rect">
            <a:avLst/>
          </a:prstGeom>
          <a:noFill/>
          <a:ln/>
        </p:spPr>
        <p:txBody>
          <a:bodyPr wrap="square" lIns="0" tIns="0" rIns="0" bIns="0" rtlCol="0" anchor="t"/>
          <a:lstStyle/>
          <a:p>
            <a:pPr indent="0" marL="0">
              <a:buNone/>
            </a:pPr>
            <a:r>
              <a:rPr lang="en-US" sz="1000" dirty="0">
                <a:solidFill>
                  <a:schemeClr val="tx2"/>
                </a:solidFill>
              </a:rPr>
              <a:t>Network security, malware analysis, digital forensics, SOC analyst, network administrator, data security and cryptography, web security, information systems audit – 20 copies each in the NDU library</a:t>
            </a:r>
            <a:endParaRPr lang="en-US" sz="1000" dirty="0"/>
          </a:p>
        </p:txBody>
      </p:sp>
      <p:sp>
        <p:nvSpPr>
          <p:cNvPr id="11" name="card"/>
          <p:cNvSpPr/>
          <p:nvPr/>
        </p:nvSpPr>
        <p:spPr>
          <a:xfrm>
            <a:off x="5760720" y="2587752"/>
            <a:ext cx="5852160" cy="1124712"/>
          </a:xfrm>
          <a:prstGeom prst="roundRect">
            <a:avLst>
              <a:gd name="adj" fmla="val 9756"/>
            </a:avLst>
          </a:prstGeom>
          <a:solidFill>
            <a:schemeClr val="bg2"/>
          </a:solidFill>
          <a:ln w="12700">
            <a:solidFill>
              <a:schemeClr val="bg2"/>
            </a:solidFill>
            <a:prstDash val="solid"/>
          </a:ln>
        </p:spPr>
      </p:sp>
      <p:sp>
        <p:nvSpPr>
          <p:cNvPr id="12" name="icon circle"/>
          <p:cNvSpPr/>
          <p:nvPr/>
        </p:nvSpPr>
        <p:spPr>
          <a:xfrm>
            <a:off x="5943600" y="2770632"/>
            <a:ext cx="502920" cy="502920"/>
          </a:xfrm>
          <a:prstGeom prst="ellipse">
            <a:avLst/>
          </a:prstGeom>
          <a:solidFill>
            <a:schemeClr val="accent2"/>
          </a:solidFill>
          <a:ln w="12700">
            <a:solidFill>
              <a:schemeClr val="accent2"/>
            </a:solidFill>
            <a:prstDash val="solid"/>
          </a:ln>
        </p:spPr>
      </p:sp>
      <p:pic>
        <p:nvPicPr>
          <p:cNvPr id="13" name="FaLightbulb" descr="preencoded.png">    </p:cNvPr>
          <p:cNvPicPr>
            <a:picLocks noChangeAspect="1"/>
          </p:cNvPicPr>
          <p:nvPr/>
        </p:nvPicPr>
        <p:blipFill>
          <a:blip r:embed="rId4"/>
          <a:stretch>
            <a:fillRect/>
          </a:stretch>
        </p:blipFill>
        <p:spPr>
          <a:xfrm>
            <a:off x="6074359" y="2901391"/>
            <a:ext cx="241402" cy="241402"/>
          </a:xfrm>
          <a:prstGeom prst="rect">
            <a:avLst/>
          </a:prstGeom>
        </p:spPr>
      </p:pic>
      <p:sp>
        <p:nvSpPr>
          <p:cNvPr id="14" name="Text 8"/>
          <p:cNvSpPr txBox="1"/>
          <p:nvPr/>
        </p:nvSpPr>
        <p:spPr>
          <a:xfrm>
            <a:off x="6583680" y="2697480"/>
            <a:ext cx="4937760" cy="320040"/>
          </a:xfrm>
          <a:prstGeom prst="rect">
            <a:avLst/>
          </a:prstGeom>
          <a:noFill/>
          <a:ln/>
        </p:spPr>
        <p:txBody>
          <a:bodyPr wrap="square" lIns="0" tIns="0" rIns="0" bIns="0" rtlCol="0" anchor="ctr"/>
          <a:lstStyle/>
          <a:p>
            <a:pPr indent="0" marL="0">
              <a:buNone/>
            </a:pPr>
            <a:r>
              <a:rPr lang="en-US" sz="1250" b="1" dirty="0">
                <a:solidFill>
                  <a:schemeClr val="tx1"/>
                </a:solidFill>
              </a:rPr>
              <a:t>BEKHI learning system</a:t>
            </a:r>
            <a:endParaRPr lang="en-US" sz="1250" dirty="0"/>
          </a:p>
        </p:txBody>
      </p:sp>
      <p:sp>
        <p:nvSpPr>
          <p:cNvPr id="15" name="Text 9"/>
          <p:cNvSpPr txBox="1"/>
          <p:nvPr/>
        </p:nvSpPr>
        <p:spPr>
          <a:xfrm>
            <a:off x="6583680" y="3017520"/>
            <a:ext cx="4937760" cy="658368"/>
          </a:xfrm>
          <a:prstGeom prst="rect">
            <a:avLst/>
          </a:prstGeom>
          <a:noFill/>
          <a:ln/>
        </p:spPr>
        <p:txBody>
          <a:bodyPr wrap="square" lIns="0" tIns="0" rIns="0" bIns="0" rtlCol="0" anchor="t"/>
          <a:lstStyle/>
          <a:p>
            <a:pPr indent="0" marL="0">
              <a:buNone/>
            </a:pPr>
            <a:r>
              <a:rPr lang="en-US" sz="1000" dirty="0">
                <a:solidFill>
                  <a:schemeClr val="tx2"/>
                </a:solidFill>
              </a:rPr>
              <a:t>Developed by the faculty; in use since 2025–26 with BigBlueButton, Articulate 360 and H5P. Best innovation, NDU Academic Conference 2025; 2nd place, Defence Minister's STI award 2025</a:t>
            </a:r>
            <a:endParaRPr lang="en-US" sz="1000" dirty="0"/>
          </a:p>
        </p:txBody>
      </p:sp>
      <p:sp>
        <p:nvSpPr>
          <p:cNvPr id="16" name="card"/>
          <p:cNvSpPr/>
          <p:nvPr/>
        </p:nvSpPr>
        <p:spPr>
          <a:xfrm>
            <a:off x="5760720" y="3803904"/>
            <a:ext cx="5852160" cy="1124712"/>
          </a:xfrm>
          <a:prstGeom prst="roundRect">
            <a:avLst>
              <a:gd name="adj" fmla="val 9756"/>
            </a:avLst>
          </a:prstGeom>
          <a:solidFill>
            <a:schemeClr val="bg2"/>
          </a:solidFill>
          <a:ln w="12700">
            <a:solidFill>
              <a:schemeClr val="bg2"/>
            </a:solidFill>
            <a:prstDash val="solid"/>
          </a:ln>
        </p:spPr>
      </p:sp>
      <p:sp>
        <p:nvSpPr>
          <p:cNvPr id="17" name="icon circle"/>
          <p:cNvSpPr/>
          <p:nvPr/>
        </p:nvSpPr>
        <p:spPr>
          <a:xfrm>
            <a:off x="5943600" y="3986784"/>
            <a:ext cx="502920" cy="502920"/>
          </a:xfrm>
          <a:prstGeom prst="ellipse">
            <a:avLst/>
          </a:prstGeom>
          <a:solidFill>
            <a:schemeClr val="accent1"/>
          </a:solidFill>
          <a:ln w="12700">
            <a:solidFill>
              <a:schemeClr val="accent1"/>
            </a:solidFill>
            <a:prstDash val="solid"/>
          </a:ln>
        </p:spPr>
      </p:sp>
      <p:pic>
        <p:nvPicPr>
          <p:cNvPr id="18" name="FaFlask" descr="preencoded.png">    </p:cNvPr>
          <p:cNvPicPr>
            <a:picLocks noChangeAspect="1"/>
          </p:cNvPicPr>
          <p:nvPr/>
        </p:nvPicPr>
        <p:blipFill>
          <a:blip r:embed="rId5"/>
          <a:stretch>
            <a:fillRect/>
          </a:stretch>
        </p:blipFill>
        <p:spPr>
          <a:xfrm>
            <a:off x="6074359" y="4117543"/>
            <a:ext cx="241402" cy="241402"/>
          </a:xfrm>
          <a:prstGeom prst="rect">
            <a:avLst/>
          </a:prstGeom>
        </p:spPr>
      </p:pic>
      <p:sp>
        <p:nvSpPr>
          <p:cNvPr id="19" name="Text 12"/>
          <p:cNvSpPr txBox="1"/>
          <p:nvPr/>
        </p:nvSpPr>
        <p:spPr>
          <a:xfrm>
            <a:off x="6583680" y="3913632"/>
            <a:ext cx="4937760" cy="320040"/>
          </a:xfrm>
          <a:prstGeom prst="rect">
            <a:avLst/>
          </a:prstGeom>
          <a:noFill/>
          <a:ln/>
        </p:spPr>
        <p:txBody>
          <a:bodyPr wrap="square" lIns="0" tIns="0" rIns="0" bIns="0" rtlCol="0" anchor="ctr"/>
          <a:lstStyle/>
          <a:p>
            <a:pPr indent="0" marL="0">
              <a:buNone/>
            </a:pPr>
            <a:r>
              <a:rPr lang="en-US" sz="1250" b="1" dirty="0">
                <a:solidFill>
                  <a:schemeClr val="tx1"/>
                </a:solidFill>
              </a:rPr>
              <a:t>Publications and conferences</a:t>
            </a:r>
            <a:endParaRPr lang="en-US" sz="1250" dirty="0"/>
          </a:p>
        </p:txBody>
      </p:sp>
      <p:sp>
        <p:nvSpPr>
          <p:cNvPr id="20" name="Text 13"/>
          <p:cNvSpPr txBox="1"/>
          <p:nvPr/>
        </p:nvSpPr>
        <p:spPr>
          <a:xfrm>
            <a:off x="6583680" y="4233672"/>
            <a:ext cx="4937760" cy="658368"/>
          </a:xfrm>
          <a:prstGeom prst="rect">
            <a:avLst/>
          </a:prstGeom>
          <a:noFill/>
          <a:ln/>
        </p:spPr>
        <p:txBody>
          <a:bodyPr wrap="square" lIns="0" tIns="0" rIns="0" bIns="0" rtlCol="0" anchor="t"/>
          <a:lstStyle/>
          <a:p>
            <a:pPr indent="0" marL="0">
              <a:buNone/>
            </a:pPr>
            <a:r>
              <a:rPr lang="en-US" sz="1000" dirty="0">
                <a:solidFill>
                  <a:schemeClr val="tx2"/>
                </a:solidFill>
              </a:rPr>
              <a:t>8 journal articles in 2025 (MN/EN/RU); sector conference 'Cyber security: current state, change and reform', 2–3 Feb 2026, with five universities and academies</a:t>
            </a:r>
            <a:endParaRPr lang="en-US" sz="1000" dirty="0"/>
          </a:p>
        </p:txBody>
      </p:sp>
      <p:sp>
        <p:nvSpPr>
          <p:cNvPr id="21" name="card"/>
          <p:cNvSpPr/>
          <p:nvPr/>
        </p:nvSpPr>
        <p:spPr>
          <a:xfrm>
            <a:off x="5760720" y="5020056"/>
            <a:ext cx="5852160" cy="1124712"/>
          </a:xfrm>
          <a:prstGeom prst="roundRect">
            <a:avLst>
              <a:gd name="adj" fmla="val 9756"/>
            </a:avLst>
          </a:prstGeom>
          <a:solidFill>
            <a:schemeClr val="bg2"/>
          </a:solidFill>
          <a:ln w="12700">
            <a:solidFill>
              <a:schemeClr val="bg2"/>
            </a:solidFill>
            <a:prstDash val="solid"/>
          </a:ln>
        </p:spPr>
      </p:sp>
      <p:sp>
        <p:nvSpPr>
          <p:cNvPr id="22" name="icon circle"/>
          <p:cNvSpPr/>
          <p:nvPr/>
        </p:nvSpPr>
        <p:spPr>
          <a:xfrm>
            <a:off x="5943600" y="5202936"/>
            <a:ext cx="502920" cy="502920"/>
          </a:xfrm>
          <a:prstGeom prst="ellipse">
            <a:avLst/>
          </a:prstGeom>
          <a:solidFill>
            <a:schemeClr val="accent2"/>
          </a:solidFill>
          <a:ln w="12700">
            <a:solidFill>
              <a:schemeClr val="accent2"/>
            </a:solidFill>
            <a:prstDash val="solid"/>
          </a:ln>
        </p:spPr>
      </p:sp>
      <p:pic>
        <p:nvPicPr>
          <p:cNvPr id="23" name="FaTrophy" descr="preencoded.png">    </p:cNvPr>
          <p:cNvPicPr>
            <a:picLocks noChangeAspect="1"/>
          </p:cNvPicPr>
          <p:nvPr/>
        </p:nvPicPr>
        <p:blipFill>
          <a:blip r:embed="rId6"/>
          <a:stretch>
            <a:fillRect/>
          </a:stretch>
        </p:blipFill>
        <p:spPr>
          <a:xfrm>
            <a:off x="6074359" y="5333695"/>
            <a:ext cx="241402" cy="241402"/>
          </a:xfrm>
          <a:prstGeom prst="rect">
            <a:avLst/>
          </a:prstGeom>
        </p:spPr>
      </p:pic>
      <p:sp>
        <p:nvSpPr>
          <p:cNvPr id="24" name="Text 16"/>
          <p:cNvSpPr txBox="1"/>
          <p:nvPr/>
        </p:nvSpPr>
        <p:spPr>
          <a:xfrm>
            <a:off x="6583680" y="5129784"/>
            <a:ext cx="4937760" cy="320040"/>
          </a:xfrm>
          <a:prstGeom prst="rect">
            <a:avLst/>
          </a:prstGeom>
          <a:noFill/>
          <a:ln/>
        </p:spPr>
        <p:txBody>
          <a:bodyPr wrap="square" lIns="0" tIns="0" rIns="0" bIns="0" rtlCol="0" anchor="ctr"/>
          <a:lstStyle/>
          <a:p>
            <a:pPr indent="0" marL="0">
              <a:buNone/>
            </a:pPr>
            <a:r>
              <a:rPr lang="en-US" sz="1250" b="1" dirty="0">
                <a:solidFill>
                  <a:schemeClr val="tx1"/>
                </a:solidFill>
              </a:rPr>
              <a:t>Competitions</a:t>
            </a:r>
            <a:endParaRPr lang="en-US" sz="1250" dirty="0"/>
          </a:p>
        </p:txBody>
      </p:sp>
      <p:sp>
        <p:nvSpPr>
          <p:cNvPr id="25" name="Text 17"/>
          <p:cNvSpPr txBox="1"/>
          <p:nvPr/>
        </p:nvSpPr>
        <p:spPr>
          <a:xfrm>
            <a:off x="6583680" y="5449824"/>
            <a:ext cx="4937760" cy="658368"/>
          </a:xfrm>
          <a:prstGeom prst="rect">
            <a:avLst/>
          </a:prstGeom>
          <a:noFill/>
          <a:ln/>
        </p:spPr>
        <p:txBody>
          <a:bodyPr wrap="square" lIns="0" tIns="0" rIns="0" bIns="0" rtlCol="0" anchor="t"/>
          <a:lstStyle/>
          <a:p>
            <a:pPr indent="0" marL="0">
              <a:buNone/>
            </a:pPr>
            <a:r>
              <a:rPr lang="en-US" sz="1000" dirty="0">
                <a:solidFill>
                  <a:schemeClr val="tx2"/>
                </a:solidFill>
              </a:rPr>
              <a:t>DefendX-2024 and DefendX-2026 skills competitions; 1st place at the 14th National Computer Network Olympiad 2026 (cadet B. Bat-Orgil)</a:t>
            </a:r>
            <a:endParaRPr lang="en-US" sz="10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474"/>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000" b="1" dirty="0">
                <a:solidFill>
                  <a:schemeClr val="tx1"/>
                </a:solidFill>
              </a:rPr>
              <a:t>Faculty development and a widening partner network</a:t>
            </a:r>
            <a:endParaRPr lang="en-US" sz="3000" dirty="0"/>
          </a:p>
        </p:txBody>
      </p:sp>
      <p:sp>
        <p:nvSpPr>
          <p:cNvPr id="3" name="card"/>
          <p:cNvSpPr/>
          <p:nvPr/>
        </p:nvSpPr>
        <p:spPr>
          <a:xfrm>
            <a:off x="548640" y="1371600"/>
            <a:ext cx="5394960" cy="4846320"/>
          </a:xfrm>
          <a:prstGeom prst="roundRect">
            <a:avLst>
              <a:gd name="adj" fmla="val 2264"/>
            </a:avLst>
          </a:prstGeom>
          <a:solidFill>
            <a:schemeClr val="bg2"/>
          </a:solidFill>
          <a:ln w="12700">
            <a:solidFill>
              <a:schemeClr val="bg2"/>
            </a:solidFill>
            <a:prstDash val="solid"/>
          </a:ln>
        </p:spPr>
      </p:sp>
      <p:sp>
        <p:nvSpPr>
          <p:cNvPr id="4" name="icon circle"/>
          <p:cNvSpPr/>
          <p:nvPr/>
        </p:nvSpPr>
        <p:spPr>
          <a:xfrm>
            <a:off x="777240" y="1600200"/>
            <a:ext cx="594360" cy="594360"/>
          </a:xfrm>
          <a:prstGeom prst="ellipse">
            <a:avLst/>
          </a:prstGeom>
          <a:solidFill>
            <a:schemeClr val="accent1"/>
          </a:solidFill>
          <a:ln w="12700">
            <a:solidFill>
              <a:schemeClr val="accent1"/>
            </a:solidFill>
            <a:prstDash val="solid"/>
          </a:ln>
        </p:spPr>
      </p:sp>
      <p:pic>
        <p:nvPicPr>
          <p:cNvPr id="5" name="FaGraduationCap" descr="preencoded.png">    </p:cNvPr>
          <p:cNvPicPr>
            <a:picLocks noChangeAspect="1"/>
          </p:cNvPicPr>
          <p:nvPr/>
        </p:nvPicPr>
        <p:blipFill>
          <a:blip r:embed="rId1"/>
          <a:stretch>
            <a:fillRect/>
          </a:stretch>
        </p:blipFill>
        <p:spPr>
          <a:xfrm>
            <a:off x="931774" y="1754734"/>
            <a:ext cx="285293" cy="285293"/>
          </a:xfrm>
          <a:prstGeom prst="rect">
            <a:avLst/>
          </a:prstGeom>
        </p:spPr>
      </p:pic>
      <p:sp>
        <p:nvSpPr>
          <p:cNvPr id="6" name="Text 3"/>
          <p:cNvSpPr txBox="1"/>
          <p:nvPr/>
        </p:nvSpPr>
        <p:spPr>
          <a:xfrm>
            <a:off x="1508760" y="1600200"/>
            <a:ext cx="4114800" cy="594360"/>
          </a:xfrm>
          <a:prstGeom prst="rect">
            <a:avLst/>
          </a:prstGeom>
          <a:noFill/>
          <a:ln/>
        </p:spPr>
        <p:txBody>
          <a:bodyPr wrap="square" lIns="0" tIns="0" rIns="0" bIns="0" rtlCol="0" anchor="ctr"/>
          <a:lstStyle/>
          <a:p>
            <a:pPr indent="0" marL="0">
              <a:buNone/>
            </a:pPr>
            <a:r>
              <a:rPr lang="en-US" sz="1700" b="1" dirty="0">
                <a:solidFill>
                  <a:schemeClr val="tx1"/>
                </a:solidFill>
              </a:rPr>
              <a:t>Faculty development</a:t>
            </a:r>
            <a:endParaRPr lang="en-US" sz="1700" dirty="0"/>
          </a:p>
        </p:txBody>
      </p:sp>
      <p:sp>
        <p:nvSpPr>
          <p:cNvPr id="7" name="Text 4"/>
          <p:cNvSpPr txBox="1"/>
          <p:nvPr/>
        </p:nvSpPr>
        <p:spPr>
          <a:xfrm>
            <a:off x="822960" y="2377440"/>
            <a:ext cx="4846320" cy="2103120"/>
          </a:xfrm>
          <a:prstGeom prst="rect">
            <a:avLst/>
          </a:prstGeom>
          <a:noFill/>
          <a:ln/>
        </p:spPr>
        <p:txBody>
          <a:bodyPr wrap="square" lIns="0" tIns="0" rIns="0" bIns="0" rtlCol="0" anchor="t"/>
          <a:lstStyle/>
          <a:p>
            <a:pPr marL="177800" indent="-177800">
              <a:spcAft>
                <a:spcPts val="800"/>
              </a:spcAft>
              <a:buSzPct val="100000"/>
              <a:buChar char="•"/>
            </a:pPr>
            <a:r>
              <a:rPr lang="en-US" sz="1200" dirty="0">
                <a:solidFill>
                  <a:schemeClr val="tx1"/>
                </a:solidFill>
              </a:rPr>
              <a:t>Lt Ch. Enkhbaatar completed a cyber security professional course in India (2024–25)</a:t>
            </a:r>
            <a:endParaRPr lang="en-US" sz="1200" dirty="0"/>
          </a:p>
          <a:p>
            <a:pPr marL="177800" indent="-177800">
              <a:spcAft>
                <a:spcPts val="800"/>
              </a:spcAft>
              <a:buSzPct val="100000"/>
              <a:buChar char="•"/>
            </a:pPr>
            <a:r>
              <a:rPr lang="en-US" sz="1200" dirty="0">
                <a:solidFill>
                  <a:schemeClr val="tx1"/>
                </a:solidFill>
              </a:rPr>
              <a:t>One PhD and two master's degrees defended by the faculty (2026)</a:t>
            </a:r>
            <a:endParaRPr lang="en-US" sz="1200" dirty="0"/>
          </a:p>
          <a:p>
            <a:pPr marL="177800" indent="-177800">
              <a:spcAft>
                <a:spcPts val="800"/>
              </a:spcAft>
              <a:buSzPct val="100000"/>
              <a:buChar char="•"/>
            </a:pPr>
            <a:r>
              <a:rPr lang="en-US" sz="1200" dirty="0">
                <a:solidFill>
                  <a:schemeClr val="tx1"/>
                </a:solidFill>
              </a:rPr>
              <a:t>Short courses in Germany, Japan and the USA (2026); APNIC network security training</a:t>
            </a:r>
            <a:endParaRPr lang="en-US" sz="1200" dirty="0"/>
          </a:p>
          <a:p>
            <a:pPr marL="177800" indent="-177800">
              <a:spcAft>
                <a:spcPts val="800"/>
              </a:spcAft>
              <a:buSzPct val="100000"/>
              <a:buChar char="•"/>
            </a:pPr>
            <a:r>
              <a:rPr lang="en-US" sz="1200" dirty="0">
                <a:solidFill>
                  <a:schemeClr val="tx1"/>
                </a:solidFill>
              </a:rPr>
              <a:t>Pacific Endeavor 2023 (US INDOPACOM); ITACTIC incident-response command-post exercise and the Asia-Pacific cyber exercise (2025)</a:t>
            </a:r>
            <a:endParaRPr lang="en-US" sz="1200" dirty="0"/>
          </a:p>
        </p:txBody>
      </p:sp>
      <p:pic>
        <p:nvPicPr>
          <p:cNvPr id="8" name="group_outdoor_certs.jpg" descr="/home/user/research-material/india-cyber-cooperation/images/group_outdoor_certs.jpg">    </p:cNvPr>
          <p:cNvPicPr>
            <a:picLocks noChangeAspect="1"/>
          </p:cNvPicPr>
          <p:nvPr/>
        </p:nvPicPr>
        <p:blipFill>
          <a:blip r:embed="rId2"/>
          <a:srcRect l="0" r="0" t="0" b="0"/>
          <a:stretch/>
        </p:blipFill>
        <p:spPr>
          <a:xfrm>
            <a:off x="822960" y="4526280"/>
            <a:ext cx="4846320" cy="1508760"/>
          </a:xfrm>
          <a:prstGeom prst="rect">
            <a:avLst/>
          </a:prstGeom>
        </p:spPr>
      </p:pic>
      <p:sp>
        <p:nvSpPr>
          <p:cNvPr id="9" name="card"/>
          <p:cNvSpPr/>
          <p:nvPr/>
        </p:nvSpPr>
        <p:spPr>
          <a:xfrm>
            <a:off x="6217920" y="1371600"/>
            <a:ext cx="5394960" cy="4846320"/>
          </a:xfrm>
          <a:prstGeom prst="roundRect">
            <a:avLst>
              <a:gd name="adj" fmla="val 2264"/>
            </a:avLst>
          </a:prstGeom>
          <a:solidFill>
            <a:schemeClr val="bg2"/>
          </a:solidFill>
          <a:ln w="12700">
            <a:solidFill>
              <a:schemeClr val="bg2"/>
            </a:solidFill>
            <a:prstDash val="solid"/>
          </a:ln>
        </p:spPr>
      </p:sp>
      <p:sp>
        <p:nvSpPr>
          <p:cNvPr id="10" name="icon circle"/>
          <p:cNvSpPr/>
          <p:nvPr/>
        </p:nvSpPr>
        <p:spPr>
          <a:xfrm>
            <a:off x="6446520" y="1600200"/>
            <a:ext cx="594360" cy="594360"/>
          </a:xfrm>
          <a:prstGeom prst="ellipse">
            <a:avLst/>
          </a:prstGeom>
          <a:solidFill>
            <a:schemeClr val="accent3"/>
          </a:solidFill>
          <a:ln w="12700">
            <a:solidFill>
              <a:schemeClr val="accent3"/>
            </a:solidFill>
            <a:prstDash val="solid"/>
          </a:ln>
        </p:spPr>
      </p:sp>
      <p:pic>
        <p:nvPicPr>
          <p:cNvPr id="11" name="FaHandshake" descr="preencoded.png">    </p:cNvPr>
          <p:cNvPicPr>
            <a:picLocks noChangeAspect="1"/>
          </p:cNvPicPr>
          <p:nvPr/>
        </p:nvPicPr>
        <p:blipFill>
          <a:blip r:embed="rId3"/>
          <a:stretch>
            <a:fillRect/>
          </a:stretch>
        </p:blipFill>
        <p:spPr>
          <a:xfrm>
            <a:off x="6601054" y="1754734"/>
            <a:ext cx="285293" cy="285293"/>
          </a:xfrm>
          <a:prstGeom prst="rect">
            <a:avLst/>
          </a:prstGeom>
        </p:spPr>
      </p:pic>
      <p:sp>
        <p:nvSpPr>
          <p:cNvPr id="12" name="Text 7"/>
          <p:cNvSpPr txBox="1"/>
          <p:nvPr/>
        </p:nvSpPr>
        <p:spPr>
          <a:xfrm>
            <a:off x="7178040" y="1600200"/>
            <a:ext cx="4206240" cy="594360"/>
          </a:xfrm>
          <a:prstGeom prst="rect">
            <a:avLst/>
          </a:prstGeom>
          <a:noFill/>
          <a:ln/>
        </p:spPr>
        <p:txBody>
          <a:bodyPr wrap="square" lIns="0" tIns="0" rIns="0" bIns="0" rtlCol="0" anchor="ctr"/>
          <a:lstStyle/>
          <a:p>
            <a:pPr indent="0" marL="0">
              <a:buNone/>
            </a:pPr>
            <a:r>
              <a:rPr lang="en-US" sz="1700" b="1" dirty="0">
                <a:solidFill>
                  <a:schemeClr val="tx1"/>
                </a:solidFill>
              </a:rPr>
              <a:t>Partners beyond India</a:t>
            </a:r>
            <a:endParaRPr lang="en-US" sz="1700" dirty="0"/>
          </a:p>
        </p:txBody>
      </p:sp>
      <p:sp>
        <p:nvSpPr>
          <p:cNvPr id="13" name="Text 8"/>
          <p:cNvSpPr txBox="1"/>
          <p:nvPr/>
        </p:nvSpPr>
        <p:spPr>
          <a:xfrm>
            <a:off x="6492240" y="2377440"/>
            <a:ext cx="4846320" cy="2103120"/>
          </a:xfrm>
          <a:prstGeom prst="rect">
            <a:avLst/>
          </a:prstGeom>
          <a:noFill/>
          <a:ln/>
        </p:spPr>
        <p:txBody>
          <a:bodyPr wrap="square" lIns="0" tIns="0" rIns="0" bIns="0" rtlCol="0" anchor="t"/>
          <a:lstStyle/>
          <a:p>
            <a:pPr marL="177800" indent="-177800">
              <a:spcAft>
                <a:spcPts val="800"/>
              </a:spcAft>
              <a:buSzPct val="100000"/>
              <a:buChar char="•"/>
            </a:pPr>
            <a:r>
              <a:rPr lang="en-US" sz="1200" dirty="0">
                <a:solidFill>
                  <a:schemeClr val="tx1"/>
                </a:solidFill>
              </a:rPr>
              <a:t>Cyber Security Military Command – joint training with US INDOPACOM cyber specialists (2025), DefendX competitions</a:t>
            </a:r>
            <a:endParaRPr lang="en-US" sz="1200" dirty="0"/>
          </a:p>
          <a:p>
            <a:pPr marL="177800" indent="-177800">
              <a:spcAft>
                <a:spcPts val="800"/>
              </a:spcAft>
              <a:buSzPct val="100000"/>
              <a:buChar char="•"/>
            </a:pPr>
            <a:r>
              <a:rPr lang="en-US" sz="1200" dirty="0">
                <a:solidFill>
                  <a:schemeClr val="tx1"/>
                </a:solidFill>
              </a:rPr>
              <a:t>National Security Council working office – executor of the national cyber capacity programme (2025)</a:t>
            </a:r>
            <a:endParaRPr lang="en-US" sz="1200" dirty="0"/>
          </a:p>
          <a:p>
            <a:pPr marL="177800" indent="-177800">
              <a:spcAft>
                <a:spcPts val="800"/>
              </a:spcAft>
              <a:buSzPct val="100000"/>
              <a:buChar char="•"/>
            </a:pPr>
            <a:r>
              <a:rPr lang="en-US" sz="1200" dirty="0">
                <a:solidFill>
                  <a:schemeClr val="tx1"/>
                </a:solidFill>
              </a:rPr>
              <a:t>MNCERT/CC, MUST, NUM, Internal Affairs University, Network Engineers' Association</a:t>
            </a:r>
            <a:endParaRPr lang="en-US" sz="1200" dirty="0"/>
          </a:p>
          <a:p>
            <a:pPr marL="177800" indent="-177800">
              <a:spcAft>
                <a:spcPts val="800"/>
              </a:spcAft>
              <a:buSzPct val="100000"/>
              <a:buChar char="•"/>
            </a:pPr>
            <a:r>
              <a:rPr lang="en-US" sz="1200" dirty="0">
                <a:solidFill>
                  <a:schemeClr val="tx1"/>
                </a:solidFill>
              </a:rPr>
              <a:t>Industry – 'Cyber and Digital Defense' day with Ember Cyber Service (Jan 2026); cadet internships at the national CERT, ICN and Unitel</a:t>
            </a:r>
            <a:endParaRPr lang="en-US" sz="1200" dirty="0"/>
          </a:p>
        </p:txBody>
      </p:sp>
      <p:pic>
        <p:nvPicPr>
          <p:cNvPr id="14" name="roundtable.jpg" descr="/home/user/research-material/india-cyber-cooperation/images/roundtable.jpg">    </p:cNvPr>
          <p:cNvPicPr>
            <a:picLocks noChangeAspect="1"/>
          </p:cNvPicPr>
          <p:nvPr/>
        </p:nvPicPr>
        <p:blipFill>
          <a:blip r:embed="rId4"/>
          <a:srcRect l="0" r="0" t="0" b="0"/>
          <a:stretch/>
        </p:blipFill>
        <p:spPr>
          <a:xfrm>
            <a:off x="6492240" y="4526280"/>
            <a:ext cx="4846320" cy="1508760"/>
          </a:xfrm>
          <a:prstGeom prst="rect">
            <a:avLst/>
          </a:prstGeom>
        </p:spPr>
      </p:pic>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474"/>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000" b="1" dirty="0">
                <a:solidFill>
                  <a:schemeClr val="tx1"/>
                </a:solidFill>
              </a:rPr>
              <a:t>Continued Indian support: the 2025 upgrade and licence renewal</a:t>
            </a:r>
            <a:endParaRPr lang="en-US" sz="3000" dirty="0"/>
          </a:p>
        </p:txBody>
      </p:sp>
      <p:sp>
        <p:nvSpPr>
          <p:cNvPr id="3" name="card"/>
          <p:cNvSpPr/>
          <p:nvPr/>
        </p:nvSpPr>
        <p:spPr>
          <a:xfrm>
            <a:off x="548640" y="1371600"/>
            <a:ext cx="2834640" cy="1508760"/>
          </a:xfrm>
          <a:prstGeom prst="roundRect">
            <a:avLst>
              <a:gd name="adj" fmla="val 7273"/>
            </a:avLst>
          </a:prstGeom>
          <a:solidFill>
            <a:schemeClr val="bg2"/>
          </a:solidFill>
          <a:ln w="12700">
            <a:solidFill>
              <a:schemeClr val="bg2"/>
            </a:solidFill>
            <a:prstDash val="solid"/>
          </a:ln>
        </p:spPr>
      </p:sp>
      <p:sp>
        <p:nvSpPr>
          <p:cNvPr id="4" name="Text 2"/>
          <p:cNvSpPr txBox="1"/>
          <p:nvPr/>
        </p:nvSpPr>
        <p:spPr>
          <a:xfrm>
            <a:off x="731520" y="1463040"/>
            <a:ext cx="2468880" cy="754380"/>
          </a:xfrm>
          <a:prstGeom prst="rect">
            <a:avLst/>
          </a:prstGeom>
          <a:noFill/>
          <a:ln/>
        </p:spPr>
        <p:txBody>
          <a:bodyPr wrap="square" lIns="0" tIns="0" rIns="0" bIns="0" rtlCol="0" anchor="ctr"/>
          <a:lstStyle/>
          <a:p>
            <a:pPr indent="0" marL="0">
              <a:buNone/>
            </a:pPr>
            <a:r>
              <a:rPr lang="en-US" sz="3400" b="1" dirty="0">
                <a:solidFill>
                  <a:schemeClr val="accent1"/>
                </a:solidFill>
                <a:latin typeface="Cambria" pitchFamily="34" charset="0"/>
                <a:ea typeface="Cambria" pitchFamily="34" charset="-122"/>
                <a:cs typeface="Cambria" pitchFamily="34" charset="-120"/>
              </a:rPr>
              <a:t>37</a:t>
            </a:r>
            <a:endParaRPr lang="en-US" sz="3400" dirty="0"/>
          </a:p>
        </p:txBody>
      </p:sp>
      <p:sp>
        <p:nvSpPr>
          <p:cNvPr id="5" name="Text 3"/>
          <p:cNvSpPr txBox="1"/>
          <p:nvPr/>
        </p:nvSpPr>
        <p:spPr>
          <a:xfrm>
            <a:off x="731520" y="2246681"/>
            <a:ext cx="2468880" cy="603504"/>
          </a:xfrm>
          <a:prstGeom prst="rect">
            <a:avLst/>
          </a:prstGeom>
          <a:noFill/>
          <a:ln/>
        </p:spPr>
        <p:txBody>
          <a:bodyPr wrap="square" lIns="0" tIns="0" rIns="0" bIns="0" rtlCol="0" anchor="t"/>
          <a:lstStyle/>
          <a:p>
            <a:pPr indent="0" marL="0">
              <a:buNone/>
            </a:pPr>
            <a:r>
              <a:rPr lang="en-US" sz="1050" dirty="0">
                <a:solidFill>
                  <a:schemeClr val="tx2"/>
                </a:solidFill>
              </a:rPr>
              <a:t>workstations upgraded: 16 GB RAM, 2 GB graphics card and 1 TB disk each – commissioned 6 Nov 2025</a:t>
            </a:r>
            <a:endParaRPr lang="en-US" sz="1050" dirty="0"/>
          </a:p>
        </p:txBody>
      </p:sp>
      <p:sp>
        <p:nvSpPr>
          <p:cNvPr id="6" name="card"/>
          <p:cNvSpPr/>
          <p:nvPr/>
        </p:nvSpPr>
        <p:spPr>
          <a:xfrm>
            <a:off x="548640" y="2999232"/>
            <a:ext cx="2834640" cy="1508760"/>
          </a:xfrm>
          <a:prstGeom prst="roundRect">
            <a:avLst>
              <a:gd name="adj" fmla="val 7273"/>
            </a:avLst>
          </a:prstGeom>
          <a:solidFill>
            <a:schemeClr val="bg2"/>
          </a:solidFill>
          <a:ln w="12700">
            <a:solidFill>
              <a:schemeClr val="bg2"/>
            </a:solidFill>
            <a:prstDash val="solid"/>
          </a:ln>
        </p:spPr>
      </p:sp>
      <p:sp>
        <p:nvSpPr>
          <p:cNvPr id="7" name="Text 5"/>
          <p:cNvSpPr txBox="1"/>
          <p:nvPr/>
        </p:nvSpPr>
        <p:spPr>
          <a:xfrm>
            <a:off x="731520" y="3090672"/>
            <a:ext cx="2468880" cy="754380"/>
          </a:xfrm>
          <a:prstGeom prst="rect">
            <a:avLst/>
          </a:prstGeom>
          <a:noFill/>
          <a:ln/>
        </p:spPr>
        <p:txBody>
          <a:bodyPr wrap="square" lIns="0" tIns="0" rIns="0" bIns="0" rtlCol="0" anchor="ctr"/>
          <a:lstStyle/>
          <a:p>
            <a:pPr indent="0" marL="0">
              <a:buNone/>
            </a:pPr>
            <a:r>
              <a:rPr lang="en-US" sz="3400" b="1" dirty="0">
                <a:solidFill>
                  <a:schemeClr val="accent1"/>
                </a:solidFill>
                <a:latin typeface="Cambria" pitchFamily="34" charset="0"/>
                <a:ea typeface="Cambria" pitchFamily="34" charset="-122"/>
                <a:cs typeface="Cambria" pitchFamily="34" charset="-120"/>
              </a:rPr>
              <a:t>15</a:t>
            </a:r>
            <a:endParaRPr lang="en-US" sz="3400" dirty="0"/>
          </a:p>
        </p:txBody>
      </p:sp>
      <p:sp>
        <p:nvSpPr>
          <p:cNvPr id="8" name="Text 6"/>
          <p:cNvSpPr txBox="1"/>
          <p:nvPr/>
        </p:nvSpPr>
        <p:spPr>
          <a:xfrm>
            <a:off x="731520" y="3874313"/>
            <a:ext cx="2468880" cy="603504"/>
          </a:xfrm>
          <a:prstGeom prst="rect">
            <a:avLst/>
          </a:prstGeom>
          <a:noFill/>
          <a:ln/>
        </p:spPr>
        <p:txBody>
          <a:bodyPr wrap="square" lIns="0" tIns="0" rIns="0" bIns="0" rtlCol="0" anchor="t"/>
          <a:lstStyle/>
          <a:p>
            <a:pPr indent="0" marL="0">
              <a:buNone/>
            </a:pPr>
            <a:r>
              <a:rPr lang="en-US" sz="1050" dirty="0">
                <a:solidFill>
                  <a:schemeClr val="tx2"/>
                </a:solidFill>
              </a:rPr>
              <a:t>software products renewed or newly licensed, activated 30 Sep – 7 Nov 2025</a:t>
            </a:r>
            <a:endParaRPr lang="en-US" sz="1050" dirty="0"/>
          </a:p>
        </p:txBody>
      </p:sp>
      <p:sp>
        <p:nvSpPr>
          <p:cNvPr id="9" name="card"/>
          <p:cNvSpPr/>
          <p:nvPr/>
        </p:nvSpPr>
        <p:spPr>
          <a:xfrm>
            <a:off x="548640" y="4626864"/>
            <a:ext cx="2834640" cy="1508760"/>
          </a:xfrm>
          <a:prstGeom prst="roundRect">
            <a:avLst>
              <a:gd name="adj" fmla="val 7273"/>
            </a:avLst>
          </a:prstGeom>
          <a:solidFill>
            <a:schemeClr val="bg2"/>
          </a:solidFill>
          <a:ln w="12700">
            <a:solidFill>
              <a:schemeClr val="bg2"/>
            </a:solidFill>
            <a:prstDash val="solid"/>
          </a:ln>
        </p:spPr>
      </p:sp>
      <p:sp>
        <p:nvSpPr>
          <p:cNvPr id="10" name="Text 8"/>
          <p:cNvSpPr txBox="1"/>
          <p:nvPr/>
        </p:nvSpPr>
        <p:spPr>
          <a:xfrm>
            <a:off x="731520" y="4718304"/>
            <a:ext cx="2468880" cy="754380"/>
          </a:xfrm>
          <a:prstGeom prst="rect">
            <a:avLst/>
          </a:prstGeom>
          <a:noFill/>
          <a:ln/>
        </p:spPr>
        <p:txBody>
          <a:bodyPr wrap="square" lIns="0" tIns="0" rIns="0" bIns="0" rtlCol="0" anchor="ctr"/>
          <a:lstStyle/>
          <a:p>
            <a:pPr indent="0" marL="0">
              <a:buNone/>
            </a:pPr>
            <a:r>
              <a:rPr lang="en-US" sz="3400" b="1" dirty="0">
                <a:solidFill>
                  <a:schemeClr val="accent1"/>
                </a:solidFill>
                <a:latin typeface="Cambria" pitchFamily="34" charset="0"/>
                <a:ea typeface="Cambria" pitchFamily="34" charset="-122"/>
                <a:cs typeface="Cambria" pitchFamily="34" charset="-120"/>
              </a:rPr>
              <a:t>2</a:t>
            </a:r>
            <a:endParaRPr lang="en-US" sz="3400" dirty="0"/>
          </a:p>
        </p:txBody>
      </p:sp>
      <p:sp>
        <p:nvSpPr>
          <p:cNvPr id="11" name="Text 9"/>
          <p:cNvSpPr txBox="1"/>
          <p:nvPr/>
        </p:nvSpPr>
        <p:spPr>
          <a:xfrm>
            <a:off x="731520" y="5501945"/>
            <a:ext cx="2468880" cy="603504"/>
          </a:xfrm>
          <a:prstGeom prst="rect">
            <a:avLst/>
          </a:prstGeom>
          <a:noFill/>
          <a:ln/>
        </p:spPr>
        <p:txBody>
          <a:bodyPr wrap="square" lIns="0" tIns="0" rIns="0" bIns="0" rtlCol="0" anchor="t"/>
          <a:lstStyle/>
          <a:p>
            <a:pPr indent="0" marL="0">
              <a:buNone/>
            </a:pPr>
            <a:r>
              <a:rPr lang="en-US" sz="1050" dirty="0">
                <a:solidFill>
                  <a:schemeClr val="tx2"/>
                </a:solidFill>
              </a:rPr>
              <a:t>shipments cleared through Mongolian customs, 7 Sep and 13 Oct 2025</a:t>
            </a:r>
            <a:endParaRPr lang="en-US" sz="1050" dirty="0"/>
          </a:p>
        </p:txBody>
      </p:sp>
      <p:sp>
        <p:nvSpPr>
          <p:cNvPr id="12" name="card"/>
          <p:cNvSpPr/>
          <p:nvPr/>
        </p:nvSpPr>
        <p:spPr>
          <a:xfrm>
            <a:off x="3611880" y="1371600"/>
            <a:ext cx="5760720" cy="4754880"/>
          </a:xfrm>
          <a:prstGeom prst="roundRect">
            <a:avLst>
              <a:gd name="adj" fmla="val 2308"/>
            </a:avLst>
          </a:prstGeom>
          <a:solidFill>
            <a:schemeClr val="bg2"/>
          </a:solidFill>
          <a:ln w="12700">
            <a:solidFill>
              <a:schemeClr val="bg2"/>
            </a:solidFill>
            <a:prstDash val="solid"/>
          </a:ln>
        </p:spPr>
      </p:sp>
      <p:sp>
        <p:nvSpPr>
          <p:cNvPr id="13" name="icon circle"/>
          <p:cNvSpPr/>
          <p:nvPr/>
        </p:nvSpPr>
        <p:spPr>
          <a:xfrm>
            <a:off x="3840480" y="1572768"/>
            <a:ext cx="548640" cy="548640"/>
          </a:xfrm>
          <a:prstGeom prst="ellipse">
            <a:avLst/>
          </a:prstGeom>
          <a:solidFill>
            <a:schemeClr val="accent2"/>
          </a:solidFill>
          <a:ln w="12700">
            <a:solidFill>
              <a:schemeClr val="accent2"/>
            </a:solidFill>
            <a:prstDash val="solid"/>
          </a:ln>
        </p:spPr>
      </p:sp>
      <p:pic>
        <p:nvPicPr>
          <p:cNvPr id="14" name="FaFileSignature" descr="preencoded.png">    </p:cNvPr>
          <p:cNvPicPr>
            <a:picLocks noChangeAspect="1"/>
          </p:cNvPicPr>
          <p:nvPr/>
        </p:nvPicPr>
        <p:blipFill>
          <a:blip r:embed="rId1"/>
          <a:stretch>
            <a:fillRect/>
          </a:stretch>
        </p:blipFill>
        <p:spPr>
          <a:xfrm>
            <a:off x="3983126" y="1715414"/>
            <a:ext cx="263347" cy="263347"/>
          </a:xfrm>
          <a:prstGeom prst="rect">
            <a:avLst/>
          </a:prstGeom>
        </p:spPr>
      </p:pic>
      <p:sp>
        <p:nvSpPr>
          <p:cNvPr id="15" name="Text 12"/>
          <p:cNvSpPr txBox="1"/>
          <p:nvPr/>
        </p:nvSpPr>
        <p:spPr>
          <a:xfrm>
            <a:off x="4526280" y="1554480"/>
            <a:ext cx="4663440" cy="594360"/>
          </a:xfrm>
          <a:prstGeom prst="rect">
            <a:avLst/>
          </a:prstGeom>
          <a:noFill/>
          <a:ln/>
        </p:spPr>
        <p:txBody>
          <a:bodyPr wrap="square" lIns="0" tIns="0" rIns="0" bIns="0" rtlCol="0" anchor="ctr"/>
          <a:lstStyle/>
          <a:p>
            <a:pPr indent="0" marL="0">
              <a:buNone/>
            </a:pPr>
            <a:r>
              <a:rPr lang="en-US" sz="1150" b="1" dirty="0">
                <a:solidFill>
                  <a:schemeClr val="tx1"/>
                </a:solidFill>
              </a:rPr>
              <a:t>Supply order IDS/DCyA/D/Mongolia/2025-26 of 10 June 2025 – Defence Cyber Agency and C-DAC</a:t>
            </a:r>
            <a:endParaRPr lang="en-US" sz="1150" dirty="0"/>
          </a:p>
        </p:txBody>
      </p:sp>
      <p:sp>
        <p:nvSpPr>
          <p:cNvPr id="16" name="Text 13"/>
          <p:cNvSpPr txBox="1"/>
          <p:nvPr/>
        </p:nvSpPr>
        <p:spPr>
          <a:xfrm>
            <a:off x="3840480" y="2331720"/>
            <a:ext cx="5303520" cy="320040"/>
          </a:xfrm>
          <a:prstGeom prst="rect">
            <a:avLst/>
          </a:prstGeom>
          <a:noFill/>
          <a:ln/>
        </p:spPr>
        <p:txBody>
          <a:bodyPr wrap="square" lIns="0" tIns="0" rIns="0" bIns="0" rtlCol="0" anchor="t"/>
          <a:lstStyle/>
          <a:p>
            <a:pPr indent="0" marL="0">
              <a:buNone/>
            </a:pPr>
            <a:r>
              <a:rPr lang="en-US" sz="1250" b="1" dirty="0">
                <a:solidFill>
                  <a:schemeClr val="accent2"/>
                </a:solidFill>
              </a:rPr>
              <a:t>Forensics</a:t>
            </a:r>
            <a:endParaRPr lang="en-US" sz="1250" dirty="0"/>
          </a:p>
        </p:txBody>
      </p:sp>
      <p:sp>
        <p:nvSpPr>
          <p:cNvPr id="17" name="Text 14"/>
          <p:cNvSpPr txBox="1"/>
          <p:nvPr/>
        </p:nvSpPr>
        <p:spPr>
          <a:xfrm>
            <a:off x="3840480" y="2651760"/>
            <a:ext cx="5303520" cy="868680"/>
          </a:xfrm>
          <a:prstGeom prst="rect">
            <a:avLst/>
          </a:prstGeom>
          <a:noFill/>
          <a:ln/>
        </p:spPr>
        <p:txBody>
          <a:bodyPr wrap="square" lIns="0" tIns="0" rIns="0" bIns="0" rtlCol="0" anchor="t"/>
          <a:lstStyle/>
          <a:p>
            <a:pPr indent="0" marL="0">
              <a:buNone/>
            </a:pPr>
            <a:r>
              <a:rPr lang="en-US" sz="1100" dirty="0">
                <a:solidFill>
                  <a:schemeClr val="tx2"/>
                </a:solidFill>
              </a:rPr>
              <a:t>Exterro FTK · Cellebrite Inseyets · Oxygen Detective · Belkasoft Evidence Center · F-Response Tactical · Stellar Data Recovery</a:t>
            </a:r>
            <a:endParaRPr lang="en-US" sz="1100" dirty="0"/>
          </a:p>
        </p:txBody>
      </p:sp>
      <p:sp>
        <p:nvSpPr>
          <p:cNvPr id="18" name="Text 15"/>
          <p:cNvSpPr txBox="1"/>
          <p:nvPr/>
        </p:nvSpPr>
        <p:spPr>
          <a:xfrm>
            <a:off x="3840480" y="3566160"/>
            <a:ext cx="5303520" cy="320040"/>
          </a:xfrm>
          <a:prstGeom prst="rect">
            <a:avLst/>
          </a:prstGeom>
          <a:noFill/>
          <a:ln/>
        </p:spPr>
        <p:txBody>
          <a:bodyPr wrap="square" lIns="0" tIns="0" rIns="0" bIns="0" rtlCol="0" anchor="t"/>
          <a:lstStyle/>
          <a:p>
            <a:pPr indent="0" marL="0">
              <a:buNone/>
            </a:pPr>
            <a:r>
              <a:rPr lang="en-US" sz="1250" b="1" dirty="0">
                <a:solidFill>
                  <a:schemeClr val="accent2"/>
                </a:solidFill>
              </a:rPr>
              <a:t>Malware and vulnerability</a:t>
            </a:r>
            <a:endParaRPr lang="en-US" sz="1250" dirty="0"/>
          </a:p>
        </p:txBody>
      </p:sp>
      <p:sp>
        <p:nvSpPr>
          <p:cNvPr id="19" name="Text 16"/>
          <p:cNvSpPr txBox="1"/>
          <p:nvPr/>
        </p:nvSpPr>
        <p:spPr>
          <a:xfrm>
            <a:off x="3840480" y="3886200"/>
            <a:ext cx="5303520" cy="868680"/>
          </a:xfrm>
          <a:prstGeom prst="rect">
            <a:avLst/>
          </a:prstGeom>
          <a:noFill/>
          <a:ln/>
        </p:spPr>
        <p:txBody>
          <a:bodyPr wrap="square" lIns="0" tIns="0" rIns="0" bIns="0" rtlCol="0" anchor="t"/>
          <a:lstStyle/>
          <a:p>
            <a:pPr indent="0" marL="0">
              <a:buNone/>
            </a:pPr>
            <a:r>
              <a:rPr lang="en-US" sz="1100" dirty="0">
                <a:solidFill>
                  <a:schemeClr val="tx2"/>
                </a:solidFill>
              </a:rPr>
              <a:t>IDA Pro · Nessus Pro (128 IPs) · Burp Suite ×5 · Acunetix · Invicti</a:t>
            </a:r>
            <a:endParaRPr lang="en-US" sz="1100" dirty="0"/>
          </a:p>
        </p:txBody>
      </p:sp>
      <p:sp>
        <p:nvSpPr>
          <p:cNvPr id="20" name="Text 17"/>
          <p:cNvSpPr txBox="1"/>
          <p:nvPr/>
        </p:nvSpPr>
        <p:spPr>
          <a:xfrm>
            <a:off x="3840480" y="4800600"/>
            <a:ext cx="5303520" cy="320040"/>
          </a:xfrm>
          <a:prstGeom prst="rect">
            <a:avLst/>
          </a:prstGeom>
          <a:noFill/>
          <a:ln/>
        </p:spPr>
        <p:txBody>
          <a:bodyPr wrap="square" lIns="0" tIns="0" rIns="0" bIns="0" rtlCol="0" anchor="t"/>
          <a:lstStyle/>
          <a:p>
            <a:pPr indent="0" marL="0">
              <a:buNone/>
            </a:pPr>
            <a:r>
              <a:rPr lang="en-US" sz="1250" b="1" dirty="0">
                <a:solidFill>
                  <a:schemeClr val="accent2"/>
                </a:solidFill>
              </a:rPr>
              <a:t>Platform</a:t>
            </a:r>
            <a:endParaRPr lang="en-US" sz="1250" dirty="0"/>
          </a:p>
        </p:txBody>
      </p:sp>
      <p:sp>
        <p:nvSpPr>
          <p:cNvPr id="21" name="Text 18"/>
          <p:cNvSpPr txBox="1"/>
          <p:nvPr/>
        </p:nvSpPr>
        <p:spPr>
          <a:xfrm>
            <a:off x="3840480" y="5120640"/>
            <a:ext cx="5303520" cy="868680"/>
          </a:xfrm>
          <a:prstGeom prst="rect">
            <a:avLst/>
          </a:prstGeom>
          <a:noFill/>
          <a:ln/>
        </p:spPr>
        <p:txBody>
          <a:bodyPr wrap="square" lIns="0" tIns="0" rIns="0" bIns="0" rtlCol="0" anchor="t"/>
          <a:lstStyle/>
          <a:p>
            <a:pPr indent="0" marL="0">
              <a:buNone/>
            </a:pPr>
            <a:r>
              <a:rPr lang="en-US" sz="1100" dirty="0">
                <a:solidFill>
                  <a:schemeClr val="tx2"/>
                </a:solidFill>
              </a:rPr>
              <a:t>VMware vSphere Foundation · VMware Workstation Pro ×10 · Red Hat Enterprise Linux ×5 · WatchGuard M470 subscription ×2</a:t>
            </a:r>
            <a:endParaRPr lang="en-US" sz="1100" dirty="0"/>
          </a:p>
        </p:txBody>
      </p:sp>
      <p:pic>
        <p:nvPicPr>
          <p:cNvPr id="22" name="server_room.jpg" descr="/home/user/research-material/india-cyber-cooperation/images/server_room.jpg">    </p:cNvPr>
          <p:cNvPicPr>
            <a:picLocks noChangeAspect="1"/>
          </p:cNvPicPr>
          <p:nvPr/>
        </p:nvPicPr>
        <p:blipFill>
          <a:blip r:embed="rId2"/>
          <a:srcRect l="0" r="0" t="0" b="0"/>
          <a:stretch/>
        </p:blipFill>
        <p:spPr>
          <a:xfrm>
            <a:off x="9601200" y="1371600"/>
            <a:ext cx="2011680" cy="2560320"/>
          </a:xfrm>
          <a:prstGeom prst="rect">
            <a:avLst/>
          </a:prstGeom>
        </p:spPr>
      </p:pic>
      <p:sp>
        <p:nvSpPr>
          <p:cNvPr id="23" name="Text 19"/>
          <p:cNvSpPr txBox="1"/>
          <p:nvPr/>
        </p:nvSpPr>
        <p:spPr>
          <a:xfrm>
            <a:off x="9601200" y="3977640"/>
            <a:ext cx="2011680" cy="274320"/>
          </a:xfrm>
          <a:prstGeom prst="rect">
            <a:avLst/>
          </a:prstGeom>
          <a:noFill/>
          <a:ln/>
        </p:spPr>
        <p:txBody>
          <a:bodyPr wrap="square" lIns="0" tIns="0" rIns="0" bIns="0" rtlCol="0" anchor="t"/>
          <a:lstStyle/>
          <a:p>
            <a:pPr indent="0" marL="0">
              <a:buNone/>
            </a:pPr>
            <a:r>
              <a:rPr lang="en-US" sz="1050" dirty="0">
                <a:solidFill>
                  <a:schemeClr val="tx2"/>
                </a:solidFill>
              </a:rPr>
              <a:t>Data centre racks</a:t>
            </a:r>
            <a:endParaRPr lang="en-US" sz="1050" dirty="0"/>
          </a:p>
        </p:txBody>
      </p:sp>
      <p:pic>
        <p:nvPicPr>
          <p:cNvPr id="24" name="lab_incident.jpg" descr="/home/user/research-material/india-cyber-cooperation/images/lab_incident.jpg">    </p:cNvPr>
          <p:cNvPicPr>
            <a:picLocks noChangeAspect="1"/>
          </p:cNvPicPr>
          <p:nvPr/>
        </p:nvPicPr>
        <p:blipFill>
          <a:blip r:embed="rId3"/>
          <a:srcRect l="0" r="0" t="0" b="0"/>
          <a:stretch/>
        </p:blipFill>
        <p:spPr>
          <a:xfrm>
            <a:off x="9601200" y="4251960"/>
            <a:ext cx="2011680" cy="1536192"/>
          </a:xfrm>
          <a:prstGeom prst="rect">
            <a:avLst/>
          </a:prstGeom>
        </p:spPr>
      </p:pic>
      <p:sp>
        <p:nvSpPr>
          <p:cNvPr id="25" name="Text 20"/>
          <p:cNvSpPr txBox="1"/>
          <p:nvPr/>
        </p:nvSpPr>
        <p:spPr>
          <a:xfrm>
            <a:off x="9601200" y="5833872"/>
            <a:ext cx="2011680" cy="274320"/>
          </a:xfrm>
          <a:prstGeom prst="rect">
            <a:avLst/>
          </a:prstGeom>
          <a:noFill/>
          <a:ln/>
        </p:spPr>
        <p:txBody>
          <a:bodyPr wrap="square" lIns="0" tIns="0" rIns="0" bIns="0" rtlCol="0" anchor="t"/>
          <a:lstStyle/>
          <a:p>
            <a:pPr indent="0" marL="0">
              <a:buNone/>
            </a:pPr>
            <a:r>
              <a:rPr lang="en-US" sz="1050" dirty="0">
                <a:solidFill>
                  <a:schemeClr val="tx2"/>
                </a:solidFill>
              </a:rPr>
              <a:t>Upgraded workstations</a:t>
            </a:r>
            <a:endParaRPr lang="en-US" sz="105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474"/>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000" b="1" dirty="0">
                <a:solidFill>
                  <a:schemeClr val="tx1"/>
                </a:solidFill>
              </a:rPr>
              <a:t>Milestones of the cooperation, 2022–2026</a:t>
            </a:r>
            <a:endParaRPr lang="en-US" sz="3000" dirty="0"/>
          </a:p>
        </p:txBody>
      </p:sp>
      <p:sp>
        <p:nvSpPr>
          <p:cNvPr id="3" name="date chip"/>
          <p:cNvSpPr/>
          <p:nvPr/>
        </p:nvSpPr>
        <p:spPr>
          <a:xfrm>
            <a:off x="548640" y="1463040"/>
            <a:ext cx="1143000" cy="310896"/>
          </a:xfrm>
          <a:prstGeom prst="roundRect">
            <a:avLst>
              <a:gd name="adj" fmla="val 50000"/>
            </a:avLst>
          </a:prstGeom>
          <a:solidFill>
            <a:schemeClr val="accent1"/>
          </a:solidFill>
          <a:ln w="12700">
            <a:solidFill>
              <a:schemeClr val="accent1"/>
            </a:solidFill>
            <a:prstDash val="solid"/>
          </a:ln>
        </p:spPr>
      </p:sp>
      <p:sp>
        <p:nvSpPr>
          <p:cNvPr id="4" name="Text 2"/>
          <p:cNvSpPr txBox="1"/>
          <p:nvPr/>
        </p:nvSpPr>
        <p:spPr>
          <a:xfrm>
            <a:off x="548640" y="1463040"/>
            <a:ext cx="1143000" cy="310896"/>
          </a:xfrm>
          <a:prstGeom prst="rect">
            <a:avLst/>
          </a:prstGeom>
          <a:noFill/>
          <a:ln/>
        </p:spPr>
        <p:txBody>
          <a:bodyPr wrap="square" lIns="0" tIns="0" rIns="0" bIns="0" rtlCol="0" anchor="ctr"/>
          <a:lstStyle/>
          <a:p>
            <a:pPr algn="ctr" indent="0" marL="0">
              <a:buNone/>
            </a:pPr>
            <a:r>
              <a:rPr lang="en-US" sz="1050" b="1" dirty="0">
                <a:solidFill>
                  <a:schemeClr val="bg1"/>
                </a:solidFill>
              </a:rPr>
              <a:t>Sep 2022</a:t>
            </a:r>
            <a:endParaRPr lang="en-US" sz="1050" dirty="0"/>
          </a:p>
        </p:txBody>
      </p:sp>
      <p:sp>
        <p:nvSpPr>
          <p:cNvPr id="5" name="Text 3"/>
          <p:cNvSpPr txBox="1"/>
          <p:nvPr/>
        </p:nvSpPr>
        <p:spPr>
          <a:xfrm>
            <a:off x="1874520" y="1371600"/>
            <a:ext cx="4206240" cy="329184"/>
          </a:xfrm>
          <a:prstGeom prst="rect">
            <a:avLst/>
          </a:prstGeom>
          <a:noFill/>
          <a:ln/>
        </p:spPr>
        <p:txBody>
          <a:bodyPr wrap="square" lIns="0" tIns="0" rIns="0" bIns="0" rtlCol="0" anchor="t"/>
          <a:lstStyle/>
          <a:p>
            <a:pPr indent="0" marL="0">
              <a:buNone/>
            </a:pPr>
            <a:r>
              <a:rPr lang="en-US" sz="1250" b="1" dirty="0">
                <a:solidFill>
                  <a:schemeClr val="tx1"/>
                </a:solidFill>
              </a:rPr>
              <a:t>Centre inaugurated</a:t>
            </a:r>
            <a:endParaRPr lang="en-US" sz="1250" dirty="0"/>
          </a:p>
        </p:txBody>
      </p:sp>
      <p:sp>
        <p:nvSpPr>
          <p:cNvPr id="6" name="Text 4"/>
          <p:cNvSpPr txBox="1"/>
          <p:nvPr/>
        </p:nvSpPr>
        <p:spPr>
          <a:xfrm>
            <a:off x="1874520" y="1700784"/>
            <a:ext cx="4206240" cy="411480"/>
          </a:xfrm>
          <a:prstGeom prst="rect">
            <a:avLst/>
          </a:prstGeom>
          <a:noFill/>
          <a:ln/>
        </p:spPr>
        <p:txBody>
          <a:bodyPr wrap="square" lIns="0" tIns="0" rIns="0" bIns="0" rtlCol="0" anchor="t"/>
          <a:lstStyle/>
          <a:p>
            <a:pPr indent="0" marL="0">
              <a:buNone/>
            </a:pPr>
            <a:r>
              <a:rPr lang="en-US" sz="1050" dirty="0">
                <a:solidFill>
                  <a:schemeClr val="tx2"/>
                </a:solidFill>
              </a:rPr>
              <a:t>Raksha Mantri's first visit to Mongolia</a:t>
            </a:r>
            <a:endParaRPr lang="en-US" sz="1050" dirty="0"/>
          </a:p>
        </p:txBody>
      </p:sp>
      <p:sp>
        <p:nvSpPr>
          <p:cNvPr id="7" name="date chip"/>
          <p:cNvSpPr/>
          <p:nvPr/>
        </p:nvSpPr>
        <p:spPr>
          <a:xfrm>
            <a:off x="548640" y="2249424"/>
            <a:ext cx="1143000" cy="310896"/>
          </a:xfrm>
          <a:prstGeom prst="roundRect">
            <a:avLst>
              <a:gd name="adj" fmla="val 50000"/>
            </a:avLst>
          </a:prstGeom>
          <a:solidFill>
            <a:schemeClr val="accent2"/>
          </a:solidFill>
          <a:ln w="12700">
            <a:solidFill>
              <a:schemeClr val="accent2"/>
            </a:solidFill>
            <a:prstDash val="solid"/>
          </a:ln>
        </p:spPr>
      </p:sp>
      <p:sp>
        <p:nvSpPr>
          <p:cNvPr id="8" name="Text 6"/>
          <p:cNvSpPr txBox="1"/>
          <p:nvPr/>
        </p:nvSpPr>
        <p:spPr>
          <a:xfrm>
            <a:off x="548640" y="2249424"/>
            <a:ext cx="1143000" cy="310896"/>
          </a:xfrm>
          <a:prstGeom prst="rect">
            <a:avLst/>
          </a:prstGeom>
          <a:noFill/>
          <a:ln/>
        </p:spPr>
        <p:txBody>
          <a:bodyPr wrap="square" lIns="0" tIns="0" rIns="0" bIns="0" rtlCol="0" anchor="ctr"/>
          <a:lstStyle/>
          <a:p>
            <a:pPr algn="ctr" indent="0" marL="0">
              <a:buNone/>
            </a:pPr>
            <a:r>
              <a:rPr lang="en-US" sz="1050" b="1" dirty="0">
                <a:solidFill>
                  <a:schemeClr val="bg1"/>
                </a:solidFill>
              </a:rPr>
              <a:t>Jan 2023</a:t>
            </a:r>
            <a:endParaRPr lang="en-US" sz="1050" dirty="0"/>
          </a:p>
        </p:txBody>
      </p:sp>
      <p:sp>
        <p:nvSpPr>
          <p:cNvPr id="9" name="Text 7"/>
          <p:cNvSpPr txBox="1"/>
          <p:nvPr/>
        </p:nvSpPr>
        <p:spPr>
          <a:xfrm>
            <a:off x="1874520" y="2157984"/>
            <a:ext cx="4206240" cy="329184"/>
          </a:xfrm>
          <a:prstGeom prst="rect">
            <a:avLst/>
          </a:prstGeom>
          <a:noFill/>
          <a:ln/>
        </p:spPr>
        <p:txBody>
          <a:bodyPr wrap="square" lIns="0" tIns="0" rIns="0" bIns="0" rtlCol="0" anchor="t"/>
          <a:lstStyle/>
          <a:p>
            <a:pPr indent="0" marL="0">
              <a:buNone/>
            </a:pPr>
            <a:r>
              <a:rPr lang="en-US" sz="1250" b="1" dirty="0">
                <a:solidFill>
                  <a:schemeClr val="tx1"/>
                </a:solidFill>
              </a:rPr>
              <a:t>Centre staffed</a:t>
            </a:r>
            <a:endParaRPr lang="en-US" sz="1250" dirty="0"/>
          </a:p>
        </p:txBody>
      </p:sp>
      <p:sp>
        <p:nvSpPr>
          <p:cNvPr id="10" name="Text 8"/>
          <p:cNvSpPr txBox="1"/>
          <p:nvPr/>
        </p:nvSpPr>
        <p:spPr>
          <a:xfrm>
            <a:off x="1874520" y="2487168"/>
            <a:ext cx="4206240" cy="411480"/>
          </a:xfrm>
          <a:prstGeom prst="rect">
            <a:avLst/>
          </a:prstGeom>
          <a:noFill/>
          <a:ln/>
        </p:spPr>
        <p:txBody>
          <a:bodyPr wrap="square" lIns="0" tIns="0" rIns="0" bIns="0" rtlCol="0" anchor="t"/>
          <a:lstStyle/>
          <a:p>
            <a:pPr indent="0" marL="0">
              <a:buNone/>
            </a:pPr>
            <a:r>
              <a:rPr lang="en-US" sz="1050" dirty="0">
                <a:solidFill>
                  <a:schemeClr val="tx2"/>
                </a:solidFill>
              </a:rPr>
              <a:t>Head and three teachers appointed by the MoD</a:t>
            </a:r>
            <a:endParaRPr lang="en-US" sz="1050" dirty="0"/>
          </a:p>
        </p:txBody>
      </p:sp>
      <p:sp>
        <p:nvSpPr>
          <p:cNvPr id="11" name="date chip"/>
          <p:cNvSpPr/>
          <p:nvPr/>
        </p:nvSpPr>
        <p:spPr>
          <a:xfrm>
            <a:off x="548640" y="3035808"/>
            <a:ext cx="1143000" cy="310896"/>
          </a:xfrm>
          <a:prstGeom prst="roundRect">
            <a:avLst>
              <a:gd name="adj" fmla="val 50000"/>
            </a:avLst>
          </a:prstGeom>
          <a:solidFill>
            <a:schemeClr val="accent3"/>
          </a:solidFill>
          <a:ln w="12700">
            <a:solidFill>
              <a:schemeClr val="accent3"/>
            </a:solidFill>
            <a:prstDash val="solid"/>
          </a:ln>
        </p:spPr>
      </p:sp>
      <p:sp>
        <p:nvSpPr>
          <p:cNvPr id="12" name="Text 10"/>
          <p:cNvSpPr txBox="1"/>
          <p:nvPr/>
        </p:nvSpPr>
        <p:spPr>
          <a:xfrm>
            <a:off x="548640" y="3035808"/>
            <a:ext cx="1143000" cy="310896"/>
          </a:xfrm>
          <a:prstGeom prst="rect">
            <a:avLst/>
          </a:prstGeom>
          <a:noFill/>
          <a:ln/>
        </p:spPr>
        <p:txBody>
          <a:bodyPr wrap="square" lIns="0" tIns="0" rIns="0" bIns="0" rtlCol="0" anchor="ctr"/>
          <a:lstStyle/>
          <a:p>
            <a:pPr algn="ctr" indent="0" marL="0">
              <a:buNone/>
            </a:pPr>
            <a:r>
              <a:rPr lang="en-US" sz="1050" b="1" dirty="0">
                <a:solidFill>
                  <a:schemeClr val="bg1"/>
                </a:solidFill>
              </a:rPr>
              <a:t>Feb 2023</a:t>
            </a:r>
            <a:endParaRPr lang="en-US" sz="1050" dirty="0"/>
          </a:p>
        </p:txBody>
      </p:sp>
      <p:sp>
        <p:nvSpPr>
          <p:cNvPr id="13" name="Text 11"/>
          <p:cNvSpPr txBox="1"/>
          <p:nvPr/>
        </p:nvSpPr>
        <p:spPr>
          <a:xfrm>
            <a:off x="1874520" y="2944368"/>
            <a:ext cx="4206240" cy="329184"/>
          </a:xfrm>
          <a:prstGeom prst="rect">
            <a:avLst/>
          </a:prstGeom>
          <a:noFill/>
          <a:ln/>
        </p:spPr>
        <p:txBody>
          <a:bodyPr wrap="square" lIns="0" tIns="0" rIns="0" bIns="0" rtlCol="0" anchor="t"/>
          <a:lstStyle/>
          <a:p>
            <a:pPr indent="0" marL="0">
              <a:buNone/>
            </a:pPr>
            <a:r>
              <a:rPr lang="en-US" sz="1250" b="1" dirty="0">
                <a:solidFill>
                  <a:schemeClr val="tx1"/>
                </a:solidFill>
              </a:rPr>
              <a:t>11th Joint Working Group</a:t>
            </a:r>
            <a:endParaRPr lang="en-US" sz="1250" dirty="0"/>
          </a:p>
        </p:txBody>
      </p:sp>
      <p:sp>
        <p:nvSpPr>
          <p:cNvPr id="14" name="Text 12"/>
          <p:cNvSpPr txBox="1"/>
          <p:nvPr/>
        </p:nvSpPr>
        <p:spPr>
          <a:xfrm>
            <a:off x="1874520" y="3273552"/>
            <a:ext cx="4206240" cy="411480"/>
          </a:xfrm>
          <a:prstGeom prst="rect">
            <a:avLst/>
          </a:prstGeom>
          <a:noFill/>
          <a:ln/>
        </p:spPr>
        <p:txBody>
          <a:bodyPr wrap="square" lIns="0" tIns="0" rIns="0" bIns="0" rtlCol="0" anchor="t"/>
          <a:lstStyle/>
          <a:p>
            <a:pPr indent="0" marL="0">
              <a:buNone/>
            </a:pPr>
            <a:r>
              <a:rPr lang="en-US" sz="1050" dirty="0">
                <a:solidFill>
                  <a:schemeClr val="tx2"/>
                </a:solidFill>
              </a:rPr>
              <a:t>New Delhi – first in-person JWG after the pandemic</a:t>
            </a:r>
            <a:endParaRPr lang="en-US" sz="1050" dirty="0"/>
          </a:p>
        </p:txBody>
      </p:sp>
      <p:sp>
        <p:nvSpPr>
          <p:cNvPr id="15" name="date chip"/>
          <p:cNvSpPr/>
          <p:nvPr/>
        </p:nvSpPr>
        <p:spPr>
          <a:xfrm>
            <a:off x="548640" y="3822192"/>
            <a:ext cx="1143000" cy="310896"/>
          </a:xfrm>
          <a:prstGeom prst="roundRect">
            <a:avLst>
              <a:gd name="adj" fmla="val 50000"/>
            </a:avLst>
          </a:prstGeom>
          <a:solidFill>
            <a:schemeClr val="accent1"/>
          </a:solidFill>
          <a:ln w="12700">
            <a:solidFill>
              <a:schemeClr val="accent1"/>
            </a:solidFill>
            <a:prstDash val="solid"/>
          </a:ln>
        </p:spPr>
      </p:sp>
      <p:sp>
        <p:nvSpPr>
          <p:cNvPr id="16" name="Text 14"/>
          <p:cNvSpPr txBox="1"/>
          <p:nvPr/>
        </p:nvSpPr>
        <p:spPr>
          <a:xfrm>
            <a:off x="548640" y="3822192"/>
            <a:ext cx="1143000" cy="310896"/>
          </a:xfrm>
          <a:prstGeom prst="rect">
            <a:avLst/>
          </a:prstGeom>
          <a:noFill/>
          <a:ln/>
        </p:spPr>
        <p:txBody>
          <a:bodyPr wrap="square" lIns="0" tIns="0" rIns="0" bIns="0" rtlCol="0" anchor="ctr"/>
          <a:lstStyle/>
          <a:p>
            <a:pPr algn="ctr" indent="0" marL="0">
              <a:buNone/>
            </a:pPr>
            <a:r>
              <a:rPr lang="en-US" sz="1050" b="1" dirty="0">
                <a:solidFill>
                  <a:schemeClr val="bg1"/>
                </a:solidFill>
              </a:rPr>
              <a:t>Aug 2023</a:t>
            </a:r>
            <a:endParaRPr lang="en-US" sz="1050" dirty="0"/>
          </a:p>
        </p:txBody>
      </p:sp>
      <p:sp>
        <p:nvSpPr>
          <p:cNvPr id="17" name="Text 15"/>
          <p:cNvSpPr txBox="1"/>
          <p:nvPr/>
        </p:nvSpPr>
        <p:spPr>
          <a:xfrm>
            <a:off x="1874520" y="3730752"/>
            <a:ext cx="4206240" cy="329184"/>
          </a:xfrm>
          <a:prstGeom prst="rect">
            <a:avLst/>
          </a:prstGeom>
          <a:noFill/>
          <a:ln/>
        </p:spPr>
        <p:txBody>
          <a:bodyPr wrap="square" lIns="0" tIns="0" rIns="0" bIns="0" rtlCol="0" anchor="t"/>
          <a:lstStyle/>
          <a:p>
            <a:pPr indent="0" marL="0">
              <a:buNone/>
            </a:pPr>
            <a:r>
              <a:rPr lang="en-US" sz="1250" b="1" dirty="0">
                <a:solidFill>
                  <a:schemeClr val="tx1"/>
                </a:solidFill>
              </a:rPr>
              <a:t>First training team</a:t>
            </a:r>
            <a:endParaRPr lang="en-US" sz="1250" dirty="0"/>
          </a:p>
        </p:txBody>
      </p:sp>
      <p:sp>
        <p:nvSpPr>
          <p:cNvPr id="18" name="Text 16"/>
          <p:cNvSpPr txBox="1"/>
          <p:nvPr/>
        </p:nvSpPr>
        <p:spPr>
          <a:xfrm>
            <a:off x="1874520" y="4059936"/>
            <a:ext cx="4206240" cy="411480"/>
          </a:xfrm>
          <a:prstGeom prst="rect">
            <a:avLst/>
          </a:prstGeom>
          <a:noFill/>
          <a:ln/>
        </p:spPr>
        <p:txBody>
          <a:bodyPr wrap="square" lIns="0" tIns="0" rIns="0" bIns="0" rtlCol="0" anchor="t"/>
          <a:lstStyle/>
          <a:p>
            <a:pPr indent="0" marL="0">
              <a:buNone/>
            </a:pPr>
            <a:r>
              <a:rPr lang="en-US" sz="1050" dirty="0">
                <a:solidFill>
                  <a:schemeClr val="tx2"/>
                </a:solidFill>
              </a:rPr>
              <a:t>Indian mobile training teams begin four-month rotations</a:t>
            </a:r>
            <a:endParaRPr lang="en-US" sz="1050" dirty="0"/>
          </a:p>
        </p:txBody>
      </p:sp>
      <p:sp>
        <p:nvSpPr>
          <p:cNvPr id="19" name="date chip"/>
          <p:cNvSpPr/>
          <p:nvPr/>
        </p:nvSpPr>
        <p:spPr>
          <a:xfrm>
            <a:off x="548640" y="4608576"/>
            <a:ext cx="1143000" cy="310896"/>
          </a:xfrm>
          <a:prstGeom prst="roundRect">
            <a:avLst>
              <a:gd name="adj" fmla="val 50000"/>
            </a:avLst>
          </a:prstGeom>
          <a:solidFill>
            <a:schemeClr val="accent3"/>
          </a:solidFill>
          <a:ln w="12700">
            <a:solidFill>
              <a:schemeClr val="accent3"/>
            </a:solidFill>
            <a:prstDash val="solid"/>
          </a:ln>
        </p:spPr>
      </p:sp>
      <p:sp>
        <p:nvSpPr>
          <p:cNvPr id="20" name="Text 18"/>
          <p:cNvSpPr txBox="1"/>
          <p:nvPr/>
        </p:nvSpPr>
        <p:spPr>
          <a:xfrm>
            <a:off x="548640" y="4608576"/>
            <a:ext cx="1143000" cy="310896"/>
          </a:xfrm>
          <a:prstGeom prst="rect">
            <a:avLst/>
          </a:prstGeom>
          <a:noFill/>
          <a:ln/>
        </p:spPr>
        <p:txBody>
          <a:bodyPr wrap="square" lIns="0" tIns="0" rIns="0" bIns="0" rtlCol="0" anchor="ctr"/>
          <a:lstStyle/>
          <a:p>
            <a:pPr algn="ctr" indent="0" marL="0">
              <a:buNone/>
            </a:pPr>
            <a:r>
              <a:rPr lang="en-US" sz="1050" b="1" dirty="0">
                <a:solidFill>
                  <a:schemeClr val="bg1"/>
                </a:solidFill>
              </a:rPr>
              <a:t>May 2024</a:t>
            </a:r>
            <a:endParaRPr lang="en-US" sz="1050" dirty="0"/>
          </a:p>
        </p:txBody>
      </p:sp>
      <p:sp>
        <p:nvSpPr>
          <p:cNvPr id="21" name="Text 19"/>
          <p:cNvSpPr txBox="1"/>
          <p:nvPr/>
        </p:nvSpPr>
        <p:spPr>
          <a:xfrm>
            <a:off x="1874520" y="4517136"/>
            <a:ext cx="4206240" cy="329184"/>
          </a:xfrm>
          <a:prstGeom prst="rect">
            <a:avLst/>
          </a:prstGeom>
          <a:noFill/>
          <a:ln/>
        </p:spPr>
        <p:txBody>
          <a:bodyPr wrap="square" lIns="0" tIns="0" rIns="0" bIns="0" rtlCol="0" anchor="t"/>
          <a:lstStyle/>
          <a:p>
            <a:pPr indent="0" marL="0">
              <a:buNone/>
            </a:pPr>
            <a:r>
              <a:rPr lang="en-US" sz="1250" b="1" dirty="0">
                <a:solidFill>
                  <a:schemeClr val="tx1"/>
                </a:solidFill>
              </a:rPr>
              <a:t>12th Joint Working Group</a:t>
            </a:r>
            <a:endParaRPr lang="en-US" sz="1250" dirty="0"/>
          </a:p>
        </p:txBody>
      </p:sp>
      <p:sp>
        <p:nvSpPr>
          <p:cNvPr id="22" name="Text 20"/>
          <p:cNvSpPr txBox="1"/>
          <p:nvPr/>
        </p:nvSpPr>
        <p:spPr>
          <a:xfrm>
            <a:off x="1874520" y="4846320"/>
            <a:ext cx="4206240" cy="411480"/>
          </a:xfrm>
          <a:prstGeom prst="rect">
            <a:avLst/>
          </a:prstGeom>
          <a:noFill/>
          <a:ln/>
        </p:spPr>
        <p:txBody>
          <a:bodyPr wrap="square" lIns="0" tIns="0" rIns="0" bIns="0" rtlCol="0" anchor="t"/>
          <a:lstStyle/>
          <a:p>
            <a:pPr indent="0" marL="0">
              <a:buNone/>
            </a:pPr>
            <a:r>
              <a:rPr lang="en-US" sz="1050" dirty="0">
                <a:solidFill>
                  <a:schemeClr val="tx2"/>
                </a:solidFill>
              </a:rPr>
              <a:t>Ulaanbaatar; 2024–2026 joint training plan approved</a:t>
            </a:r>
            <a:endParaRPr lang="en-US" sz="1050" dirty="0"/>
          </a:p>
        </p:txBody>
      </p:sp>
      <p:sp>
        <p:nvSpPr>
          <p:cNvPr id="23" name="date chip"/>
          <p:cNvSpPr/>
          <p:nvPr/>
        </p:nvSpPr>
        <p:spPr>
          <a:xfrm>
            <a:off x="548640" y="5394960"/>
            <a:ext cx="1143000" cy="310896"/>
          </a:xfrm>
          <a:prstGeom prst="roundRect">
            <a:avLst>
              <a:gd name="adj" fmla="val 50000"/>
            </a:avLst>
          </a:prstGeom>
          <a:solidFill>
            <a:schemeClr val="accent1"/>
          </a:solidFill>
          <a:ln w="12700">
            <a:solidFill>
              <a:schemeClr val="accent1"/>
            </a:solidFill>
            <a:prstDash val="solid"/>
          </a:ln>
        </p:spPr>
      </p:sp>
      <p:sp>
        <p:nvSpPr>
          <p:cNvPr id="24" name="Text 22"/>
          <p:cNvSpPr txBox="1"/>
          <p:nvPr/>
        </p:nvSpPr>
        <p:spPr>
          <a:xfrm>
            <a:off x="548640" y="5394960"/>
            <a:ext cx="1143000" cy="310896"/>
          </a:xfrm>
          <a:prstGeom prst="rect">
            <a:avLst/>
          </a:prstGeom>
          <a:noFill/>
          <a:ln/>
        </p:spPr>
        <p:txBody>
          <a:bodyPr wrap="square" lIns="0" tIns="0" rIns="0" bIns="0" rtlCol="0" anchor="ctr"/>
          <a:lstStyle/>
          <a:p>
            <a:pPr algn="ctr" indent="0" marL="0">
              <a:buNone/>
            </a:pPr>
            <a:r>
              <a:rPr lang="en-US" sz="1050" b="1" dirty="0">
                <a:solidFill>
                  <a:schemeClr val="bg1"/>
                </a:solidFill>
              </a:rPr>
              <a:t>2024</a:t>
            </a:r>
            <a:endParaRPr lang="en-US" sz="1050" dirty="0"/>
          </a:p>
        </p:txBody>
      </p:sp>
      <p:sp>
        <p:nvSpPr>
          <p:cNvPr id="25" name="Text 23"/>
          <p:cNvSpPr txBox="1"/>
          <p:nvPr/>
        </p:nvSpPr>
        <p:spPr>
          <a:xfrm>
            <a:off x="1874520" y="5303520"/>
            <a:ext cx="4206240" cy="329184"/>
          </a:xfrm>
          <a:prstGeom prst="rect">
            <a:avLst/>
          </a:prstGeom>
          <a:noFill/>
          <a:ln/>
        </p:spPr>
        <p:txBody>
          <a:bodyPr wrap="square" lIns="0" tIns="0" rIns="0" bIns="0" rtlCol="0" anchor="t"/>
          <a:lstStyle/>
          <a:p>
            <a:pPr indent="0" marL="0">
              <a:buNone/>
            </a:pPr>
            <a:r>
              <a:rPr lang="en-US" sz="1250" b="1" dirty="0">
                <a:solidFill>
                  <a:schemeClr val="tx1"/>
                </a:solidFill>
              </a:rPr>
              <a:t>Ambassador's visit</a:t>
            </a:r>
            <a:endParaRPr lang="en-US" sz="1250" dirty="0"/>
          </a:p>
        </p:txBody>
      </p:sp>
      <p:sp>
        <p:nvSpPr>
          <p:cNvPr id="26" name="Text 24"/>
          <p:cNvSpPr txBox="1"/>
          <p:nvPr/>
        </p:nvSpPr>
        <p:spPr>
          <a:xfrm>
            <a:off x="1874520" y="5632704"/>
            <a:ext cx="4206240" cy="411480"/>
          </a:xfrm>
          <a:prstGeom prst="rect">
            <a:avLst/>
          </a:prstGeom>
          <a:noFill/>
          <a:ln/>
        </p:spPr>
        <p:txBody>
          <a:bodyPr wrap="square" lIns="0" tIns="0" rIns="0" bIns="0" rtlCol="0" anchor="t"/>
          <a:lstStyle/>
          <a:p>
            <a:pPr indent="0" marL="0">
              <a:buNone/>
            </a:pPr>
            <a:r>
              <a:rPr lang="en-US" sz="1050" dirty="0">
                <a:solidFill>
                  <a:schemeClr val="tx2"/>
                </a:solidFill>
              </a:rPr>
              <a:t>Indian Ambassador reviews the Centre and upgrade needs</a:t>
            </a:r>
            <a:endParaRPr lang="en-US" sz="1050" dirty="0"/>
          </a:p>
        </p:txBody>
      </p:sp>
      <p:sp>
        <p:nvSpPr>
          <p:cNvPr id="27" name="date chip"/>
          <p:cNvSpPr/>
          <p:nvPr/>
        </p:nvSpPr>
        <p:spPr>
          <a:xfrm>
            <a:off x="6217920" y="1463040"/>
            <a:ext cx="1143000" cy="310896"/>
          </a:xfrm>
          <a:prstGeom prst="roundRect">
            <a:avLst>
              <a:gd name="adj" fmla="val 50000"/>
            </a:avLst>
          </a:prstGeom>
          <a:solidFill>
            <a:schemeClr val="accent3"/>
          </a:solidFill>
          <a:ln w="12700">
            <a:solidFill>
              <a:schemeClr val="accent3"/>
            </a:solidFill>
            <a:prstDash val="solid"/>
          </a:ln>
        </p:spPr>
      </p:sp>
      <p:sp>
        <p:nvSpPr>
          <p:cNvPr id="28" name="Text 26"/>
          <p:cNvSpPr txBox="1"/>
          <p:nvPr/>
        </p:nvSpPr>
        <p:spPr>
          <a:xfrm>
            <a:off x="6217920" y="1463040"/>
            <a:ext cx="1143000" cy="310896"/>
          </a:xfrm>
          <a:prstGeom prst="rect">
            <a:avLst/>
          </a:prstGeom>
          <a:noFill/>
          <a:ln/>
        </p:spPr>
        <p:txBody>
          <a:bodyPr wrap="square" lIns="0" tIns="0" rIns="0" bIns="0" rtlCol="0" anchor="ctr"/>
          <a:lstStyle/>
          <a:p>
            <a:pPr algn="ctr" indent="0" marL="0">
              <a:buNone/>
            </a:pPr>
            <a:r>
              <a:rPr lang="en-US" sz="1050" b="1" dirty="0">
                <a:solidFill>
                  <a:schemeClr val="bg1"/>
                </a:solidFill>
              </a:rPr>
              <a:t>Feb 2025</a:t>
            </a:r>
            <a:endParaRPr lang="en-US" sz="1050" dirty="0"/>
          </a:p>
        </p:txBody>
      </p:sp>
      <p:sp>
        <p:nvSpPr>
          <p:cNvPr id="29" name="Text 27"/>
          <p:cNvSpPr txBox="1"/>
          <p:nvPr/>
        </p:nvSpPr>
        <p:spPr>
          <a:xfrm>
            <a:off x="7543800" y="1371600"/>
            <a:ext cx="4206240" cy="329184"/>
          </a:xfrm>
          <a:prstGeom prst="rect">
            <a:avLst/>
          </a:prstGeom>
          <a:noFill/>
          <a:ln/>
        </p:spPr>
        <p:txBody>
          <a:bodyPr wrap="square" lIns="0" tIns="0" rIns="0" bIns="0" rtlCol="0" anchor="t"/>
          <a:lstStyle/>
          <a:p>
            <a:pPr indent="0" marL="0">
              <a:buNone/>
            </a:pPr>
            <a:r>
              <a:rPr lang="en-US" sz="1250" b="1" dirty="0">
                <a:solidFill>
                  <a:schemeClr val="tx1"/>
                </a:solidFill>
              </a:rPr>
              <a:t>13th Joint Working Group</a:t>
            </a:r>
            <a:endParaRPr lang="en-US" sz="1250" dirty="0"/>
          </a:p>
        </p:txBody>
      </p:sp>
      <p:sp>
        <p:nvSpPr>
          <p:cNvPr id="30" name="Text 28"/>
          <p:cNvSpPr txBox="1"/>
          <p:nvPr/>
        </p:nvSpPr>
        <p:spPr>
          <a:xfrm>
            <a:off x="7543800" y="1700784"/>
            <a:ext cx="4206240" cy="411480"/>
          </a:xfrm>
          <a:prstGeom prst="rect">
            <a:avLst/>
          </a:prstGeom>
          <a:noFill/>
          <a:ln/>
        </p:spPr>
        <p:txBody>
          <a:bodyPr wrap="square" lIns="0" tIns="0" rIns="0" bIns="0" rtlCol="0" anchor="t"/>
          <a:lstStyle/>
          <a:p>
            <a:pPr indent="0" marL="0">
              <a:buNone/>
            </a:pPr>
            <a:r>
              <a:rPr lang="en-US" sz="1050" dirty="0">
                <a:solidFill>
                  <a:schemeClr val="tx2"/>
                </a:solidFill>
              </a:rPr>
              <a:t>New Delhi</a:t>
            </a:r>
            <a:endParaRPr lang="en-US" sz="1050" dirty="0"/>
          </a:p>
        </p:txBody>
      </p:sp>
      <p:sp>
        <p:nvSpPr>
          <p:cNvPr id="31" name="date chip"/>
          <p:cNvSpPr/>
          <p:nvPr/>
        </p:nvSpPr>
        <p:spPr>
          <a:xfrm>
            <a:off x="6217920" y="2249424"/>
            <a:ext cx="1143000" cy="310896"/>
          </a:xfrm>
          <a:prstGeom prst="roundRect">
            <a:avLst>
              <a:gd name="adj" fmla="val 50000"/>
            </a:avLst>
          </a:prstGeom>
          <a:solidFill>
            <a:schemeClr val="accent2"/>
          </a:solidFill>
          <a:ln w="12700">
            <a:solidFill>
              <a:schemeClr val="accent2"/>
            </a:solidFill>
            <a:prstDash val="solid"/>
          </a:ln>
        </p:spPr>
      </p:sp>
      <p:sp>
        <p:nvSpPr>
          <p:cNvPr id="32" name="Text 30"/>
          <p:cNvSpPr txBox="1"/>
          <p:nvPr/>
        </p:nvSpPr>
        <p:spPr>
          <a:xfrm>
            <a:off x="6217920" y="2249424"/>
            <a:ext cx="1143000" cy="310896"/>
          </a:xfrm>
          <a:prstGeom prst="rect">
            <a:avLst/>
          </a:prstGeom>
          <a:noFill/>
          <a:ln/>
        </p:spPr>
        <p:txBody>
          <a:bodyPr wrap="square" lIns="0" tIns="0" rIns="0" bIns="0" rtlCol="0" anchor="ctr"/>
          <a:lstStyle/>
          <a:p>
            <a:pPr algn="ctr" indent="0" marL="0">
              <a:buNone/>
            </a:pPr>
            <a:r>
              <a:rPr lang="en-US" sz="1050" b="1" dirty="0">
                <a:solidFill>
                  <a:schemeClr val="bg1"/>
                </a:solidFill>
              </a:rPr>
              <a:t>Jul 2025</a:t>
            </a:r>
            <a:endParaRPr lang="en-US" sz="1050" dirty="0"/>
          </a:p>
        </p:txBody>
      </p:sp>
      <p:sp>
        <p:nvSpPr>
          <p:cNvPr id="33" name="Text 31"/>
          <p:cNvSpPr txBox="1"/>
          <p:nvPr/>
        </p:nvSpPr>
        <p:spPr>
          <a:xfrm>
            <a:off x="7543800" y="2157984"/>
            <a:ext cx="4206240" cy="329184"/>
          </a:xfrm>
          <a:prstGeom prst="rect">
            <a:avLst/>
          </a:prstGeom>
          <a:noFill/>
          <a:ln/>
        </p:spPr>
        <p:txBody>
          <a:bodyPr wrap="square" lIns="0" tIns="0" rIns="0" bIns="0" rtlCol="0" anchor="t"/>
          <a:lstStyle/>
          <a:p>
            <a:pPr indent="0" marL="0">
              <a:buNone/>
            </a:pPr>
            <a:r>
              <a:rPr lang="en-US" sz="1250" b="1" dirty="0">
                <a:solidFill>
                  <a:schemeClr val="tx1"/>
                </a:solidFill>
              </a:rPr>
              <a:t>University department</a:t>
            </a:r>
            <a:endParaRPr lang="en-US" sz="1250" dirty="0"/>
          </a:p>
        </p:txBody>
      </p:sp>
      <p:sp>
        <p:nvSpPr>
          <p:cNvPr id="34" name="Text 32"/>
          <p:cNvSpPr txBox="1"/>
          <p:nvPr/>
        </p:nvSpPr>
        <p:spPr>
          <a:xfrm>
            <a:off x="7543800" y="2487168"/>
            <a:ext cx="4206240" cy="411480"/>
          </a:xfrm>
          <a:prstGeom prst="rect">
            <a:avLst/>
          </a:prstGeom>
          <a:noFill/>
          <a:ln/>
        </p:spPr>
        <p:txBody>
          <a:bodyPr wrap="square" lIns="0" tIns="0" rIns="0" bIns="0" rtlCol="0" anchor="t"/>
          <a:lstStyle/>
          <a:p>
            <a:pPr indent="0" marL="0">
              <a:buNone/>
            </a:pPr>
            <a:r>
              <a:rPr lang="en-US" sz="1050" dirty="0">
                <a:solidFill>
                  <a:schemeClr val="tx2"/>
                </a:solidFill>
              </a:rPr>
              <a:t>Centre becomes the Cyber Security Department</a:t>
            </a:r>
            <a:endParaRPr lang="en-US" sz="1050" dirty="0"/>
          </a:p>
        </p:txBody>
      </p:sp>
      <p:sp>
        <p:nvSpPr>
          <p:cNvPr id="35" name="date chip"/>
          <p:cNvSpPr/>
          <p:nvPr/>
        </p:nvSpPr>
        <p:spPr>
          <a:xfrm>
            <a:off x="6217920" y="3035808"/>
            <a:ext cx="1143000" cy="310896"/>
          </a:xfrm>
          <a:prstGeom prst="roundRect">
            <a:avLst>
              <a:gd name="adj" fmla="val 50000"/>
            </a:avLst>
          </a:prstGeom>
          <a:solidFill>
            <a:schemeClr val="accent3"/>
          </a:solidFill>
          <a:ln w="12700">
            <a:solidFill>
              <a:schemeClr val="accent3"/>
            </a:solidFill>
            <a:prstDash val="solid"/>
          </a:ln>
        </p:spPr>
      </p:sp>
      <p:sp>
        <p:nvSpPr>
          <p:cNvPr id="36" name="Text 34"/>
          <p:cNvSpPr txBox="1"/>
          <p:nvPr/>
        </p:nvSpPr>
        <p:spPr>
          <a:xfrm>
            <a:off x="6217920" y="3035808"/>
            <a:ext cx="1143000" cy="310896"/>
          </a:xfrm>
          <a:prstGeom prst="rect">
            <a:avLst/>
          </a:prstGeom>
          <a:noFill/>
          <a:ln/>
        </p:spPr>
        <p:txBody>
          <a:bodyPr wrap="square" lIns="0" tIns="0" rIns="0" bIns="0" rtlCol="0" anchor="ctr"/>
          <a:lstStyle/>
          <a:p>
            <a:pPr algn="ctr" indent="0" marL="0">
              <a:buNone/>
            </a:pPr>
            <a:r>
              <a:rPr lang="en-US" sz="1050" b="1" dirty="0">
                <a:solidFill>
                  <a:schemeClr val="bg1"/>
                </a:solidFill>
              </a:rPr>
              <a:t>Oct 2025</a:t>
            </a:r>
            <a:endParaRPr lang="en-US" sz="1050" dirty="0"/>
          </a:p>
        </p:txBody>
      </p:sp>
      <p:sp>
        <p:nvSpPr>
          <p:cNvPr id="37" name="Text 35"/>
          <p:cNvSpPr txBox="1"/>
          <p:nvPr/>
        </p:nvSpPr>
        <p:spPr>
          <a:xfrm>
            <a:off x="7543800" y="2944368"/>
            <a:ext cx="4206240" cy="329184"/>
          </a:xfrm>
          <a:prstGeom prst="rect">
            <a:avLst/>
          </a:prstGeom>
          <a:noFill/>
          <a:ln/>
        </p:spPr>
        <p:txBody>
          <a:bodyPr wrap="square" lIns="0" tIns="0" rIns="0" bIns="0" rtlCol="0" anchor="t"/>
          <a:lstStyle/>
          <a:p>
            <a:pPr indent="0" marL="0">
              <a:buNone/>
            </a:pPr>
            <a:r>
              <a:rPr lang="en-US" sz="1250" b="1" dirty="0">
                <a:solidFill>
                  <a:schemeClr val="tx1"/>
                </a:solidFill>
              </a:rPr>
              <a:t>State visit to India</a:t>
            </a:r>
            <a:endParaRPr lang="en-US" sz="1250" dirty="0"/>
          </a:p>
        </p:txBody>
      </p:sp>
      <p:sp>
        <p:nvSpPr>
          <p:cNvPr id="38" name="Text 36"/>
          <p:cNvSpPr txBox="1"/>
          <p:nvPr/>
        </p:nvSpPr>
        <p:spPr>
          <a:xfrm>
            <a:off x="7543800" y="3273552"/>
            <a:ext cx="4206240" cy="411480"/>
          </a:xfrm>
          <a:prstGeom prst="rect">
            <a:avLst/>
          </a:prstGeom>
          <a:noFill/>
          <a:ln/>
        </p:spPr>
        <p:txBody>
          <a:bodyPr wrap="square" lIns="0" tIns="0" rIns="0" bIns="0" rtlCol="0" anchor="t"/>
          <a:lstStyle/>
          <a:p>
            <a:pPr indent="0" marL="0">
              <a:buNone/>
            </a:pPr>
            <a:r>
              <a:rPr lang="en-US" sz="1050" dirty="0">
                <a:solidFill>
                  <a:schemeClr val="tx2"/>
                </a:solidFill>
              </a:rPr>
              <a:t>70 years of relations; Defence Wing in Ulaanbaatar announced</a:t>
            </a:r>
            <a:endParaRPr lang="en-US" sz="1050" dirty="0"/>
          </a:p>
        </p:txBody>
      </p:sp>
      <p:sp>
        <p:nvSpPr>
          <p:cNvPr id="39" name="date chip"/>
          <p:cNvSpPr/>
          <p:nvPr/>
        </p:nvSpPr>
        <p:spPr>
          <a:xfrm>
            <a:off x="6217920" y="3822192"/>
            <a:ext cx="1143000" cy="310896"/>
          </a:xfrm>
          <a:prstGeom prst="roundRect">
            <a:avLst>
              <a:gd name="adj" fmla="val 50000"/>
            </a:avLst>
          </a:prstGeom>
          <a:solidFill>
            <a:schemeClr val="accent1"/>
          </a:solidFill>
          <a:ln w="12700">
            <a:solidFill>
              <a:schemeClr val="accent1"/>
            </a:solidFill>
            <a:prstDash val="solid"/>
          </a:ln>
        </p:spPr>
      </p:sp>
      <p:sp>
        <p:nvSpPr>
          <p:cNvPr id="40" name="Text 38"/>
          <p:cNvSpPr txBox="1"/>
          <p:nvPr/>
        </p:nvSpPr>
        <p:spPr>
          <a:xfrm>
            <a:off x="6217920" y="3822192"/>
            <a:ext cx="1143000" cy="310896"/>
          </a:xfrm>
          <a:prstGeom prst="rect">
            <a:avLst/>
          </a:prstGeom>
          <a:noFill/>
          <a:ln/>
        </p:spPr>
        <p:txBody>
          <a:bodyPr wrap="square" lIns="0" tIns="0" rIns="0" bIns="0" rtlCol="0" anchor="ctr"/>
          <a:lstStyle/>
          <a:p>
            <a:pPr algn="ctr" indent="0" marL="0">
              <a:buNone/>
            </a:pPr>
            <a:r>
              <a:rPr lang="en-US" sz="1050" b="1" dirty="0">
                <a:solidFill>
                  <a:schemeClr val="bg1"/>
                </a:solidFill>
              </a:rPr>
              <a:t>Nov 2025</a:t>
            </a:r>
            <a:endParaRPr lang="en-US" sz="1050" dirty="0"/>
          </a:p>
        </p:txBody>
      </p:sp>
      <p:sp>
        <p:nvSpPr>
          <p:cNvPr id="41" name="Text 39"/>
          <p:cNvSpPr txBox="1"/>
          <p:nvPr/>
        </p:nvSpPr>
        <p:spPr>
          <a:xfrm>
            <a:off x="7543800" y="3730752"/>
            <a:ext cx="4206240" cy="329184"/>
          </a:xfrm>
          <a:prstGeom prst="rect">
            <a:avLst/>
          </a:prstGeom>
          <a:noFill/>
          <a:ln/>
        </p:spPr>
        <p:txBody>
          <a:bodyPr wrap="square" lIns="0" tIns="0" rIns="0" bIns="0" rtlCol="0" anchor="t"/>
          <a:lstStyle/>
          <a:p>
            <a:pPr indent="0" marL="0">
              <a:buNone/>
            </a:pPr>
            <a:r>
              <a:rPr lang="en-US" sz="1250" b="1" dirty="0">
                <a:solidFill>
                  <a:schemeClr val="tx1"/>
                </a:solidFill>
              </a:rPr>
              <a:t>Upgrade commissioned</a:t>
            </a:r>
            <a:endParaRPr lang="en-US" sz="1250" dirty="0"/>
          </a:p>
        </p:txBody>
      </p:sp>
      <p:sp>
        <p:nvSpPr>
          <p:cNvPr id="42" name="Text 40"/>
          <p:cNvSpPr txBox="1"/>
          <p:nvPr/>
        </p:nvSpPr>
        <p:spPr>
          <a:xfrm>
            <a:off x="7543800" y="4059936"/>
            <a:ext cx="4206240" cy="411480"/>
          </a:xfrm>
          <a:prstGeom prst="rect">
            <a:avLst/>
          </a:prstGeom>
          <a:noFill/>
          <a:ln/>
        </p:spPr>
        <p:txBody>
          <a:bodyPr wrap="square" lIns="0" tIns="0" rIns="0" bIns="0" rtlCol="0" anchor="t"/>
          <a:lstStyle/>
          <a:p>
            <a:pPr indent="0" marL="0">
              <a:buNone/>
            </a:pPr>
            <a:r>
              <a:rPr lang="en-US" sz="1050" dirty="0">
                <a:solidFill>
                  <a:schemeClr val="tx2"/>
                </a:solidFill>
              </a:rPr>
              <a:t>Hardware and licence renewal; Defence Attaché visits the Department</a:t>
            </a:r>
            <a:endParaRPr lang="en-US" sz="1050" dirty="0"/>
          </a:p>
        </p:txBody>
      </p:sp>
      <p:sp>
        <p:nvSpPr>
          <p:cNvPr id="43" name="date chip"/>
          <p:cNvSpPr/>
          <p:nvPr/>
        </p:nvSpPr>
        <p:spPr>
          <a:xfrm>
            <a:off x="6217920" y="4608576"/>
            <a:ext cx="1143000" cy="310896"/>
          </a:xfrm>
          <a:prstGeom prst="roundRect">
            <a:avLst>
              <a:gd name="adj" fmla="val 50000"/>
            </a:avLst>
          </a:prstGeom>
          <a:solidFill>
            <a:schemeClr val="accent3"/>
          </a:solidFill>
          <a:ln w="12700">
            <a:solidFill>
              <a:schemeClr val="accent3"/>
            </a:solidFill>
            <a:prstDash val="solid"/>
          </a:ln>
        </p:spPr>
      </p:sp>
      <p:sp>
        <p:nvSpPr>
          <p:cNvPr id="44" name="Text 42"/>
          <p:cNvSpPr txBox="1"/>
          <p:nvPr/>
        </p:nvSpPr>
        <p:spPr>
          <a:xfrm>
            <a:off x="6217920" y="4608576"/>
            <a:ext cx="1143000" cy="310896"/>
          </a:xfrm>
          <a:prstGeom prst="rect">
            <a:avLst/>
          </a:prstGeom>
          <a:noFill/>
          <a:ln/>
        </p:spPr>
        <p:txBody>
          <a:bodyPr wrap="square" lIns="0" tIns="0" rIns="0" bIns="0" rtlCol="0" anchor="ctr"/>
          <a:lstStyle/>
          <a:p>
            <a:pPr algn="ctr" indent="0" marL="0">
              <a:buNone/>
            </a:pPr>
            <a:r>
              <a:rPr lang="en-US" sz="1050" b="1" dirty="0">
                <a:solidFill>
                  <a:schemeClr val="bg1"/>
                </a:solidFill>
              </a:rPr>
              <a:t>Jul 2026</a:t>
            </a:r>
            <a:endParaRPr lang="en-US" sz="1050" dirty="0"/>
          </a:p>
        </p:txBody>
      </p:sp>
      <p:sp>
        <p:nvSpPr>
          <p:cNvPr id="45" name="Text 43"/>
          <p:cNvSpPr txBox="1"/>
          <p:nvPr/>
        </p:nvSpPr>
        <p:spPr>
          <a:xfrm>
            <a:off x="7543800" y="4517136"/>
            <a:ext cx="4206240" cy="329184"/>
          </a:xfrm>
          <a:prstGeom prst="rect">
            <a:avLst/>
          </a:prstGeom>
          <a:noFill/>
          <a:ln/>
        </p:spPr>
        <p:txBody>
          <a:bodyPr wrap="square" lIns="0" tIns="0" rIns="0" bIns="0" rtlCol="0" anchor="t"/>
          <a:lstStyle/>
          <a:p>
            <a:pPr indent="0" marL="0">
              <a:buNone/>
            </a:pPr>
            <a:r>
              <a:rPr lang="en-US" sz="1250" b="1" dirty="0">
                <a:solidFill>
                  <a:schemeClr val="tx1"/>
                </a:solidFill>
              </a:rPr>
              <a:t>Project phase completed</a:t>
            </a:r>
            <a:endParaRPr lang="en-US" sz="1250" dirty="0"/>
          </a:p>
        </p:txBody>
      </p:sp>
      <p:sp>
        <p:nvSpPr>
          <p:cNvPr id="46" name="Text 44"/>
          <p:cNvSpPr txBox="1"/>
          <p:nvPr/>
        </p:nvSpPr>
        <p:spPr>
          <a:xfrm>
            <a:off x="7543800" y="4846320"/>
            <a:ext cx="4206240" cy="411480"/>
          </a:xfrm>
          <a:prstGeom prst="rect">
            <a:avLst/>
          </a:prstGeom>
          <a:noFill/>
          <a:ln/>
        </p:spPr>
        <p:txBody>
          <a:bodyPr wrap="square" lIns="0" tIns="0" rIns="0" bIns="0" rtlCol="0" anchor="t"/>
          <a:lstStyle/>
          <a:p>
            <a:pPr indent="0" marL="0">
              <a:buNone/>
            </a:pPr>
            <a:r>
              <a:rPr lang="en-US" sz="1050" dirty="0">
                <a:solidFill>
                  <a:schemeClr val="tx2"/>
                </a:solidFill>
              </a:rPr>
              <a:t>Instructor deployment extended to 2029 under the MoU</a:t>
            </a:r>
            <a:endParaRPr lang="en-US" sz="1050" dirty="0"/>
          </a:p>
        </p:txBody>
      </p:sp>
      <p:sp>
        <p:nvSpPr>
          <p:cNvPr id="47" name="date chip"/>
          <p:cNvSpPr/>
          <p:nvPr/>
        </p:nvSpPr>
        <p:spPr>
          <a:xfrm>
            <a:off x="6217920" y="5394960"/>
            <a:ext cx="1143000" cy="310896"/>
          </a:xfrm>
          <a:prstGeom prst="roundRect">
            <a:avLst>
              <a:gd name="adj" fmla="val 50000"/>
            </a:avLst>
          </a:prstGeom>
          <a:solidFill>
            <a:schemeClr val="accent3"/>
          </a:solidFill>
          <a:ln w="12700">
            <a:solidFill>
              <a:schemeClr val="accent3"/>
            </a:solidFill>
            <a:prstDash val="solid"/>
          </a:ln>
        </p:spPr>
      </p:sp>
      <p:sp>
        <p:nvSpPr>
          <p:cNvPr id="48" name="Text 46"/>
          <p:cNvSpPr txBox="1"/>
          <p:nvPr/>
        </p:nvSpPr>
        <p:spPr>
          <a:xfrm>
            <a:off x="6217920" y="5394960"/>
            <a:ext cx="1143000" cy="310896"/>
          </a:xfrm>
          <a:prstGeom prst="rect">
            <a:avLst/>
          </a:prstGeom>
          <a:noFill/>
          <a:ln/>
        </p:spPr>
        <p:txBody>
          <a:bodyPr wrap="square" lIns="0" tIns="0" rIns="0" bIns="0" rtlCol="0" anchor="ctr"/>
          <a:lstStyle/>
          <a:p>
            <a:pPr algn="ctr" indent="0" marL="0">
              <a:buNone/>
            </a:pPr>
            <a:r>
              <a:rPr lang="en-US" sz="1050" b="1" dirty="0">
                <a:solidFill>
                  <a:schemeClr val="bg1"/>
                </a:solidFill>
              </a:rPr>
              <a:t>2026</a:t>
            </a:r>
            <a:endParaRPr lang="en-US" sz="1050" dirty="0"/>
          </a:p>
        </p:txBody>
      </p:sp>
      <p:sp>
        <p:nvSpPr>
          <p:cNvPr id="49" name="Text 47"/>
          <p:cNvSpPr txBox="1"/>
          <p:nvPr/>
        </p:nvSpPr>
        <p:spPr>
          <a:xfrm>
            <a:off x="7543800" y="5303520"/>
            <a:ext cx="4206240" cy="329184"/>
          </a:xfrm>
          <a:prstGeom prst="rect">
            <a:avLst/>
          </a:prstGeom>
          <a:noFill/>
          <a:ln/>
        </p:spPr>
        <p:txBody>
          <a:bodyPr wrap="square" lIns="0" tIns="0" rIns="0" bIns="0" rtlCol="0" anchor="t"/>
          <a:lstStyle/>
          <a:p>
            <a:pPr indent="0" marL="0">
              <a:buNone/>
            </a:pPr>
            <a:r>
              <a:rPr lang="en-US" sz="1250" b="1" dirty="0">
                <a:solidFill>
                  <a:schemeClr val="tx1"/>
                </a:solidFill>
              </a:rPr>
              <a:t>14th Joint Working Group</a:t>
            </a:r>
            <a:endParaRPr lang="en-US" sz="1250" dirty="0"/>
          </a:p>
        </p:txBody>
      </p:sp>
      <p:sp>
        <p:nvSpPr>
          <p:cNvPr id="50" name="Text 48"/>
          <p:cNvSpPr txBox="1"/>
          <p:nvPr/>
        </p:nvSpPr>
        <p:spPr>
          <a:xfrm>
            <a:off x="7543800" y="5632704"/>
            <a:ext cx="4206240" cy="411480"/>
          </a:xfrm>
          <a:prstGeom prst="rect">
            <a:avLst/>
          </a:prstGeom>
          <a:noFill/>
          <a:ln/>
        </p:spPr>
        <p:txBody>
          <a:bodyPr wrap="square" lIns="0" tIns="0" rIns="0" bIns="0" rtlCol="0" anchor="t"/>
          <a:lstStyle/>
          <a:p>
            <a:pPr indent="0" marL="0">
              <a:buNone/>
            </a:pPr>
            <a:r>
              <a:rPr lang="en-US" sz="1050" dirty="0">
                <a:solidFill>
                  <a:schemeClr val="tx2"/>
                </a:solidFill>
              </a:rPr>
              <a:t>Ulaanbaatar – delegation visits the Department</a:t>
            </a:r>
            <a:endParaRPr lang="en-US" sz="1050" dirty="0"/>
          </a:p>
        </p:txBody>
      </p:sp>
      <p:sp>
        <p:nvSpPr>
          <p:cNvPr id="51" name="legend India-led"/>
          <p:cNvSpPr/>
          <p:nvPr/>
        </p:nvSpPr>
        <p:spPr>
          <a:xfrm>
            <a:off x="6400800" y="6190488"/>
            <a:ext cx="182880" cy="182880"/>
          </a:xfrm>
          <a:prstGeom prst="ellipse">
            <a:avLst/>
          </a:prstGeom>
          <a:solidFill>
            <a:schemeClr val="accent1"/>
          </a:solidFill>
          <a:ln w="12700">
            <a:solidFill>
              <a:schemeClr val="accent1"/>
            </a:solidFill>
            <a:prstDash val="solid"/>
          </a:ln>
        </p:spPr>
      </p:sp>
      <p:sp>
        <p:nvSpPr>
          <p:cNvPr id="52" name="Text 50"/>
          <p:cNvSpPr txBox="1"/>
          <p:nvPr/>
        </p:nvSpPr>
        <p:spPr>
          <a:xfrm>
            <a:off x="6675120" y="6144768"/>
            <a:ext cx="1188720" cy="274320"/>
          </a:xfrm>
          <a:prstGeom prst="rect">
            <a:avLst/>
          </a:prstGeom>
          <a:noFill/>
          <a:ln/>
        </p:spPr>
        <p:txBody>
          <a:bodyPr wrap="square" lIns="0" tIns="0" rIns="0" bIns="0" rtlCol="0" anchor="ctr"/>
          <a:lstStyle/>
          <a:p>
            <a:pPr indent="0" marL="0">
              <a:buNone/>
            </a:pPr>
            <a:r>
              <a:rPr lang="en-US" sz="1050" dirty="0">
                <a:solidFill>
                  <a:schemeClr val="tx2"/>
                </a:solidFill>
              </a:rPr>
              <a:t>India-led</a:t>
            </a:r>
            <a:endParaRPr lang="en-US" sz="1050" dirty="0"/>
          </a:p>
        </p:txBody>
      </p:sp>
      <p:sp>
        <p:nvSpPr>
          <p:cNvPr id="53" name="legend Joint"/>
          <p:cNvSpPr/>
          <p:nvPr/>
        </p:nvSpPr>
        <p:spPr>
          <a:xfrm>
            <a:off x="7955280" y="6190488"/>
            <a:ext cx="182880" cy="182880"/>
          </a:xfrm>
          <a:prstGeom prst="ellipse">
            <a:avLst/>
          </a:prstGeom>
          <a:solidFill>
            <a:schemeClr val="accent3"/>
          </a:solidFill>
          <a:ln w="12700">
            <a:solidFill>
              <a:schemeClr val="accent3"/>
            </a:solidFill>
            <a:prstDash val="solid"/>
          </a:ln>
        </p:spPr>
      </p:sp>
      <p:sp>
        <p:nvSpPr>
          <p:cNvPr id="54" name="Text 52"/>
          <p:cNvSpPr txBox="1"/>
          <p:nvPr/>
        </p:nvSpPr>
        <p:spPr>
          <a:xfrm>
            <a:off x="8229600" y="6144768"/>
            <a:ext cx="1188720" cy="274320"/>
          </a:xfrm>
          <a:prstGeom prst="rect">
            <a:avLst/>
          </a:prstGeom>
          <a:noFill/>
          <a:ln/>
        </p:spPr>
        <p:txBody>
          <a:bodyPr wrap="square" lIns="0" tIns="0" rIns="0" bIns="0" rtlCol="0" anchor="ctr"/>
          <a:lstStyle/>
          <a:p>
            <a:pPr indent="0" marL="0">
              <a:buNone/>
            </a:pPr>
            <a:r>
              <a:rPr lang="en-US" sz="1050" dirty="0">
                <a:solidFill>
                  <a:schemeClr val="tx2"/>
                </a:solidFill>
              </a:rPr>
              <a:t>Joint</a:t>
            </a:r>
            <a:endParaRPr lang="en-US" sz="1050" dirty="0"/>
          </a:p>
        </p:txBody>
      </p:sp>
      <p:sp>
        <p:nvSpPr>
          <p:cNvPr id="55" name="legend Mongolia-led"/>
          <p:cNvSpPr/>
          <p:nvPr/>
        </p:nvSpPr>
        <p:spPr>
          <a:xfrm>
            <a:off x="9509760" y="6190488"/>
            <a:ext cx="182880" cy="182880"/>
          </a:xfrm>
          <a:prstGeom prst="ellipse">
            <a:avLst/>
          </a:prstGeom>
          <a:solidFill>
            <a:schemeClr val="accent2"/>
          </a:solidFill>
          <a:ln w="12700">
            <a:solidFill>
              <a:schemeClr val="accent2"/>
            </a:solidFill>
            <a:prstDash val="solid"/>
          </a:ln>
        </p:spPr>
      </p:sp>
      <p:sp>
        <p:nvSpPr>
          <p:cNvPr id="56" name="Text 54"/>
          <p:cNvSpPr txBox="1"/>
          <p:nvPr/>
        </p:nvSpPr>
        <p:spPr>
          <a:xfrm>
            <a:off x="9784080" y="6144768"/>
            <a:ext cx="1188720" cy="274320"/>
          </a:xfrm>
          <a:prstGeom prst="rect">
            <a:avLst/>
          </a:prstGeom>
          <a:noFill/>
          <a:ln/>
        </p:spPr>
        <p:txBody>
          <a:bodyPr wrap="square" lIns="0" tIns="0" rIns="0" bIns="0" rtlCol="0" anchor="ctr"/>
          <a:lstStyle/>
          <a:p>
            <a:pPr indent="0" marL="0">
              <a:buNone/>
            </a:pPr>
            <a:r>
              <a:rPr lang="en-US" sz="1050" dirty="0">
                <a:solidFill>
                  <a:schemeClr val="tx2"/>
                </a:solidFill>
              </a:rPr>
              <a:t>Mongolia-led</a:t>
            </a:r>
            <a:endParaRPr lang="en-US" sz="105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474"/>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000" b="1" dirty="0">
                <a:solidFill>
                  <a:schemeClr val="tx1"/>
                </a:solidFill>
              </a:rPr>
              <a:t>Lessons learned and current challenges</a:t>
            </a:r>
            <a:endParaRPr lang="en-US" sz="3000" dirty="0"/>
          </a:p>
        </p:txBody>
      </p:sp>
      <p:sp>
        <p:nvSpPr>
          <p:cNvPr id="3" name="card"/>
          <p:cNvSpPr/>
          <p:nvPr/>
        </p:nvSpPr>
        <p:spPr>
          <a:xfrm>
            <a:off x="548640" y="1371600"/>
            <a:ext cx="5394960" cy="4846320"/>
          </a:xfrm>
          <a:prstGeom prst="roundRect">
            <a:avLst>
              <a:gd name="adj" fmla="val 2264"/>
            </a:avLst>
          </a:prstGeom>
          <a:solidFill>
            <a:schemeClr val="bg2"/>
          </a:solidFill>
          <a:ln w="12700">
            <a:solidFill>
              <a:schemeClr val="bg2"/>
            </a:solidFill>
            <a:prstDash val="solid"/>
          </a:ln>
        </p:spPr>
      </p:sp>
      <p:sp>
        <p:nvSpPr>
          <p:cNvPr id="4" name="icon circle"/>
          <p:cNvSpPr/>
          <p:nvPr/>
        </p:nvSpPr>
        <p:spPr>
          <a:xfrm>
            <a:off x="777240" y="1600200"/>
            <a:ext cx="594360" cy="594360"/>
          </a:xfrm>
          <a:prstGeom prst="ellipse">
            <a:avLst/>
          </a:prstGeom>
          <a:solidFill>
            <a:schemeClr val="accent3"/>
          </a:solidFill>
          <a:ln w="12700">
            <a:solidFill>
              <a:schemeClr val="accent3"/>
            </a:solidFill>
            <a:prstDash val="solid"/>
          </a:ln>
        </p:spPr>
      </p:sp>
      <p:pic>
        <p:nvPicPr>
          <p:cNvPr id="5" name="FaCheckCircle" descr="preencoded.png">    </p:cNvPr>
          <p:cNvPicPr>
            <a:picLocks noChangeAspect="1"/>
          </p:cNvPicPr>
          <p:nvPr/>
        </p:nvPicPr>
        <p:blipFill>
          <a:blip r:embed="rId1"/>
          <a:stretch>
            <a:fillRect/>
          </a:stretch>
        </p:blipFill>
        <p:spPr>
          <a:xfrm>
            <a:off x="931774" y="1754734"/>
            <a:ext cx="285293" cy="285293"/>
          </a:xfrm>
          <a:prstGeom prst="rect">
            <a:avLst/>
          </a:prstGeom>
        </p:spPr>
      </p:pic>
      <p:sp>
        <p:nvSpPr>
          <p:cNvPr id="6" name="Text 3"/>
          <p:cNvSpPr txBox="1"/>
          <p:nvPr/>
        </p:nvSpPr>
        <p:spPr>
          <a:xfrm>
            <a:off x="1508760" y="1600200"/>
            <a:ext cx="4114800" cy="594360"/>
          </a:xfrm>
          <a:prstGeom prst="rect">
            <a:avLst/>
          </a:prstGeom>
          <a:noFill/>
          <a:ln/>
        </p:spPr>
        <p:txBody>
          <a:bodyPr wrap="square" lIns="0" tIns="0" rIns="0" bIns="0" rtlCol="0" anchor="ctr"/>
          <a:lstStyle/>
          <a:p>
            <a:pPr indent="0" marL="0">
              <a:buNone/>
            </a:pPr>
            <a:r>
              <a:rPr lang="en-US" sz="1700" b="1" dirty="0">
                <a:solidFill>
                  <a:schemeClr val="tx1"/>
                </a:solidFill>
              </a:rPr>
              <a:t>What worked</a:t>
            </a:r>
            <a:endParaRPr lang="en-US" sz="1700" dirty="0"/>
          </a:p>
        </p:txBody>
      </p:sp>
      <p:sp>
        <p:nvSpPr>
          <p:cNvPr id="7" name="Text 4"/>
          <p:cNvSpPr txBox="1"/>
          <p:nvPr/>
        </p:nvSpPr>
        <p:spPr>
          <a:xfrm>
            <a:off x="822960" y="2377440"/>
            <a:ext cx="4846320" cy="3749040"/>
          </a:xfrm>
          <a:prstGeom prst="rect">
            <a:avLst/>
          </a:prstGeom>
          <a:noFill/>
          <a:ln/>
        </p:spPr>
        <p:txBody>
          <a:bodyPr wrap="square" lIns="0" tIns="0" rIns="0" bIns="0" rtlCol="0" anchor="t"/>
          <a:lstStyle/>
          <a:p>
            <a:pPr marL="177800" indent="-177800">
              <a:spcAft>
                <a:spcPts val="1000"/>
              </a:spcAft>
              <a:buSzPct val="100000"/>
              <a:buChar char="•"/>
            </a:pPr>
            <a:r>
              <a:rPr lang="en-US" sz="1250" dirty="0">
                <a:solidFill>
                  <a:schemeClr val="tx1"/>
                </a:solidFill>
              </a:rPr>
              <a:t>Shared model: Indian technology, curriculum and instructors; Mongolian premises, staff and management</a:t>
            </a:r>
            <a:endParaRPr lang="en-US" sz="1250" dirty="0"/>
          </a:p>
          <a:p>
            <a:pPr marL="177800" indent="-177800">
              <a:spcAft>
                <a:spcPts val="1000"/>
              </a:spcAft>
              <a:buSzPct val="100000"/>
              <a:buChar char="•"/>
            </a:pPr>
            <a:r>
              <a:rPr lang="en-US" sz="1250" dirty="0">
                <a:solidFill>
                  <a:schemeClr val="tx1"/>
                </a:solidFill>
              </a:rPr>
              <a:t>Resident C-DAC engineers for 13 months – courses started within weeks of inauguration</a:t>
            </a:r>
            <a:endParaRPr lang="en-US" sz="1250" dirty="0"/>
          </a:p>
          <a:p>
            <a:pPr marL="177800" indent="-177800">
              <a:spcAft>
                <a:spcPts val="1000"/>
              </a:spcAft>
              <a:buSzPct val="100000"/>
              <a:buChar char="•"/>
            </a:pPr>
            <a:r>
              <a:rPr lang="en-US" sz="1250" dirty="0">
                <a:solidFill>
                  <a:schemeClr val="tx1"/>
                </a:solidFill>
              </a:rPr>
              <a:t>A jointly approved three-year training plan (2024–2026) with two-instructor teams rotating every four months</a:t>
            </a:r>
            <a:endParaRPr lang="en-US" sz="1250" dirty="0"/>
          </a:p>
          <a:p>
            <a:pPr marL="177800" indent="-177800">
              <a:spcAft>
                <a:spcPts val="1000"/>
              </a:spcAft>
              <a:buSzPct val="100000"/>
              <a:buChar char="•"/>
            </a:pPr>
            <a:r>
              <a:rPr lang="en-US" sz="1250" dirty="0">
                <a:solidFill>
                  <a:schemeClr val="tx1"/>
                </a:solidFill>
              </a:rPr>
              <a:t>Course programmes written in English and Mongolian and run under MoD and NDU orders</a:t>
            </a:r>
            <a:endParaRPr lang="en-US" sz="1250" dirty="0"/>
          </a:p>
          <a:p>
            <a:pPr marL="177800" indent="-177800">
              <a:spcAft>
                <a:spcPts val="1000"/>
              </a:spcAft>
              <a:buSzPct val="100000"/>
              <a:buChar char="•"/>
            </a:pPr>
            <a:r>
              <a:rPr lang="en-US" sz="1250" dirty="0">
                <a:solidFill>
                  <a:schemeClr val="tx1"/>
                </a:solidFill>
              </a:rPr>
              <a:t>Trainees drawn from the whole military and law-enforcement sector</a:t>
            </a:r>
            <a:endParaRPr lang="en-US" sz="1250" dirty="0"/>
          </a:p>
          <a:p>
            <a:pPr marL="177800" indent="-177800">
              <a:spcAft>
                <a:spcPts val="1000"/>
              </a:spcAft>
              <a:buSzPct val="100000"/>
              <a:buChar char="•"/>
            </a:pPr>
            <a:r>
              <a:rPr lang="en-US" sz="1250" dirty="0">
                <a:solidFill>
                  <a:schemeClr val="tx1"/>
                </a:solidFill>
              </a:rPr>
              <a:t>India's 2025 licence and hardware renewal kept the laboratories current</a:t>
            </a:r>
            <a:endParaRPr lang="en-US" sz="1250" dirty="0"/>
          </a:p>
        </p:txBody>
      </p:sp>
      <p:sp>
        <p:nvSpPr>
          <p:cNvPr id="8" name="card"/>
          <p:cNvSpPr/>
          <p:nvPr/>
        </p:nvSpPr>
        <p:spPr>
          <a:xfrm>
            <a:off x="6217920" y="1371600"/>
            <a:ext cx="5394960" cy="4846320"/>
          </a:xfrm>
          <a:prstGeom prst="roundRect">
            <a:avLst>
              <a:gd name="adj" fmla="val 2264"/>
            </a:avLst>
          </a:prstGeom>
          <a:solidFill>
            <a:schemeClr val="bg2"/>
          </a:solidFill>
          <a:ln w="12700">
            <a:solidFill>
              <a:schemeClr val="bg2"/>
            </a:solidFill>
            <a:prstDash val="solid"/>
          </a:ln>
        </p:spPr>
      </p:sp>
      <p:sp>
        <p:nvSpPr>
          <p:cNvPr id="9" name="icon circle"/>
          <p:cNvSpPr/>
          <p:nvPr/>
        </p:nvSpPr>
        <p:spPr>
          <a:xfrm>
            <a:off x="6446520" y="1600200"/>
            <a:ext cx="594360" cy="594360"/>
          </a:xfrm>
          <a:prstGeom prst="ellipse">
            <a:avLst/>
          </a:prstGeom>
          <a:solidFill>
            <a:schemeClr val="accent1"/>
          </a:solidFill>
          <a:ln w="12700">
            <a:solidFill>
              <a:schemeClr val="accent1"/>
            </a:solidFill>
            <a:prstDash val="solid"/>
          </a:ln>
        </p:spPr>
      </p:sp>
      <p:pic>
        <p:nvPicPr>
          <p:cNvPr id="10" name="FaExclamationTriangle" descr="preencoded.png">    </p:cNvPr>
          <p:cNvPicPr>
            <a:picLocks noChangeAspect="1"/>
          </p:cNvPicPr>
          <p:nvPr/>
        </p:nvPicPr>
        <p:blipFill>
          <a:blip r:embed="rId2"/>
          <a:stretch>
            <a:fillRect/>
          </a:stretch>
        </p:blipFill>
        <p:spPr>
          <a:xfrm>
            <a:off x="6601054" y="1754734"/>
            <a:ext cx="285293" cy="285293"/>
          </a:xfrm>
          <a:prstGeom prst="rect">
            <a:avLst/>
          </a:prstGeom>
        </p:spPr>
      </p:pic>
      <p:sp>
        <p:nvSpPr>
          <p:cNvPr id="11" name="Text 7"/>
          <p:cNvSpPr txBox="1"/>
          <p:nvPr/>
        </p:nvSpPr>
        <p:spPr>
          <a:xfrm>
            <a:off x="7178040" y="1600200"/>
            <a:ext cx="4206240" cy="594360"/>
          </a:xfrm>
          <a:prstGeom prst="rect">
            <a:avLst/>
          </a:prstGeom>
          <a:noFill/>
          <a:ln/>
        </p:spPr>
        <p:txBody>
          <a:bodyPr wrap="square" lIns="0" tIns="0" rIns="0" bIns="0" rtlCol="0" anchor="ctr"/>
          <a:lstStyle/>
          <a:p>
            <a:pPr indent="0" marL="0">
              <a:buNone/>
            </a:pPr>
            <a:r>
              <a:rPr lang="en-US" sz="1700" b="1" dirty="0">
                <a:solidFill>
                  <a:schemeClr val="tx1"/>
                </a:solidFill>
              </a:rPr>
              <a:t>Challenges for the next phase</a:t>
            </a:r>
            <a:endParaRPr lang="en-US" sz="1700" dirty="0"/>
          </a:p>
        </p:txBody>
      </p:sp>
      <p:sp>
        <p:nvSpPr>
          <p:cNvPr id="12" name="Text 8"/>
          <p:cNvSpPr txBox="1"/>
          <p:nvPr/>
        </p:nvSpPr>
        <p:spPr>
          <a:xfrm>
            <a:off x="6492240" y="2377440"/>
            <a:ext cx="4846320" cy="3749040"/>
          </a:xfrm>
          <a:prstGeom prst="rect">
            <a:avLst/>
          </a:prstGeom>
          <a:noFill/>
          <a:ln/>
        </p:spPr>
        <p:txBody>
          <a:bodyPr wrap="square" lIns="0" tIns="0" rIns="0" bIns="0" rtlCol="0" anchor="t"/>
          <a:lstStyle/>
          <a:p>
            <a:pPr marL="177800" indent="-177800">
              <a:spcAft>
                <a:spcPts val="1000"/>
              </a:spcAft>
              <a:buSzPct val="100000"/>
              <a:buChar char="•"/>
            </a:pPr>
            <a:r>
              <a:rPr lang="en-US" sz="1250" dirty="0">
                <a:solidFill>
                  <a:schemeClr val="tx1"/>
                </a:solidFill>
              </a:rPr>
              <a:t>2023 review: faculty at 100% load while classrooms were 50% used – more instructors needed (addressed by the 2025 restructuring into a department)</a:t>
            </a:r>
            <a:endParaRPr lang="en-US" sz="1250" dirty="0"/>
          </a:p>
          <a:p>
            <a:pPr marL="177800" indent="-177800">
              <a:spcAft>
                <a:spcPts val="1000"/>
              </a:spcAft>
              <a:buSzPct val="100000"/>
              <a:buChar char="•"/>
            </a:pPr>
            <a:r>
              <a:rPr lang="en-US" sz="1250" dirty="0">
                <a:solidFill>
                  <a:schemeClr val="tx1"/>
                </a:solidFill>
              </a:rPr>
              <a:t>Nationally recognised professional certification for the Centre's courses is still pending</a:t>
            </a:r>
            <a:endParaRPr lang="en-US" sz="1250" dirty="0"/>
          </a:p>
          <a:p>
            <a:pPr marL="177800" indent="-177800">
              <a:spcAft>
                <a:spcPts val="1000"/>
              </a:spcAft>
              <a:buSzPct val="100000"/>
              <a:buChar char="•"/>
            </a:pPr>
            <a:r>
              <a:rPr lang="en-US" sz="1250" dirty="0">
                <a:solidFill>
                  <a:schemeClr val="tx1"/>
                </a:solidFill>
              </a:rPr>
              <a:t>No cyber range or online training platform for units outside Ulaanbaatar – requested since 2024</a:t>
            </a:r>
            <a:endParaRPr lang="en-US" sz="1250" dirty="0"/>
          </a:p>
          <a:p>
            <a:pPr marL="177800" indent="-177800">
              <a:spcAft>
                <a:spcPts val="1000"/>
              </a:spcAft>
              <a:buSzPct val="100000"/>
              <a:buChar char="•"/>
            </a:pPr>
            <a:r>
              <a:rPr lang="en-US" sz="1250" dirty="0">
                <a:solidFill>
                  <a:schemeClr val="tx1"/>
                </a:solidFill>
              </a:rPr>
              <a:t>Budget limits: the 2025 sector conference and the 2026 e-learning research laboratory (MNT 30 m) were postponed</a:t>
            </a:r>
            <a:endParaRPr lang="en-US" sz="1250" dirty="0"/>
          </a:p>
          <a:p>
            <a:pPr marL="177800" indent="-177800">
              <a:spcAft>
                <a:spcPts val="1000"/>
              </a:spcAft>
              <a:buSzPct val="100000"/>
              <a:buChar char="•"/>
            </a:pPr>
            <a:r>
              <a:rPr lang="en-US" sz="1250" dirty="0">
                <a:solidFill>
                  <a:schemeClr val="tx1"/>
                </a:solidFill>
              </a:rPr>
              <a:t>Continuity between four-month instructor rotations</a:t>
            </a:r>
            <a:endParaRPr lang="en-US" sz="1250" dirty="0"/>
          </a:p>
          <a:p>
            <a:pPr marL="177800" indent="-177800">
              <a:spcAft>
                <a:spcPts val="1000"/>
              </a:spcAft>
              <a:buSzPct val="100000"/>
              <a:buChar char="•"/>
            </a:pPr>
            <a:r>
              <a:rPr lang="en-US" sz="1250" dirty="0">
                <a:solidFill>
                  <a:schemeClr val="tx1"/>
                </a:solidFill>
              </a:rPr>
              <a:t>The project phase ended in July 2026 – a Phase II framework is needed beyond instructor deployment</a:t>
            </a:r>
            <a:endParaRPr lang="en-US" sz="125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474"/>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731520" y="1737360"/>
            <a:ext cx="2743200" cy="914400"/>
          </a:xfrm>
          <a:prstGeom prst="rect">
            <a:avLst/>
          </a:prstGeom>
          <a:noFill/>
          <a:ln/>
        </p:spPr>
        <p:txBody>
          <a:bodyPr wrap="square" lIns="0" tIns="0" rIns="0" bIns="0" rtlCol="0" anchor="t"/>
          <a:lstStyle/>
          <a:p>
            <a:pPr indent="0" marL="0">
              <a:buNone/>
            </a:pPr>
            <a:r>
              <a:rPr lang="en-US" sz="6000" b="1" dirty="0">
                <a:solidFill>
                  <a:schemeClr val="accent1"/>
                </a:solidFill>
                <a:latin typeface="Cambria" pitchFamily="34" charset="0"/>
                <a:ea typeface="Cambria" pitchFamily="34" charset="-122"/>
                <a:cs typeface="Cambria" pitchFamily="34" charset="-120"/>
              </a:rPr>
              <a:t>04</a:t>
            </a:r>
            <a:endParaRPr lang="en-US" sz="6000" dirty="0"/>
          </a:p>
        </p:txBody>
      </p:sp>
      <p:sp>
        <p:nvSpPr>
          <p:cNvPr id="3" name="Text 0"/>
          <p:cNvSpPr/>
          <p:nvPr>
            <p:ph idx="100" type="title" hasCustomPrompt="1"/>
          </p:nvPr>
        </p:nvSpPr>
        <p:spPr>
          <a:xfrm>
            <a:off x="731520" y="2743200"/>
            <a:ext cx="10698480" cy="1097280"/>
          </a:xfrm>
          <a:prstGeom prst="rect">
            <a:avLst/>
          </a:prstGeom>
          <a:noFill/>
          <a:ln/>
        </p:spPr>
        <p:txBody>
          <a:bodyPr wrap="square" lIns="0" tIns="0" rIns="0" bIns="0" rtlCol="0" anchor="ctr"/>
          <a:lstStyle/>
          <a:p>
            <a:pPr indent="0" marL="0">
              <a:buNone/>
            </a:pPr>
            <a:r>
              <a:rPr lang="en-US" sz="4000" b="1" dirty="0">
                <a:solidFill>
                  <a:schemeClr val="bg1"/>
                </a:solidFill>
              </a:rPr>
              <a:t>The road ahead</a:t>
            </a:r>
            <a:endParaRPr lang="en-US" sz="4000" dirty="0"/>
          </a:p>
        </p:txBody>
      </p:sp>
      <p:sp>
        <p:nvSpPr>
          <p:cNvPr id="4" name="Text 0"/>
          <p:cNvSpPr/>
          <p:nvPr>
            <p:ph idx="101" type="body" hasCustomPrompt="1"/>
          </p:nvPr>
        </p:nvSpPr>
        <p:spPr>
          <a:xfrm>
            <a:off x="731520" y="3886200"/>
            <a:ext cx="10698480" cy="731520"/>
          </a:xfrm>
          <a:prstGeom prst="rect">
            <a:avLst/>
          </a:prstGeom>
          <a:noFill/>
          <a:ln/>
        </p:spPr>
        <p:txBody>
          <a:bodyPr wrap="square" lIns="0" tIns="0" rIns="0" bIns="0" rtlCol="0" anchor="t"/>
          <a:lstStyle/>
          <a:p>
            <a:pPr indent="0" marL="0">
              <a:buNone/>
            </a:pPr>
            <a:r>
              <a:rPr lang="en-US" sz="1800" dirty="0">
                <a:solidFill>
                  <a:schemeClr val="accent6"/>
                </a:solidFill>
              </a:rPr>
              <a:t>Proposals for the next phase of cooperation, 2026–2030</a:t>
            </a: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000" b="1" dirty="0">
                <a:solidFill>
                  <a:schemeClr val="tx1"/>
                </a:solidFill>
              </a:rPr>
              <a:t>Four directions proposed by NDU on 9 October 2026</a:t>
            </a:r>
            <a:endParaRPr lang="en-US" sz="3000" dirty="0"/>
          </a:p>
        </p:txBody>
      </p:sp>
      <p:sp>
        <p:nvSpPr>
          <p:cNvPr id="3" name="card"/>
          <p:cNvSpPr/>
          <p:nvPr/>
        </p:nvSpPr>
        <p:spPr>
          <a:xfrm>
            <a:off x="548640" y="1371600"/>
            <a:ext cx="5394960" cy="2258568"/>
          </a:xfrm>
          <a:prstGeom prst="roundRect">
            <a:avLst>
              <a:gd name="adj" fmla="val 4858"/>
            </a:avLst>
          </a:prstGeom>
          <a:solidFill>
            <a:schemeClr val="bg2"/>
          </a:solidFill>
          <a:ln w="12700">
            <a:solidFill>
              <a:schemeClr val="bg2"/>
            </a:solidFill>
            <a:prstDash val="solid"/>
          </a:ln>
        </p:spPr>
      </p:sp>
      <p:sp>
        <p:nvSpPr>
          <p:cNvPr id="4" name="icon circle"/>
          <p:cNvSpPr/>
          <p:nvPr/>
        </p:nvSpPr>
        <p:spPr>
          <a:xfrm>
            <a:off x="777240" y="1600200"/>
            <a:ext cx="594360" cy="594360"/>
          </a:xfrm>
          <a:prstGeom prst="ellipse">
            <a:avLst/>
          </a:prstGeom>
          <a:solidFill>
            <a:schemeClr val="accent1"/>
          </a:solidFill>
          <a:ln w="12700">
            <a:solidFill>
              <a:schemeClr val="accent1"/>
            </a:solidFill>
            <a:prstDash val="solid"/>
          </a:ln>
        </p:spPr>
      </p:sp>
      <p:pic>
        <p:nvPicPr>
          <p:cNvPr id="5" name="FaGraduationCap" descr="preencoded.png">    </p:cNvPr>
          <p:cNvPicPr>
            <a:picLocks noChangeAspect="1"/>
          </p:cNvPicPr>
          <p:nvPr/>
        </p:nvPicPr>
        <p:blipFill>
          <a:blip r:embed="rId1"/>
          <a:stretch>
            <a:fillRect/>
          </a:stretch>
        </p:blipFill>
        <p:spPr>
          <a:xfrm>
            <a:off x="931774" y="1754734"/>
            <a:ext cx="285293" cy="285293"/>
          </a:xfrm>
          <a:prstGeom prst="rect">
            <a:avLst/>
          </a:prstGeom>
        </p:spPr>
      </p:pic>
      <p:sp>
        <p:nvSpPr>
          <p:cNvPr id="6" name="Text 3"/>
          <p:cNvSpPr txBox="1"/>
          <p:nvPr/>
        </p:nvSpPr>
        <p:spPr>
          <a:xfrm>
            <a:off x="1554480" y="1600200"/>
            <a:ext cx="4206240" cy="594360"/>
          </a:xfrm>
          <a:prstGeom prst="rect">
            <a:avLst/>
          </a:prstGeom>
          <a:noFill/>
          <a:ln/>
        </p:spPr>
        <p:txBody>
          <a:bodyPr wrap="square" lIns="0" tIns="0" rIns="0" bIns="0" rtlCol="0" anchor="ctr"/>
          <a:lstStyle/>
          <a:p>
            <a:pPr indent="0" marL="0">
              <a:buNone/>
            </a:pPr>
            <a:r>
              <a:rPr lang="en-US" sz="1600" b="1" dirty="0">
                <a:solidFill>
                  <a:schemeClr val="tx1"/>
                </a:solidFill>
              </a:rPr>
              <a:t>1 · Joint education</a:t>
            </a:r>
            <a:endParaRPr lang="en-US" sz="1600" dirty="0"/>
          </a:p>
        </p:txBody>
      </p:sp>
      <p:sp>
        <p:nvSpPr>
          <p:cNvPr id="7" name="Text 4"/>
          <p:cNvSpPr txBox="1"/>
          <p:nvPr/>
        </p:nvSpPr>
        <p:spPr>
          <a:xfrm>
            <a:off x="822960" y="2331720"/>
            <a:ext cx="4846320" cy="1234440"/>
          </a:xfrm>
          <a:prstGeom prst="rect">
            <a:avLst/>
          </a:prstGeom>
          <a:noFill/>
          <a:ln/>
        </p:spPr>
        <p:txBody>
          <a:bodyPr wrap="square" lIns="0" tIns="0" rIns="0" bIns="0" rtlCol="0" anchor="t"/>
          <a:lstStyle/>
          <a:p>
            <a:pPr marL="177800" indent="-177800">
              <a:spcAft>
                <a:spcPts val="500"/>
              </a:spcAft>
              <a:buSzPct val="100000"/>
              <a:buChar char="•"/>
            </a:pPr>
            <a:r>
              <a:rPr lang="en-US" sz="1150" dirty="0">
                <a:solidFill>
                  <a:schemeClr val="tx1"/>
                </a:solidFill>
              </a:rPr>
              <a:t>Joint bachelor, master's and doctoral programmes in cyber security</a:t>
            </a:r>
            <a:endParaRPr lang="en-US" sz="1150" dirty="0"/>
          </a:p>
          <a:p>
            <a:pPr marL="177800" indent="-177800">
              <a:spcAft>
                <a:spcPts val="500"/>
              </a:spcAft>
              <a:buSzPct val="100000"/>
              <a:buChar char="•"/>
            </a:pPr>
            <a:r>
              <a:rPr lang="en-US" sz="1150" dirty="0">
                <a:solidFill>
                  <a:schemeClr val="tx1"/>
                </a:solidFill>
              </a:rPr>
              <a:t>Exchange of faculty, cadets and researchers</a:t>
            </a:r>
            <a:endParaRPr lang="en-US" sz="1150" dirty="0"/>
          </a:p>
          <a:p>
            <a:pPr marL="177800" indent="-177800">
              <a:spcAft>
                <a:spcPts val="500"/>
              </a:spcAft>
              <a:buSzPct val="100000"/>
              <a:buChar char="•"/>
            </a:pPr>
            <a:r>
              <a:rPr lang="en-US" sz="1150" dirty="0">
                <a:solidFill>
                  <a:schemeClr val="tx1"/>
                </a:solidFill>
              </a:rPr>
              <a:t>Double-degree programmes with Indian universities</a:t>
            </a:r>
            <a:endParaRPr lang="en-US" sz="1150" dirty="0"/>
          </a:p>
        </p:txBody>
      </p:sp>
      <p:sp>
        <p:nvSpPr>
          <p:cNvPr id="8" name="card"/>
          <p:cNvSpPr/>
          <p:nvPr/>
        </p:nvSpPr>
        <p:spPr>
          <a:xfrm>
            <a:off x="6217920" y="1371600"/>
            <a:ext cx="5394960" cy="2258568"/>
          </a:xfrm>
          <a:prstGeom prst="roundRect">
            <a:avLst>
              <a:gd name="adj" fmla="val 4858"/>
            </a:avLst>
          </a:prstGeom>
          <a:solidFill>
            <a:schemeClr val="bg2"/>
          </a:solidFill>
          <a:ln w="12700">
            <a:solidFill>
              <a:schemeClr val="bg2"/>
            </a:solidFill>
            <a:prstDash val="solid"/>
          </a:ln>
        </p:spPr>
      </p:sp>
      <p:sp>
        <p:nvSpPr>
          <p:cNvPr id="9" name="icon circle"/>
          <p:cNvSpPr/>
          <p:nvPr/>
        </p:nvSpPr>
        <p:spPr>
          <a:xfrm>
            <a:off x="6446520" y="1600200"/>
            <a:ext cx="594360" cy="594360"/>
          </a:xfrm>
          <a:prstGeom prst="ellipse">
            <a:avLst/>
          </a:prstGeom>
          <a:solidFill>
            <a:schemeClr val="accent2"/>
          </a:solidFill>
          <a:ln w="12700">
            <a:solidFill>
              <a:schemeClr val="accent2"/>
            </a:solidFill>
            <a:prstDash val="solid"/>
          </a:ln>
        </p:spPr>
      </p:sp>
      <p:pic>
        <p:nvPicPr>
          <p:cNvPr id="10" name="FaServer" descr="preencoded.png">    </p:cNvPr>
          <p:cNvPicPr>
            <a:picLocks noChangeAspect="1"/>
          </p:cNvPicPr>
          <p:nvPr/>
        </p:nvPicPr>
        <p:blipFill>
          <a:blip r:embed="rId2"/>
          <a:stretch>
            <a:fillRect/>
          </a:stretch>
        </p:blipFill>
        <p:spPr>
          <a:xfrm>
            <a:off x="6601054" y="1754734"/>
            <a:ext cx="285293" cy="285293"/>
          </a:xfrm>
          <a:prstGeom prst="rect">
            <a:avLst/>
          </a:prstGeom>
        </p:spPr>
      </p:pic>
      <p:sp>
        <p:nvSpPr>
          <p:cNvPr id="11" name="Text 7"/>
          <p:cNvSpPr txBox="1"/>
          <p:nvPr/>
        </p:nvSpPr>
        <p:spPr>
          <a:xfrm>
            <a:off x="7223760" y="1600200"/>
            <a:ext cx="4206240" cy="594360"/>
          </a:xfrm>
          <a:prstGeom prst="rect">
            <a:avLst/>
          </a:prstGeom>
          <a:noFill/>
          <a:ln/>
        </p:spPr>
        <p:txBody>
          <a:bodyPr wrap="square" lIns="0" tIns="0" rIns="0" bIns="0" rtlCol="0" anchor="ctr"/>
          <a:lstStyle/>
          <a:p>
            <a:pPr indent="0" marL="0">
              <a:buNone/>
            </a:pPr>
            <a:r>
              <a:rPr lang="en-US" sz="1600" b="1" dirty="0">
                <a:solidFill>
                  <a:schemeClr val="tx1"/>
                </a:solidFill>
              </a:rPr>
              <a:t>2 · Laboratories and research</a:t>
            </a:r>
            <a:endParaRPr lang="en-US" sz="1600" dirty="0"/>
          </a:p>
        </p:txBody>
      </p:sp>
      <p:sp>
        <p:nvSpPr>
          <p:cNvPr id="12" name="Text 8"/>
          <p:cNvSpPr txBox="1"/>
          <p:nvPr/>
        </p:nvSpPr>
        <p:spPr>
          <a:xfrm>
            <a:off x="6492240" y="2331720"/>
            <a:ext cx="4846320" cy="1234440"/>
          </a:xfrm>
          <a:prstGeom prst="rect">
            <a:avLst/>
          </a:prstGeom>
          <a:noFill/>
          <a:ln/>
        </p:spPr>
        <p:txBody>
          <a:bodyPr wrap="square" lIns="0" tIns="0" rIns="0" bIns="0" rtlCol="0" anchor="t"/>
          <a:lstStyle/>
          <a:p>
            <a:pPr marL="177800" indent="-177800">
              <a:spcAft>
                <a:spcPts val="500"/>
              </a:spcAft>
              <a:buSzPct val="100000"/>
              <a:buChar char="•"/>
            </a:pPr>
            <a:r>
              <a:rPr lang="en-US" sz="1150" dirty="0">
                <a:solidFill>
                  <a:schemeClr val="tx1"/>
                </a:solidFill>
              </a:rPr>
              <a:t>Cyber Range and Security Operations Centre laboratory</a:t>
            </a:r>
            <a:endParaRPr lang="en-US" sz="1150" dirty="0"/>
          </a:p>
          <a:p>
            <a:pPr marL="177800" indent="-177800">
              <a:spcAft>
                <a:spcPts val="500"/>
              </a:spcAft>
              <a:buSzPct val="100000"/>
              <a:buChar char="•"/>
            </a:pPr>
            <a:r>
              <a:rPr lang="en-US" sz="1150" dirty="0">
                <a:solidFill>
                  <a:schemeClr val="tx1"/>
                </a:solidFill>
              </a:rPr>
              <a:t>Joint research centre: IoT, AI, big data, quantum cryptography</a:t>
            </a:r>
            <a:endParaRPr lang="en-US" sz="1150" dirty="0"/>
          </a:p>
          <a:p>
            <a:pPr marL="177800" indent="-177800">
              <a:spcAft>
                <a:spcPts val="500"/>
              </a:spcAft>
              <a:buSzPct val="100000"/>
              <a:buChar char="•"/>
            </a:pPr>
            <a:r>
              <a:rPr lang="en-US" sz="1150" dirty="0">
                <a:solidFill>
                  <a:schemeClr val="tx1"/>
                </a:solidFill>
              </a:rPr>
              <a:t>Cyber security laboratory for UAV and remotely operated systems</a:t>
            </a:r>
            <a:endParaRPr lang="en-US" sz="1150" dirty="0"/>
          </a:p>
        </p:txBody>
      </p:sp>
      <p:sp>
        <p:nvSpPr>
          <p:cNvPr id="13" name="card"/>
          <p:cNvSpPr/>
          <p:nvPr/>
        </p:nvSpPr>
        <p:spPr>
          <a:xfrm>
            <a:off x="548640" y="3767328"/>
            <a:ext cx="5394960" cy="2258568"/>
          </a:xfrm>
          <a:prstGeom prst="roundRect">
            <a:avLst>
              <a:gd name="adj" fmla="val 4858"/>
            </a:avLst>
          </a:prstGeom>
          <a:solidFill>
            <a:schemeClr val="bg2"/>
          </a:solidFill>
          <a:ln w="12700">
            <a:solidFill>
              <a:schemeClr val="bg2"/>
            </a:solidFill>
            <a:prstDash val="solid"/>
          </a:ln>
        </p:spPr>
      </p:sp>
      <p:sp>
        <p:nvSpPr>
          <p:cNvPr id="14" name="icon circle"/>
          <p:cNvSpPr/>
          <p:nvPr/>
        </p:nvSpPr>
        <p:spPr>
          <a:xfrm>
            <a:off x="777240" y="3995928"/>
            <a:ext cx="594360" cy="594360"/>
          </a:xfrm>
          <a:prstGeom prst="ellipse">
            <a:avLst/>
          </a:prstGeom>
          <a:solidFill>
            <a:schemeClr val="accent1"/>
          </a:solidFill>
          <a:ln w="12700">
            <a:solidFill>
              <a:schemeClr val="accent1"/>
            </a:solidFill>
            <a:prstDash val="solid"/>
          </a:ln>
        </p:spPr>
      </p:sp>
      <p:pic>
        <p:nvPicPr>
          <p:cNvPr id="15" name="FaChalkboardTeacher" descr="preencoded.png">    </p:cNvPr>
          <p:cNvPicPr>
            <a:picLocks noChangeAspect="1"/>
          </p:cNvPicPr>
          <p:nvPr/>
        </p:nvPicPr>
        <p:blipFill>
          <a:blip r:embed="rId3"/>
          <a:stretch>
            <a:fillRect/>
          </a:stretch>
        </p:blipFill>
        <p:spPr>
          <a:xfrm>
            <a:off x="931774" y="4150462"/>
            <a:ext cx="285293" cy="285293"/>
          </a:xfrm>
          <a:prstGeom prst="rect">
            <a:avLst/>
          </a:prstGeom>
        </p:spPr>
      </p:pic>
      <p:sp>
        <p:nvSpPr>
          <p:cNvPr id="16" name="Text 11"/>
          <p:cNvSpPr txBox="1"/>
          <p:nvPr/>
        </p:nvSpPr>
        <p:spPr>
          <a:xfrm>
            <a:off x="1554480" y="3995928"/>
            <a:ext cx="4206240" cy="594360"/>
          </a:xfrm>
          <a:prstGeom prst="rect">
            <a:avLst/>
          </a:prstGeom>
          <a:noFill/>
          <a:ln/>
        </p:spPr>
        <p:txBody>
          <a:bodyPr wrap="square" lIns="0" tIns="0" rIns="0" bIns="0" rtlCol="0" anchor="ctr"/>
          <a:lstStyle/>
          <a:p>
            <a:pPr indent="0" marL="0">
              <a:buNone/>
            </a:pPr>
            <a:r>
              <a:rPr lang="en-US" sz="1600" b="1" dirty="0">
                <a:solidFill>
                  <a:schemeClr val="tx1"/>
                </a:solidFill>
              </a:rPr>
              <a:t>3 · Faculty capacity</a:t>
            </a:r>
            <a:endParaRPr lang="en-US" sz="1600" dirty="0"/>
          </a:p>
        </p:txBody>
      </p:sp>
      <p:sp>
        <p:nvSpPr>
          <p:cNvPr id="17" name="Text 12"/>
          <p:cNvSpPr txBox="1"/>
          <p:nvPr/>
        </p:nvSpPr>
        <p:spPr>
          <a:xfrm>
            <a:off x="822960" y="4727448"/>
            <a:ext cx="4846320" cy="1234440"/>
          </a:xfrm>
          <a:prstGeom prst="rect">
            <a:avLst/>
          </a:prstGeom>
          <a:noFill/>
          <a:ln/>
        </p:spPr>
        <p:txBody>
          <a:bodyPr wrap="square" lIns="0" tIns="0" rIns="0" bIns="0" rtlCol="0" anchor="t"/>
          <a:lstStyle/>
          <a:p>
            <a:pPr marL="177800" indent="-177800">
              <a:spcAft>
                <a:spcPts val="500"/>
              </a:spcAft>
              <a:buSzPct val="100000"/>
              <a:buChar char="•"/>
            </a:pPr>
            <a:r>
              <a:rPr lang="en-US" sz="1150" dirty="0">
                <a:solidFill>
                  <a:schemeClr val="tx1"/>
                </a:solidFill>
              </a:rPr>
              <a:t>Train Mongolian faculty and researchers at Indian defence universities and research institutions</a:t>
            </a:r>
            <a:endParaRPr lang="en-US" sz="1150" dirty="0"/>
          </a:p>
          <a:p>
            <a:pPr marL="177800" indent="-177800">
              <a:spcAft>
                <a:spcPts val="500"/>
              </a:spcAft>
              <a:buSzPct val="100000"/>
              <a:buChar char="•"/>
            </a:pPr>
            <a:r>
              <a:rPr lang="en-US" sz="1150" dirty="0">
                <a:solidFill>
                  <a:schemeClr val="tx1"/>
                </a:solidFill>
              </a:rPr>
              <a:t>Joint programme for cyber security instructors</a:t>
            </a:r>
            <a:endParaRPr lang="en-US" sz="1150" dirty="0"/>
          </a:p>
        </p:txBody>
      </p:sp>
      <p:sp>
        <p:nvSpPr>
          <p:cNvPr id="18" name="card"/>
          <p:cNvSpPr/>
          <p:nvPr/>
        </p:nvSpPr>
        <p:spPr>
          <a:xfrm>
            <a:off x="6217920" y="3767328"/>
            <a:ext cx="5394960" cy="2258568"/>
          </a:xfrm>
          <a:prstGeom prst="roundRect">
            <a:avLst>
              <a:gd name="adj" fmla="val 4858"/>
            </a:avLst>
          </a:prstGeom>
          <a:solidFill>
            <a:schemeClr val="bg2"/>
          </a:solidFill>
          <a:ln w="12700">
            <a:solidFill>
              <a:schemeClr val="bg2"/>
            </a:solidFill>
            <a:prstDash val="solid"/>
          </a:ln>
        </p:spPr>
      </p:sp>
      <p:sp>
        <p:nvSpPr>
          <p:cNvPr id="19" name="icon circle"/>
          <p:cNvSpPr/>
          <p:nvPr/>
        </p:nvSpPr>
        <p:spPr>
          <a:xfrm>
            <a:off x="6446520" y="3995928"/>
            <a:ext cx="594360" cy="594360"/>
          </a:xfrm>
          <a:prstGeom prst="ellipse">
            <a:avLst/>
          </a:prstGeom>
          <a:solidFill>
            <a:schemeClr val="accent2"/>
          </a:solidFill>
          <a:ln w="12700">
            <a:solidFill>
              <a:schemeClr val="accent2"/>
            </a:solidFill>
            <a:prstDash val="solid"/>
          </a:ln>
        </p:spPr>
      </p:sp>
      <p:pic>
        <p:nvPicPr>
          <p:cNvPr id="20" name="FaGlobeAsia" descr="preencoded.png">    </p:cNvPr>
          <p:cNvPicPr>
            <a:picLocks noChangeAspect="1"/>
          </p:cNvPicPr>
          <p:nvPr/>
        </p:nvPicPr>
        <p:blipFill>
          <a:blip r:embed="rId4"/>
          <a:stretch>
            <a:fillRect/>
          </a:stretch>
        </p:blipFill>
        <p:spPr>
          <a:xfrm>
            <a:off x="6601054" y="4150462"/>
            <a:ext cx="285293" cy="285293"/>
          </a:xfrm>
          <a:prstGeom prst="rect">
            <a:avLst/>
          </a:prstGeom>
        </p:spPr>
      </p:pic>
      <p:sp>
        <p:nvSpPr>
          <p:cNvPr id="21" name="Text 15"/>
          <p:cNvSpPr txBox="1"/>
          <p:nvPr/>
        </p:nvSpPr>
        <p:spPr>
          <a:xfrm>
            <a:off x="7223760" y="3995928"/>
            <a:ext cx="4206240" cy="594360"/>
          </a:xfrm>
          <a:prstGeom prst="rect">
            <a:avLst/>
          </a:prstGeom>
          <a:noFill/>
          <a:ln/>
        </p:spPr>
        <p:txBody>
          <a:bodyPr wrap="square" lIns="0" tIns="0" rIns="0" bIns="0" rtlCol="0" anchor="ctr"/>
          <a:lstStyle/>
          <a:p>
            <a:pPr indent="0" marL="0">
              <a:buNone/>
            </a:pPr>
            <a:r>
              <a:rPr lang="en-US" sz="1600" b="1" dirty="0">
                <a:solidFill>
                  <a:schemeClr val="tx1"/>
                </a:solidFill>
              </a:rPr>
              <a:t>4 · International cooperation</a:t>
            </a:r>
            <a:endParaRPr lang="en-US" sz="1600" dirty="0"/>
          </a:p>
        </p:txBody>
      </p:sp>
      <p:sp>
        <p:nvSpPr>
          <p:cNvPr id="22" name="Text 16"/>
          <p:cNvSpPr txBox="1"/>
          <p:nvPr/>
        </p:nvSpPr>
        <p:spPr>
          <a:xfrm>
            <a:off x="6492240" y="4727448"/>
            <a:ext cx="4846320" cy="1234440"/>
          </a:xfrm>
          <a:prstGeom prst="rect">
            <a:avLst/>
          </a:prstGeom>
          <a:noFill/>
          <a:ln/>
        </p:spPr>
        <p:txBody>
          <a:bodyPr wrap="square" lIns="0" tIns="0" rIns="0" bIns="0" rtlCol="0" anchor="t"/>
          <a:lstStyle/>
          <a:p>
            <a:pPr marL="177800" indent="-177800">
              <a:spcAft>
                <a:spcPts val="500"/>
              </a:spcAft>
              <a:buSzPct val="100000"/>
              <a:buChar char="•"/>
            </a:pPr>
            <a:r>
              <a:rPr lang="en-US" sz="1150" dirty="0">
                <a:solidFill>
                  <a:schemeClr val="tx1"/>
                </a:solidFill>
              </a:rPr>
              <a:t>Joint participation in ITU Cyberdrill, FIRST and APCERT exercises</a:t>
            </a:r>
            <a:endParaRPr lang="en-US" sz="1150" dirty="0"/>
          </a:p>
          <a:p>
            <a:pPr marL="177800" indent="-177800">
              <a:spcAft>
                <a:spcPts val="500"/>
              </a:spcAft>
              <a:buSzPct val="100000"/>
              <a:buChar char="•"/>
            </a:pPr>
            <a:r>
              <a:rPr lang="en-US" sz="1150" dirty="0">
                <a:solidFill>
                  <a:schemeClr val="tx1"/>
                </a:solidFill>
              </a:rPr>
              <a:t>Biennial Mongolia–India Cyber Security Forum</a:t>
            </a:r>
            <a:endParaRPr lang="en-US" sz="1150" dirty="0"/>
          </a:p>
          <a:p>
            <a:pPr marL="177800" indent="-177800">
              <a:spcAft>
                <a:spcPts val="500"/>
              </a:spcAft>
              <a:buSzPct val="100000"/>
              <a:buChar char="•"/>
            </a:pPr>
            <a:r>
              <a:rPr lang="en-US" sz="1150" dirty="0">
                <a:solidFill>
                  <a:schemeClr val="tx1"/>
                </a:solidFill>
              </a:rPr>
              <a:t>Regular joint conferences, seminars, courses and exercises</a:t>
            </a:r>
            <a:endParaRPr lang="en-US" sz="1150" dirty="0"/>
          </a:p>
        </p:txBody>
      </p:sp>
      <p:sp>
        <p:nvSpPr>
          <p:cNvPr id="23" name="Text 17"/>
          <p:cNvSpPr txBox="1"/>
          <p:nvPr/>
        </p:nvSpPr>
        <p:spPr>
          <a:xfrm>
            <a:off x="548640" y="6172200"/>
            <a:ext cx="11064240" cy="256032"/>
          </a:xfrm>
          <a:prstGeom prst="rect">
            <a:avLst/>
          </a:prstGeom>
          <a:noFill/>
          <a:ln/>
        </p:spPr>
        <p:txBody>
          <a:bodyPr wrap="square" lIns="0" tIns="0" rIns="0" bIns="0" rtlCol="0" anchor="t"/>
          <a:lstStyle/>
          <a:p>
            <a:pPr indent="0" marL="0">
              <a:buNone/>
            </a:pPr>
            <a:r>
              <a:rPr lang="en-US" sz="1050" i="1" dirty="0">
                <a:solidFill>
                  <a:schemeClr val="tx2"/>
                </a:solidFill>
              </a:rPr>
              <a:t>Instructor deployment has already been extended to 2029 under the intergovernmental Memorandum; these directions build the next layer on it.</a:t>
            </a:r>
            <a:endParaRPr lang="en-US" sz="105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474"/>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000" b="1" dirty="0">
                <a:solidFill>
                  <a:schemeClr val="tx1"/>
                </a:solidFill>
              </a:rPr>
              <a:t>Proposed roadmap 2026–2030</a:t>
            </a:r>
            <a:endParaRPr lang="en-US" sz="3000" dirty="0"/>
          </a:p>
        </p:txBody>
      </p:sp>
      <p:sp>
        <p:nvSpPr>
          <p:cNvPr id="3" name="Text 1"/>
          <p:cNvSpPr txBox="1"/>
          <p:nvPr/>
        </p:nvSpPr>
        <p:spPr>
          <a:xfrm>
            <a:off x="3931920" y="1371600"/>
            <a:ext cx="1536192" cy="365760"/>
          </a:xfrm>
          <a:prstGeom prst="rect">
            <a:avLst/>
          </a:prstGeom>
          <a:noFill/>
          <a:ln/>
        </p:spPr>
        <p:txBody>
          <a:bodyPr wrap="square" lIns="0" tIns="0" rIns="0" bIns="0" rtlCol="0" anchor="ctr"/>
          <a:lstStyle/>
          <a:p>
            <a:pPr algn="ctr" indent="0" marL="0">
              <a:buNone/>
            </a:pPr>
            <a:r>
              <a:rPr lang="en-US" sz="1300" b="1" dirty="0">
                <a:solidFill>
                  <a:schemeClr val="tx2"/>
                </a:solidFill>
              </a:rPr>
              <a:t>2026</a:t>
            </a:r>
            <a:endParaRPr lang="en-US" sz="1300" dirty="0"/>
          </a:p>
        </p:txBody>
      </p:sp>
      <p:sp>
        <p:nvSpPr>
          <p:cNvPr id="4" name="grid 2026"/>
          <p:cNvSpPr/>
          <p:nvPr/>
        </p:nvSpPr>
        <p:spPr>
          <a:xfrm>
            <a:off x="3931920" y="1783080"/>
            <a:ext cx="0" cy="3803904"/>
          </a:xfrm>
          <a:prstGeom prst="line">
            <a:avLst/>
          </a:prstGeom>
          <a:noFill/>
          <a:ln w="9525">
            <a:solidFill>
              <a:srgbClr val="DDE3EC"/>
            </a:solidFill>
            <a:prstDash val="solid"/>
          </a:ln>
        </p:spPr>
      </p:sp>
      <p:sp>
        <p:nvSpPr>
          <p:cNvPr id="5" name="Text 3"/>
          <p:cNvSpPr txBox="1"/>
          <p:nvPr/>
        </p:nvSpPr>
        <p:spPr>
          <a:xfrm>
            <a:off x="5468112" y="1371600"/>
            <a:ext cx="1536192" cy="365760"/>
          </a:xfrm>
          <a:prstGeom prst="rect">
            <a:avLst/>
          </a:prstGeom>
          <a:noFill/>
          <a:ln/>
        </p:spPr>
        <p:txBody>
          <a:bodyPr wrap="square" lIns="0" tIns="0" rIns="0" bIns="0" rtlCol="0" anchor="ctr"/>
          <a:lstStyle/>
          <a:p>
            <a:pPr algn="ctr" indent="0" marL="0">
              <a:buNone/>
            </a:pPr>
            <a:r>
              <a:rPr lang="en-US" sz="1300" b="1" dirty="0">
                <a:solidFill>
                  <a:schemeClr val="tx2"/>
                </a:solidFill>
              </a:rPr>
              <a:t>2027</a:t>
            </a:r>
            <a:endParaRPr lang="en-US" sz="1300" dirty="0"/>
          </a:p>
        </p:txBody>
      </p:sp>
      <p:sp>
        <p:nvSpPr>
          <p:cNvPr id="6" name="grid 2027"/>
          <p:cNvSpPr/>
          <p:nvPr/>
        </p:nvSpPr>
        <p:spPr>
          <a:xfrm>
            <a:off x="5468112" y="1783080"/>
            <a:ext cx="0" cy="3803904"/>
          </a:xfrm>
          <a:prstGeom prst="line">
            <a:avLst/>
          </a:prstGeom>
          <a:noFill/>
          <a:ln w="9525">
            <a:solidFill>
              <a:srgbClr val="DDE3EC"/>
            </a:solidFill>
            <a:prstDash val="solid"/>
          </a:ln>
        </p:spPr>
      </p:sp>
      <p:sp>
        <p:nvSpPr>
          <p:cNvPr id="7" name="Text 5"/>
          <p:cNvSpPr txBox="1"/>
          <p:nvPr/>
        </p:nvSpPr>
        <p:spPr>
          <a:xfrm>
            <a:off x="7004304" y="1371600"/>
            <a:ext cx="1536192" cy="365760"/>
          </a:xfrm>
          <a:prstGeom prst="rect">
            <a:avLst/>
          </a:prstGeom>
          <a:noFill/>
          <a:ln/>
        </p:spPr>
        <p:txBody>
          <a:bodyPr wrap="square" lIns="0" tIns="0" rIns="0" bIns="0" rtlCol="0" anchor="ctr"/>
          <a:lstStyle/>
          <a:p>
            <a:pPr algn="ctr" indent="0" marL="0">
              <a:buNone/>
            </a:pPr>
            <a:r>
              <a:rPr lang="en-US" sz="1300" b="1" dirty="0">
                <a:solidFill>
                  <a:schemeClr val="tx2"/>
                </a:solidFill>
              </a:rPr>
              <a:t>2028</a:t>
            </a:r>
            <a:endParaRPr lang="en-US" sz="1300" dirty="0"/>
          </a:p>
        </p:txBody>
      </p:sp>
      <p:sp>
        <p:nvSpPr>
          <p:cNvPr id="8" name="grid 2028"/>
          <p:cNvSpPr/>
          <p:nvPr/>
        </p:nvSpPr>
        <p:spPr>
          <a:xfrm>
            <a:off x="7004304" y="1783080"/>
            <a:ext cx="0" cy="3803904"/>
          </a:xfrm>
          <a:prstGeom prst="line">
            <a:avLst/>
          </a:prstGeom>
          <a:noFill/>
          <a:ln w="9525">
            <a:solidFill>
              <a:srgbClr val="DDE3EC"/>
            </a:solidFill>
            <a:prstDash val="solid"/>
          </a:ln>
        </p:spPr>
      </p:sp>
      <p:sp>
        <p:nvSpPr>
          <p:cNvPr id="9" name="Text 7"/>
          <p:cNvSpPr txBox="1"/>
          <p:nvPr/>
        </p:nvSpPr>
        <p:spPr>
          <a:xfrm>
            <a:off x="8540496" y="1371600"/>
            <a:ext cx="1536192" cy="365760"/>
          </a:xfrm>
          <a:prstGeom prst="rect">
            <a:avLst/>
          </a:prstGeom>
          <a:noFill/>
          <a:ln/>
        </p:spPr>
        <p:txBody>
          <a:bodyPr wrap="square" lIns="0" tIns="0" rIns="0" bIns="0" rtlCol="0" anchor="ctr"/>
          <a:lstStyle/>
          <a:p>
            <a:pPr algn="ctr" indent="0" marL="0">
              <a:buNone/>
            </a:pPr>
            <a:r>
              <a:rPr lang="en-US" sz="1300" b="1" dirty="0">
                <a:solidFill>
                  <a:schemeClr val="tx2"/>
                </a:solidFill>
              </a:rPr>
              <a:t>2029</a:t>
            </a:r>
            <a:endParaRPr lang="en-US" sz="1300" dirty="0"/>
          </a:p>
        </p:txBody>
      </p:sp>
      <p:sp>
        <p:nvSpPr>
          <p:cNvPr id="10" name="grid 2029"/>
          <p:cNvSpPr/>
          <p:nvPr/>
        </p:nvSpPr>
        <p:spPr>
          <a:xfrm>
            <a:off x="8540496" y="1783080"/>
            <a:ext cx="0" cy="3803904"/>
          </a:xfrm>
          <a:prstGeom prst="line">
            <a:avLst/>
          </a:prstGeom>
          <a:noFill/>
          <a:ln w="9525">
            <a:solidFill>
              <a:srgbClr val="DDE3EC"/>
            </a:solidFill>
            <a:prstDash val="solid"/>
          </a:ln>
        </p:spPr>
      </p:sp>
      <p:sp>
        <p:nvSpPr>
          <p:cNvPr id="11" name="Text 9"/>
          <p:cNvSpPr txBox="1"/>
          <p:nvPr/>
        </p:nvSpPr>
        <p:spPr>
          <a:xfrm>
            <a:off x="10076688" y="1371600"/>
            <a:ext cx="1536192" cy="365760"/>
          </a:xfrm>
          <a:prstGeom prst="rect">
            <a:avLst/>
          </a:prstGeom>
          <a:noFill/>
          <a:ln/>
        </p:spPr>
        <p:txBody>
          <a:bodyPr wrap="square" lIns="0" tIns="0" rIns="0" bIns="0" rtlCol="0" anchor="ctr"/>
          <a:lstStyle/>
          <a:p>
            <a:pPr algn="ctr" indent="0" marL="0">
              <a:buNone/>
            </a:pPr>
            <a:r>
              <a:rPr lang="en-US" sz="1300" b="1" dirty="0">
                <a:solidFill>
                  <a:schemeClr val="tx2"/>
                </a:solidFill>
              </a:rPr>
              <a:t>2030</a:t>
            </a:r>
            <a:endParaRPr lang="en-US" sz="1300" dirty="0"/>
          </a:p>
        </p:txBody>
      </p:sp>
      <p:sp>
        <p:nvSpPr>
          <p:cNvPr id="12" name="grid 2030"/>
          <p:cNvSpPr/>
          <p:nvPr/>
        </p:nvSpPr>
        <p:spPr>
          <a:xfrm>
            <a:off x="10076688" y="1783080"/>
            <a:ext cx="0" cy="3803904"/>
          </a:xfrm>
          <a:prstGeom prst="line">
            <a:avLst/>
          </a:prstGeom>
          <a:noFill/>
          <a:ln w="9525">
            <a:solidFill>
              <a:srgbClr val="DDE3EC"/>
            </a:solidFill>
            <a:prstDash val="solid"/>
          </a:ln>
        </p:spPr>
      </p:sp>
      <p:sp>
        <p:nvSpPr>
          <p:cNvPr id="13" name="Text 11"/>
          <p:cNvSpPr txBox="1"/>
          <p:nvPr/>
        </p:nvSpPr>
        <p:spPr>
          <a:xfrm>
            <a:off x="548640" y="1874520"/>
            <a:ext cx="3291840" cy="438912"/>
          </a:xfrm>
          <a:prstGeom prst="rect">
            <a:avLst/>
          </a:prstGeom>
          <a:noFill/>
          <a:ln/>
        </p:spPr>
        <p:txBody>
          <a:bodyPr wrap="square" lIns="0" tIns="0" rIns="0" bIns="0" rtlCol="0" anchor="ctr"/>
          <a:lstStyle/>
          <a:p>
            <a:pPr indent="0" marL="0">
              <a:buNone/>
            </a:pPr>
            <a:r>
              <a:rPr lang="en-US" sz="1150" b="1" dirty="0">
                <a:solidFill>
                  <a:schemeClr val="tx1"/>
                </a:solidFill>
              </a:rPr>
              <a:t>Indian training teams (to 2029 under the MoU)</a:t>
            </a:r>
            <a:endParaRPr lang="en-US" sz="1150" dirty="0"/>
          </a:p>
        </p:txBody>
      </p:sp>
      <p:sp>
        <p:nvSpPr>
          <p:cNvPr id="14" name="bar Indian training teams (to 2029 under the MoU)"/>
          <p:cNvSpPr/>
          <p:nvPr/>
        </p:nvSpPr>
        <p:spPr>
          <a:xfrm>
            <a:off x="3977640" y="1947672"/>
            <a:ext cx="6053328" cy="292608"/>
          </a:xfrm>
          <a:prstGeom prst="roundRect">
            <a:avLst>
              <a:gd name="adj" fmla="val 43750"/>
            </a:avLst>
          </a:prstGeom>
          <a:solidFill>
            <a:schemeClr val="accent1"/>
          </a:solidFill>
          <a:ln w="12700">
            <a:solidFill>
              <a:schemeClr val="accent1"/>
            </a:solidFill>
            <a:prstDash val="solid"/>
          </a:ln>
        </p:spPr>
      </p:sp>
      <p:sp>
        <p:nvSpPr>
          <p:cNvPr id="15" name="Text 13"/>
          <p:cNvSpPr txBox="1"/>
          <p:nvPr/>
        </p:nvSpPr>
        <p:spPr>
          <a:xfrm>
            <a:off x="4069080" y="1947672"/>
            <a:ext cx="5870448" cy="292608"/>
          </a:xfrm>
          <a:prstGeom prst="rect">
            <a:avLst/>
          </a:prstGeom>
          <a:noFill/>
          <a:ln/>
        </p:spPr>
        <p:txBody>
          <a:bodyPr wrap="square" lIns="0" tIns="0" rIns="0" bIns="0" rtlCol="0" anchor="ctr"/>
          <a:lstStyle/>
          <a:p>
            <a:pPr indent="0" marL="0">
              <a:buNone/>
            </a:pPr>
            <a:r>
              <a:rPr lang="en-US" sz="1000" dirty="0">
                <a:solidFill>
                  <a:schemeClr val="bg1"/>
                </a:solidFill>
              </a:rPr>
              <a:t>continuous four-month rotations</a:t>
            </a:r>
            <a:endParaRPr lang="en-US" sz="1000" dirty="0"/>
          </a:p>
        </p:txBody>
      </p:sp>
      <p:sp>
        <p:nvSpPr>
          <p:cNvPr id="16" name="Text 14"/>
          <p:cNvSpPr txBox="1"/>
          <p:nvPr/>
        </p:nvSpPr>
        <p:spPr>
          <a:xfrm>
            <a:off x="548640" y="2404872"/>
            <a:ext cx="3291840" cy="438912"/>
          </a:xfrm>
          <a:prstGeom prst="rect">
            <a:avLst/>
          </a:prstGeom>
          <a:noFill/>
          <a:ln/>
        </p:spPr>
        <p:txBody>
          <a:bodyPr wrap="square" lIns="0" tIns="0" rIns="0" bIns="0" rtlCol="0" anchor="ctr"/>
          <a:lstStyle/>
          <a:p>
            <a:pPr indent="0" marL="0">
              <a:buNone/>
            </a:pPr>
            <a:r>
              <a:rPr lang="en-US" sz="1150" b="1" dirty="0">
                <a:solidFill>
                  <a:schemeClr val="tx1"/>
                </a:solidFill>
              </a:rPr>
              <a:t>Cyber Range and SOC laboratory</a:t>
            </a:r>
            <a:endParaRPr lang="en-US" sz="1150" dirty="0"/>
          </a:p>
        </p:txBody>
      </p:sp>
      <p:sp>
        <p:nvSpPr>
          <p:cNvPr id="17" name="bar Cyber Range and SOC laboratory"/>
          <p:cNvSpPr/>
          <p:nvPr/>
        </p:nvSpPr>
        <p:spPr>
          <a:xfrm>
            <a:off x="5513832" y="2478024"/>
            <a:ext cx="1444752" cy="292608"/>
          </a:xfrm>
          <a:prstGeom prst="roundRect">
            <a:avLst>
              <a:gd name="adj" fmla="val 43750"/>
            </a:avLst>
          </a:prstGeom>
          <a:solidFill>
            <a:schemeClr val="accent3"/>
          </a:solidFill>
          <a:ln w="12700">
            <a:solidFill>
              <a:schemeClr val="accent3"/>
            </a:solidFill>
            <a:prstDash val="solid"/>
          </a:ln>
        </p:spPr>
      </p:sp>
      <p:sp>
        <p:nvSpPr>
          <p:cNvPr id="18" name="Text 16"/>
          <p:cNvSpPr txBox="1"/>
          <p:nvPr/>
        </p:nvSpPr>
        <p:spPr>
          <a:xfrm>
            <a:off x="5605272" y="2478024"/>
            <a:ext cx="1261872" cy="292608"/>
          </a:xfrm>
          <a:prstGeom prst="rect">
            <a:avLst/>
          </a:prstGeom>
          <a:noFill/>
          <a:ln/>
        </p:spPr>
        <p:txBody>
          <a:bodyPr wrap="square" lIns="0" tIns="0" rIns="0" bIns="0" rtlCol="0" anchor="ctr"/>
          <a:lstStyle/>
          <a:p>
            <a:pPr indent="0" marL="0">
              <a:buNone/>
            </a:pPr>
            <a:r>
              <a:rPr lang="en-US" sz="1000" dirty="0">
                <a:solidFill>
                  <a:schemeClr val="bg1"/>
                </a:solidFill>
              </a:rPr>
              <a:t>assessment, design</a:t>
            </a:r>
            <a:endParaRPr lang="en-US" sz="1000" dirty="0"/>
          </a:p>
        </p:txBody>
      </p:sp>
      <p:sp>
        <p:nvSpPr>
          <p:cNvPr id="19" name="bar Cyber Range and SOC laboratory"/>
          <p:cNvSpPr/>
          <p:nvPr/>
        </p:nvSpPr>
        <p:spPr>
          <a:xfrm>
            <a:off x="7050024" y="2478024"/>
            <a:ext cx="1444752" cy="292608"/>
          </a:xfrm>
          <a:prstGeom prst="roundRect">
            <a:avLst>
              <a:gd name="adj" fmla="val 43750"/>
            </a:avLst>
          </a:prstGeom>
          <a:solidFill>
            <a:schemeClr val="accent1"/>
          </a:solidFill>
          <a:ln w="12700">
            <a:solidFill>
              <a:schemeClr val="accent1"/>
            </a:solidFill>
            <a:prstDash val="solid"/>
          </a:ln>
        </p:spPr>
      </p:sp>
      <p:sp>
        <p:nvSpPr>
          <p:cNvPr id="20" name="Text 18"/>
          <p:cNvSpPr txBox="1"/>
          <p:nvPr/>
        </p:nvSpPr>
        <p:spPr>
          <a:xfrm>
            <a:off x="7141464" y="2478024"/>
            <a:ext cx="1261872" cy="292608"/>
          </a:xfrm>
          <a:prstGeom prst="rect">
            <a:avLst/>
          </a:prstGeom>
          <a:noFill/>
          <a:ln/>
        </p:spPr>
        <p:txBody>
          <a:bodyPr wrap="square" lIns="0" tIns="0" rIns="0" bIns="0" rtlCol="0" anchor="ctr"/>
          <a:lstStyle/>
          <a:p>
            <a:pPr indent="0" marL="0">
              <a:buNone/>
            </a:pPr>
            <a:r>
              <a:rPr lang="en-US" sz="1000" dirty="0">
                <a:solidFill>
                  <a:schemeClr val="bg1"/>
                </a:solidFill>
              </a:rPr>
              <a:t>install, commission</a:t>
            </a:r>
            <a:endParaRPr lang="en-US" sz="1000" dirty="0"/>
          </a:p>
        </p:txBody>
      </p:sp>
      <p:sp>
        <p:nvSpPr>
          <p:cNvPr id="21" name="Text 19"/>
          <p:cNvSpPr txBox="1"/>
          <p:nvPr/>
        </p:nvSpPr>
        <p:spPr>
          <a:xfrm>
            <a:off x="548640" y="2935224"/>
            <a:ext cx="3291840" cy="438912"/>
          </a:xfrm>
          <a:prstGeom prst="rect">
            <a:avLst/>
          </a:prstGeom>
          <a:noFill/>
          <a:ln/>
        </p:spPr>
        <p:txBody>
          <a:bodyPr wrap="square" lIns="0" tIns="0" rIns="0" bIns="0" rtlCol="0" anchor="ctr"/>
          <a:lstStyle/>
          <a:p>
            <a:pPr indent="0" marL="0">
              <a:buNone/>
            </a:pPr>
            <a:r>
              <a:rPr lang="en-US" sz="1150" b="1" dirty="0">
                <a:solidFill>
                  <a:schemeClr val="tx1"/>
                </a:solidFill>
              </a:rPr>
              <a:t>Joint and double-degree programmes</a:t>
            </a:r>
            <a:endParaRPr lang="en-US" sz="1150" dirty="0"/>
          </a:p>
        </p:txBody>
      </p:sp>
      <p:sp>
        <p:nvSpPr>
          <p:cNvPr id="22" name="bar Joint and double-degree programmes"/>
          <p:cNvSpPr/>
          <p:nvPr/>
        </p:nvSpPr>
        <p:spPr>
          <a:xfrm>
            <a:off x="5513832" y="3008376"/>
            <a:ext cx="1444752" cy="292608"/>
          </a:xfrm>
          <a:prstGeom prst="roundRect">
            <a:avLst>
              <a:gd name="adj" fmla="val 43750"/>
            </a:avLst>
          </a:prstGeom>
          <a:solidFill>
            <a:schemeClr val="accent3"/>
          </a:solidFill>
          <a:ln w="12700">
            <a:solidFill>
              <a:schemeClr val="accent3"/>
            </a:solidFill>
            <a:prstDash val="solid"/>
          </a:ln>
        </p:spPr>
      </p:sp>
      <p:sp>
        <p:nvSpPr>
          <p:cNvPr id="23" name="Text 21"/>
          <p:cNvSpPr txBox="1"/>
          <p:nvPr/>
        </p:nvSpPr>
        <p:spPr>
          <a:xfrm>
            <a:off x="5605272" y="3008376"/>
            <a:ext cx="1261872" cy="292608"/>
          </a:xfrm>
          <a:prstGeom prst="rect">
            <a:avLst/>
          </a:prstGeom>
          <a:noFill/>
          <a:ln/>
        </p:spPr>
        <p:txBody>
          <a:bodyPr wrap="square" lIns="0" tIns="0" rIns="0" bIns="0" rtlCol="0" anchor="ctr"/>
          <a:lstStyle/>
          <a:p>
            <a:pPr indent="0" marL="0">
              <a:buNone/>
            </a:pPr>
            <a:r>
              <a:rPr lang="en-US" sz="1000" dirty="0">
                <a:solidFill>
                  <a:schemeClr val="bg1"/>
                </a:solidFill>
              </a:rPr>
              <a:t>design, accredit</a:t>
            </a:r>
            <a:endParaRPr lang="en-US" sz="1000" dirty="0"/>
          </a:p>
        </p:txBody>
      </p:sp>
      <p:sp>
        <p:nvSpPr>
          <p:cNvPr id="24" name="bar Joint and double-degree programmes"/>
          <p:cNvSpPr/>
          <p:nvPr/>
        </p:nvSpPr>
        <p:spPr>
          <a:xfrm>
            <a:off x="7050024" y="3008376"/>
            <a:ext cx="4517136" cy="292608"/>
          </a:xfrm>
          <a:prstGeom prst="roundRect">
            <a:avLst>
              <a:gd name="adj" fmla="val 43750"/>
            </a:avLst>
          </a:prstGeom>
          <a:solidFill>
            <a:schemeClr val="accent2"/>
          </a:solidFill>
          <a:ln w="12700">
            <a:solidFill>
              <a:schemeClr val="accent2"/>
            </a:solidFill>
            <a:prstDash val="solid"/>
          </a:ln>
        </p:spPr>
      </p:sp>
      <p:sp>
        <p:nvSpPr>
          <p:cNvPr id="25" name="Text 23"/>
          <p:cNvSpPr txBox="1"/>
          <p:nvPr/>
        </p:nvSpPr>
        <p:spPr>
          <a:xfrm>
            <a:off x="7141464" y="3008376"/>
            <a:ext cx="4334256" cy="292608"/>
          </a:xfrm>
          <a:prstGeom prst="rect">
            <a:avLst/>
          </a:prstGeom>
          <a:noFill/>
          <a:ln/>
        </p:spPr>
        <p:txBody>
          <a:bodyPr wrap="square" lIns="0" tIns="0" rIns="0" bIns="0" rtlCol="0" anchor="ctr"/>
          <a:lstStyle/>
          <a:p>
            <a:pPr indent="0" marL="0">
              <a:buNone/>
            </a:pPr>
            <a:r>
              <a:rPr lang="en-US" sz="1000" dirty="0">
                <a:solidFill>
                  <a:schemeClr val="bg1"/>
                </a:solidFill>
              </a:rPr>
              <a:t>first intakes</a:t>
            </a:r>
            <a:endParaRPr lang="en-US" sz="1000" dirty="0"/>
          </a:p>
        </p:txBody>
      </p:sp>
      <p:sp>
        <p:nvSpPr>
          <p:cNvPr id="26" name="Text 24"/>
          <p:cNvSpPr txBox="1"/>
          <p:nvPr/>
        </p:nvSpPr>
        <p:spPr>
          <a:xfrm>
            <a:off x="548640" y="3465576"/>
            <a:ext cx="3291840" cy="438912"/>
          </a:xfrm>
          <a:prstGeom prst="rect">
            <a:avLst/>
          </a:prstGeom>
          <a:noFill/>
          <a:ln/>
        </p:spPr>
        <p:txBody>
          <a:bodyPr wrap="square" lIns="0" tIns="0" rIns="0" bIns="0" rtlCol="0" anchor="ctr"/>
          <a:lstStyle/>
          <a:p>
            <a:pPr indent="0" marL="0">
              <a:buNone/>
            </a:pPr>
            <a:r>
              <a:rPr lang="en-US" sz="1150" b="1" dirty="0">
                <a:solidFill>
                  <a:schemeClr val="tx1"/>
                </a:solidFill>
              </a:rPr>
              <a:t>Faculty training in India</a:t>
            </a:r>
            <a:endParaRPr lang="en-US" sz="1150" dirty="0"/>
          </a:p>
        </p:txBody>
      </p:sp>
      <p:sp>
        <p:nvSpPr>
          <p:cNvPr id="27" name="bar Faculty training in India"/>
          <p:cNvSpPr/>
          <p:nvPr/>
        </p:nvSpPr>
        <p:spPr>
          <a:xfrm>
            <a:off x="5513832" y="3538728"/>
            <a:ext cx="6053328" cy="292608"/>
          </a:xfrm>
          <a:prstGeom prst="roundRect">
            <a:avLst>
              <a:gd name="adj" fmla="val 43750"/>
            </a:avLst>
          </a:prstGeom>
          <a:solidFill>
            <a:schemeClr val="accent1"/>
          </a:solidFill>
          <a:ln w="12700">
            <a:solidFill>
              <a:schemeClr val="accent1"/>
            </a:solidFill>
            <a:prstDash val="solid"/>
          </a:ln>
        </p:spPr>
      </p:sp>
      <p:sp>
        <p:nvSpPr>
          <p:cNvPr id="28" name="Text 26"/>
          <p:cNvSpPr txBox="1"/>
          <p:nvPr/>
        </p:nvSpPr>
        <p:spPr>
          <a:xfrm>
            <a:off x="5605272" y="3538728"/>
            <a:ext cx="5870448" cy="292608"/>
          </a:xfrm>
          <a:prstGeom prst="rect">
            <a:avLst/>
          </a:prstGeom>
          <a:noFill/>
          <a:ln/>
        </p:spPr>
        <p:txBody>
          <a:bodyPr wrap="square" lIns="0" tIns="0" rIns="0" bIns="0" rtlCol="0" anchor="ctr"/>
          <a:lstStyle/>
          <a:p>
            <a:pPr indent="0" marL="0">
              <a:buNone/>
            </a:pPr>
            <a:r>
              <a:rPr lang="en-US" sz="1000" dirty="0">
                <a:solidFill>
                  <a:schemeClr val="bg1"/>
                </a:solidFill>
              </a:rPr>
              <a:t>two faculty a year</a:t>
            </a:r>
            <a:endParaRPr lang="en-US" sz="1000" dirty="0"/>
          </a:p>
        </p:txBody>
      </p:sp>
      <p:sp>
        <p:nvSpPr>
          <p:cNvPr id="29" name="Text 27"/>
          <p:cNvSpPr txBox="1"/>
          <p:nvPr/>
        </p:nvSpPr>
        <p:spPr>
          <a:xfrm>
            <a:off x="548640" y="3995928"/>
            <a:ext cx="3291840" cy="438912"/>
          </a:xfrm>
          <a:prstGeom prst="rect">
            <a:avLst/>
          </a:prstGeom>
          <a:noFill/>
          <a:ln/>
        </p:spPr>
        <p:txBody>
          <a:bodyPr wrap="square" lIns="0" tIns="0" rIns="0" bIns="0" rtlCol="0" anchor="ctr"/>
          <a:lstStyle/>
          <a:p>
            <a:pPr indent="0" marL="0">
              <a:buNone/>
            </a:pPr>
            <a:r>
              <a:rPr lang="en-US" sz="1150" b="1" dirty="0">
                <a:solidFill>
                  <a:schemeClr val="tx1"/>
                </a:solidFill>
              </a:rPr>
              <a:t>Joint research centre (IoT, AI, quantum)</a:t>
            </a:r>
            <a:endParaRPr lang="en-US" sz="1150" dirty="0"/>
          </a:p>
        </p:txBody>
      </p:sp>
      <p:sp>
        <p:nvSpPr>
          <p:cNvPr id="30" name="bar Joint research centre (IoT, AI, quantum)"/>
          <p:cNvSpPr/>
          <p:nvPr/>
        </p:nvSpPr>
        <p:spPr>
          <a:xfrm>
            <a:off x="7050024" y="4069080"/>
            <a:ext cx="4517136" cy="292608"/>
          </a:xfrm>
          <a:prstGeom prst="roundRect">
            <a:avLst>
              <a:gd name="adj" fmla="val 43750"/>
            </a:avLst>
          </a:prstGeom>
          <a:solidFill>
            <a:schemeClr val="accent3"/>
          </a:solidFill>
          <a:ln w="12700">
            <a:solidFill>
              <a:schemeClr val="accent3"/>
            </a:solidFill>
            <a:prstDash val="solid"/>
          </a:ln>
        </p:spPr>
      </p:sp>
      <p:sp>
        <p:nvSpPr>
          <p:cNvPr id="31" name="Text 29"/>
          <p:cNvSpPr txBox="1"/>
          <p:nvPr/>
        </p:nvSpPr>
        <p:spPr>
          <a:xfrm>
            <a:off x="7141464" y="4069080"/>
            <a:ext cx="4334256" cy="292608"/>
          </a:xfrm>
          <a:prstGeom prst="rect">
            <a:avLst/>
          </a:prstGeom>
          <a:noFill/>
          <a:ln/>
        </p:spPr>
        <p:txBody>
          <a:bodyPr wrap="square" lIns="0" tIns="0" rIns="0" bIns="0" rtlCol="0" anchor="ctr"/>
          <a:lstStyle/>
          <a:p>
            <a:pPr indent="0" marL="0">
              <a:buNone/>
            </a:pPr>
            <a:r>
              <a:rPr lang="en-US" sz="1000" dirty="0">
                <a:solidFill>
                  <a:schemeClr val="bg1"/>
                </a:solidFill>
              </a:rPr>
              <a:t>establish and operate</a:t>
            </a:r>
            <a:endParaRPr lang="en-US" sz="1000" dirty="0"/>
          </a:p>
        </p:txBody>
      </p:sp>
      <p:sp>
        <p:nvSpPr>
          <p:cNvPr id="32" name="Text 30"/>
          <p:cNvSpPr txBox="1"/>
          <p:nvPr/>
        </p:nvSpPr>
        <p:spPr>
          <a:xfrm>
            <a:off x="548640" y="4526280"/>
            <a:ext cx="3291840" cy="438912"/>
          </a:xfrm>
          <a:prstGeom prst="rect">
            <a:avLst/>
          </a:prstGeom>
          <a:noFill/>
          <a:ln/>
        </p:spPr>
        <p:txBody>
          <a:bodyPr wrap="square" lIns="0" tIns="0" rIns="0" bIns="0" rtlCol="0" anchor="ctr"/>
          <a:lstStyle/>
          <a:p>
            <a:pPr indent="0" marL="0">
              <a:buNone/>
            </a:pPr>
            <a:r>
              <a:rPr lang="en-US" sz="1150" b="1" dirty="0">
                <a:solidFill>
                  <a:schemeClr val="tx1"/>
                </a:solidFill>
              </a:rPr>
              <a:t>Mongolia–India Cyber Security Forum</a:t>
            </a:r>
            <a:endParaRPr lang="en-US" sz="1150" dirty="0"/>
          </a:p>
        </p:txBody>
      </p:sp>
      <p:sp>
        <p:nvSpPr>
          <p:cNvPr id="33" name="bar Mongolia–India Cyber Security Forum"/>
          <p:cNvSpPr/>
          <p:nvPr/>
        </p:nvSpPr>
        <p:spPr>
          <a:xfrm>
            <a:off x="5513832" y="4599432"/>
            <a:ext cx="1444752" cy="292608"/>
          </a:xfrm>
          <a:prstGeom prst="roundRect">
            <a:avLst>
              <a:gd name="adj" fmla="val 43750"/>
            </a:avLst>
          </a:prstGeom>
          <a:solidFill>
            <a:schemeClr val="accent2"/>
          </a:solidFill>
          <a:ln w="12700">
            <a:solidFill>
              <a:schemeClr val="accent2"/>
            </a:solidFill>
            <a:prstDash val="solid"/>
          </a:ln>
        </p:spPr>
      </p:sp>
      <p:sp>
        <p:nvSpPr>
          <p:cNvPr id="34" name="Text 32"/>
          <p:cNvSpPr txBox="1"/>
          <p:nvPr/>
        </p:nvSpPr>
        <p:spPr>
          <a:xfrm>
            <a:off x="5605272" y="4599432"/>
            <a:ext cx="1261872" cy="292608"/>
          </a:xfrm>
          <a:prstGeom prst="rect">
            <a:avLst/>
          </a:prstGeom>
          <a:noFill/>
          <a:ln/>
        </p:spPr>
        <p:txBody>
          <a:bodyPr wrap="square" lIns="0" tIns="0" rIns="0" bIns="0" rtlCol="0" anchor="ctr"/>
          <a:lstStyle/>
          <a:p>
            <a:pPr indent="0" marL="0">
              <a:buNone/>
            </a:pPr>
            <a:r>
              <a:rPr lang="en-US" sz="1000" dirty="0">
                <a:solidFill>
                  <a:schemeClr val="bg1"/>
                </a:solidFill>
              </a:rPr>
              <a:t>1st forum</a:t>
            </a:r>
            <a:endParaRPr lang="en-US" sz="1000" dirty="0"/>
          </a:p>
        </p:txBody>
      </p:sp>
      <p:sp>
        <p:nvSpPr>
          <p:cNvPr id="35" name="bar Mongolia–India Cyber Security Forum"/>
          <p:cNvSpPr/>
          <p:nvPr/>
        </p:nvSpPr>
        <p:spPr>
          <a:xfrm>
            <a:off x="8586216" y="4599432"/>
            <a:ext cx="1444752" cy="292608"/>
          </a:xfrm>
          <a:prstGeom prst="roundRect">
            <a:avLst>
              <a:gd name="adj" fmla="val 43750"/>
            </a:avLst>
          </a:prstGeom>
          <a:solidFill>
            <a:schemeClr val="accent2"/>
          </a:solidFill>
          <a:ln w="12700">
            <a:solidFill>
              <a:schemeClr val="accent2"/>
            </a:solidFill>
            <a:prstDash val="solid"/>
          </a:ln>
        </p:spPr>
      </p:sp>
      <p:sp>
        <p:nvSpPr>
          <p:cNvPr id="36" name="Text 34"/>
          <p:cNvSpPr txBox="1"/>
          <p:nvPr/>
        </p:nvSpPr>
        <p:spPr>
          <a:xfrm>
            <a:off x="8677656" y="4599432"/>
            <a:ext cx="1261872" cy="292608"/>
          </a:xfrm>
          <a:prstGeom prst="rect">
            <a:avLst/>
          </a:prstGeom>
          <a:noFill/>
          <a:ln/>
        </p:spPr>
        <p:txBody>
          <a:bodyPr wrap="square" lIns="0" tIns="0" rIns="0" bIns="0" rtlCol="0" anchor="ctr"/>
          <a:lstStyle/>
          <a:p>
            <a:pPr indent="0" marL="0">
              <a:buNone/>
            </a:pPr>
            <a:r>
              <a:rPr lang="en-US" sz="1000" dirty="0">
                <a:solidFill>
                  <a:schemeClr val="bg1"/>
                </a:solidFill>
              </a:rPr>
              <a:t>2nd forum</a:t>
            </a:r>
            <a:endParaRPr lang="en-US" sz="1000" dirty="0"/>
          </a:p>
        </p:txBody>
      </p:sp>
      <p:sp>
        <p:nvSpPr>
          <p:cNvPr id="37" name="Text 35"/>
          <p:cNvSpPr txBox="1"/>
          <p:nvPr/>
        </p:nvSpPr>
        <p:spPr>
          <a:xfrm>
            <a:off x="548640" y="5056632"/>
            <a:ext cx="3291840" cy="438912"/>
          </a:xfrm>
          <a:prstGeom prst="rect">
            <a:avLst/>
          </a:prstGeom>
          <a:noFill/>
          <a:ln/>
        </p:spPr>
        <p:txBody>
          <a:bodyPr wrap="square" lIns="0" tIns="0" rIns="0" bIns="0" rtlCol="0" anchor="ctr"/>
          <a:lstStyle/>
          <a:p>
            <a:pPr indent="0" marL="0">
              <a:buNone/>
            </a:pPr>
            <a:r>
              <a:rPr lang="en-US" sz="1150" b="1" dirty="0">
                <a:solidFill>
                  <a:schemeClr val="tx1"/>
                </a:solidFill>
              </a:rPr>
              <a:t>ITU Cyberdrill · FIRST · APCERT</a:t>
            </a:r>
            <a:endParaRPr lang="en-US" sz="1150" dirty="0"/>
          </a:p>
        </p:txBody>
      </p:sp>
      <p:sp>
        <p:nvSpPr>
          <p:cNvPr id="38" name="bar ITU Cyberdrill · FIRST · APCERT"/>
          <p:cNvSpPr/>
          <p:nvPr/>
        </p:nvSpPr>
        <p:spPr>
          <a:xfrm>
            <a:off x="5513832" y="5129784"/>
            <a:ext cx="6053328" cy="292608"/>
          </a:xfrm>
          <a:prstGeom prst="roundRect">
            <a:avLst>
              <a:gd name="adj" fmla="val 43750"/>
            </a:avLst>
          </a:prstGeom>
          <a:solidFill>
            <a:schemeClr val="accent3"/>
          </a:solidFill>
          <a:ln w="12700">
            <a:solidFill>
              <a:schemeClr val="accent3"/>
            </a:solidFill>
            <a:prstDash val="solid"/>
          </a:ln>
        </p:spPr>
      </p:sp>
      <p:sp>
        <p:nvSpPr>
          <p:cNvPr id="39" name="Text 37"/>
          <p:cNvSpPr txBox="1"/>
          <p:nvPr/>
        </p:nvSpPr>
        <p:spPr>
          <a:xfrm>
            <a:off x="5605272" y="5129784"/>
            <a:ext cx="5870448" cy="292608"/>
          </a:xfrm>
          <a:prstGeom prst="rect">
            <a:avLst/>
          </a:prstGeom>
          <a:noFill/>
          <a:ln/>
        </p:spPr>
        <p:txBody>
          <a:bodyPr wrap="square" lIns="0" tIns="0" rIns="0" bIns="0" rtlCol="0" anchor="ctr"/>
          <a:lstStyle/>
          <a:p>
            <a:pPr indent="0" marL="0">
              <a:buNone/>
            </a:pPr>
            <a:r>
              <a:rPr lang="en-US" sz="1000" dirty="0">
                <a:solidFill>
                  <a:schemeClr val="bg1"/>
                </a:solidFill>
              </a:rPr>
              <a:t>joint participation every year</a:t>
            </a:r>
            <a:endParaRPr lang="en-US" sz="1000" dirty="0"/>
          </a:p>
        </p:txBody>
      </p:sp>
      <p:sp>
        <p:nvSpPr>
          <p:cNvPr id="40" name="legend India-led"/>
          <p:cNvSpPr/>
          <p:nvPr/>
        </p:nvSpPr>
        <p:spPr>
          <a:xfrm>
            <a:off x="3931920" y="5724144"/>
            <a:ext cx="182880" cy="182880"/>
          </a:xfrm>
          <a:prstGeom prst="ellipse">
            <a:avLst/>
          </a:prstGeom>
          <a:solidFill>
            <a:schemeClr val="accent1"/>
          </a:solidFill>
          <a:ln w="12700">
            <a:solidFill>
              <a:schemeClr val="accent1"/>
            </a:solidFill>
            <a:prstDash val="solid"/>
          </a:ln>
        </p:spPr>
      </p:sp>
      <p:sp>
        <p:nvSpPr>
          <p:cNvPr id="41" name="Text 39"/>
          <p:cNvSpPr txBox="1"/>
          <p:nvPr/>
        </p:nvSpPr>
        <p:spPr>
          <a:xfrm>
            <a:off x="4206240" y="5678424"/>
            <a:ext cx="1188720" cy="274320"/>
          </a:xfrm>
          <a:prstGeom prst="rect">
            <a:avLst/>
          </a:prstGeom>
          <a:noFill/>
          <a:ln/>
        </p:spPr>
        <p:txBody>
          <a:bodyPr wrap="square" lIns="0" tIns="0" rIns="0" bIns="0" rtlCol="0" anchor="ctr"/>
          <a:lstStyle/>
          <a:p>
            <a:pPr indent="0" marL="0">
              <a:buNone/>
            </a:pPr>
            <a:r>
              <a:rPr lang="en-US" sz="1050" dirty="0">
                <a:solidFill>
                  <a:schemeClr val="tx2"/>
                </a:solidFill>
              </a:rPr>
              <a:t>India-led</a:t>
            </a:r>
            <a:endParaRPr lang="en-US" sz="1050" dirty="0"/>
          </a:p>
        </p:txBody>
      </p:sp>
      <p:sp>
        <p:nvSpPr>
          <p:cNvPr id="42" name="legend Joint"/>
          <p:cNvSpPr/>
          <p:nvPr/>
        </p:nvSpPr>
        <p:spPr>
          <a:xfrm>
            <a:off x="5486400" y="5724144"/>
            <a:ext cx="182880" cy="182880"/>
          </a:xfrm>
          <a:prstGeom prst="ellipse">
            <a:avLst/>
          </a:prstGeom>
          <a:solidFill>
            <a:schemeClr val="accent3"/>
          </a:solidFill>
          <a:ln w="12700">
            <a:solidFill>
              <a:schemeClr val="accent3"/>
            </a:solidFill>
            <a:prstDash val="solid"/>
          </a:ln>
        </p:spPr>
      </p:sp>
      <p:sp>
        <p:nvSpPr>
          <p:cNvPr id="43" name="Text 41"/>
          <p:cNvSpPr txBox="1"/>
          <p:nvPr/>
        </p:nvSpPr>
        <p:spPr>
          <a:xfrm>
            <a:off x="5760720" y="5678424"/>
            <a:ext cx="1188720" cy="274320"/>
          </a:xfrm>
          <a:prstGeom prst="rect">
            <a:avLst/>
          </a:prstGeom>
          <a:noFill/>
          <a:ln/>
        </p:spPr>
        <p:txBody>
          <a:bodyPr wrap="square" lIns="0" tIns="0" rIns="0" bIns="0" rtlCol="0" anchor="ctr"/>
          <a:lstStyle/>
          <a:p>
            <a:pPr indent="0" marL="0">
              <a:buNone/>
            </a:pPr>
            <a:r>
              <a:rPr lang="en-US" sz="1050" dirty="0">
                <a:solidFill>
                  <a:schemeClr val="tx2"/>
                </a:solidFill>
              </a:rPr>
              <a:t>Joint</a:t>
            </a:r>
            <a:endParaRPr lang="en-US" sz="1050" dirty="0"/>
          </a:p>
        </p:txBody>
      </p:sp>
      <p:sp>
        <p:nvSpPr>
          <p:cNvPr id="44" name="legend Mongolia-led"/>
          <p:cNvSpPr/>
          <p:nvPr/>
        </p:nvSpPr>
        <p:spPr>
          <a:xfrm>
            <a:off x="7040880" y="5724144"/>
            <a:ext cx="182880" cy="182880"/>
          </a:xfrm>
          <a:prstGeom prst="ellipse">
            <a:avLst/>
          </a:prstGeom>
          <a:solidFill>
            <a:schemeClr val="accent2"/>
          </a:solidFill>
          <a:ln w="12700">
            <a:solidFill>
              <a:schemeClr val="accent2"/>
            </a:solidFill>
            <a:prstDash val="solid"/>
          </a:ln>
        </p:spPr>
      </p:sp>
      <p:sp>
        <p:nvSpPr>
          <p:cNvPr id="45" name="Text 43"/>
          <p:cNvSpPr txBox="1"/>
          <p:nvPr/>
        </p:nvSpPr>
        <p:spPr>
          <a:xfrm>
            <a:off x="7315200" y="5678424"/>
            <a:ext cx="1188720" cy="274320"/>
          </a:xfrm>
          <a:prstGeom prst="rect">
            <a:avLst/>
          </a:prstGeom>
          <a:noFill/>
          <a:ln/>
        </p:spPr>
        <p:txBody>
          <a:bodyPr wrap="square" lIns="0" tIns="0" rIns="0" bIns="0" rtlCol="0" anchor="ctr"/>
          <a:lstStyle/>
          <a:p>
            <a:pPr indent="0" marL="0">
              <a:buNone/>
            </a:pPr>
            <a:r>
              <a:rPr lang="en-US" sz="1050" dirty="0">
                <a:solidFill>
                  <a:schemeClr val="tx2"/>
                </a:solidFill>
              </a:rPr>
              <a:t>Mongolia-led</a:t>
            </a:r>
            <a:endParaRPr lang="en-US" sz="1050" dirty="0"/>
          </a:p>
        </p:txBody>
      </p:sp>
      <p:sp>
        <p:nvSpPr>
          <p:cNvPr id="46" name="Text 44"/>
          <p:cNvSpPr txBox="1"/>
          <p:nvPr/>
        </p:nvSpPr>
        <p:spPr>
          <a:xfrm>
            <a:off x="548640" y="5998464"/>
            <a:ext cx="11064240" cy="411480"/>
          </a:xfrm>
          <a:prstGeom prst="rect">
            <a:avLst/>
          </a:prstGeom>
          <a:noFill/>
          <a:ln/>
        </p:spPr>
        <p:txBody>
          <a:bodyPr wrap="square" lIns="0" tIns="0" rIns="0" bIns="0" rtlCol="0" anchor="t"/>
          <a:lstStyle/>
          <a:p>
            <a:pPr indent="0" marL="0">
              <a:buNone/>
            </a:pPr>
            <a:r>
              <a:rPr lang="en-US" sz="1050" i="1" dirty="0">
                <a:solidFill>
                  <a:schemeClr val="tx2"/>
                </a:solidFill>
              </a:rPr>
              <a:t>Milestones: 14th JWG (2026) agrees the package · C-DAC / Defence Cyber Agency technical assessment (2027) · first Forum (2027) · Cyber Range and SOC laboratory operational (2028) · review of the Memorandum's instructor term (2029)</a:t>
            </a:r>
            <a:endParaRPr lang="en-US" sz="105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474"/>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000" b="1" dirty="0">
                <a:solidFill>
                  <a:schemeClr val="tx1"/>
                </a:solidFill>
              </a:rPr>
              <a:t>Proposals for the 14th Joint Working Group</a:t>
            </a:r>
            <a:endParaRPr lang="en-US" sz="3000" dirty="0"/>
          </a:p>
        </p:txBody>
      </p:sp>
      <p:sp>
        <p:nvSpPr>
          <p:cNvPr id="3" name="Text 1"/>
          <p:cNvSpPr txBox="1"/>
          <p:nvPr/>
        </p:nvSpPr>
        <p:spPr>
          <a:xfrm>
            <a:off x="548640" y="1325880"/>
            <a:ext cx="10972800" cy="365760"/>
          </a:xfrm>
          <a:prstGeom prst="rect">
            <a:avLst/>
          </a:prstGeom>
          <a:noFill/>
          <a:ln/>
        </p:spPr>
        <p:txBody>
          <a:bodyPr wrap="square" lIns="0" tIns="0" rIns="0" bIns="0" rtlCol="0" anchor="t"/>
          <a:lstStyle/>
          <a:p>
            <a:pPr indent="0" marL="0">
              <a:buNone/>
            </a:pPr>
            <a:r>
              <a:rPr lang="en-US" sz="1400" i="1" dirty="0">
                <a:solidFill>
                  <a:schemeClr val="tx2"/>
                </a:solidFill>
              </a:rPr>
              <a:t>We respectfully request the Indian side to consider:</a:t>
            </a:r>
            <a:endParaRPr lang="en-US" sz="1400" dirty="0"/>
          </a:p>
        </p:txBody>
      </p:sp>
      <p:sp>
        <p:nvSpPr>
          <p:cNvPr id="4" name="card"/>
          <p:cNvSpPr/>
          <p:nvPr/>
        </p:nvSpPr>
        <p:spPr>
          <a:xfrm>
            <a:off x="548640" y="1783080"/>
            <a:ext cx="11064240" cy="786384"/>
          </a:xfrm>
          <a:prstGeom prst="roundRect">
            <a:avLst>
              <a:gd name="adj" fmla="val 13953"/>
            </a:avLst>
          </a:prstGeom>
          <a:solidFill>
            <a:schemeClr val="bg2"/>
          </a:solidFill>
          <a:ln w="12700">
            <a:solidFill>
              <a:schemeClr val="bg2"/>
            </a:solidFill>
            <a:prstDash val="solid"/>
          </a:ln>
        </p:spPr>
      </p:sp>
      <p:sp>
        <p:nvSpPr>
          <p:cNvPr id="5" name="number"/>
          <p:cNvSpPr/>
          <p:nvPr/>
        </p:nvSpPr>
        <p:spPr>
          <a:xfrm>
            <a:off x="731520" y="1947672"/>
            <a:ext cx="457200" cy="457200"/>
          </a:xfrm>
          <a:prstGeom prst="ellipse">
            <a:avLst/>
          </a:prstGeom>
          <a:solidFill>
            <a:schemeClr val="accent1"/>
          </a:solidFill>
          <a:ln w="12700">
            <a:solidFill>
              <a:schemeClr val="accent1"/>
            </a:solidFill>
            <a:prstDash val="solid"/>
          </a:ln>
        </p:spPr>
      </p:sp>
      <p:sp>
        <p:nvSpPr>
          <p:cNvPr id="6" name="Text 4"/>
          <p:cNvSpPr txBox="1"/>
          <p:nvPr/>
        </p:nvSpPr>
        <p:spPr>
          <a:xfrm>
            <a:off x="731520" y="1947672"/>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7" name="Text 5"/>
          <p:cNvSpPr txBox="1"/>
          <p:nvPr/>
        </p:nvSpPr>
        <p:spPr>
          <a:xfrm>
            <a:off x="1371600" y="1856232"/>
            <a:ext cx="10058400" cy="640080"/>
          </a:xfrm>
          <a:prstGeom prst="rect">
            <a:avLst/>
          </a:prstGeom>
          <a:noFill/>
          <a:ln/>
        </p:spPr>
        <p:txBody>
          <a:bodyPr wrap="square" lIns="0" tIns="0" rIns="0" bIns="0" rtlCol="0" anchor="ctr"/>
          <a:lstStyle/>
          <a:p>
            <a:pPr indent="0" marL="0">
              <a:buNone/>
            </a:pPr>
            <a:r>
              <a:rPr lang="en-US" sz="1250" b="1" dirty="0">
                <a:solidFill>
                  <a:schemeClr val="tx1"/>
                </a:solidFill>
              </a:rPr>
              <a:t>Include the expansion of the Cyber Security Training Centre project (Phase II) in the agenda and minutes of the 14th Joint Working Group </a:t>
            </a:r>
            <a:pPr indent="0" marL="0">
              <a:buNone/>
            </a:pPr>
            <a:endParaRPr lang="en-US" sz="1250" dirty="0"/>
          </a:p>
        </p:txBody>
      </p:sp>
      <p:sp>
        <p:nvSpPr>
          <p:cNvPr id="8" name="card"/>
          <p:cNvSpPr/>
          <p:nvPr/>
        </p:nvSpPr>
        <p:spPr>
          <a:xfrm>
            <a:off x="548640" y="2679192"/>
            <a:ext cx="11064240" cy="786384"/>
          </a:xfrm>
          <a:prstGeom prst="roundRect">
            <a:avLst>
              <a:gd name="adj" fmla="val 13953"/>
            </a:avLst>
          </a:prstGeom>
          <a:solidFill>
            <a:schemeClr val="bg2"/>
          </a:solidFill>
          <a:ln w="12700">
            <a:solidFill>
              <a:schemeClr val="bg2"/>
            </a:solidFill>
            <a:prstDash val="solid"/>
          </a:ln>
        </p:spPr>
      </p:sp>
      <p:sp>
        <p:nvSpPr>
          <p:cNvPr id="9" name="number"/>
          <p:cNvSpPr/>
          <p:nvPr/>
        </p:nvSpPr>
        <p:spPr>
          <a:xfrm>
            <a:off x="731520" y="2843784"/>
            <a:ext cx="457200" cy="457200"/>
          </a:xfrm>
          <a:prstGeom prst="ellipse">
            <a:avLst/>
          </a:prstGeom>
          <a:solidFill>
            <a:schemeClr val="accent1"/>
          </a:solidFill>
          <a:ln w="12700">
            <a:solidFill>
              <a:schemeClr val="accent1"/>
            </a:solidFill>
            <a:prstDash val="solid"/>
          </a:ln>
        </p:spPr>
      </p:sp>
      <p:sp>
        <p:nvSpPr>
          <p:cNvPr id="10" name="Text 8"/>
          <p:cNvSpPr txBox="1"/>
          <p:nvPr/>
        </p:nvSpPr>
        <p:spPr>
          <a:xfrm>
            <a:off x="731520" y="2843784"/>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1" name="Text 9"/>
          <p:cNvSpPr txBox="1"/>
          <p:nvPr/>
        </p:nvSpPr>
        <p:spPr>
          <a:xfrm>
            <a:off x="1371600" y="2752344"/>
            <a:ext cx="10058400" cy="640080"/>
          </a:xfrm>
          <a:prstGeom prst="rect">
            <a:avLst/>
          </a:prstGeom>
          <a:noFill/>
          <a:ln/>
        </p:spPr>
        <p:txBody>
          <a:bodyPr wrap="square" lIns="0" tIns="0" rIns="0" bIns="0" rtlCol="0" anchor="ctr"/>
          <a:lstStyle/>
          <a:p>
            <a:pPr indent="0" marL="0">
              <a:buNone/>
            </a:pPr>
            <a:r>
              <a:rPr lang="en-US" sz="1250" b="1" dirty="0">
                <a:solidFill>
                  <a:schemeClr val="tx1"/>
                </a:solidFill>
              </a:rPr>
              <a:t>Confirm instructor deployment to 2029 and approve a 2027–2029 joint training plan </a:t>
            </a:r>
            <a:pPr indent="0" marL="0">
              <a:buNone/>
            </a:pPr>
            <a:r>
              <a:rPr lang="en-US" sz="1250" dirty="0">
                <a:solidFill>
                  <a:schemeClr val="tx1"/>
                </a:solidFill>
              </a:rPr>
              <a:t>on the model of the 2024–2026 plan, with a train-the-trainer track for Mongolian faculty.</a:t>
            </a:r>
            <a:endParaRPr lang="en-US" sz="1250" dirty="0"/>
          </a:p>
        </p:txBody>
      </p:sp>
      <p:sp>
        <p:nvSpPr>
          <p:cNvPr id="12" name="card"/>
          <p:cNvSpPr/>
          <p:nvPr/>
        </p:nvSpPr>
        <p:spPr>
          <a:xfrm>
            <a:off x="548640" y="3575304"/>
            <a:ext cx="11064240" cy="786384"/>
          </a:xfrm>
          <a:prstGeom prst="roundRect">
            <a:avLst>
              <a:gd name="adj" fmla="val 13953"/>
            </a:avLst>
          </a:prstGeom>
          <a:solidFill>
            <a:schemeClr val="bg2"/>
          </a:solidFill>
          <a:ln w="12700">
            <a:solidFill>
              <a:schemeClr val="bg2"/>
            </a:solidFill>
            <a:prstDash val="solid"/>
          </a:ln>
        </p:spPr>
      </p:sp>
      <p:sp>
        <p:nvSpPr>
          <p:cNvPr id="13" name="number"/>
          <p:cNvSpPr/>
          <p:nvPr/>
        </p:nvSpPr>
        <p:spPr>
          <a:xfrm>
            <a:off x="731520" y="3739896"/>
            <a:ext cx="457200" cy="457200"/>
          </a:xfrm>
          <a:prstGeom prst="ellipse">
            <a:avLst/>
          </a:prstGeom>
          <a:solidFill>
            <a:schemeClr val="accent1"/>
          </a:solidFill>
          <a:ln w="12700">
            <a:solidFill>
              <a:schemeClr val="accent1"/>
            </a:solidFill>
            <a:prstDash val="solid"/>
          </a:ln>
        </p:spPr>
      </p:sp>
      <p:sp>
        <p:nvSpPr>
          <p:cNvPr id="14" name="Text 12"/>
          <p:cNvSpPr txBox="1"/>
          <p:nvPr/>
        </p:nvSpPr>
        <p:spPr>
          <a:xfrm>
            <a:off x="731520" y="3739896"/>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5" name="Text 13"/>
          <p:cNvSpPr txBox="1"/>
          <p:nvPr/>
        </p:nvSpPr>
        <p:spPr>
          <a:xfrm>
            <a:off x="1371600" y="3648456"/>
            <a:ext cx="10058400" cy="640080"/>
          </a:xfrm>
          <a:prstGeom prst="rect">
            <a:avLst/>
          </a:prstGeom>
          <a:noFill/>
          <a:ln/>
        </p:spPr>
        <p:txBody>
          <a:bodyPr wrap="square" lIns="0" tIns="0" rIns="0" bIns="0" rtlCol="0" anchor="ctr"/>
          <a:lstStyle/>
          <a:p>
            <a:pPr indent="0" marL="0">
              <a:buNone/>
            </a:pPr>
            <a:r>
              <a:rPr lang="en-US" sz="1250" b="1" dirty="0">
                <a:solidFill>
                  <a:schemeClr val="tx1"/>
                </a:solidFill>
              </a:rPr>
              <a:t>Agree a Phase II laboratory project – Cyber Range and SOC laboratory </a:t>
            </a:r>
            <a:pPr indent="0" marL="0">
              <a:buNone/>
            </a:pPr>
            <a:r>
              <a:rPr lang="en-US" sz="1250" dirty="0">
                <a:solidFill>
                  <a:schemeClr val="tx1"/>
                </a:solidFill>
              </a:rPr>
              <a:t>with a C-DAC / Defence Cyber Agency technical assessment in 2027.</a:t>
            </a:r>
            <a:endParaRPr lang="en-US" sz="1250" dirty="0"/>
          </a:p>
        </p:txBody>
      </p:sp>
      <p:sp>
        <p:nvSpPr>
          <p:cNvPr id="16" name="card"/>
          <p:cNvSpPr/>
          <p:nvPr/>
        </p:nvSpPr>
        <p:spPr>
          <a:xfrm>
            <a:off x="548640" y="4471416"/>
            <a:ext cx="11064240" cy="786384"/>
          </a:xfrm>
          <a:prstGeom prst="roundRect">
            <a:avLst>
              <a:gd name="adj" fmla="val 13953"/>
            </a:avLst>
          </a:prstGeom>
          <a:solidFill>
            <a:schemeClr val="bg2"/>
          </a:solidFill>
          <a:ln w="12700">
            <a:solidFill>
              <a:schemeClr val="bg2"/>
            </a:solidFill>
            <a:prstDash val="solid"/>
          </a:ln>
        </p:spPr>
      </p:sp>
      <p:sp>
        <p:nvSpPr>
          <p:cNvPr id="17" name="number"/>
          <p:cNvSpPr/>
          <p:nvPr/>
        </p:nvSpPr>
        <p:spPr>
          <a:xfrm>
            <a:off x="731520" y="4636008"/>
            <a:ext cx="457200" cy="457200"/>
          </a:xfrm>
          <a:prstGeom prst="ellipse">
            <a:avLst/>
          </a:prstGeom>
          <a:solidFill>
            <a:schemeClr val="accent1"/>
          </a:solidFill>
          <a:ln w="12700">
            <a:solidFill>
              <a:schemeClr val="accent1"/>
            </a:solidFill>
            <a:prstDash val="solid"/>
          </a:ln>
        </p:spPr>
      </p:sp>
      <p:sp>
        <p:nvSpPr>
          <p:cNvPr id="18" name="Text 16"/>
          <p:cNvSpPr txBox="1"/>
          <p:nvPr/>
        </p:nvSpPr>
        <p:spPr>
          <a:xfrm>
            <a:off x="731520" y="4636008"/>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4</a:t>
            </a:r>
            <a:endParaRPr lang="en-US" sz="1500" dirty="0"/>
          </a:p>
        </p:txBody>
      </p:sp>
      <p:sp>
        <p:nvSpPr>
          <p:cNvPr id="19" name="Text 17"/>
          <p:cNvSpPr txBox="1"/>
          <p:nvPr/>
        </p:nvSpPr>
        <p:spPr>
          <a:xfrm>
            <a:off x="1371600" y="4544568"/>
            <a:ext cx="10058400" cy="640080"/>
          </a:xfrm>
          <a:prstGeom prst="rect">
            <a:avLst/>
          </a:prstGeom>
          <a:noFill/>
          <a:ln/>
        </p:spPr>
        <p:txBody>
          <a:bodyPr wrap="square" lIns="0" tIns="0" rIns="0" bIns="0" rtlCol="0" anchor="ctr"/>
          <a:lstStyle/>
          <a:p>
            <a:pPr indent="0" marL="0">
              <a:buNone/>
            </a:pPr>
            <a:r>
              <a:rPr lang="en-US" sz="1250" b="1" dirty="0">
                <a:solidFill>
                  <a:schemeClr val="tx1"/>
                </a:solidFill>
              </a:rPr>
              <a:t>Open seats for Mongolian faculty at Indian defence universities and research institutions from 2027 </a:t>
            </a:r>
            <a:pPr indent="0" marL="0">
              <a:buNone/>
            </a:pPr>
            <a:r>
              <a:rPr lang="en-US" sz="1250" dirty="0">
                <a:solidFill>
                  <a:schemeClr val="tx1"/>
                </a:solidFill>
              </a:rPr>
              <a:t>and start the design of joint and double-degree programmes.</a:t>
            </a:r>
            <a:endParaRPr lang="en-US" sz="1250" dirty="0"/>
          </a:p>
        </p:txBody>
      </p:sp>
      <p:sp>
        <p:nvSpPr>
          <p:cNvPr id="20" name="card"/>
          <p:cNvSpPr/>
          <p:nvPr/>
        </p:nvSpPr>
        <p:spPr>
          <a:xfrm>
            <a:off x="548640" y="5367528"/>
            <a:ext cx="11064240" cy="786384"/>
          </a:xfrm>
          <a:prstGeom prst="roundRect">
            <a:avLst>
              <a:gd name="adj" fmla="val 13953"/>
            </a:avLst>
          </a:prstGeom>
          <a:solidFill>
            <a:schemeClr val="bg2"/>
          </a:solidFill>
          <a:ln w="12700">
            <a:solidFill>
              <a:schemeClr val="bg2"/>
            </a:solidFill>
            <a:prstDash val="solid"/>
          </a:ln>
        </p:spPr>
      </p:sp>
      <p:sp>
        <p:nvSpPr>
          <p:cNvPr id="21" name="number"/>
          <p:cNvSpPr/>
          <p:nvPr/>
        </p:nvSpPr>
        <p:spPr>
          <a:xfrm>
            <a:off x="731520" y="5532120"/>
            <a:ext cx="457200" cy="457200"/>
          </a:xfrm>
          <a:prstGeom prst="ellipse">
            <a:avLst/>
          </a:prstGeom>
          <a:solidFill>
            <a:schemeClr val="accent1"/>
          </a:solidFill>
          <a:ln w="12700">
            <a:solidFill>
              <a:schemeClr val="accent1"/>
            </a:solidFill>
            <a:prstDash val="solid"/>
          </a:ln>
        </p:spPr>
      </p:sp>
      <p:sp>
        <p:nvSpPr>
          <p:cNvPr id="22" name="Text 20"/>
          <p:cNvSpPr txBox="1"/>
          <p:nvPr/>
        </p:nvSpPr>
        <p:spPr>
          <a:xfrm>
            <a:off x="731520" y="553212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5</a:t>
            </a:r>
            <a:endParaRPr lang="en-US" sz="1500" dirty="0"/>
          </a:p>
        </p:txBody>
      </p:sp>
      <p:sp>
        <p:nvSpPr>
          <p:cNvPr id="23" name="Text 21"/>
          <p:cNvSpPr txBox="1"/>
          <p:nvPr/>
        </p:nvSpPr>
        <p:spPr>
          <a:xfrm>
            <a:off x="1371600" y="5440680"/>
            <a:ext cx="10058400" cy="640080"/>
          </a:xfrm>
          <a:prstGeom prst="rect">
            <a:avLst/>
          </a:prstGeom>
          <a:noFill/>
          <a:ln/>
        </p:spPr>
        <p:txBody>
          <a:bodyPr wrap="square" lIns="0" tIns="0" rIns="0" bIns="0" rtlCol="0" anchor="ctr"/>
          <a:lstStyle/>
          <a:p>
            <a:pPr indent="0" marL="0">
              <a:buNone/>
            </a:pPr>
            <a:r>
              <a:rPr lang="en-US" sz="1250" b="1" dirty="0">
                <a:solidFill>
                  <a:schemeClr val="tx1"/>
                </a:solidFill>
              </a:rPr>
              <a:t>Hold the first Mongolia–India Cyber Security Forum in 2027 </a:t>
            </a:r>
            <a:pPr indent="0" marL="0">
              <a:buNone/>
            </a:pPr>
            <a:r>
              <a:rPr lang="en-US" sz="1250" dirty="0">
                <a:solidFill>
                  <a:schemeClr val="tx1"/>
                </a:solidFill>
              </a:rPr>
              <a:t>and take part together in ITU Cyberdrill, FIRST and APCERT exercises.</a:t>
            </a:r>
            <a:endParaRPr lang="en-US" sz="125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474"/>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6583680" cy="1188720"/>
          </a:xfrm>
          <a:prstGeom prst="rect">
            <a:avLst/>
          </a:prstGeom>
          <a:noFill/>
          <a:ln/>
        </p:spPr>
        <p:txBody>
          <a:bodyPr wrap="square" lIns="0" tIns="0" rIns="0" bIns="0" rtlCol="0" anchor="ctr"/>
          <a:lstStyle/>
          <a:p>
            <a:pPr indent="0" marL="0">
              <a:buNone/>
            </a:pPr>
            <a:r>
              <a:rPr lang="en-US" sz="4400" b="1" dirty="0">
                <a:solidFill>
                  <a:schemeClr val="bg1"/>
                </a:solidFill>
              </a:rPr>
              <a:t>Thank you</a:t>
            </a:r>
            <a:endParaRPr lang="en-US" sz="4400" dirty="0"/>
          </a:p>
        </p:txBody>
      </p:sp>
      <p:sp>
        <p:nvSpPr>
          <p:cNvPr id="3" name="Text 0"/>
          <p:cNvSpPr/>
          <p:nvPr>
            <p:ph idx="101" type="body" hasCustomPrompt="1"/>
          </p:nvPr>
        </p:nvSpPr>
        <p:spPr>
          <a:xfrm>
            <a:off x="731520" y="3108960"/>
            <a:ext cx="6583680" cy="2194560"/>
          </a:xfrm>
          <a:prstGeom prst="rect">
            <a:avLst/>
          </a:prstGeom>
          <a:noFill/>
          <a:ln/>
        </p:spPr>
        <p:txBody>
          <a:bodyPr wrap="square" lIns="0" tIns="0" rIns="0" bIns="0" rtlCol="0" anchor="t"/>
          <a:lstStyle/>
          <a:p>
            <a:pPr indent="0" marL="0">
              <a:buNone/>
            </a:pPr>
            <a:r>
              <a:rPr lang="en-US" sz="1500" b="1" dirty="0">
                <a:solidFill>
                  <a:schemeClr val="accent6"/>
                </a:solidFill>
              </a:rPr>
              <a:t>Cyber Security Department, Military Institute, National Defence University of Mongolia</a:t>
            </a:r>
            <a:endParaRPr lang="en-US" sz="1500" dirty="0"/>
          </a:p>
          <a:p>
            <a:pPr indent="0" marL="0">
              <a:buNone/>
            </a:pPr>
            <a:r>
              <a:rPr lang="en-US" sz="1500" i="1" dirty="0">
                <a:solidFill>
                  <a:schemeClr val="accent6"/>
                </a:solidFill>
              </a:rPr>
              <a:t>Built with India. Run by Mongolia. Serving the whole sector.</a:t>
            </a:r>
            <a:endParaRPr lang="en-US" sz="1500" dirty="0"/>
          </a:p>
          <a:p>
            <a:pPr indent="0" marL="0">
              <a:buNone/>
            </a:pPr>
            <a:r>
              <a:rPr lang="en-US" sz="1500" dirty="0">
                <a:solidFill>
                  <a:schemeClr val="accent6"/>
                </a:solidFill>
              </a:rPr>
              <a:t>Head of Department: Captain S. Bilegt · www.mndu.gov.mn</a:t>
            </a:r>
            <a:endParaRPr lang="en-US" sz="1500" dirty="0"/>
          </a:p>
        </p:txBody>
      </p:sp>
      <p:pic>
        <p:nvPicPr>
          <p:cNvPr id="4" name="group photo" descr="/home/user/research-material/india-cyber-cooperation/images/group_trainees_indian.jpg">    </p:cNvPr>
          <p:cNvPicPr>
            <a:picLocks noChangeAspect="1"/>
          </p:cNvPicPr>
          <p:nvPr/>
        </p:nvPicPr>
        <p:blipFill>
          <a:blip r:embed="rId1"/>
          <a:srcRect l="0" r="0" t="0" b="0"/>
          <a:stretch/>
        </p:blipFill>
        <p:spPr>
          <a:xfrm>
            <a:off x="7589520" y="1463040"/>
            <a:ext cx="3931920" cy="2971800"/>
          </a:xfrm>
          <a:prstGeom prst="rect">
            <a:avLst/>
          </a:prstGeom>
        </p:spPr>
      </p:pic>
      <p:sp>
        <p:nvSpPr>
          <p:cNvPr id="5" name="Text 2"/>
          <p:cNvSpPr txBox="1"/>
          <p:nvPr/>
        </p:nvSpPr>
        <p:spPr>
          <a:xfrm>
            <a:off x="7589520" y="4480560"/>
            <a:ext cx="3931920" cy="274320"/>
          </a:xfrm>
          <a:prstGeom prst="rect">
            <a:avLst/>
          </a:prstGeom>
          <a:noFill/>
          <a:ln/>
        </p:spPr>
        <p:txBody>
          <a:bodyPr wrap="square" lIns="0" tIns="0" rIns="0" bIns="0" rtlCol="0" anchor="t"/>
          <a:lstStyle/>
          <a:p>
            <a:pPr indent="0" marL="0">
              <a:buNone/>
            </a:pPr>
            <a:r>
              <a:rPr lang="en-US" sz="1000" dirty="0">
                <a:solidFill>
                  <a:schemeClr val="accent5"/>
                </a:solidFill>
              </a:rPr>
              <a:t>Graduates with the Indian training team, NDU</a:t>
            </a:r>
            <a:endParaRPr lang="en-US" sz="1000" dirty="0"/>
          </a:p>
        </p:txBody>
      </p:sp>
      <p:sp>
        <p:nvSpPr>
          <p:cNvPr id="6" name="Text 3"/>
          <p:cNvSpPr txBox="1"/>
          <p:nvPr/>
        </p:nvSpPr>
        <p:spPr>
          <a:xfrm>
            <a:off x="731520" y="5852160"/>
            <a:ext cx="10058400" cy="365760"/>
          </a:xfrm>
          <a:prstGeom prst="rect">
            <a:avLst/>
          </a:prstGeom>
          <a:noFill/>
          <a:ln/>
        </p:spPr>
        <p:txBody>
          <a:bodyPr wrap="square" lIns="0" tIns="0" rIns="0" bIns="0" rtlCol="0" anchor="t"/>
          <a:lstStyle/>
          <a:p>
            <a:pPr indent="0" marL="0">
              <a:buNone/>
            </a:pPr>
            <a:r>
              <a:rPr lang="en-US" sz="1300" dirty="0">
                <a:solidFill>
                  <a:schemeClr val="accent5"/>
                </a:solidFill>
              </a:rPr>
              <a:t>Questions and discussion, followed by a tour of the laboratories</a:t>
            </a:r>
            <a:endParaRPr lang="en-US" sz="1300" dirty="0"/>
          </a:p>
        </p:txBody>
      </p:sp>
    </p:spTree>
  </p:cSld>
  <p:clrMapOvr>
    <a:masterClrMapping/>
  </p:clrMapOvr>
</p:sld>
</file>

<file path=ppt/theme/theme1.xml><?xml version="1.0" encoding="utf-8"?>
<a:theme xmlns:a="http://schemas.openxmlformats.org/drawingml/2006/main" name="India Mongolia Cyber">
  <a:themeElements>
    <a:clrScheme name="India Mongolia Cyber">
      <a:dk1>
        <a:srgbClr val="16213A"/>
      </a:dk1>
      <a:lt1>
        <a:srgbClr val="FFFFFF"/>
      </a:lt1>
      <a:dk2>
        <a:srgbClr val="5B6474"/>
      </a:dk2>
      <a:lt2>
        <a:srgbClr val="EEF2F7"/>
      </a:lt2>
      <a:accent1>
        <a:srgbClr val="D9772B"/>
      </a:accent1>
      <a:accent2>
        <a:srgbClr val="1F6FD1"/>
      </a:accent2>
      <a:accent3>
        <a:srgbClr val="1BA39C"/>
      </a:accent3>
      <a:accent4>
        <a:srgbClr val="B3261E"/>
      </a:accent4>
      <a:accent5>
        <a:srgbClr val="A3ACBA"/>
      </a:accent5>
      <a:accent6>
        <a:srgbClr val="D6E4F5"/>
      </a:accent6>
      <a:hlink>
        <a:srgbClr val="1F6FD1"/>
      </a:hlink>
      <a:folHlink>
        <a:srgbClr val="D9772B"/>
      </a:folHlink>
    </a:clrScheme>
    <a:fontScheme name="India Mongolia Cyber">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India–Mongolia Cooperation in Cyber Security Education</dc:title>
  <dc:subject>PptxGenJS Presentation</dc:subject>
  <dc:creator>Cyber Security Department, NDU Mongolia</dc:creator>
  <cp:lastModifiedBy>Cyber Security Department, NDU Mongolia</cp:lastModifiedBy>
  <cp:revision>1</cp:revision>
  <dcterms:created xsi:type="dcterms:W3CDTF">2026-10-14T12:18:43Z</dcterms:created>
  <dcterms:modified xsi:type="dcterms:W3CDTF">2026-10-14T12:18:43Z</dcterms:modified>
</cp:coreProperties>
</file>