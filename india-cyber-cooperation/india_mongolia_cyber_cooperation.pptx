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7757f22-6317-27e6-7452-4f52812b937f}">
          <p14:sldIdLst>
            <p14:sldId id="256"/>
            <p14:sldId id="257"/>
          </p14:sldIdLst>
        </p14:section>
        <p14:section name="01 Partnership context" id="{e7a84bd0-cfe1-76d3-db50-7d989eb835c4}">
          <p14:sldIdLst>
            <p14:sldId id="258"/>
            <p14:sldId id="259"/>
            <p14:sldId id="260"/>
          </p14:sldIdLst>
        </p14:section>
        <p14:section name="02 Establishing the Centre" id="{d7be8828-64a6-3a6d-67de-99c62041c099}">
          <p14:sldIdLst>
            <p14:sldId id="261"/>
            <p14:sldId id="262"/>
            <p14:sldId id="263"/>
            <p14:sldId id="264"/>
            <p14:sldId id="265"/>
            <p14:sldId id="266"/>
          </p14:sldIdLst>
        </p14:section>
        <p14:section name="03 Results 2022–2026" id="{012d65fc-0d40-8303-b746-c9f3d76f513d}">
          <p14:sldIdLst>
            <p14:sldId id="267"/>
            <p14:sldId id="268"/>
            <p14:sldId id="269"/>
            <p14:sldId id="270"/>
            <p14:sldId id="271"/>
            <p14:sldId id="272"/>
            <p14:sldId id="273"/>
            <p14:sldId id="274"/>
          </p14:sldIdLst>
        </p14:section>
        <p14:section name="04 The road ahead" id="{83b098ac-cbb4-f4bb-747f-72d6ccb2932b}">
          <p14:sldIdLst>
            <p14:sldId id="275"/>
            <p14:sldId id="276"/>
            <p14:sldId id="277"/>
          </p14:sldIdLst>
        </p14:section>
        <p14:section name="Closing" id="{01c2e786-cc79-00fd-59aa-c6bff1882934}">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Trainees</c:v>
                </c:pt>
              </c:strCache>
            </c:strRef>
          </c:tx>
          <c:spPr>
            <a:solidFill>
              <a:srgbClr val="1F6FD1"/>
            </a:solidFill>
            <a:effectLst/>
          </c:spPr>
          <c:invertIfNegative val="0"/>
          <c:dLbls>
            <c:numFmt formatCode="#,##0" sourceLinked="0"/>
            <c:txPr>
              <a:bodyPr/>
              <a:lstStyle/>
              <a:p>
                <a:pPr>
                  <a:defRPr b="0" i="0" strike="noStrike" sz="1100" u="none">
                    <a:solidFill>
                      <a:srgbClr val="16213A"/>
                    </a:solidFill>
                    <a:latin typeface="+mn-lt"/>
                  </a:defRPr>
                </a:pPr>
              </a:p>
            </c:txPr>
            <c:showLegendKey val="0"/>
            <c:showVal val="1"/>
            <c:showCatName val="0"/>
            <c:showSerName val="0"/>
            <c:showPercent val="0"/>
            <c:showBubbleSize val="0"/>
            <c:showLeaderLines val="0"/>
          </c:dLbls>
          <c:cat>
            <c:multiLvlStrRef>
              <c:f>Sheet1!$A$2:$A$14</c:f>
              <c:multiLvlStrCache>
                <c:ptCount val="13"/>
                <c:lvl>
                  <c:pt idx="0">
                    <c:v>2022 · Teacher training (C-DAC)</c:v>
                  </c:pt>
                  <c:pt idx="1">
                    <c:v>2023 · Laboratory tools course</c:v>
                  </c:pt>
                  <c:pt idx="2">
                    <c:v>2023 · Instructor programme</c:v>
                  </c:pt>
                  <c:pt idx="3">
                    <c:v>2023 · Network security</c:v>
                  </c:pt>
                  <c:pt idx="4">
                    <c:v>2023 · Malware analysis</c:v>
                  </c:pt>
                  <c:pt idx="5">
                    <c:v>2024 · Cyber security basic</c:v>
                  </c:pt>
                  <c:pt idx="6">
                    <c:v>2024 · Ethical hacking</c:v>
                  </c:pt>
                  <c:pt idx="7">
                    <c:v>2024 · SOC analyst</c:v>
                  </c:pt>
                  <c:pt idx="8">
                    <c:v>2024 · Digital forensics</c:v>
                  </c:pt>
                  <c:pt idx="9">
                    <c:v>2025 · Network administration</c:v>
                  </c:pt>
                  <c:pt idx="10">
                    <c:v>2025 · Cryptography &amp; data security</c:v>
                  </c:pt>
                  <c:pt idx="11">
                    <c:v>2025 · Vulnerability assessment &amp; pentest</c:v>
                  </c:pt>
                  <c:pt idx="12">
                    <c:v>2025 · Cyber security audit</c:v>
                  </c:pt>
                </c:lvl>
              </c:multiLvlStrCache>
            </c:multiLvlStrRef>
          </c:cat>
          <c:val>
            <c:numRef>
              <c:f>Sheet1!$B$2:$B$14</c:f>
              <c:numCache>
                <c:formatCode>General</c:formatCode>
                <c:ptCount val="13"/>
                <c:pt idx="0">
                  <c:v>12</c:v>
                </c:pt>
                <c:pt idx="1">
                  <c:v>10</c:v>
                </c:pt>
                <c:pt idx="2">
                  <c:v>17</c:v>
                </c:pt>
                <c:pt idx="3">
                  <c:v>18</c:v>
                </c:pt>
                <c:pt idx="4">
                  <c:v>16</c:v>
                </c:pt>
                <c:pt idx="5">
                  <c:v>24</c:v>
                </c:pt>
                <c:pt idx="6">
                  <c:v>15</c:v>
                </c:pt>
                <c:pt idx="7">
                  <c:v>11</c:v>
                </c:pt>
                <c:pt idx="8">
                  <c:v>9</c:v>
                </c:pt>
                <c:pt idx="9">
                  <c:v>22</c:v>
                </c:pt>
                <c:pt idx="10">
                  <c:v>17</c:v>
                </c:pt>
                <c:pt idx="11">
                  <c:v>21</c:v>
                </c:pt>
                <c:pt idx="12">
                  <c:v>19</c:v>
                </c:pt>
              </c:numCache>
            </c:numRef>
          </c:val>
        </c:ser>
        <c:dLbls>
          <c:numFmt formatCode="#,##0" sourceLinked="0"/>
          <c:txPr>
            <a:bodyPr/>
            <a:lstStyle/>
            <a:p>
              <a:pPr>
                <a:defRPr b="0" i="0" strike="noStrike" sz="1100" u="none">
                  <a:solidFill>
                    <a:srgbClr val="1621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B6474"/>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5B647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 · Нүүр, Угтах үг — 0.5 мин
Эрхэм хүндэт төрийн нарийн бичгийн дарга хатагтай Ишита Гангули Трипати, Захирал ноён Викаш Кумар, Захирал хурандаа Балжит Сингх, Батлан хамгаалахын атташе хурандаа Муппарти Санжеев, эрхэм хүндэт зочид оо!
Өдрийн мэнд. Үндэсний батлан хамгаалахын их сургуулийн нэрийн өмнөөс та бүхнийг Кибер аюулгүй байдлын тэнхимд тавтай морилохыг урьж байна. Энэ тэнхим Энэтхэг улстай хамтран ажилласны бодит үр дүн юм. Тиймээс хоёр улсын Батлан хамгаалахын яамд хоорондын 14 дэх удаагийн зөвлөлдөх уулзалтын үеэр Энэтхэгийн Батлан хамгаалахын яамны төлөөлөгчдийг яг энэ байранд хүлээн авч байгаадаа бид онцгой баяртай байна.
— EN —
Slide 1 · Title and welcome — 0.5 min
Honourable Joint Secretary Ms Ishita Ganguli Tripathy, Director Mr Vikash Kumar, Director Colonel Baljit Singh, Defence Attaché Colonel Mupparty Sanjeev, distinguished guests!
Good morning. On behalf of the National Defence University of Mongolia, welcome to the Cyber Security Department. This Department is a tangible result of our cooperation with India. That is why we are especially pleased to receive the delegation of the Ministry of Defence of India in this very building during the 14th consultative meeting of our two Defence Ministries.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 · товч агуулга — 1 мин
Энэхүү танилцуулгаар би та бүхэнд дөрвөн зүйлийг танилцуулна: энэ хамтын ажиллагаа хаанаас эхэлсэн, Энэтхэгийн дэмжлэгээр энд юу бүтээгдсэн, 2022 оноос хойш ямар үр дүнд хүрсэн, цаашдын хамтын ажиллагааны санал хүсэлт
Илтгэлийн дараа асуултад хариулж, дараа нь лабораториудаар хамт явна.
— EN —
Slide 2 · Outline — 1 min
In this briefing I will cover four things: where this cooperation began, what has been built here with India's support, what it has delivered since 2022, and our proposals and requests for the next phase of cooperation.
After the briefing I will take your questions, and then we will walk through the laboratories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3 · 01 — Хамтын ажиллагааны суурь
[Хэсгийн хуудас. Нэг өгүүлбэр.]
Эхний хэсэг: энэ төв ямар суурин дээр бий болсон бэ.
— EN —
Slide 3 · 01 — Partnership context
[Section slide. One sentence.]
Part one: the foundation on which this Centre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4 · Далан жилийн найрамдал, арван жилийн стратегийн түншлэл — 1.5 мин
[Он дарааллын зүүнээс баруун тийш заана.]
1955 оны 12 дугаар сарын 24-нд Энэтхэг улс Зөвлөлтийн блокоос гадуурх улсуудаас анх удаа Монгол Улстай дипломат харилцаа тогтоосон. 1994 оны Найрсаг харилцаа, хамтын ажиллагааны гэрээ, 2001 оны Батлан хамгаалах салбарын хамтын ажиллагааны хэлэлцээр хоёр улсын харилцааны эрх зүйн суурийг тавьсан. Өнөөдөр жил бүр хуралддаг зөвлөлдөх уулзалт яг тэр 2001 оны хэлэлцээрээс үүсэлтэй.
2015 онд Ерөнхий сайд Нарендра Моди Монголд айлчилж, хоёр улс стратегийн түншлэл тогтоосон. Бидний хувьд хамгийн чухал нь: 2015 оны 5 дугаар сарын 17-нд хоёр улсын Засгийн газар Монгол Улсын Батлан хамгаалах яаманд Кибер аюулгүй байдлын сургалтын төв байгуулах тухай санамж бичигт гарын үсэг зурсан.
Тэр төвийг 2022 оны 9 дүгээр сарын 6-нд, Энэтхэгийн Батлан хамгаалахын сайдын Монголд хийсэн анхны айлчлалын үеэр хоёр улсын Батлан хамгаалахын сайд нар хамтран нээсэн. Өнгөрсөн жилийн 10 дугаар сард Монгол Улсын Ерөнхийлөгч У.Хүрэлсүх Энэтхэгт Төрийн айлчлал хийж, дипломат харилцааны 70 жилийн ойг тэмдэглэсэн бөгөөд Энэтхэгийн тал Улаанбаатар дахь Элчин сайдын яамандаа Батлан хамгаалахын алба байгуулахаар шийдвэрлэсэн.
[Доод хэсгийн өгүүлбэр рүү заана.] Товчхондоо, энэ төв 2015 оны санамж бичгийн хүрээнд, 2021–2022 онд баригдаж, 2023 оноос Энэтхэгийн сургалтын багуудтай ажиллаж байна. Батлан хамгаалах салбарын хамтын ажиллагааны хамгийн бодит, гар хүрч болох институц нь энэ юм.
— EN —
Slide 4 · Seventy years of friendship, a decade of strategic partnership — 1.5 min
[Point along the timeline from left to right.]
On 24 December 1955 India became the first country outside the Soviet bloc to establish diplomatic relations with Mongolia. The 1994 Treaty of Friendly Relations and Cooperation and the 2001 Agreement on Defence Cooperation laid the legal foundation of the relationship. The consultative meeting that now takes place every year grew out of that 2001 agreement.
In 2015 Prime Minister Narendra Modi visited Mongolia and the two countries established a strategic partnership. For us the most important point is this: on 17 May 2015 the two governments signed the Memorandum to establish a Cyber Security Training Centre at the Ministry of Defence of Mongolia.
That Centre was inaugurated on 6 September 2022 by the two Defence Ministers, during the first-ever visit of an Indian Defence Minister to Mongolia. Last October President Khurelsukh paid a state visit to India marking seventy years of diplomatic relations, and India decided to establish a Defence Wing at its Embassy in Ulaanbaatar.
[Point to the sentence at the bottom.] In short: under the 2015 Memorandum this Centre was built in 2021–2022 and has worked with Indian training teams since 2023. It is the most tangible institution of our defence cooperation.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5 · Яагаад кибер — 1 мин
Яагаад яг кибер гэдэг асуултад тоогоор хариулъя. Олон улсын цахилгаан холбооны байгууллагын 2024 оны Кибер аюулгүй байдлын дэлхийн индексээр Монгол Улс 56.4 оноотой, 193 улсаас 103 дугаарт байна. 2020 оноос хойш 17 байраар ахисан ч Азийн дунджаас доогуур хэвээр. Үндэсний байгууллагуудын мэдээгээр Монголд долоо хоногт 90 мянга гаруй кибер халдлага илэрдэг. 2021 оны 12 дугаар сард батлагдсан Кибер аюулгүй байдлын тухай анхны хуулиар Зэвсэгт хүчин онц чухал дэд бүтцийг хамгаалахад дэмжлэг үзүүлэх үүрэгтэй болсон. Үүнийг хэрэгжүүлэхэд бэлтгэгдсэн хүн хэрэгтэй.
Хоёр талын хэлэлцээрт кибер асуудал байнгын сэдэв болсон: 2022 онд нээсэн энэ төвийг Энэтхэгийн Батлан хамгаалахын яам кибер чиглэлийн олон улсын хамтын ажиллагааны анхны, цорын ганц төсөл гэж тодорхойлсон; "Nomadic Elephant" сургуулийн сүүлийн хоёр удаад кибер аюулгүй байдлын модуль орсон; Зэвсэгт хүчний Кибер аюулгүй байдлын цэргийн командлал манай төвийн анхны суралцагчдыг илгээсэн гол түнш юм. Хоёр улсын зэвсэгт хүчин ижил аюул заналтай тулгарч байна: хулгайлагч вирус, тагнуул, дэд бүтэц рүү чиглэсэн халдлага, мөн ижил чадварын хомсдол.
— EN —
Slide 5 · Why cyber — 1 min
Let me answer the question "why cyber" with numbers. In the ITU Global Cybersecurity Index 2024 Mongolia scores 56.4 and ranks 103rd of 193 countries. We have climbed seventeen places since 2020, but we remain below the Asian average. National authorities detect more than ninety thousand cyber attacks in Mongolia every week. The first Law on Cyber Security, adopted in December 2021, gave the Armed Forces a supporting role in protecting critical infrastructure. Fulfilling that role requires trained people.
Cyber has become a standing item on the bilateral agenda: the Indian Ministry of Defence described this Centre, opened in 2022, as a one-of-its-kind cyber-related international cooperation project; the last two editions of the Nomadic Elephant exercise included cyber security modules; and the Cyber Security Military Command of the Mongolian Armed Forces, which sent our first trainees, is the Centre's principal partner. Both armed forces face the same threats — ransomware, espionage, attacks on infrastructure — and the same skills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6 · 02 — Төвийг байгуулсан нь
[Хэсгийн хуудас.]
Хоёрдугаар хэсэг: төв хэрхэн бий болсон бэ.
— EN —
Slide 6 · 02 — Establishing the Centre
[Section slide.]
Part two: how the Centre came into being.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7 · 2015 оны санамж бичгээс 2022 оны нээлт хүртэл — 1.5 мин
Тохиролцооноос нээлт хүртэл долоон жил зарцуулагдсан. [Зүүн талын он дарааллаар дээрээс доош.]
2015 оны 5 дугаар сарын 17-нд санамж бичигт гарын үсэг зурсан. 2021 онд ҮБХИС Цэргийн нэгдсэн сургуулийн байрны нэгдүгээр давхрыг засварлан бэлтгэж, Энэтхэгээс хоёр чингэлэг тоног төхөөрөмж ачигдан гарсан. 2022 оны 2 дугаар сард 93 нэр төрлийн тоног төхөөрөмж, программ, тавилга Улаанбаатарт ирсэн. 3–7 дугаар сард Си-Ди-Эй-Си буюу Энэтхэгийн Тооцоолол хөгжүүлэх төвийн инженер Сандип Кумар манай багтай хамтран лабораториудыг угсарч, ашиглалтад оруулсан.
2022 оны 9 дүгээр сарын 6-нд Батлан хамгаалахын сайд Г.Сайханбаяр, Энэтхэгийн Батлан хамгаалахын сайд Ражнат Сингх нар төвийг нээсэн. [Баруун талын зураг руу заана.] Энэ бол тэр өдрийн зураг: тууз хайчилж буй мөч, Энэтхэгийн Батлан хамгаалахын сайдад зориулсан хүндэт харуул.
2023 оны 1 дүгээр сард Батлан хамгаалах яам таван орон тоо баталж, төвийн дарга, гурван багшийг томилсон. 2023 оны 8 дугаар сард Энэтхэгийн анхны сургалтын баг ирсэн. 2025 оны 7 дугаар сард төв Цэргийн нэгдсэн сургуулийн бүрэн эрхт тэнхим болсон.
— EN —
Slide 7 · From the 2015 Memorandum to the 2022 inauguration — 1.5 min
It took seven years from agreement to opening. [Down the timeline on the left.]
The Memorandum was signed on 17 May 2015. In 2021 NDU renovated the first floor of the Military Institute building while two containers of equipment were dispatched from India. In February 2022, 93 types of equipment, software and furniture arrived in Ulaanbaatar. From March to July, Sandeep Kumar, an engineer of C-DAC, India's Centre for Development of Advanced Computing, installed and commissioned the laboratories together with our team.
On 6 September 2022 Defence Minister G. Saikhanbayar and Indian Defence Minister Rajnath Singh opened the Centre. [Point to the photographs on the right.] These are the pictures of that day: the ribbon-cutting and the guard of honour for the Indian Defence Minister.
In January 2023 the Ministry of Defence approved five posts and appointed the head of the Centre and three teachers. In August 2023 the first Indian training team arrived. In July 2025 the Centre became a full department of the Military Institute.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8 · Энэтхэгийн хувь нэмэр — 1.5 мин
Энэтхэгийн тал зүгээр нэг анги танхим биш, бүрэн тоноглогдсон, иж бүрэн төв хүлээлгэн өгсөн. Нийлүүлэлтийн нийт үнэ 1.3 тэрбум төгрөг орчим: 984 сая төгрөгийн тоног төхөөрөмж, тавилга, материал — хоёр чингэлэгт 93 нэр төрөл; 68.9 сая төгрөгийн кибер аюулгүй байдлын программ хангамж; 250.4 сая төгрөгийн Си-Ди-Эй-Си-ийн цахим сургалтын систем, таван курсийн агуулга.
[Баруун талын зургаан карт руу заана.] Эдгээр систем кибер аюулгүй байдлын бүх үйл явцыг хамардаг. Тооцоолол, сүлжээ: долоон Cisco сервер, NetApp өгөгдөл хадгалах систем, Cisco свитч, WatchGuard галт хана ба халдлага илрүүлэх систем, 37 ажлын станц. Тоон ул мөрийн шинжилгээ: Tableau хуулагч, бичилт хориглогч, Cellebrite, Oxygen, FTK програм, шинжилгээний ажлын станц. Хортой кодын шинжилгээ: IDA Pro, Hex-Rays декомпилятор, Sandboxie. Ослын хариу арга хэмжээ, аудит: Belkasoft, F-Response, Splunk, Nessus, Burp Suite, Acunetix, Netsparker. Цахим сургалт: Си-Ди-Эй-Си-ийн платформ дээрх таван курс — кибер аюулгүй байдлын суурь ойлголт, сүлжээний аюулгүй байдал, кибер гэмт хэргийн мөрдөн шалгалт, кибер болон гар утасны тоон ул мөрийн шинжилгээ. Мөн Си-Ди-Эй-Си-ийн өөрийн шинжилгээний багц хэрэгслүүд.
Монголын тал Цэргийн нэгдсэн сургуулийн нэгдүгээр давхрын байр, түүний засвар, төвийн бие бүрэлдэхүүн, өдөр тутмын үйл ажиллагааг хариуцсан.
— EN —
Slide 8 · India's contribution — 1.5 min
India handed over not a classroom but a complete, fully equipped centre. The supplies were worth about 1.3 billion tugrik: 984 million in equipment, furniture and materials — 93 items in two containers; 68.9 million in cyber security software; and 250.4 million for C-DAC's e-learning system with the content of five courses.
[Point to the six cards on the right.] These systems cover the whole cyber security workflow. Compute and network: seven Cisco servers, NetApp storage, Cisco switches, a WatchGuard firewall and intrusion prevention system, 37 workstations. Digital forensics: Tableau duplicators and write-blockers, Cellebrite, Oxygen, FTK and forensic workstations. Malware analysis: IDA Pro, Hex-Rays decompilers, Sandboxie. Incident response and audit: Belkasoft, F-Response, Splunk, Nessus, Burp Suite, Acunetix, Netsparker. E-learning: five courses on the C-DAC platform — cyber security awareness, network security fundamentals, cyber crime investigation, cyber forensics and mobile forensics. And C-DAC's own cyber forensic tool kits.
Mongolia provided the premises on the first floor of the Military Institute, their renovation, the Centre's staff and its day-to-day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9 · Сургалтын орчин — 1 мин
Илтгэлийн дараа та бүхэн энэ бүгдийг нүдээр үзнэ. [Зураг бүрийг богино заана.] Гурван лаборатори, нийт 37 ажлын станц: Тоон ул мөрийн шинжилгээний лаборатори 12 компьютертэй, Хортой кодын шинжилгээний лаборатори 14, Халдлага илрүүлэх ба аудитын лаборатори 11 компьютертэй, тус бүр ухаалаг самбар, принтертэй. 34 суудалтай лекцийн танхим; номын сан; найман багшийн ажлын өрөө; сервер, өгөгдөл хадгалах систем, галт хана, цахим сургалтын платформыг байрлуулсан хоёр рактай дата төв; тэнхимийн даргын өрөө.
— EN —
Slide 9 · The learning environment — 1 min
After the briefing you will see all of this with your own eyes. [Point briefly to each photograph.] Three laboratories with 37 workstations in total: the digital forensics laboratory with twelve computers, the malware analysis laboratory with fourteen, the incident and audit laboratory with eleven, each with smart boards and printers. A 34-seat lecture hall; a library; a staff room for eight instructors; a data centre with two racks hosting the servers, storage, firewall and the e-learning platform; and the head of department's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10 · Сургалтын төвөөс их сургуулийн тэнхим болсон нь — 1 мин
Төв 2023 оны 1 дүгээр сард таван орон тоотой эхэлсэн: төвийн дарга — миний бие, гурван багш. 2025 оны 7 дугаар сард Цэргийн нэгдсэн сургуулийн Кибер аюулгүй байдлын тэнхим болон өргөжиж, одоо ҮБХИС-ийн Кибер аюулгүй байдал, Сүлжээний инженер, Программ хангамжийн гурван бакалаврын хөтөлбөрийг хэрэгжүүлж байна.
[Зүүн талын жагсаалт руу заана.] Багшлах бүрэлдэхүүн долоон хүн болтлоо өссөн. Ахлах багш дэслэгч Ч.Энхбаатар Энэтхэгт кибер аюулгүй байдлын мэргэжлийн сургалтад хамрагдсан. Энэ жил нэг багш докторын, хоёр багш магистрын зэрэг хамгаалсан. [Баруун доод тоонууд.] 2026 оны эхний хагаст тэнхим бакалаврын 162 кредитийн сургалт явуулж, 13 мэргэших хичээлийн хөтөлбөрийг улсын стандартад нийцүүлэн шинэчилсэн. Энэ онд Кибер аюулгүй байдлын бакалаврын мэргэжлээр анхны төгсөлтөө амжилттай зохион байгуулсан.
— EN —
Slide 10 · From a training centre to a university department — 1 min
The Centre began in January 2023 with five posts: the head of the Centre — myself — and three teachers. In July 2025 it was expanded into the Cyber Security Department of the Military Institute, and it now runs NDU's three bachelor programmes in cyber security, network engineering and software engineering.
[Point to the list on the left.] The faculty has grown to seven. Senior teacher Lieutenant Ch. Enkhbaatar completed a professional cyber security course in India. This year one teacher defended a doctorate and two defended master's degrees. [Figures at the bottom right.] In the first half of 2026 the Department delivered 162 credits of bachelor teaching and rewrote thirteen specialised course units to the national standard. This year we held the first graduation of the cyber security bachelor programme.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11 · Энэтхэгийн инженер, сургалтын багууд — 1.5 мин
Энэтхэгийн мэргэжилтнүүд 2022 оны 3 дугаар сараас хойш энд тасралтгүй ажиллаж байна. [Хүснэгтээр дээрээс доош.] Си-Ди-Эй-Си-ийн инженер Сандип Кумар, суурин инженер Викаш Шарма, Таранжит Сингх нар 13 сарын турш угсралт, ашиглалтыг хариуцаж, 2022 оны 9 дүгээр сард манай багш нарыг сургаж, 2023 оны 4 дүгээр сард лабораторийн хэрэгслийн сургалтыг явуулсан.
2023 оны 8 дугаар сараас Энэтхэгийн Агаарын хүчин, Тэнгисийн цэргийн хүчин, Хуурай замын цэргийн хоёр хоёр багш бүхий есөн сургалтын баг дөрвөн сар тутам ээлжлэн ирж, хоёр талын баталсан 2024–2026 оны сургалтын төлөвлөгөөний дагуу баг бүр нэг, хоёр мэргэшүүлэх курс заасан. Эхний баг — доктор М.К.Шарма, Винод Кумар Шарма нар — багш бэлтгэх хөтөлбөр, сүлжээний аюулгүй байдал, хортой кодын шинжилгээг; дараагийн багууд кибер аюулгүй байдлын үндсэн курс, ёс зүйт халдлага, SOC шинжээч, тоон ул мөр, сүлжээний администратор, криптограф, нэвтрэлтийн тест, аудит, суурь курсийг заасан. Долоо дахь баг — дэслэгч хурандаатай дүйх Wing Commander Кишор Ядав тэргүүтэй — арван долоо хоногийн суурь сургалтыг явуулсан. Найм, ес дэх баг 2026 онд хамгаалалтын буюу Blue Team болон ахисан түвшний блокийг хэрэгжүүлсэн.
Энэ ээлжлэх тогтолцоо манай хөтөлбөрийг Энэтхэгийн зэвсэгт хүчний практиктай уялдуулаад зогсохгүй хоёр улсын цэргийн хооронд хувь хүний холбоо, итгэлцлийг бий болгосон.
— EN —
Slide 11 · Indian engineers and training teams — 1.5 min
Indian specialists have worked here continuously since March 2022. [Down the table.] C-DAC's engineer Sandeep Kumar and resident engineers Vikash Sharma and Taranjeet Singh were responsible for installation and operation for thirteen months, trained our teachers in September 2022 and ran the laboratory tools course in April 2023.
Since August 2023 nine training teams of two instructors each, from the Indian Air Force, Navy and Army, have rotated every four months and, under the 2024–2026 training plan approved by both sides, each team has taught one or two specialised courses. The first team — Dr M.K. Sharma and Vinod Kumar Sharma — delivered the instructor programme, network security and malware analysis; the following teams taught the cyber security basic course, ethical hacking, SOC analyst, digital forensics, network administration, cryptography, penetration testing, audit and the foundation course. The seventh team, led by Wing Commander Kishore Yadav, ran the ten-week foundation course. The eighth and ninth teams delivered the defensive Blue Team and advanced blocks in 2026.
This rotation not only keeps our curriculum aligned with Indian service practice; it has built personal links and trust between the two militaries.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12 · 03 — 2022–2026 оны үр дүн
[Хэсгийн хуудас.]
Гуравдугаар хэсэг: үр дүн.
— EN —
Slide 12 · 03 — Results 2022–2026
[Section slide.]
Part three: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13 · 300 гаруй мэргэжилтэн — 1.5 мин
[График руу заана.] Энэ графикт 2022 оны 9 сарын багш нарын сургалтаас 2025 оны 6 сарын аудитын курс хүртэлх ээлж бүр харагдаж байна: 13 ээлж, 211 суралцагч. Хамгийн олон хүнтэй нь кибер аюулгүй байдлын үндсэн курс — 24, сүлжээний администратор — 22, нэвтрэлтийн тест — 21 хүн. Үүний дараа долоо, найм, ес дэх баг 2026 оны 7 дугаар сар хүртэл суурь, хамгаалалтын, ахисан түвшний циклийг явуулсан.
Нийтдээ — ҮБХИС энэ сарын эхээр Батлан хамгаалах яаманд тайлагнаснаар — 2022–2026 онд Энэтхэгийн сургалтын багтай хамтран төрийн цэргийн болон хууль сахиулах байгууллагын 300 гаруй мэргэжилтнийг олон улсын жишигт нийцсэн сургалтад хамруулсан. Зөвхөн 2026 оны эхний хагаст тэнхим Энэтхэгийн багтай хамтран 20 кредитийн мэргэшүүлэх сургалт явуулсан.
— EN —
Slide 13 · More than 300 specialists — 1.5 min
[Point to the chart.] The chart shows every cohort from the teacher training in September 2022 to the audit course in June 2025: thirteen cohorts, 211 trainees. The largest were the cyber security basic course with 24, network administration with 22 and penetration testing with 21. After that the seventh, eighth and ninth teams ran the foundation, defensive and advanced cycles through July 2026.
In total — as NDU reported to the Ministry of Defence earlier this month — between 2022 and 2026 more than three hundred specialists of the state military and law-enforcement agencies have completed training that meets international standards together with the Indian teams. In the first half of 2026 alone the Department delivered twenty credits of specialised training with the Indian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14 · Хамтран баталсан хөтөлбөр: есөн үе шат — 1 мин
Бид тохиолдлын курс биш, есөн үе шаттай нэгдсэн хөтөлбөрийг хоёр талаас тохиролцон хэрэгжүүлсэн. 2023 онд багш бэлтгэх сургалтаас эхлээд үндсэн курс, ёс зүйт халдлага, хортой код ба тоон ул мөр, сүлжээний администратор ба криптограф, нэвтрэлтийн тест ба аудит гэж ахиж, 2025–2026 оны мэргэжлийн циклээр үргэлжилсэн: арван долоо хоногийн суурь, хамгаалалтын Blue Team блок, эцэст нь CERT-ийн үйл ажиллагаа, цэргийн кибер ажиллагаагаар төгсдөг ахисан түвшний блок. Үе шат бүр нэг сургалтын багт ногдоно. Бүх курсийн хөтөлбөрийг англи, монгол хэлээр боловсруулсан тул тэнхим Энэтхэгийн баггүйгээр ч эдгээр сургалтыг давтан явуулах чадвартай болсон.
— EN —
Slide 14 · A jointly approved curriculum: nine phases — 1 min
We did not run ad-hoc courses; the two sides agreed and implemented an integrated nine-phase curriculum. It started with instructor training in 2023 and advanced through the basic course, ethical hacking, malware and digital forensics, network administration and cryptography, penetration testing and audit, and continued with the 2025–2026 professional cycle: a ten-week foundation, a defensive Blue Team block, and an advanced block ending with CERT operations and military cyber security operations. Each phase corresponds to one training team. All course programmes were written in English and Mongolian, so the Department can now repeat these courses even without the Indian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15 · Хэнийг сургадаг вэ — 1 мин
Төв зөвхөн Зэвсэгт хүчинд биш, салбарт бүхэлд нь үйлчилдэг. Кибер аюулгүй байдлын цэргийн командлал 2023 оны 4 дүгээр сард анхны ээлжийг илгээсэн, одоо ч гол түнш хэвээр. Зэвсэгт хүчний нэгтгэл, анги, Жанжин штаб мэдлэг олгох сургалтад хамрагддаг. ҮБХИС-ийн багш, сонсогчдыг хамгийн түрүүнд сургасан нь сургалтыг давтан явуулах боломж бүрдүүлсэн. Тагнуулын ерөнхий газар, Төрийн тусгай хамгаалалтын газар, Нийслэлийн онцгой байдлын газар сургалтын гэрээгээр мэргэжилтнээ илгээдэг. 2025 онд тэнхим Үндэсний аюулгүй байдлын зөвлөлийн кибер чадавх бэхжүүлэх хөтөлбөрийн гүйцэтгэгчээр шалгарсан.
[Баруун талын тоонууд.] Байгууллага, хувь хүнтэй найман сургалтын гэрээ байгуулсан, 2025 оны мэргэжил сурталчлах хөтөлбөрөөр 22 сурагчид батламж олгосон, гурван бакалаврын хөтөлбөр хэрэгжүүлж, анхны ангиа энэ онд төгсгөсөн.
— EN —
Slide 15 · Who we train — 1 min
The Centre serves the whole sector, not only the Armed Forces. The Cyber Security Military Command sent the first cohort in April 2023 and remains our principal partner. Armed Forces units and the General Staff receive awareness training. NDU's own faculty and cadets were trained first, which made it possible to repeat the courses. The General Intelligence Agency, the State Special Protection Agency and the Capital Emergency Department send specialists under training contracts. In 2025 the Department was selected to execute the National Security Council's cyber capacity programme.
[Figures on the right.] We signed eight training contracts with agencies and individuals, certified 22 high-school pupils in the 2025 career-outreach programme, run three bachelor programmes and graduated our first cohort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16 · Судалгаа, сурах бичиг, инновац — 1 мин
Энэтхэгийн хөтөлбөр манай өөрийн судалгаа, сургалтын материалын үр болсон. [Зүүн талын номнуудыг заана.] 2025 онд багш нар сүлжээний аюулгүй байдлаас мэдээллийн системийн аудит хүртэл ISBN дугаартай найман англи хэлний сурах бичиг эмхэтгэн, тус бүр 20 хувийг ҮБХИС-ийн номын санд байршуулсан. Багш нар өөрсдөө "БЭХИ" сургалтын системийг хөгжүүлсэн нь ҮБХИС-ийн 2025 оны Эрдмийн их чуулганд шилдэг инновацын бүтээлээр шалгарч, Батлан хамгаалахын сайдын нэрэмжит шинжлэх ухаан, технологийн шилдэг бүтээлийн уралдаанд дэд байр эзэлсэн. Мөн найман эрдэм шинжилгээний өгүүлэл нийтлүүлсэн. 2026 оны 2 дугаар сард тэнхим таван их сургууль, академийг оролцуулсан салбарын эрдэм шинжилгээний хурлыг "DefendX-2026" ур чадварын тэмцээний хамт зохион байгуулсан бөгөөд манай сонсогч Улсын компьютерийн сүлжээний олимпиадад тэргүүн байр эзэлсэн.
— EN —
Slide 16 · Research, textbooks and innovation — 1 min
The Indian curriculum has become the seed of our own research and teaching material. [Point to the books on the left.] In 2025 the faculty compiled eight English-language textbooks with ISBNs, from network security to information systems audit, and placed twenty copies of each in the NDU library. The faculty developed the BEKHI learning system themselves; it was named the best innovation at the 2025 NDU Academic Conference and took second place in the Defence Minister's science and technology award. They also published eight research articles. In February 2026 the Department hosted the sector research conference with five universities and academies, together with the DefendX-2026 skills competition, and our cadet won first place at the National Computer Network Olympiad.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17 · Багшийн хөгжил, түншлэлийн сүлжээ — 1 мин
Энэтхэгийн хөрөнгө оруулалт манай хүмүүсийн өсөлтөөр үржиж байна. Дэслэгч Энхбаатар Энэтхэгт суралцсан; энэ жил багш нар нэг доктор, хоёр магистрын зэрэг хамгаалж, Герман, Япон, Америкийн Нэгдсэн Улсад сургалтад хамрагдсан; миний бие "Pacific Endeavor" сургууль, кибер халдлагад хариу үзүүлэх "ITACTIC" команд штабын сургуульд оролцсон.
Төв мөн өргөн түншлэлийн сүлжээний тулгуур болж байна: Кибер аюулгүй байдлын цэргийн командлал, АНУ-ын Энэтхэг–Номхон далайн командлалын мэргэжилтнүүдтэй хамтарсан сургалт; Үндэсний аюулгүй байдлын зөвлөлийн чадавхын хөтөлбөр; үндэсний CERT, гурван их сургууль; манай сонсогчдыг дадлагад авдаг аж ахуйн нэгжүүд.
— EN —
Slide 17 · Faculty development and partner network — 1 min
India's investment is multiplied by the growth of our own people. Lieutenant Enkhbaatar studied in India; this year the faculty defended one doctorate and two master's degrees and attended courses in Germany, Japan and the United States; I myself took part in the Pacific Endeavor exercise and the ITACTIC incident-response command-post exercise.
The Centre is also the anchor of a wider partner network: joint training with the Cyber Security Military Command and specialists of the US Indo-Pacific Command; the National Security Council's capacity programme; the national CERT and three universities; and companies that host our cadets for internships.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18 · Энэтхэгийн үргэлжилсэн дэмжлэг: 2025 оны шинэчлэл — 1 мин
Энэтхэгийн дэмжлэг нээлтээр дууссангүй. Энэтхэгийн Батлан хамгаалахын кибер агентлагийн 2025 оны 6 дугаар сарын 10-ны нийлүүлэлтийн захиалгаар Си-Ди-Эй-Си бүх 37 ажлын станцад шинэ санах ой, видео карт, нэг терабайтын диск суурилуулж, 2025 оны 11 дүгээр сарын 6-нд ашиглалтад хүлээлгэн өгсөн. 9–11 дүгээр сард 15 мэргэжлийн программын лицензийг сунгаж, шинээр авсан: FTK, Cellebrite, Oxygen, Belkasoft зэрэг шинжилгээний багц, IDA Pro, Nessus, Burp Suite, Acunetix, Invicti, VMware болон Red Hat платформ, галт ханын захиалга. Тэнхим гаалийн бүрдүүлэлтийг Батлан хамгаалах яамтай хамтран зохион байгуулж, Си-Ди-Эй-Си-ийн инженертэй хамт суурилуулсан.
— EN —
Slide 18 · Continued Indian support: the 2025 upgrade — 1 min
India's support did not end with the inauguration. Under a supply order of 10 June 2025 from India's Defence Cyber Agency, C-DAC installed new memory, graphics cards and one-terabyte disks in all 37 workstations and commissioned them on 6 November 2025. Between September and November fifteen professional software licences were renewed or newly issued: the forensic suites FTK, Cellebrite, Oxygen and Belkasoft; IDA Pro, Nessus, Burp Suite, Acunetix and Invicti; the VMware and Red Hat platforms; and the firewall subscription. The Department organised customs clearance together with the Ministry of Defence and installed the items with the C-DAC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19 · 2022–2026 оны гол үйл явдлууд — 1 мин
Нэг он дараалал дээр тавьж үзвэл хамтын ажиллагаа тогтвортой хэмнэлтэй: Энэтхэгийн талаас нэг алхам, манай талаас нэг алхам, жил бүр зөвлөлдөх уулзалтаар дүгнэдэг. 2024 онд Энэтхэгийн Элчин сайд төвд зочилж, шинэчлэлийн хэрэгцээтэй танилцсан нь 2025 оны шинэчлэлд хүргэсэн. 2025 оны 10 дугаар сарын Төрийн айлчлал, шинээр томилогдсон Батлан хамгаалахын атташе — өнгөрсөн 11 дүгээр сард манай тэнхимд зочилсон — хамтын ажиллагаанд Улаанбаатарт байнгын суваг бий болгосон. Төслийн хэрэгжилтийн хугацаа 2026 оны 7 дугаар сард албан ёсоор дууссан ч Засгийн газар хоорондын санамж бичгийн хүрээнд багш илгээх асуудлыг 2029 он хүртэл үргэлжлүүлэхээр болсон. Энэ нь биднийг саналын хэсэгт хүргэж байна.
— EN —
Slide 19 · Milestones 2022–2026 — 1 min
Placed on one timeline, the cooperation shows a steady rhythm: a step by India, a step by us, and a consultative meeting every year to review it. In 2024 the Indian Ambassador visited the Centre and saw the need for an upgrade, which led to the 2025 renewal. The state visit in October 2025 and the newly appointed Defence Attaché — who visited our Department last November — have given the cooperation a permanent channel in Ulaanbaatar. The project implementation period formally ended in July 2026, but under the intergovernmental Memorandum the deployment of instructors has been extended to 2029. That brings us to our proposals.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20 · 04 — Цаашдын хамтын ажиллагаа
[Хэсгийн хуудас.]
Дөрөвдүгээр хэсэг: бидний санал.
— EN —
Slide 20 · 04 — The road ahead
[Section slide.]
Part four: our proposals.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21 · ҮБХИС-ийн санал болгосон дөрвөн чиглэл — 1.5 мин
2026 оны 10 дугаар сарын 9-нд ҮБХИС дараагийн үе шатны дөрвөн чиглэлийг Батлан хамгаалах яаманд хүргүүлсэн бөгөөд яам үүнийг энэ зөвлөлдөх уулзалтын ярианы сэдэвт оруулсанд талархаж байна.
Нэг — хамтарсан сургалт: кибер аюулгүй байдлын чиглэлээр хамтарсан бакалавр, магистр, докторын хөтөлбөр; багш, сонсогч, судлаачийн солилцоо; Энэтхэгийн их сургуулиудтай хос диплом олгох хөтөлбөр.
Хоёр — лаборатори, судалгаа: кибер полигон болон Аюулгүй байдлын ажиллагааны төвийн лаборатори; IoT, хиймэл оюун, их өгөгдөл, квант криптографын хамтарсан судалгааны төв; нисгэгчгүй болон алсын удирдлагатай системийн кибер аюулгүй байдлын лаборатори.
Гурав — багшийн чадавх: манай багш, судлаачдыг Энэтхэгийн батлан хамгаалахын их сургууль, судалгааны байгууллагад сургах; кибер аюулгүй байдлын багш бэлтгэх хамтарсан хөтөлбөр.
Дөрөв — олон улсын хамтын ажиллагаа: ITU Cyberdrill, FIRST, APCERT-ийн сургуулиудад хамтран оролцох; хоёр жил тутмын Монгол–Энэтхэгийн кибер аюулгүй байдлын форум; хамтарсан хурал, семинар, сургалт, дадлага сургууль тогтмол зохион байгуулах.
[Доод өгүүлбэр.] Багш илгээх асуудал санамж бичгийн хүрээнд 2029 он хүртэл аль хэдийн сунгагдсан; эдгээр чиглэл тэр суурин дээр дараагийн давхаргыг барина.
— EN —
Slide 21 · Four directions proposed by NDU — 1.5 min
On 9 October 2026 NDU submitted four directions for the next phase to the Ministry of Defence, and we are grateful that the Ministry put them on the agenda of this consultative meeting.
One — joint education: joint bachelor's, master's and doctoral programmes in cyber security; exchange of faculty, cadets and researchers; double-degree programmes with Indian universities.
Two — laboratories and research: a Cyber Range and a Security Operations Centre laboratory; a joint research centre on IoT, artificial intelligence, big data and quantum cryptography; a cyber security laboratory for unmanned and remotely operated systems.
Three — faculty capacity: training our faculty and researchers at Indian defence universities and research institutions; a joint programme for training cyber security instructors.
Four — international cooperation: joint participation in the ITU Cyberdrill, FIRST and APCERT exercises; a biennial Mongolia–India Cyber Security Forum; regular joint conferences, seminars, courses and exercises.
[Sentence at the bottom.] Instructor deployment has already been extended to 2029 under the Memorandum; these directions build the next layer on that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22 · 14 дэх зөвлөлдөх уулзалтад оруулах санал — 1.5 мин
Эдгээр чиглэлийг шийдвэр болгохын тулд бид 14 дэх зөвлөлдөх уулзалтад дөрвөн тодорхой санал оруулж байна. Энэтхэгийн талыг дараах асуудлыг авч үзэхийг хүсье.
Нэг: Кибер аюулгүй байдлын сургалтын төвийн төслийг өргөжүүлэх — хоёрдугаар үе шат — асуудлыг уулзалтын хэлэлцэх асуудал, протоколд тусгах.
Хоёр: кибер полигон, SOC лаборатори бүхий хоёрдугаар үе шатны лабораторийн төслийг тохиролцож, 2027 онд Си-Ди-Эй-Си болон Батлан хамгаалахын кибер агентлагийн техникийн үнэлгээ хийлгэх.
Гурав: 2027 оноос манай багш нарт Энэтхэгийн батлан хамгаалахын их сургууль, судалгааны байгууллагад суудал гаргаж, хамтарсан болон хос дипломын хөтөлбөрийн боловсруулалтыг эхлүүлэх.
Дөрөв: 2027 онд Монгол–Энэтхэгийн кибер аюулгүй байдлын анхны форумыг зохион байгуулж, олон улсын сургуулиудад хамтран оролцох.
Эдгээр саналын зардал харьцангуй бага бөгөөд яг энэ байранд аль хэдийн бий болсон зүйл дээр шууд суурилна.
— EN —
Slide 22 · Proposals for the 14th consultative meeting — 1.5 min
To turn these directions into decisions, we put four concrete proposals to the 14th consultative meeting. We respectfully request the Indian side to consider the following.
One: include the expansion of the Cyber Security Training Centre project — Phase II — in the agenda and minutes of the meeting.
Two: agree a Phase II laboratory project with a Cyber Range and a SOC laboratory, with a technical assessment by C-DAC and the Defence Cyber Agency in 2027.
Three: from 2027, open seats for our faculty at Indian defence universities and research institutions, and start the design of joint and double-degree programmes.
Four: hold the first Mongolia–India Cyber Security Forum in 2027 and take part together in the international exercises.
These proposals are modest in cost and build directly on what already exists in this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23 · Баярлалаа — 0.5 мин
Анхаарал тавьсанд баярлалаа. Энэ тэнхим Монгол–Энэтхэгийн батлан хамгаалах салбарын хамтын ажиллагааны хамгийн бодит үр дүн юм: Энэтхэгтэй хамт бүтээсэн, Монгол удирдан ажиллуулдаг, аюулгүй байдлын салбарт бүхэлд нь үйлчилдэг. Монголын кибер аюулгүй байдлын мэргэжилтнүүдийг бэлтгэхэд үнэтэй хувь нэмэр оруулсан Бүгд Найрамдах Энэтхэг Улсад, мэдлэг, ур чадвараа хуваалцсан сургалтын багийн бүх офицер, удирдлагад тэнхимийн хамт олны өмнөөс гүн талархал илэрхийлье.
Та бүхний асуултад хариулахад бэлэн байна. Дараа нь лабораториудаар хамт явахыг урьж байна.
— EN —
Slide 23 · Thank you — 0.5 min
Thank you for your attention. This Department is the most tangible result of India–Mongolia defence cooperation: built with India, run by Mongolia, serving the whole security sector. On behalf of the Department I express our deep gratitude to the Republic of India for its valuable contribution to training Mongolia's cyber security specialists, and to all the officers and leaders of the training teams who have shared their knowledge and skills.
I am ready to answer your questions, and then I invite you to walk through the laboratories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9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859536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94760"/>
            <a:ext cx="8595360" cy="1554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229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743200"/>
            <a:ext cx="10698480" cy="109728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86200"/>
            <a:ext cx="10698480" cy="73152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chemeClr val="tx2"/>
                </a:solidFill>
              </a:rPr>
              <a:t>Cyber Security Department · National Defence University of Mongolia · 14th India–Mongolia JWG, 2026</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229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18872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731520" y="3108960"/>
            <a:ext cx="6583680" cy="2194560"/>
          </a:xfrm>
          <a:prstGeom prst="rect">
            <a:avLst/>
          </a:prstGeom>
          <a:noFill/>
          <a:ln/>
        </p:spPr>
        <p:txBody>
          <a:bodyPr wrap="square" rtlCol="0"/>
          <a:lstStyle>
            <a:lvl1pPr indent="0" marL="0">
              <a:buNone/>
              <a:defRPr lang="en-US" sz="1500" dirty="0">
                <a:solidFill>
                  <a:schemeClr val="accent6"/>
                </a:solidFill>
              </a:defRPr>
            </a:lvl1pPr>
          </a:lstStyle>
          <a:p>
            <a:pPr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image" Target="../media/image-9-8.jpg"/><Relationship Id="rId9" Type="http://schemas.openxmlformats.org/officeDocument/2006/relationships/slideLayout" Target="../slideLayouts/slideLayout4.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jpg"/><Relationship Id="rId9" Type="http://schemas.openxmlformats.org/officeDocument/2006/relationships/slideLayout" Target="../slideLayouts/slideLayout4.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jp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jp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NDU emblem" descr="/home/user/research-material/india-cyber-cooperation/images/ndu_emblem.png">    </p:cNvPr>
          <p:cNvPicPr>
            <a:picLocks noChangeAspect="1"/>
          </p:cNvPicPr>
          <p:nvPr/>
        </p:nvPicPr>
        <p:blipFill>
          <a:blip r:embed="rId1"/>
          <a:stretch>
            <a:fillRect/>
          </a:stretch>
        </p:blipFill>
        <p:spPr>
          <a:xfrm>
            <a:off x="731520" y="548640"/>
            <a:ext cx="1005840" cy="1005840"/>
          </a:xfrm>
          <a:prstGeom prst="rect">
            <a:avLst/>
          </a:prstGeom>
        </p:spPr>
      </p:pic>
      <p:sp>
        <p:nvSpPr>
          <p:cNvPr id="3" name="Text 0"/>
          <p:cNvSpPr txBox="1"/>
          <p:nvPr/>
        </p:nvSpPr>
        <p:spPr>
          <a:xfrm>
            <a:off x="1874520" y="566928"/>
            <a:ext cx="6400800" cy="457200"/>
          </a:xfrm>
          <a:prstGeom prst="rect">
            <a:avLst/>
          </a:prstGeom>
          <a:noFill/>
          <a:ln/>
        </p:spPr>
        <p:txBody>
          <a:bodyPr wrap="square" lIns="0" tIns="0" rIns="0" bIns="0" rtlCol="0" anchor="ctr"/>
          <a:lstStyle/>
          <a:p>
            <a:pPr indent="0" marL="0">
              <a:buNone/>
            </a:pPr>
            <a:r>
              <a:rPr lang="en-US" sz="1400" b="1" dirty="0">
                <a:solidFill>
                  <a:schemeClr val="accent6"/>
                </a:solidFill>
              </a:rPr>
              <a:t>National Defence University of Mongolia</a:t>
            </a:r>
            <a:endParaRPr lang="en-US" sz="1400" dirty="0"/>
          </a:p>
        </p:txBody>
      </p:sp>
      <p:sp>
        <p:nvSpPr>
          <p:cNvPr id="4" name="Text 1"/>
          <p:cNvSpPr txBox="1"/>
          <p:nvPr/>
        </p:nvSpPr>
        <p:spPr>
          <a:xfrm>
            <a:off x="1874520" y="978408"/>
            <a:ext cx="6400800" cy="457200"/>
          </a:xfrm>
          <a:prstGeom prst="rect">
            <a:avLst/>
          </a:prstGeom>
          <a:noFill/>
          <a:ln/>
        </p:spPr>
        <p:txBody>
          <a:bodyPr wrap="square" lIns="0" tIns="0" rIns="0" bIns="0" rtlCol="0" anchor="ctr"/>
          <a:lstStyle/>
          <a:p>
            <a:pPr indent="0" marL="0">
              <a:buNone/>
            </a:pPr>
            <a:r>
              <a:rPr lang="en-US" sz="1200" dirty="0">
                <a:solidFill>
                  <a:schemeClr val="accent5"/>
                </a:solidFill>
              </a:rPr>
              <a:t>Military Institute · Cyber Security Department</a:t>
            </a:r>
            <a:endParaRPr lang="en-US" sz="1200" dirty="0"/>
          </a:p>
        </p:txBody>
      </p:sp>
      <p:sp>
        <p:nvSpPr>
          <p:cNvPr id="5" name="Text 0"/>
          <p:cNvSpPr/>
          <p:nvPr>
            <p:ph idx="100" type="title" hasCustomPrompt="1"/>
          </p:nvPr>
        </p:nvSpPr>
        <p:spPr>
          <a:xfrm>
            <a:off x="731520" y="1920240"/>
            <a:ext cx="8595360" cy="1737360"/>
          </a:xfrm>
          <a:prstGeom prst="rect">
            <a:avLst/>
          </a:prstGeom>
          <a:noFill/>
          <a:ln/>
        </p:spPr>
        <p:txBody>
          <a:bodyPr wrap="square" lIns="0" tIns="0" rIns="0" bIns="0" rtlCol="0" anchor="b"/>
          <a:lstStyle/>
          <a:p>
            <a:pPr indent="0" marL="0">
              <a:buNone/>
            </a:pPr>
            <a:r>
              <a:rPr lang="en-US" sz="4000" b="1" dirty="0">
                <a:solidFill>
                  <a:schemeClr val="bg1"/>
                </a:solidFill>
              </a:rPr>
              <a:t>India–Mongolia Cooperation in Cyber Security Education</a:t>
            </a:r>
            <a:endParaRPr lang="en-US" sz="4000" dirty="0"/>
          </a:p>
        </p:txBody>
      </p:sp>
      <p:sp>
        <p:nvSpPr>
          <p:cNvPr id="6" name="Text 0"/>
          <p:cNvSpPr/>
          <p:nvPr>
            <p:ph idx="101" type="body" hasCustomPrompt="1"/>
          </p:nvPr>
        </p:nvSpPr>
        <p:spPr>
          <a:xfrm>
            <a:off x="731520" y="3794760"/>
            <a:ext cx="8595360" cy="1554480"/>
          </a:xfrm>
          <a:prstGeom prst="rect">
            <a:avLst/>
          </a:prstGeom>
          <a:noFill/>
          <a:ln/>
        </p:spPr>
        <p:txBody>
          <a:bodyPr wrap="square" lIns="0" tIns="0" rIns="0" bIns="0" rtlCol="0" anchor="t"/>
          <a:lstStyle/>
          <a:p>
            <a:pPr indent="0" marL="0">
              <a:buNone/>
            </a:pPr>
            <a:r>
              <a:rPr lang="en-US" sz="1600" b="1" dirty="0">
                <a:solidFill>
                  <a:schemeClr val="accent6"/>
                </a:solidFill>
              </a:rPr>
              <a:t>The Cyber Security Training Centre, 2015–2026, and the road to 2030</a:t>
            </a:r>
            <a:endParaRPr lang="en-US" sz="1600" dirty="0"/>
          </a:p>
          <a:p>
            <a:pPr indent="0" marL="0">
              <a:buNone/>
            </a:pPr>
            <a:r>
              <a:rPr lang="en-US" sz="1600" dirty="0">
                <a:solidFill>
                  <a:schemeClr val="accent6"/>
                </a:solidFill>
              </a:rPr>
              <a:t>Briefing for the delegation of the Ministry of Defence, Government of India</a:t>
            </a:r>
            <a:endParaRPr lang="en-US" sz="1600" dirty="0"/>
          </a:p>
          <a:p>
            <a:pPr indent="0" marL="0">
              <a:buNone/>
            </a:pPr>
            <a:r>
              <a:rPr lang="en-US" sz="1600" dirty="0">
                <a:solidFill>
                  <a:schemeClr val="accent6"/>
                </a:solidFill>
              </a:rPr>
              <a:t>14th Meeting of the India–Mongolia Joint Working Group on Defence Cooperation</a:t>
            </a:r>
            <a:endParaRPr lang="en-US" sz="1600" dirty="0"/>
          </a:p>
        </p:txBody>
      </p:sp>
      <p:pic>
        <p:nvPicPr>
          <p:cNvPr id="7" name="Department emblem" descr="/home/user/research-material/india-cyber-cooperation/images/dept_emblem.png">    </p:cNvPr>
          <p:cNvPicPr>
            <a:picLocks noChangeAspect="1"/>
          </p:cNvPicPr>
          <p:nvPr/>
        </p:nvPicPr>
        <p:blipFill>
          <a:blip r:embed="rId2"/>
          <a:stretch>
            <a:fillRect/>
          </a:stretch>
        </p:blipFill>
        <p:spPr>
          <a:xfrm>
            <a:off x="9601200" y="2011680"/>
            <a:ext cx="2011680" cy="2011680"/>
          </a:xfrm>
          <a:prstGeom prst="rect">
            <a:avLst/>
          </a:prstGeom>
        </p:spPr>
      </p:pic>
      <p:sp>
        <p:nvSpPr>
          <p:cNvPr id="8" name="india dot"/>
          <p:cNvSpPr/>
          <p:nvPr/>
        </p:nvSpPr>
        <p:spPr>
          <a:xfrm>
            <a:off x="10058400" y="4297680"/>
            <a:ext cx="411480" cy="411480"/>
          </a:xfrm>
          <a:prstGeom prst="ellipse">
            <a:avLst/>
          </a:prstGeom>
          <a:solidFill>
            <a:schemeClr val="accent1"/>
          </a:solidFill>
          <a:ln w="12700">
            <a:solidFill>
              <a:schemeClr val="accent1"/>
            </a:solidFill>
            <a:prstDash val="solid"/>
          </a:ln>
        </p:spPr>
      </p:sp>
      <p:sp>
        <p:nvSpPr>
          <p:cNvPr id="9" name="mongolia dot"/>
          <p:cNvSpPr/>
          <p:nvPr/>
        </p:nvSpPr>
        <p:spPr>
          <a:xfrm>
            <a:off x="10744200" y="4297680"/>
            <a:ext cx="411480" cy="411480"/>
          </a:xfrm>
          <a:prstGeom prst="ellipse">
            <a:avLst/>
          </a:prstGeom>
          <a:solidFill>
            <a:schemeClr val="accent2"/>
          </a:solidFill>
          <a:ln w="12700">
            <a:solidFill>
              <a:schemeClr val="accent2"/>
            </a:solidFill>
            <a:prstDash val="solid"/>
          </a:ln>
        </p:spPr>
      </p:sp>
      <p:sp>
        <p:nvSpPr>
          <p:cNvPr id="10" name="Text 6"/>
          <p:cNvSpPr txBox="1"/>
          <p:nvPr/>
        </p:nvSpPr>
        <p:spPr>
          <a:xfrm>
            <a:off x="731520" y="5943600"/>
            <a:ext cx="8229600" cy="365760"/>
          </a:xfrm>
          <a:prstGeom prst="rect">
            <a:avLst/>
          </a:prstGeom>
          <a:noFill/>
          <a:ln/>
        </p:spPr>
        <p:txBody>
          <a:bodyPr wrap="square" lIns="0" tIns="0" rIns="0" bIns="0" rtlCol="0" anchor="t"/>
          <a:lstStyle/>
          <a:p>
            <a:pPr indent="0" marL="0">
              <a:buNone/>
            </a:pPr>
            <a:r>
              <a:rPr lang="en-US" sz="1200" dirty="0">
                <a:solidFill>
                  <a:schemeClr val="accent5"/>
                </a:solidFill>
              </a:rPr>
              <a:t>Ulaanbaatar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Welcome to the Cyber Security Department</a:t>
            </a:r>
            <a:endParaRPr lang="en-US" sz="3000" dirty="0"/>
          </a:p>
        </p:txBody>
      </p:sp>
      <p:sp>
        <p:nvSpPr>
          <p:cNvPr id="3" name="card"/>
          <p:cNvSpPr/>
          <p:nvPr/>
        </p:nvSpPr>
        <p:spPr>
          <a:xfrm>
            <a:off x="548640" y="1371600"/>
            <a:ext cx="5669280" cy="4846320"/>
          </a:xfrm>
          <a:prstGeom prst="roundRect">
            <a:avLst>
              <a:gd name="adj" fmla="val 2264"/>
            </a:avLst>
          </a:prstGeom>
          <a:solidFill>
            <a:schemeClr val="bg2"/>
          </a:solidFill>
          <a:ln w="12700">
            <a:solidFill>
              <a:schemeClr val="bg2"/>
            </a:solidFill>
            <a:prstDash val="solid"/>
          </a:ln>
        </p:spPr>
      </p:sp>
      <p:sp>
        <p:nvSpPr>
          <p:cNvPr id="4" name="Text 2"/>
          <p:cNvSpPr txBox="1"/>
          <p:nvPr/>
        </p:nvSpPr>
        <p:spPr>
          <a:xfrm>
            <a:off x="822960" y="1554480"/>
            <a:ext cx="512064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Distinguished guests</a:t>
            </a:r>
            <a:endParaRPr lang="en-US" sz="1800" dirty="0"/>
          </a:p>
        </p:txBody>
      </p:sp>
      <p:sp>
        <p:nvSpPr>
          <p:cNvPr id="5" name="Text 3"/>
          <p:cNvSpPr txBox="1"/>
          <p:nvPr/>
        </p:nvSpPr>
        <p:spPr>
          <a:xfrm>
            <a:off x="822960" y="1920240"/>
            <a:ext cx="5120640" cy="320040"/>
          </a:xfrm>
          <a:prstGeom prst="rect">
            <a:avLst/>
          </a:prstGeom>
          <a:noFill/>
          <a:ln/>
        </p:spPr>
        <p:txBody>
          <a:bodyPr wrap="square" lIns="0" tIns="0" rIns="0" bIns="0" rtlCol="0" anchor="t"/>
          <a:lstStyle/>
          <a:p>
            <a:pPr indent="0" marL="0">
              <a:buNone/>
            </a:pPr>
            <a:r>
              <a:rPr lang="en-US" sz="1200" dirty="0">
                <a:solidFill>
                  <a:schemeClr val="tx2"/>
                </a:solidFill>
              </a:rPr>
              <a:t>Delegation of the Ministry of Defence, Government of India</a:t>
            </a:r>
            <a:endParaRPr lang="en-US" sz="1200" dirty="0"/>
          </a:p>
        </p:txBody>
      </p:sp>
      <p:sp>
        <p:nvSpPr>
          <p:cNvPr id="6" name="icon circle"/>
          <p:cNvSpPr/>
          <p:nvPr/>
        </p:nvSpPr>
        <p:spPr>
          <a:xfrm>
            <a:off x="822960" y="2377440"/>
            <a:ext cx="566928" cy="566928"/>
          </a:xfrm>
          <a:prstGeom prst="ellipse">
            <a:avLst/>
          </a:prstGeom>
          <a:solidFill>
            <a:schemeClr val="accent1"/>
          </a:solidFill>
          <a:ln w="12700">
            <a:solidFill>
              <a:schemeClr val="accent1"/>
            </a:solidFill>
            <a:prstDash val="solid"/>
          </a:ln>
        </p:spPr>
      </p:sp>
      <p:pic>
        <p:nvPicPr>
          <p:cNvPr id="7" name="FaUserTie" descr="preencoded.png">    </p:cNvPr>
          <p:cNvPicPr>
            <a:picLocks noChangeAspect="1"/>
          </p:cNvPicPr>
          <p:nvPr/>
        </p:nvPicPr>
        <p:blipFill>
          <a:blip r:embed="rId1"/>
          <a:stretch>
            <a:fillRect/>
          </a:stretch>
        </p:blipFill>
        <p:spPr>
          <a:xfrm>
            <a:off x="970361" y="2524841"/>
            <a:ext cx="272125" cy="272125"/>
          </a:xfrm>
          <a:prstGeom prst="rect">
            <a:avLst/>
          </a:prstGeom>
        </p:spPr>
      </p:pic>
      <p:sp>
        <p:nvSpPr>
          <p:cNvPr id="8" name="Text 5"/>
          <p:cNvSpPr txBox="1"/>
          <p:nvPr/>
        </p:nvSpPr>
        <p:spPr>
          <a:xfrm>
            <a:off x="1554480" y="2359152"/>
            <a:ext cx="4480560" cy="320040"/>
          </a:xfrm>
          <a:prstGeom prst="rect">
            <a:avLst/>
          </a:prstGeom>
          <a:noFill/>
          <a:ln/>
        </p:spPr>
        <p:txBody>
          <a:bodyPr wrap="square" lIns="0" tIns="0" rIns="0" bIns="0" rtlCol="0" anchor="t"/>
          <a:lstStyle/>
          <a:p>
            <a:pPr indent="0" marL="0">
              <a:buNone/>
            </a:pPr>
            <a:r>
              <a:rPr lang="en-US" sz="1500" b="1" dirty="0">
                <a:solidFill>
                  <a:schemeClr val="tx1"/>
                </a:solidFill>
              </a:rPr>
              <a:t>Ms Ishita Ganguli Tripathy</a:t>
            </a:r>
            <a:endParaRPr lang="en-US" sz="1500" dirty="0"/>
          </a:p>
        </p:txBody>
      </p:sp>
      <p:sp>
        <p:nvSpPr>
          <p:cNvPr id="9" name="Text 6"/>
          <p:cNvSpPr txBox="1"/>
          <p:nvPr/>
        </p:nvSpPr>
        <p:spPr>
          <a:xfrm>
            <a:off x="1554480" y="2670048"/>
            <a:ext cx="4480560" cy="320040"/>
          </a:xfrm>
          <a:prstGeom prst="rect">
            <a:avLst/>
          </a:prstGeom>
          <a:noFill/>
          <a:ln/>
        </p:spPr>
        <p:txBody>
          <a:bodyPr wrap="square" lIns="0" tIns="0" rIns="0" bIns="0" rtlCol="0" anchor="t"/>
          <a:lstStyle/>
          <a:p>
            <a:pPr indent="0" marL="0">
              <a:buNone/>
            </a:pPr>
            <a:r>
              <a:rPr lang="en-US" sz="1200" dirty="0">
                <a:solidFill>
                  <a:schemeClr val="tx2"/>
                </a:solidFill>
              </a:rPr>
              <a:t>Joint Secretary, Ministry of Defence</a:t>
            </a:r>
            <a:endParaRPr lang="en-US" sz="1200" dirty="0"/>
          </a:p>
        </p:txBody>
      </p:sp>
      <p:sp>
        <p:nvSpPr>
          <p:cNvPr id="10" name="icon circle"/>
          <p:cNvSpPr/>
          <p:nvPr/>
        </p:nvSpPr>
        <p:spPr>
          <a:xfrm>
            <a:off x="822960" y="3291840"/>
            <a:ext cx="566928" cy="566928"/>
          </a:xfrm>
          <a:prstGeom prst="ellipse">
            <a:avLst/>
          </a:prstGeom>
          <a:solidFill>
            <a:schemeClr val="accent1"/>
          </a:solidFill>
          <a:ln w="12700">
            <a:solidFill>
              <a:schemeClr val="accent1"/>
            </a:solidFill>
            <a:prstDash val="solid"/>
          </a:ln>
        </p:spPr>
      </p:sp>
      <p:pic>
        <p:nvPicPr>
          <p:cNvPr id="11" name="FaUserTie" descr="preencoded.png">    </p:cNvPr>
          <p:cNvPicPr>
            <a:picLocks noChangeAspect="1"/>
          </p:cNvPicPr>
          <p:nvPr/>
        </p:nvPicPr>
        <p:blipFill>
          <a:blip r:embed="rId2"/>
          <a:stretch>
            <a:fillRect/>
          </a:stretch>
        </p:blipFill>
        <p:spPr>
          <a:xfrm>
            <a:off x="970361" y="3439241"/>
            <a:ext cx="272125" cy="272125"/>
          </a:xfrm>
          <a:prstGeom prst="rect">
            <a:avLst/>
          </a:prstGeom>
        </p:spPr>
      </p:pic>
      <p:sp>
        <p:nvSpPr>
          <p:cNvPr id="12" name="Text 8"/>
          <p:cNvSpPr txBox="1"/>
          <p:nvPr/>
        </p:nvSpPr>
        <p:spPr>
          <a:xfrm>
            <a:off x="1554480" y="3273552"/>
            <a:ext cx="4480560" cy="320040"/>
          </a:xfrm>
          <a:prstGeom prst="rect">
            <a:avLst/>
          </a:prstGeom>
          <a:noFill/>
          <a:ln/>
        </p:spPr>
        <p:txBody>
          <a:bodyPr wrap="square" lIns="0" tIns="0" rIns="0" bIns="0" rtlCol="0" anchor="t"/>
          <a:lstStyle/>
          <a:p>
            <a:pPr indent="0" marL="0">
              <a:buNone/>
            </a:pPr>
            <a:r>
              <a:rPr lang="en-US" sz="1500" b="1" dirty="0">
                <a:solidFill>
                  <a:schemeClr val="tx1"/>
                </a:solidFill>
              </a:rPr>
              <a:t>Mr Vikash Kumar</a:t>
            </a:r>
            <a:endParaRPr lang="en-US" sz="1500" dirty="0"/>
          </a:p>
        </p:txBody>
      </p:sp>
      <p:sp>
        <p:nvSpPr>
          <p:cNvPr id="13" name="Text 9"/>
          <p:cNvSpPr txBox="1"/>
          <p:nvPr/>
        </p:nvSpPr>
        <p:spPr>
          <a:xfrm>
            <a:off x="1554480" y="3584448"/>
            <a:ext cx="4480560" cy="320040"/>
          </a:xfrm>
          <a:prstGeom prst="rect">
            <a:avLst/>
          </a:prstGeom>
          <a:noFill/>
          <a:ln/>
        </p:spPr>
        <p:txBody>
          <a:bodyPr wrap="square" lIns="0" tIns="0" rIns="0" bIns="0" rtlCol="0" anchor="t"/>
          <a:lstStyle/>
          <a:p>
            <a:pPr indent="0" marL="0">
              <a:buNone/>
            </a:pPr>
            <a:r>
              <a:rPr lang="en-US" sz="1200" dirty="0">
                <a:solidFill>
                  <a:schemeClr val="tx2"/>
                </a:solidFill>
              </a:rPr>
              <a:t>Director</a:t>
            </a:r>
            <a:endParaRPr lang="en-US" sz="1200" dirty="0"/>
          </a:p>
        </p:txBody>
      </p:sp>
      <p:sp>
        <p:nvSpPr>
          <p:cNvPr id="14" name="icon circle"/>
          <p:cNvSpPr/>
          <p:nvPr/>
        </p:nvSpPr>
        <p:spPr>
          <a:xfrm>
            <a:off x="822960" y="4206240"/>
            <a:ext cx="566928" cy="566928"/>
          </a:xfrm>
          <a:prstGeom prst="ellipse">
            <a:avLst/>
          </a:prstGeom>
          <a:solidFill>
            <a:schemeClr val="accent1"/>
          </a:solidFill>
          <a:ln w="12700">
            <a:solidFill>
              <a:schemeClr val="accent1"/>
            </a:solidFill>
            <a:prstDash val="solid"/>
          </a:ln>
        </p:spPr>
      </p:sp>
      <p:pic>
        <p:nvPicPr>
          <p:cNvPr id="15" name="FaUserTie" descr="preencoded.png">    </p:cNvPr>
          <p:cNvPicPr>
            <a:picLocks noChangeAspect="1"/>
          </p:cNvPicPr>
          <p:nvPr/>
        </p:nvPicPr>
        <p:blipFill>
          <a:blip r:embed="rId3"/>
          <a:stretch>
            <a:fillRect/>
          </a:stretch>
        </p:blipFill>
        <p:spPr>
          <a:xfrm>
            <a:off x="970361" y="4353641"/>
            <a:ext cx="272125" cy="272125"/>
          </a:xfrm>
          <a:prstGeom prst="rect">
            <a:avLst/>
          </a:prstGeom>
        </p:spPr>
      </p:pic>
      <p:sp>
        <p:nvSpPr>
          <p:cNvPr id="16" name="Text 11"/>
          <p:cNvSpPr txBox="1"/>
          <p:nvPr/>
        </p:nvSpPr>
        <p:spPr>
          <a:xfrm>
            <a:off x="1554480" y="4187952"/>
            <a:ext cx="4480560" cy="320040"/>
          </a:xfrm>
          <a:prstGeom prst="rect">
            <a:avLst/>
          </a:prstGeom>
          <a:noFill/>
          <a:ln/>
        </p:spPr>
        <p:txBody>
          <a:bodyPr wrap="square" lIns="0" tIns="0" rIns="0" bIns="0" rtlCol="0" anchor="t"/>
          <a:lstStyle/>
          <a:p>
            <a:pPr indent="0" marL="0">
              <a:buNone/>
            </a:pPr>
            <a:r>
              <a:rPr lang="en-US" sz="1500" b="1" dirty="0">
                <a:solidFill>
                  <a:schemeClr val="tx1"/>
                </a:solidFill>
              </a:rPr>
              <a:t>Col Baljit Singh</a:t>
            </a:r>
            <a:endParaRPr lang="en-US" sz="1500" dirty="0"/>
          </a:p>
        </p:txBody>
      </p:sp>
      <p:sp>
        <p:nvSpPr>
          <p:cNvPr id="17" name="Text 12"/>
          <p:cNvSpPr txBox="1"/>
          <p:nvPr/>
        </p:nvSpPr>
        <p:spPr>
          <a:xfrm>
            <a:off x="1554480" y="4498848"/>
            <a:ext cx="4480560" cy="320040"/>
          </a:xfrm>
          <a:prstGeom prst="rect">
            <a:avLst/>
          </a:prstGeom>
          <a:noFill/>
          <a:ln/>
        </p:spPr>
        <p:txBody>
          <a:bodyPr wrap="square" lIns="0" tIns="0" rIns="0" bIns="0" rtlCol="0" anchor="t"/>
          <a:lstStyle/>
          <a:p>
            <a:pPr indent="0" marL="0">
              <a:buNone/>
            </a:pPr>
            <a:r>
              <a:rPr lang="en-US" sz="1200" dirty="0">
                <a:solidFill>
                  <a:schemeClr val="tx2"/>
                </a:solidFill>
              </a:rPr>
              <a:t>Director</a:t>
            </a:r>
            <a:endParaRPr lang="en-US" sz="1200" dirty="0"/>
          </a:p>
        </p:txBody>
      </p:sp>
      <p:sp>
        <p:nvSpPr>
          <p:cNvPr id="18" name="icon circle"/>
          <p:cNvSpPr/>
          <p:nvPr/>
        </p:nvSpPr>
        <p:spPr>
          <a:xfrm>
            <a:off x="822960" y="5120640"/>
            <a:ext cx="566928" cy="566928"/>
          </a:xfrm>
          <a:prstGeom prst="ellipse">
            <a:avLst/>
          </a:prstGeom>
          <a:solidFill>
            <a:schemeClr val="accent1"/>
          </a:solidFill>
          <a:ln w="12700">
            <a:solidFill>
              <a:schemeClr val="accent1"/>
            </a:solidFill>
            <a:prstDash val="solid"/>
          </a:ln>
        </p:spPr>
      </p:sp>
      <p:pic>
        <p:nvPicPr>
          <p:cNvPr id="19" name="FaUserTie" descr="preencoded.png">    </p:cNvPr>
          <p:cNvPicPr>
            <a:picLocks noChangeAspect="1"/>
          </p:cNvPicPr>
          <p:nvPr/>
        </p:nvPicPr>
        <p:blipFill>
          <a:blip r:embed="rId4"/>
          <a:stretch>
            <a:fillRect/>
          </a:stretch>
        </p:blipFill>
        <p:spPr>
          <a:xfrm>
            <a:off x="970361" y="5268041"/>
            <a:ext cx="272125" cy="272125"/>
          </a:xfrm>
          <a:prstGeom prst="rect">
            <a:avLst/>
          </a:prstGeom>
        </p:spPr>
      </p:pic>
      <p:sp>
        <p:nvSpPr>
          <p:cNvPr id="20" name="Text 14"/>
          <p:cNvSpPr txBox="1"/>
          <p:nvPr/>
        </p:nvSpPr>
        <p:spPr>
          <a:xfrm>
            <a:off x="1554480" y="5102352"/>
            <a:ext cx="4480560" cy="320040"/>
          </a:xfrm>
          <a:prstGeom prst="rect">
            <a:avLst/>
          </a:prstGeom>
          <a:noFill/>
          <a:ln/>
        </p:spPr>
        <p:txBody>
          <a:bodyPr wrap="square" lIns="0" tIns="0" rIns="0" bIns="0" rtlCol="0" anchor="t"/>
          <a:lstStyle/>
          <a:p>
            <a:pPr indent="0" marL="0">
              <a:buNone/>
            </a:pPr>
            <a:r>
              <a:rPr lang="en-US" sz="1500" b="1" dirty="0">
                <a:solidFill>
                  <a:schemeClr val="tx1"/>
                </a:solidFill>
              </a:rPr>
              <a:t>Col Mupparty Sanjeev</a:t>
            </a:r>
            <a:endParaRPr lang="en-US" sz="1500" dirty="0"/>
          </a:p>
        </p:txBody>
      </p:sp>
      <p:sp>
        <p:nvSpPr>
          <p:cNvPr id="21" name="Text 15"/>
          <p:cNvSpPr txBox="1"/>
          <p:nvPr/>
        </p:nvSpPr>
        <p:spPr>
          <a:xfrm>
            <a:off x="1554480" y="5413248"/>
            <a:ext cx="4480560" cy="320040"/>
          </a:xfrm>
          <a:prstGeom prst="rect">
            <a:avLst/>
          </a:prstGeom>
          <a:noFill/>
          <a:ln/>
        </p:spPr>
        <p:txBody>
          <a:bodyPr wrap="square" lIns="0" tIns="0" rIns="0" bIns="0" rtlCol="0" anchor="t"/>
          <a:lstStyle/>
          <a:p>
            <a:pPr indent="0" marL="0">
              <a:buNone/>
            </a:pPr>
            <a:r>
              <a:rPr lang="en-US" sz="1200" dirty="0">
                <a:solidFill>
                  <a:schemeClr val="tx2"/>
                </a:solidFill>
              </a:rPr>
              <a:t>Defence Attaché, Embassy of India, Ulaanbaatar</a:t>
            </a:r>
            <a:endParaRPr lang="en-US" sz="1200" dirty="0"/>
          </a:p>
        </p:txBody>
      </p:sp>
      <p:sp>
        <p:nvSpPr>
          <p:cNvPr id="22" name="Text 16"/>
          <p:cNvSpPr txBox="1"/>
          <p:nvPr/>
        </p:nvSpPr>
        <p:spPr>
          <a:xfrm>
            <a:off x="6675120" y="1371600"/>
            <a:ext cx="493776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Briefing outline · about 21 minutes</a:t>
            </a:r>
            <a:endParaRPr lang="en-US" sz="1800" dirty="0"/>
          </a:p>
        </p:txBody>
      </p:sp>
      <p:sp>
        <p:nvSpPr>
          <p:cNvPr id="23" name="card"/>
          <p:cNvSpPr/>
          <p:nvPr/>
        </p:nvSpPr>
        <p:spPr>
          <a:xfrm>
            <a:off x="6675120" y="1874520"/>
            <a:ext cx="4937760" cy="960120"/>
          </a:xfrm>
          <a:prstGeom prst="roundRect">
            <a:avLst>
              <a:gd name="adj" fmla="val 11429"/>
            </a:avLst>
          </a:prstGeom>
          <a:solidFill>
            <a:schemeClr val="bg1"/>
          </a:solidFill>
          <a:ln w="9525">
            <a:solidFill>
              <a:srgbClr val="DDE3EC"/>
            </a:solidFill>
            <a:prstDash val="solid"/>
          </a:ln>
        </p:spPr>
      </p:sp>
      <p:sp>
        <p:nvSpPr>
          <p:cNvPr id="24" name="Text 18"/>
          <p:cNvSpPr txBox="1"/>
          <p:nvPr/>
        </p:nvSpPr>
        <p:spPr>
          <a:xfrm>
            <a:off x="6858000" y="1984248"/>
            <a:ext cx="731520" cy="73152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01</a:t>
            </a:r>
            <a:endParaRPr lang="en-US" sz="2600" dirty="0"/>
          </a:p>
        </p:txBody>
      </p:sp>
      <p:sp>
        <p:nvSpPr>
          <p:cNvPr id="25" name="Text 19"/>
          <p:cNvSpPr txBox="1"/>
          <p:nvPr/>
        </p:nvSpPr>
        <p:spPr>
          <a:xfrm>
            <a:off x="7635240" y="2002536"/>
            <a:ext cx="3108960" cy="365760"/>
          </a:xfrm>
          <a:prstGeom prst="rect">
            <a:avLst/>
          </a:prstGeom>
          <a:noFill/>
          <a:ln/>
        </p:spPr>
        <p:txBody>
          <a:bodyPr wrap="square" lIns="0" tIns="0" rIns="0" bIns="0" rtlCol="0" anchor="t"/>
          <a:lstStyle/>
          <a:p>
            <a:pPr indent="0" marL="0">
              <a:buNone/>
            </a:pPr>
            <a:r>
              <a:rPr lang="en-US" sz="1500" b="1" dirty="0">
                <a:solidFill>
                  <a:schemeClr val="tx1"/>
                </a:solidFill>
              </a:rPr>
              <a:t>Partnership context</a:t>
            </a:r>
            <a:endParaRPr lang="en-US" sz="1500" dirty="0"/>
          </a:p>
        </p:txBody>
      </p:sp>
      <p:sp>
        <p:nvSpPr>
          <p:cNvPr id="26" name="Text 20"/>
          <p:cNvSpPr txBox="1"/>
          <p:nvPr/>
        </p:nvSpPr>
        <p:spPr>
          <a:xfrm>
            <a:off x="7635240" y="2350008"/>
            <a:ext cx="3383280" cy="411480"/>
          </a:xfrm>
          <a:prstGeom prst="rect">
            <a:avLst/>
          </a:prstGeom>
          <a:noFill/>
          <a:ln/>
        </p:spPr>
        <p:txBody>
          <a:bodyPr wrap="square" lIns="0" tIns="0" rIns="0" bIns="0" rtlCol="0" anchor="t"/>
          <a:lstStyle/>
          <a:p>
            <a:pPr indent="0" marL="0">
              <a:buNone/>
            </a:pPr>
            <a:r>
              <a:rPr lang="en-US" sz="1100" dirty="0">
                <a:solidFill>
                  <a:schemeClr val="tx2"/>
                </a:solidFill>
              </a:rPr>
              <a:t>70 years of relations; why cyber is a shared priority</a:t>
            </a:r>
            <a:endParaRPr lang="en-US" sz="1100" dirty="0"/>
          </a:p>
        </p:txBody>
      </p:sp>
      <p:sp>
        <p:nvSpPr>
          <p:cNvPr id="27" name="Text 21"/>
          <p:cNvSpPr txBox="1"/>
          <p:nvPr/>
        </p:nvSpPr>
        <p:spPr>
          <a:xfrm>
            <a:off x="10835640" y="2002536"/>
            <a:ext cx="640080" cy="365760"/>
          </a:xfrm>
          <a:prstGeom prst="rect">
            <a:avLst/>
          </a:prstGeom>
          <a:noFill/>
          <a:ln/>
        </p:spPr>
        <p:txBody>
          <a:bodyPr wrap="square" lIns="0" tIns="0" rIns="0" bIns="0" rtlCol="0" anchor="t"/>
          <a:lstStyle/>
          <a:p>
            <a:pPr algn="r" indent="0" marL="0">
              <a:buNone/>
            </a:pPr>
            <a:r>
              <a:rPr lang="en-US" sz="1200" b="1" dirty="0">
                <a:solidFill>
                  <a:schemeClr val="accent1"/>
                </a:solidFill>
              </a:rPr>
              <a:t>2.5 min</a:t>
            </a:r>
            <a:endParaRPr lang="en-US" sz="1200" dirty="0"/>
          </a:p>
        </p:txBody>
      </p:sp>
      <p:sp>
        <p:nvSpPr>
          <p:cNvPr id="28" name="card"/>
          <p:cNvSpPr/>
          <p:nvPr/>
        </p:nvSpPr>
        <p:spPr>
          <a:xfrm>
            <a:off x="6675120" y="2971800"/>
            <a:ext cx="4937760" cy="960120"/>
          </a:xfrm>
          <a:prstGeom prst="roundRect">
            <a:avLst>
              <a:gd name="adj" fmla="val 11429"/>
            </a:avLst>
          </a:prstGeom>
          <a:solidFill>
            <a:schemeClr val="bg1"/>
          </a:solidFill>
          <a:ln w="9525">
            <a:solidFill>
              <a:srgbClr val="DDE3EC"/>
            </a:solidFill>
            <a:prstDash val="solid"/>
          </a:ln>
        </p:spPr>
      </p:sp>
      <p:sp>
        <p:nvSpPr>
          <p:cNvPr id="29" name="Text 23"/>
          <p:cNvSpPr txBox="1"/>
          <p:nvPr/>
        </p:nvSpPr>
        <p:spPr>
          <a:xfrm>
            <a:off x="6858000" y="3081528"/>
            <a:ext cx="731520" cy="73152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02</a:t>
            </a:r>
            <a:endParaRPr lang="en-US" sz="2600" dirty="0"/>
          </a:p>
        </p:txBody>
      </p:sp>
      <p:sp>
        <p:nvSpPr>
          <p:cNvPr id="30" name="Text 24"/>
          <p:cNvSpPr txBox="1"/>
          <p:nvPr/>
        </p:nvSpPr>
        <p:spPr>
          <a:xfrm>
            <a:off x="7635240" y="3099816"/>
            <a:ext cx="3108960" cy="365760"/>
          </a:xfrm>
          <a:prstGeom prst="rect">
            <a:avLst/>
          </a:prstGeom>
          <a:noFill/>
          <a:ln/>
        </p:spPr>
        <p:txBody>
          <a:bodyPr wrap="square" lIns="0" tIns="0" rIns="0" bIns="0" rtlCol="0" anchor="t"/>
          <a:lstStyle/>
          <a:p>
            <a:pPr indent="0" marL="0">
              <a:buNone/>
            </a:pPr>
            <a:r>
              <a:rPr lang="en-US" sz="1500" b="1" dirty="0">
                <a:solidFill>
                  <a:schemeClr val="tx1"/>
                </a:solidFill>
              </a:rPr>
              <a:t>Establishing the Centre</a:t>
            </a:r>
            <a:endParaRPr lang="en-US" sz="1500" dirty="0"/>
          </a:p>
        </p:txBody>
      </p:sp>
      <p:sp>
        <p:nvSpPr>
          <p:cNvPr id="31" name="Text 25"/>
          <p:cNvSpPr txBox="1"/>
          <p:nvPr/>
        </p:nvSpPr>
        <p:spPr>
          <a:xfrm>
            <a:off x="7635240" y="3447288"/>
            <a:ext cx="3383280" cy="411480"/>
          </a:xfrm>
          <a:prstGeom prst="rect">
            <a:avLst/>
          </a:prstGeom>
          <a:noFill/>
          <a:ln/>
        </p:spPr>
        <p:txBody>
          <a:bodyPr wrap="square" lIns="0" tIns="0" rIns="0" bIns="0" rtlCol="0" anchor="t"/>
          <a:lstStyle/>
          <a:p>
            <a:pPr indent="0" marL="0">
              <a:buNone/>
            </a:pPr>
            <a:r>
              <a:rPr lang="en-US" sz="1100" dirty="0">
                <a:solidFill>
                  <a:schemeClr val="tx2"/>
                </a:solidFill>
              </a:rPr>
              <a:t>2015 MoU, 2022 inauguration, India's contribution, people</a:t>
            </a:r>
            <a:endParaRPr lang="en-US" sz="1100" dirty="0"/>
          </a:p>
        </p:txBody>
      </p:sp>
      <p:sp>
        <p:nvSpPr>
          <p:cNvPr id="32" name="Text 26"/>
          <p:cNvSpPr txBox="1"/>
          <p:nvPr/>
        </p:nvSpPr>
        <p:spPr>
          <a:xfrm>
            <a:off x="10835640" y="3099816"/>
            <a:ext cx="640080" cy="365760"/>
          </a:xfrm>
          <a:prstGeom prst="rect">
            <a:avLst/>
          </a:prstGeom>
          <a:noFill/>
          <a:ln/>
        </p:spPr>
        <p:txBody>
          <a:bodyPr wrap="square" lIns="0" tIns="0" rIns="0" bIns="0" rtlCol="0" anchor="t"/>
          <a:lstStyle/>
          <a:p>
            <a:pPr algn="r" indent="0" marL="0">
              <a:buNone/>
            </a:pPr>
            <a:r>
              <a:rPr lang="en-US" sz="1200" b="1" dirty="0">
                <a:solidFill>
                  <a:schemeClr val="accent1"/>
                </a:solidFill>
              </a:rPr>
              <a:t>6 min</a:t>
            </a:r>
            <a:endParaRPr lang="en-US" sz="1200" dirty="0"/>
          </a:p>
        </p:txBody>
      </p:sp>
      <p:sp>
        <p:nvSpPr>
          <p:cNvPr id="33" name="card"/>
          <p:cNvSpPr/>
          <p:nvPr/>
        </p:nvSpPr>
        <p:spPr>
          <a:xfrm>
            <a:off x="6675120" y="4069080"/>
            <a:ext cx="4937760" cy="960120"/>
          </a:xfrm>
          <a:prstGeom prst="roundRect">
            <a:avLst>
              <a:gd name="adj" fmla="val 11429"/>
            </a:avLst>
          </a:prstGeom>
          <a:solidFill>
            <a:schemeClr val="bg1"/>
          </a:solidFill>
          <a:ln w="9525">
            <a:solidFill>
              <a:srgbClr val="DDE3EC"/>
            </a:solidFill>
            <a:prstDash val="solid"/>
          </a:ln>
        </p:spPr>
      </p:sp>
      <p:sp>
        <p:nvSpPr>
          <p:cNvPr id="34" name="Text 28"/>
          <p:cNvSpPr txBox="1"/>
          <p:nvPr/>
        </p:nvSpPr>
        <p:spPr>
          <a:xfrm>
            <a:off x="6858000" y="4178808"/>
            <a:ext cx="731520" cy="73152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03</a:t>
            </a:r>
            <a:endParaRPr lang="en-US" sz="2600" dirty="0"/>
          </a:p>
        </p:txBody>
      </p:sp>
      <p:sp>
        <p:nvSpPr>
          <p:cNvPr id="35" name="Text 29"/>
          <p:cNvSpPr txBox="1"/>
          <p:nvPr/>
        </p:nvSpPr>
        <p:spPr>
          <a:xfrm>
            <a:off x="7635240" y="4197096"/>
            <a:ext cx="3108960" cy="365760"/>
          </a:xfrm>
          <a:prstGeom prst="rect">
            <a:avLst/>
          </a:prstGeom>
          <a:noFill/>
          <a:ln/>
        </p:spPr>
        <p:txBody>
          <a:bodyPr wrap="square" lIns="0" tIns="0" rIns="0" bIns="0" rtlCol="0" anchor="t"/>
          <a:lstStyle/>
          <a:p>
            <a:pPr indent="0" marL="0">
              <a:buNone/>
            </a:pPr>
            <a:r>
              <a:rPr lang="en-US" sz="1500" b="1" dirty="0">
                <a:solidFill>
                  <a:schemeClr val="tx1"/>
                </a:solidFill>
              </a:rPr>
              <a:t>Results 2022–2026</a:t>
            </a:r>
            <a:endParaRPr lang="en-US" sz="1500" dirty="0"/>
          </a:p>
        </p:txBody>
      </p:sp>
      <p:sp>
        <p:nvSpPr>
          <p:cNvPr id="36" name="Text 30"/>
          <p:cNvSpPr txBox="1"/>
          <p:nvPr/>
        </p:nvSpPr>
        <p:spPr>
          <a:xfrm>
            <a:off x="7635240" y="4544568"/>
            <a:ext cx="3383280" cy="411480"/>
          </a:xfrm>
          <a:prstGeom prst="rect">
            <a:avLst/>
          </a:prstGeom>
          <a:noFill/>
          <a:ln/>
        </p:spPr>
        <p:txBody>
          <a:bodyPr wrap="square" lIns="0" tIns="0" rIns="0" bIns="0" rtlCol="0" anchor="t"/>
          <a:lstStyle/>
          <a:p>
            <a:pPr indent="0" marL="0">
              <a:buNone/>
            </a:pPr>
            <a:r>
              <a:rPr lang="en-US" sz="1100" dirty="0">
                <a:solidFill>
                  <a:schemeClr val="tx2"/>
                </a:solidFill>
              </a:rPr>
              <a:t>Training output, curriculum, research, 2025 upgrade</a:t>
            </a:r>
            <a:endParaRPr lang="en-US" sz="1100" dirty="0"/>
          </a:p>
        </p:txBody>
      </p:sp>
      <p:sp>
        <p:nvSpPr>
          <p:cNvPr id="37" name="Text 31"/>
          <p:cNvSpPr txBox="1"/>
          <p:nvPr/>
        </p:nvSpPr>
        <p:spPr>
          <a:xfrm>
            <a:off x="10835640" y="4197096"/>
            <a:ext cx="640080" cy="365760"/>
          </a:xfrm>
          <a:prstGeom prst="rect">
            <a:avLst/>
          </a:prstGeom>
          <a:noFill/>
          <a:ln/>
        </p:spPr>
        <p:txBody>
          <a:bodyPr wrap="square" lIns="0" tIns="0" rIns="0" bIns="0" rtlCol="0" anchor="t"/>
          <a:lstStyle/>
          <a:p>
            <a:pPr algn="r" indent="0" marL="0">
              <a:buNone/>
            </a:pPr>
            <a:r>
              <a:rPr lang="en-US" sz="1200" b="1" dirty="0">
                <a:solidFill>
                  <a:schemeClr val="accent1"/>
                </a:solidFill>
              </a:rPr>
              <a:t>8 min</a:t>
            </a:r>
            <a:endParaRPr lang="en-US" sz="1200" dirty="0"/>
          </a:p>
        </p:txBody>
      </p:sp>
      <p:sp>
        <p:nvSpPr>
          <p:cNvPr id="38" name="card"/>
          <p:cNvSpPr/>
          <p:nvPr/>
        </p:nvSpPr>
        <p:spPr>
          <a:xfrm>
            <a:off x="6675120" y="5166360"/>
            <a:ext cx="4937760" cy="960120"/>
          </a:xfrm>
          <a:prstGeom prst="roundRect">
            <a:avLst>
              <a:gd name="adj" fmla="val 11429"/>
            </a:avLst>
          </a:prstGeom>
          <a:solidFill>
            <a:schemeClr val="bg1"/>
          </a:solidFill>
          <a:ln w="9525">
            <a:solidFill>
              <a:srgbClr val="DDE3EC"/>
            </a:solidFill>
            <a:prstDash val="solid"/>
          </a:ln>
        </p:spPr>
      </p:sp>
      <p:sp>
        <p:nvSpPr>
          <p:cNvPr id="39" name="Text 33"/>
          <p:cNvSpPr txBox="1"/>
          <p:nvPr/>
        </p:nvSpPr>
        <p:spPr>
          <a:xfrm>
            <a:off x="6858000" y="5276088"/>
            <a:ext cx="731520" cy="73152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04</a:t>
            </a:r>
            <a:endParaRPr lang="en-US" sz="2600" dirty="0"/>
          </a:p>
        </p:txBody>
      </p:sp>
      <p:sp>
        <p:nvSpPr>
          <p:cNvPr id="40" name="Text 34"/>
          <p:cNvSpPr txBox="1"/>
          <p:nvPr/>
        </p:nvSpPr>
        <p:spPr>
          <a:xfrm>
            <a:off x="7635240" y="5294376"/>
            <a:ext cx="3108960" cy="365760"/>
          </a:xfrm>
          <a:prstGeom prst="rect">
            <a:avLst/>
          </a:prstGeom>
          <a:noFill/>
          <a:ln/>
        </p:spPr>
        <p:txBody>
          <a:bodyPr wrap="square" lIns="0" tIns="0" rIns="0" bIns="0" rtlCol="0" anchor="t"/>
          <a:lstStyle/>
          <a:p>
            <a:pPr indent="0" marL="0">
              <a:buNone/>
            </a:pPr>
            <a:r>
              <a:rPr lang="en-US" sz="1500" b="1" dirty="0">
                <a:solidFill>
                  <a:schemeClr val="tx1"/>
                </a:solidFill>
              </a:rPr>
              <a:t>The road ahead</a:t>
            </a:r>
            <a:endParaRPr lang="en-US" sz="1500" dirty="0"/>
          </a:p>
        </p:txBody>
      </p:sp>
      <p:sp>
        <p:nvSpPr>
          <p:cNvPr id="41" name="Text 35"/>
          <p:cNvSpPr txBox="1"/>
          <p:nvPr/>
        </p:nvSpPr>
        <p:spPr>
          <a:xfrm>
            <a:off x="7635240" y="5641848"/>
            <a:ext cx="3383280" cy="411480"/>
          </a:xfrm>
          <a:prstGeom prst="rect">
            <a:avLst/>
          </a:prstGeom>
          <a:noFill/>
          <a:ln/>
        </p:spPr>
        <p:txBody>
          <a:bodyPr wrap="square" lIns="0" tIns="0" rIns="0" bIns="0" rtlCol="0" anchor="t"/>
          <a:lstStyle/>
          <a:p>
            <a:pPr indent="0" marL="0">
              <a:buNone/>
            </a:pPr>
            <a:r>
              <a:rPr lang="en-US" sz="1100" dirty="0">
                <a:solidFill>
                  <a:schemeClr val="tx2"/>
                </a:solidFill>
              </a:rPr>
              <a:t>Proposals for the next phase and for the 14th JWG</a:t>
            </a:r>
            <a:endParaRPr lang="en-US" sz="1100" dirty="0"/>
          </a:p>
        </p:txBody>
      </p:sp>
      <p:sp>
        <p:nvSpPr>
          <p:cNvPr id="42" name="Text 36"/>
          <p:cNvSpPr txBox="1"/>
          <p:nvPr/>
        </p:nvSpPr>
        <p:spPr>
          <a:xfrm>
            <a:off x="10835640" y="5294376"/>
            <a:ext cx="640080" cy="365760"/>
          </a:xfrm>
          <a:prstGeom prst="rect">
            <a:avLst/>
          </a:prstGeom>
          <a:noFill/>
          <a:ln/>
        </p:spPr>
        <p:txBody>
          <a:bodyPr wrap="square" lIns="0" tIns="0" rIns="0" bIns="0" rtlCol="0" anchor="t"/>
          <a:lstStyle/>
          <a:p>
            <a:pPr algn="r" indent="0" marL="0">
              <a:buNone/>
            </a:pPr>
            <a:r>
              <a:rPr lang="en-US" sz="1200" b="1" dirty="0">
                <a:solidFill>
                  <a:schemeClr val="accent1"/>
                </a:solidFill>
              </a:rPr>
              <a:t>3.5 min</a:t>
            </a:r>
            <a:endParaRPr lang="en-US" sz="1200" dirty="0"/>
          </a:p>
        </p:txBody>
      </p:sp>
      <p:sp>
        <p:nvSpPr>
          <p:cNvPr id="43" name="Text 37"/>
          <p:cNvSpPr txBox="1"/>
          <p:nvPr/>
        </p:nvSpPr>
        <p:spPr>
          <a:xfrm>
            <a:off x="6675120" y="6309360"/>
            <a:ext cx="4937760" cy="274320"/>
          </a:xfrm>
          <a:prstGeom prst="rect">
            <a:avLst/>
          </a:prstGeom>
          <a:noFill/>
          <a:ln/>
        </p:spPr>
        <p:txBody>
          <a:bodyPr wrap="square" lIns="0" tIns="0" rIns="0" bIns="0" rtlCol="0" anchor="t"/>
          <a:lstStyle/>
          <a:p>
            <a:pPr indent="0" marL="0">
              <a:buNone/>
            </a:pPr>
            <a:r>
              <a:rPr lang="en-US" sz="1100" i="1" dirty="0">
                <a:solidFill>
                  <a:schemeClr val="tx2"/>
                </a:solidFill>
              </a:rPr>
              <a:t>Followed by questions and a tour of the laboratories</a:t>
            </a:r>
            <a:endParaRPr lang="en-US" sz="11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01</a:t>
            </a:r>
            <a:endParaRPr lang="en-US" sz="6000" dirty="0"/>
          </a:p>
        </p:txBody>
      </p:sp>
      <p:sp>
        <p:nvSpPr>
          <p:cNvPr id="3" name="Text 0"/>
          <p:cNvSpPr/>
          <p:nvPr>
            <p:ph idx="100" type="title" hasCustomPrompt="1"/>
          </p:nvPr>
        </p:nvSpPr>
        <p:spPr>
          <a:xfrm>
            <a:off x="731520" y="2743200"/>
            <a:ext cx="10698480" cy="1097280"/>
          </a:xfrm>
          <a:prstGeom prst="rect">
            <a:avLst/>
          </a:prstGeom>
          <a:noFill/>
          <a:ln/>
        </p:spPr>
        <p:txBody>
          <a:bodyPr wrap="square" lIns="0" tIns="0" rIns="0" bIns="0" rtlCol="0" anchor="ctr"/>
          <a:lstStyle/>
          <a:p>
            <a:pPr indent="0" marL="0">
              <a:buNone/>
            </a:pPr>
            <a:r>
              <a:rPr lang="en-US" sz="4000" b="1" dirty="0">
                <a:solidFill>
                  <a:schemeClr val="bg1"/>
                </a:solidFill>
              </a:rPr>
              <a:t>Partnership context</a:t>
            </a:r>
            <a:endParaRPr lang="en-US" sz="4000" dirty="0"/>
          </a:p>
        </p:txBody>
      </p:sp>
      <p:sp>
        <p:nvSpPr>
          <p:cNvPr id="4" name="Text 0"/>
          <p:cNvSpPr/>
          <p:nvPr>
            <p:ph idx="101" type="body" hasCustomPrompt="1"/>
          </p:nvPr>
        </p:nvSpPr>
        <p:spPr>
          <a:xfrm>
            <a:off x="731520" y="3886200"/>
            <a:ext cx="10698480" cy="731520"/>
          </a:xfrm>
          <a:prstGeom prst="rect">
            <a:avLst/>
          </a:prstGeom>
          <a:noFill/>
          <a:ln/>
        </p:spPr>
        <p:txBody>
          <a:bodyPr wrap="square" lIns="0" tIns="0" rIns="0" bIns="0" rtlCol="0" anchor="t"/>
          <a:lstStyle/>
          <a:p>
            <a:pPr indent="0" marL="0">
              <a:buNone/>
            </a:pPr>
            <a:r>
              <a:rPr lang="en-US" sz="1800" dirty="0">
                <a:solidFill>
                  <a:schemeClr val="accent6"/>
                </a:solidFill>
              </a:rPr>
              <a:t>Seven decades of friendship, a decade of strategic partnership</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Seven decades of friendship, a decade of strategic partnership</a:t>
            </a:r>
            <a:endParaRPr lang="en-US" sz="3000" dirty="0"/>
          </a:p>
        </p:txBody>
      </p:sp>
      <p:sp>
        <p:nvSpPr>
          <p:cNvPr id="3" name="timeline"/>
          <p:cNvSpPr/>
          <p:nvPr/>
        </p:nvSpPr>
        <p:spPr>
          <a:xfrm>
            <a:off x="1554480" y="3246120"/>
            <a:ext cx="9144000" cy="0"/>
          </a:xfrm>
          <a:prstGeom prst="line">
            <a:avLst/>
          </a:prstGeom>
          <a:noFill/>
          <a:ln w="25400">
            <a:solidFill>
              <a:schemeClr val="accent5"/>
            </a:solidFill>
            <a:prstDash val="solid"/>
          </a:ln>
        </p:spPr>
      </p:sp>
      <p:sp>
        <p:nvSpPr>
          <p:cNvPr id="4" name="Text 2"/>
          <p:cNvSpPr txBox="1"/>
          <p:nvPr/>
        </p:nvSpPr>
        <p:spPr>
          <a:xfrm>
            <a:off x="6400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5"/>
                </a:solidFill>
                <a:latin typeface="Cambria" pitchFamily="34" charset="0"/>
                <a:ea typeface="Cambria" pitchFamily="34" charset="-122"/>
                <a:cs typeface="Cambria" pitchFamily="34" charset="-120"/>
              </a:rPr>
              <a:t>1955</a:t>
            </a:r>
            <a:endParaRPr lang="en-US" sz="2800" dirty="0"/>
          </a:p>
        </p:txBody>
      </p:sp>
      <p:sp>
        <p:nvSpPr>
          <p:cNvPr id="5" name="Text 3"/>
          <p:cNvSpPr txBox="1"/>
          <p:nvPr/>
        </p:nvSpPr>
        <p:spPr>
          <a:xfrm>
            <a:off x="7315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Diplomatic relations</a:t>
            </a:r>
            <a:endParaRPr lang="en-US" sz="1300" dirty="0"/>
          </a:p>
        </p:txBody>
      </p:sp>
      <p:sp>
        <p:nvSpPr>
          <p:cNvPr id="6" name="node 1955"/>
          <p:cNvSpPr/>
          <p:nvPr/>
        </p:nvSpPr>
        <p:spPr>
          <a:xfrm>
            <a:off x="1399032" y="3090672"/>
            <a:ext cx="310896" cy="310896"/>
          </a:xfrm>
          <a:prstGeom prst="ellipse">
            <a:avLst/>
          </a:prstGeom>
          <a:solidFill>
            <a:schemeClr val="accent5"/>
          </a:solidFill>
          <a:ln w="25400">
            <a:solidFill>
              <a:schemeClr val="bg1"/>
            </a:solidFill>
            <a:prstDash val="solid"/>
          </a:ln>
        </p:spPr>
      </p:sp>
      <p:sp>
        <p:nvSpPr>
          <p:cNvPr id="7" name="Text 5"/>
          <p:cNvSpPr txBox="1"/>
          <p:nvPr/>
        </p:nvSpPr>
        <p:spPr>
          <a:xfrm>
            <a:off x="7315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24 December. India becomes the first country outside the Soviet bloc to establish relations with Mongolia</a:t>
            </a:r>
            <a:endParaRPr lang="en-US" sz="1150" dirty="0"/>
          </a:p>
        </p:txBody>
      </p:sp>
      <p:sp>
        <p:nvSpPr>
          <p:cNvPr id="8" name="Text 6"/>
          <p:cNvSpPr txBox="1"/>
          <p:nvPr/>
        </p:nvSpPr>
        <p:spPr>
          <a:xfrm>
            <a:off x="24688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5"/>
                </a:solidFill>
                <a:latin typeface="Cambria" pitchFamily="34" charset="0"/>
                <a:ea typeface="Cambria" pitchFamily="34" charset="-122"/>
                <a:cs typeface="Cambria" pitchFamily="34" charset="-120"/>
              </a:rPr>
              <a:t>1994</a:t>
            </a:r>
            <a:endParaRPr lang="en-US" sz="2800" dirty="0"/>
          </a:p>
        </p:txBody>
      </p:sp>
      <p:sp>
        <p:nvSpPr>
          <p:cNvPr id="9" name="Text 7"/>
          <p:cNvSpPr txBox="1"/>
          <p:nvPr/>
        </p:nvSpPr>
        <p:spPr>
          <a:xfrm>
            <a:off x="25603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Treaty of Friendly Relations and Cooperation</a:t>
            </a:r>
            <a:endParaRPr lang="en-US" sz="1300" dirty="0"/>
          </a:p>
        </p:txBody>
      </p:sp>
      <p:sp>
        <p:nvSpPr>
          <p:cNvPr id="10" name="node 1994"/>
          <p:cNvSpPr/>
          <p:nvPr/>
        </p:nvSpPr>
        <p:spPr>
          <a:xfrm>
            <a:off x="3227832" y="3090672"/>
            <a:ext cx="310896" cy="310896"/>
          </a:xfrm>
          <a:prstGeom prst="ellipse">
            <a:avLst/>
          </a:prstGeom>
          <a:solidFill>
            <a:schemeClr val="accent5"/>
          </a:solidFill>
          <a:ln w="25400">
            <a:solidFill>
              <a:schemeClr val="bg1"/>
            </a:solidFill>
            <a:prstDash val="solid"/>
          </a:ln>
        </p:spPr>
      </p:sp>
      <p:sp>
        <p:nvSpPr>
          <p:cNvPr id="11" name="Text 9"/>
          <p:cNvSpPr txBox="1"/>
          <p:nvPr/>
        </p:nvSpPr>
        <p:spPr>
          <a:xfrm>
            <a:off x="25603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Legal foundation of the modern partnership</a:t>
            </a:r>
            <a:endParaRPr lang="en-US" sz="1150" dirty="0"/>
          </a:p>
        </p:txBody>
      </p:sp>
      <p:sp>
        <p:nvSpPr>
          <p:cNvPr id="12" name="Text 10"/>
          <p:cNvSpPr txBox="1"/>
          <p:nvPr/>
        </p:nvSpPr>
        <p:spPr>
          <a:xfrm>
            <a:off x="42976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2"/>
                </a:solidFill>
                <a:latin typeface="Cambria" pitchFamily="34" charset="0"/>
                <a:ea typeface="Cambria" pitchFamily="34" charset="-122"/>
                <a:cs typeface="Cambria" pitchFamily="34" charset="-120"/>
              </a:rPr>
              <a:t>2001</a:t>
            </a:r>
            <a:endParaRPr lang="en-US" sz="2800" dirty="0"/>
          </a:p>
        </p:txBody>
      </p:sp>
      <p:sp>
        <p:nvSpPr>
          <p:cNvPr id="13" name="Text 11"/>
          <p:cNvSpPr txBox="1"/>
          <p:nvPr/>
        </p:nvSpPr>
        <p:spPr>
          <a:xfrm>
            <a:off x="43891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Agreement on Defence Cooperation</a:t>
            </a:r>
            <a:endParaRPr lang="en-US" sz="1300" dirty="0"/>
          </a:p>
        </p:txBody>
      </p:sp>
      <p:sp>
        <p:nvSpPr>
          <p:cNvPr id="14" name="node 2001"/>
          <p:cNvSpPr/>
          <p:nvPr/>
        </p:nvSpPr>
        <p:spPr>
          <a:xfrm>
            <a:off x="5056632" y="3090672"/>
            <a:ext cx="310896" cy="310896"/>
          </a:xfrm>
          <a:prstGeom prst="ellipse">
            <a:avLst/>
          </a:prstGeom>
          <a:solidFill>
            <a:schemeClr val="accent2"/>
          </a:solidFill>
          <a:ln w="25400">
            <a:solidFill>
              <a:schemeClr val="bg1"/>
            </a:solidFill>
            <a:prstDash val="solid"/>
          </a:ln>
        </p:spPr>
      </p:sp>
      <p:sp>
        <p:nvSpPr>
          <p:cNvPr id="15" name="Text 13"/>
          <p:cNvSpPr txBox="1"/>
          <p:nvPr/>
        </p:nvSpPr>
        <p:spPr>
          <a:xfrm>
            <a:off x="43891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Followed by the Joint Working Group of the two Defence Ministries, now meeting every year</a:t>
            </a:r>
            <a:endParaRPr lang="en-US" sz="1150" dirty="0"/>
          </a:p>
        </p:txBody>
      </p:sp>
      <p:sp>
        <p:nvSpPr>
          <p:cNvPr id="16" name="Text 14"/>
          <p:cNvSpPr txBox="1"/>
          <p:nvPr/>
        </p:nvSpPr>
        <p:spPr>
          <a:xfrm>
            <a:off x="61264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1"/>
                </a:solidFill>
                <a:latin typeface="Cambria" pitchFamily="34" charset="0"/>
                <a:ea typeface="Cambria" pitchFamily="34" charset="-122"/>
                <a:cs typeface="Cambria" pitchFamily="34" charset="-120"/>
              </a:rPr>
              <a:t>2015</a:t>
            </a:r>
            <a:endParaRPr lang="en-US" sz="2800" dirty="0"/>
          </a:p>
        </p:txBody>
      </p:sp>
      <p:sp>
        <p:nvSpPr>
          <p:cNvPr id="17" name="Text 15"/>
          <p:cNvSpPr txBox="1"/>
          <p:nvPr/>
        </p:nvSpPr>
        <p:spPr>
          <a:xfrm>
            <a:off x="62179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Strategic Partnership</a:t>
            </a:r>
            <a:endParaRPr lang="en-US" sz="1300" dirty="0"/>
          </a:p>
        </p:txBody>
      </p:sp>
      <p:sp>
        <p:nvSpPr>
          <p:cNvPr id="18" name="node 2015"/>
          <p:cNvSpPr/>
          <p:nvPr/>
        </p:nvSpPr>
        <p:spPr>
          <a:xfrm>
            <a:off x="6885432" y="3090672"/>
            <a:ext cx="310896" cy="310896"/>
          </a:xfrm>
          <a:prstGeom prst="ellipse">
            <a:avLst/>
          </a:prstGeom>
          <a:solidFill>
            <a:schemeClr val="accent1"/>
          </a:solidFill>
          <a:ln w="25400">
            <a:solidFill>
              <a:schemeClr val="bg1"/>
            </a:solidFill>
            <a:prstDash val="solid"/>
          </a:ln>
        </p:spPr>
      </p:sp>
      <p:sp>
        <p:nvSpPr>
          <p:cNvPr id="19" name="Text 17"/>
          <p:cNvSpPr txBox="1"/>
          <p:nvPr/>
        </p:nvSpPr>
        <p:spPr>
          <a:xfrm>
            <a:off x="62179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First visit of an Indian Prime Minister; 17 May: Memorandum to establish a Cyber Security Training Centre at the Ministry of Defence</a:t>
            </a:r>
            <a:endParaRPr lang="en-US" sz="1150" dirty="0"/>
          </a:p>
        </p:txBody>
      </p:sp>
      <p:sp>
        <p:nvSpPr>
          <p:cNvPr id="20" name="Text 18"/>
          <p:cNvSpPr txBox="1"/>
          <p:nvPr/>
        </p:nvSpPr>
        <p:spPr>
          <a:xfrm>
            <a:off x="79552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1"/>
                </a:solidFill>
                <a:latin typeface="Cambria" pitchFamily="34" charset="0"/>
                <a:ea typeface="Cambria" pitchFamily="34" charset="-122"/>
                <a:cs typeface="Cambria" pitchFamily="34" charset="-120"/>
              </a:rPr>
              <a:t>2022</a:t>
            </a:r>
            <a:endParaRPr lang="en-US" sz="2800" dirty="0"/>
          </a:p>
        </p:txBody>
      </p:sp>
      <p:sp>
        <p:nvSpPr>
          <p:cNvPr id="21" name="Text 19"/>
          <p:cNvSpPr txBox="1"/>
          <p:nvPr/>
        </p:nvSpPr>
        <p:spPr>
          <a:xfrm>
            <a:off x="80467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Cyber Security Training Centre opens</a:t>
            </a:r>
            <a:endParaRPr lang="en-US" sz="1300" dirty="0"/>
          </a:p>
        </p:txBody>
      </p:sp>
      <p:sp>
        <p:nvSpPr>
          <p:cNvPr id="22" name="node 2022"/>
          <p:cNvSpPr/>
          <p:nvPr/>
        </p:nvSpPr>
        <p:spPr>
          <a:xfrm>
            <a:off x="8714232" y="3090672"/>
            <a:ext cx="310896" cy="310896"/>
          </a:xfrm>
          <a:prstGeom prst="ellipse">
            <a:avLst/>
          </a:prstGeom>
          <a:solidFill>
            <a:schemeClr val="accent1"/>
          </a:solidFill>
          <a:ln w="25400">
            <a:solidFill>
              <a:schemeClr val="bg1"/>
            </a:solidFill>
            <a:prstDash val="solid"/>
          </a:ln>
        </p:spPr>
      </p:sp>
      <p:sp>
        <p:nvSpPr>
          <p:cNvPr id="23" name="Text 21"/>
          <p:cNvSpPr txBox="1"/>
          <p:nvPr/>
        </p:nvSpPr>
        <p:spPr>
          <a:xfrm>
            <a:off x="80467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6 September. First visit of an Indian Defence Minister; Centre inaugurated at NDU by the two Defence Ministers</a:t>
            </a:r>
            <a:endParaRPr lang="en-US" sz="1150" dirty="0"/>
          </a:p>
        </p:txBody>
      </p:sp>
      <p:sp>
        <p:nvSpPr>
          <p:cNvPr id="24" name="Text 22"/>
          <p:cNvSpPr txBox="1"/>
          <p:nvPr/>
        </p:nvSpPr>
        <p:spPr>
          <a:xfrm>
            <a:off x="97840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2"/>
                </a:solidFill>
                <a:latin typeface="Cambria" pitchFamily="34" charset="0"/>
                <a:ea typeface="Cambria" pitchFamily="34" charset="-122"/>
                <a:cs typeface="Cambria" pitchFamily="34" charset="-120"/>
              </a:rPr>
              <a:t>2025</a:t>
            </a:r>
            <a:endParaRPr lang="en-US" sz="2800" dirty="0"/>
          </a:p>
        </p:txBody>
      </p:sp>
      <p:sp>
        <p:nvSpPr>
          <p:cNvPr id="25" name="Text 23"/>
          <p:cNvSpPr txBox="1"/>
          <p:nvPr/>
        </p:nvSpPr>
        <p:spPr>
          <a:xfrm>
            <a:off x="98755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70 years · State visit to India</a:t>
            </a:r>
            <a:endParaRPr lang="en-US" sz="1300" dirty="0"/>
          </a:p>
        </p:txBody>
      </p:sp>
      <p:sp>
        <p:nvSpPr>
          <p:cNvPr id="26" name="node 2025"/>
          <p:cNvSpPr/>
          <p:nvPr/>
        </p:nvSpPr>
        <p:spPr>
          <a:xfrm>
            <a:off x="10543032" y="3090672"/>
            <a:ext cx="310896" cy="310896"/>
          </a:xfrm>
          <a:prstGeom prst="ellipse">
            <a:avLst/>
          </a:prstGeom>
          <a:solidFill>
            <a:schemeClr val="accent2"/>
          </a:solidFill>
          <a:ln w="25400">
            <a:solidFill>
              <a:schemeClr val="bg1"/>
            </a:solidFill>
            <a:prstDash val="solid"/>
          </a:ln>
        </p:spPr>
      </p:sp>
      <p:sp>
        <p:nvSpPr>
          <p:cNvPr id="27" name="Text 25"/>
          <p:cNvSpPr txBox="1"/>
          <p:nvPr/>
        </p:nvSpPr>
        <p:spPr>
          <a:xfrm>
            <a:off x="98755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13–16 October. President Khurelsukh in New Delhi; India to open a Defence Wing in Ulaanbaatar</a:t>
            </a:r>
            <a:endParaRPr lang="en-US" sz="1150" dirty="0"/>
          </a:p>
        </p:txBody>
      </p:sp>
      <p:sp>
        <p:nvSpPr>
          <p:cNvPr id="28" name="card"/>
          <p:cNvSpPr/>
          <p:nvPr/>
        </p:nvSpPr>
        <p:spPr>
          <a:xfrm>
            <a:off x="640080" y="5349240"/>
            <a:ext cx="10972800" cy="868680"/>
          </a:xfrm>
          <a:prstGeom prst="roundRect">
            <a:avLst>
              <a:gd name="adj" fmla="val 12632"/>
            </a:avLst>
          </a:prstGeom>
          <a:solidFill>
            <a:schemeClr val="bg2"/>
          </a:solidFill>
          <a:ln w="12700">
            <a:solidFill>
              <a:schemeClr val="bg2"/>
            </a:solidFill>
            <a:prstDash val="solid"/>
          </a:ln>
        </p:spPr>
      </p:sp>
      <p:sp>
        <p:nvSpPr>
          <p:cNvPr id="29" name="icon circle"/>
          <p:cNvSpPr/>
          <p:nvPr/>
        </p:nvSpPr>
        <p:spPr>
          <a:xfrm>
            <a:off x="868680" y="5486400"/>
            <a:ext cx="594360" cy="594360"/>
          </a:xfrm>
          <a:prstGeom prst="ellipse">
            <a:avLst/>
          </a:prstGeom>
          <a:solidFill>
            <a:schemeClr val="accent3"/>
          </a:solidFill>
          <a:ln w="12700">
            <a:solidFill>
              <a:schemeClr val="accent3"/>
            </a:solidFill>
            <a:prstDash val="solid"/>
          </a:ln>
        </p:spPr>
      </p:sp>
      <p:pic>
        <p:nvPicPr>
          <p:cNvPr id="30" name="FaHandshake" descr="preencoded.png">    </p:cNvPr>
          <p:cNvPicPr>
            <a:picLocks noChangeAspect="1"/>
          </p:cNvPicPr>
          <p:nvPr/>
        </p:nvPicPr>
        <p:blipFill>
          <a:blip r:embed="rId1"/>
          <a:stretch>
            <a:fillRect/>
          </a:stretch>
        </p:blipFill>
        <p:spPr>
          <a:xfrm>
            <a:off x="1023214" y="5640934"/>
            <a:ext cx="285293" cy="285293"/>
          </a:xfrm>
          <a:prstGeom prst="rect">
            <a:avLst/>
          </a:prstGeom>
        </p:spPr>
      </p:pic>
      <p:sp>
        <p:nvSpPr>
          <p:cNvPr id="31" name="Text 28"/>
          <p:cNvSpPr txBox="1"/>
          <p:nvPr/>
        </p:nvSpPr>
        <p:spPr>
          <a:xfrm>
            <a:off x="1645920" y="5440680"/>
            <a:ext cx="9784080" cy="685800"/>
          </a:xfrm>
          <a:prstGeom prst="rect">
            <a:avLst/>
          </a:prstGeom>
          <a:noFill/>
          <a:ln/>
        </p:spPr>
        <p:txBody>
          <a:bodyPr wrap="square" lIns="0" tIns="0" rIns="0" bIns="0" rtlCol="0" anchor="ctr"/>
          <a:lstStyle/>
          <a:p>
            <a:pPr indent="0" marL="0">
              <a:buNone/>
            </a:pPr>
            <a:r>
              <a:rPr lang="en-US" sz="1300" dirty="0">
                <a:solidFill>
                  <a:schemeClr val="tx1"/>
                </a:solidFill>
              </a:rPr>
              <a:t>Under the 2015 Memorandum, the Cyber Security Training Centre was built in 2021–2022 and has run with Indian training teams since 2023. It is the most tangible institution of the defence partnership.</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Why cyber: a shared priority for both armed forces</a:t>
            </a:r>
            <a:endParaRPr lang="en-US" sz="3000" dirty="0"/>
          </a:p>
        </p:txBody>
      </p:sp>
      <p:sp>
        <p:nvSpPr>
          <p:cNvPr id="3" name="Text 1"/>
          <p:cNvSpPr txBox="1"/>
          <p:nvPr/>
        </p:nvSpPr>
        <p:spPr>
          <a:xfrm>
            <a:off x="548640" y="1325880"/>
            <a:ext cx="5760720"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Mongolia's cyber security baseline</a:t>
            </a:r>
            <a:endParaRPr lang="en-US" sz="1600" dirty="0"/>
          </a:p>
        </p:txBody>
      </p:sp>
      <p:sp>
        <p:nvSpPr>
          <p:cNvPr id="4" name="card"/>
          <p:cNvSpPr/>
          <p:nvPr/>
        </p:nvSpPr>
        <p:spPr>
          <a:xfrm>
            <a:off x="548640" y="1783080"/>
            <a:ext cx="2743200" cy="1920240"/>
          </a:xfrm>
          <a:prstGeom prst="roundRect">
            <a:avLst>
              <a:gd name="adj" fmla="val 5714"/>
            </a:avLst>
          </a:prstGeom>
          <a:solidFill>
            <a:schemeClr val="bg2"/>
          </a:solidFill>
          <a:ln w="12700">
            <a:solidFill>
              <a:schemeClr val="bg2"/>
            </a:solidFill>
            <a:prstDash val="solid"/>
          </a:ln>
        </p:spPr>
      </p:sp>
      <p:sp>
        <p:nvSpPr>
          <p:cNvPr id="5" name="Text 3"/>
          <p:cNvSpPr txBox="1"/>
          <p:nvPr/>
        </p:nvSpPr>
        <p:spPr>
          <a:xfrm>
            <a:off x="731520" y="1874520"/>
            <a:ext cx="2377440" cy="96012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56.4</a:t>
            </a:r>
            <a:endParaRPr lang="en-US" sz="3200" dirty="0"/>
          </a:p>
        </p:txBody>
      </p:sp>
      <p:sp>
        <p:nvSpPr>
          <p:cNvPr id="6" name="Text 4"/>
          <p:cNvSpPr txBox="1"/>
          <p:nvPr/>
        </p:nvSpPr>
        <p:spPr>
          <a:xfrm>
            <a:off x="731520" y="2896819"/>
            <a:ext cx="2377440" cy="768096"/>
          </a:xfrm>
          <a:prstGeom prst="rect">
            <a:avLst/>
          </a:prstGeom>
          <a:noFill/>
          <a:ln/>
        </p:spPr>
        <p:txBody>
          <a:bodyPr wrap="square" lIns="0" tIns="0" rIns="0" bIns="0" rtlCol="0" anchor="t"/>
          <a:lstStyle/>
          <a:p>
            <a:pPr indent="0" marL="0">
              <a:buNone/>
            </a:pPr>
            <a:r>
              <a:rPr lang="en-US" sz="1100" dirty="0">
                <a:solidFill>
                  <a:schemeClr val="tx2"/>
                </a:solidFill>
              </a:rPr>
              <a:t>Mongolia's score in the ITU Global Cybersecurity Index 2024 – ranked 103rd of 193</a:t>
            </a:r>
            <a:endParaRPr lang="en-US" sz="1100" dirty="0"/>
          </a:p>
        </p:txBody>
      </p:sp>
      <p:sp>
        <p:nvSpPr>
          <p:cNvPr id="7" name="card"/>
          <p:cNvSpPr/>
          <p:nvPr/>
        </p:nvSpPr>
        <p:spPr>
          <a:xfrm>
            <a:off x="3474720" y="1783080"/>
            <a:ext cx="2743200" cy="1920240"/>
          </a:xfrm>
          <a:prstGeom prst="roundRect">
            <a:avLst>
              <a:gd name="adj" fmla="val 5714"/>
            </a:avLst>
          </a:prstGeom>
          <a:solidFill>
            <a:schemeClr val="bg2"/>
          </a:solidFill>
          <a:ln w="12700">
            <a:solidFill>
              <a:schemeClr val="bg2"/>
            </a:solidFill>
            <a:prstDash val="solid"/>
          </a:ln>
        </p:spPr>
      </p:sp>
      <p:sp>
        <p:nvSpPr>
          <p:cNvPr id="8" name="Text 6"/>
          <p:cNvSpPr txBox="1"/>
          <p:nvPr/>
        </p:nvSpPr>
        <p:spPr>
          <a:xfrm>
            <a:off x="3657600" y="1874520"/>
            <a:ext cx="2377440" cy="960120"/>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+17</a:t>
            </a:r>
            <a:endParaRPr lang="en-US" sz="3200" dirty="0"/>
          </a:p>
        </p:txBody>
      </p:sp>
      <p:sp>
        <p:nvSpPr>
          <p:cNvPr id="9" name="Text 7"/>
          <p:cNvSpPr txBox="1"/>
          <p:nvPr/>
        </p:nvSpPr>
        <p:spPr>
          <a:xfrm>
            <a:off x="3657600" y="2896819"/>
            <a:ext cx="2377440" cy="768096"/>
          </a:xfrm>
          <a:prstGeom prst="rect">
            <a:avLst/>
          </a:prstGeom>
          <a:noFill/>
          <a:ln/>
        </p:spPr>
        <p:txBody>
          <a:bodyPr wrap="square" lIns="0" tIns="0" rIns="0" bIns="0" rtlCol="0" anchor="t"/>
          <a:lstStyle/>
          <a:p>
            <a:pPr indent="0" marL="0">
              <a:buNone/>
            </a:pPr>
            <a:r>
              <a:rPr lang="en-US" sz="1100" dirty="0">
                <a:solidFill>
                  <a:schemeClr val="tx2"/>
                </a:solidFill>
              </a:rPr>
              <a:t>places gained in the Index since 2020, still below the Asian average</a:t>
            </a:r>
            <a:endParaRPr lang="en-US" sz="1100" dirty="0"/>
          </a:p>
        </p:txBody>
      </p:sp>
      <p:sp>
        <p:nvSpPr>
          <p:cNvPr id="10" name="card"/>
          <p:cNvSpPr/>
          <p:nvPr/>
        </p:nvSpPr>
        <p:spPr>
          <a:xfrm>
            <a:off x="548640" y="3886200"/>
            <a:ext cx="2743200" cy="1920240"/>
          </a:xfrm>
          <a:prstGeom prst="roundRect">
            <a:avLst>
              <a:gd name="adj" fmla="val 5714"/>
            </a:avLst>
          </a:prstGeom>
          <a:solidFill>
            <a:schemeClr val="bg2"/>
          </a:solidFill>
          <a:ln w="12700">
            <a:solidFill>
              <a:schemeClr val="bg2"/>
            </a:solidFill>
            <a:prstDash val="solid"/>
          </a:ln>
        </p:spPr>
      </p:sp>
      <p:sp>
        <p:nvSpPr>
          <p:cNvPr id="11" name="Text 9"/>
          <p:cNvSpPr txBox="1"/>
          <p:nvPr/>
        </p:nvSpPr>
        <p:spPr>
          <a:xfrm>
            <a:off x="731520" y="3977640"/>
            <a:ext cx="2377440" cy="960120"/>
          </a:xfrm>
          <a:prstGeom prst="rect">
            <a:avLst/>
          </a:prstGeom>
          <a:noFill/>
          <a:ln/>
        </p:spPr>
        <p:txBody>
          <a:bodyPr wrap="square" lIns="0" tIns="0" rIns="0" bIns="0" rtlCol="0" anchor="ctr"/>
          <a:lstStyle/>
          <a:p>
            <a:pPr indent="0" marL="0">
              <a:buNone/>
            </a:pPr>
            <a:r>
              <a:rPr lang="en-US" sz="3200" b="1" dirty="0">
                <a:solidFill>
                  <a:schemeClr val="accent4"/>
                </a:solidFill>
                <a:latin typeface="Cambria" pitchFamily="34" charset="0"/>
                <a:ea typeface="Cambria" pitchFamily="34" charset="-122"/>
                <a:cs typeface="Cambria" pitchFamily="34" charset="-120"/>
              </a:rPr>
              <a:t>90,000+</a:t>
            </a:r>
            <a:endParaRPr lang="en-US" sz="3200" dirty="0"/>
          </a:p>
        </p:txBody>
      </p:sp>
      <p:sp>
        <p:nvSpPr>
          <p:cNvPr id="12" name="Text 10"/>
          <p:cNvSpPr txBox="1"/>
          <p:nvPr/>
        </p:nvSpPr>
        <p:spPr>
          <a:xfrm>
            <a:off x="731520" y="4999939"/>
            <a:ext cx="2377440" cy="768096"/>
          </a:xfrm>
          <a:prstGeom prst="rect">
            <a:avLst/>
          </a:prstGeom>
          <a:noFill/>
          <a:ln/>
        </p:spPr>
        <p:txBody>
          <a:bodyPr wrap="square" lIns="0" tIns="0" rIns="0" bIns="0" rtlCol="0" anchor="t"/>
          <a:lstStyle/>
          <a:p>
            <a:pPr indent="0" marL="0">
              <a:buNone/>
            </a:pPr>
            <a:r>
              <a:rPr lang="en-US" sz="1100" dirty="0">
                <a:solidFill>
                  <a:schemeClr val="tx2"/>
                </a:solidFill>
              </a:rPr>
              <a:t>cyber attacks detected in Mongolia every week (national cyber security officials, Jan 2024)</a:t>
            </a:r>
            <a:endParaRPr lang="en-US" sz="1100" dirty="0"/>
          </a:p>
        </p:txBody>
      </p:sp>
      <p:sp>
        <p:nvSpPr>
          <p:cNvPr id="13" name="card"/>
          <p:cNvSpPr/>
          <p:nvPr/>
        </p:nvSpPr>
        <p:spPr>
          <a:xfrm>
            <a:off x="3474720" y="3886200"/>
            <a:ext cx="2743200" cy="1920240"/>
          </a:xfrm>
          <a:prstGeom prst="roundRect">
            <a:avLst>
              <a:gd name="adj" fmla="val 5714"/>
            </a:avLst>
          </a:prstGeom>
          <a:solidFill>
            <a:schemeClr val="bg2"/>
          </a:solidFill>
          <a:ln w="12700">
            <a:solidFill>
              <a:schemeClr val="bg2"/>
            </a:solidFill>
            <a:prstDash val="solid"/>
          </a:ln>
        </p:spPr>
      </p:sp>
      <p:sp>
        <p:nvSpPr>
          <p:cNvPr id="14" name="Text 12"/>
          <p:cNvSpPr txBox="1"/>
          <p:nvPr/>
        </p:nvSpPr>
        <p:spPr>
          <a:xfrm>
            <a:off x="3657600" y="3977640"/>
            <a:ext cx="2377440" cy="96012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2021</a:t>
            </a:r>
            <a:endParaRPr lang="en-US" sz="3200" dirty="0"/>
          </a:p>
        </p:txBody>
      </p:sp>
      <p:sp>
        <p:nvSpPr>
          <p:cNvPr id="15" name="Text 13"/>
          <p:cNvSpPr txBox="1"/>
          <p:nvPr/>
        </p:nvSpPr>
        <p:spPr>
          <a:xfrm>
            <a:off x="3657600" y="4999939"/>
            <a:ext cx="2377440" cy="768096"/>
          </a:xfrm>
          <a:prstGeom prst="rect">
            <a:avLst/>
          </a:prstGeom>
          <a:noFill/>
          <a:ln/>
        </p:spPr>
        <p:txBody>
          <a:bodyPr wrap="square" lIns="0" tIns="0" rIns="0" bIns="0" rtlCol="0" anchor="t"/>
          <a:lstStyle/>
          <a:p>
            <a:pPr indent="0" marL="0">
              <a:buNone/>
            </a:pPr>
            <a:r>
              <a:rPr lang="en-US" sz="1100" dirty="0">
                <a:solidFill>
                  <a:schemeClr val="tx2"/>
                </a:solidFill>
              </a:rPr>
              <a:t>first Law on Cyber Security (17 Dec 2021, in force 1 May 2022); the Armed Forces named as a supporting authority</a:t>
            </a:r>
            <a:endParaRPr lang="en-US" sz="1100" dirty="0"/>
          </a:p>
        </p:txBody>
      </p:sp>
      <p:sp>
        <p:nvSpPr>
          <p:cNvPr id="16" name="Text 14"/>
          <p:cNvSpPr txBox="1"/>
          <p:nvPr/>
        </p:nvSpPr>
        <p:spPr>
          <a:xfrm>
            <a:off x="6675120" y="1325880"/>
            <a:ext cx="4937760"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Cyber on the bilateral agenda</a:t>
            </a:r>
            <a:endParaRPr lang="en-US" sz="1600" dirty="0"/>
          </a:p>
        </p:txBody>
      </p:sp>
      <p:sp>
        <p:nvSpPr>
          <p:cNvPr id="17" name="icon circle"/>
          <p:cNvSpPr/>
          <p:nvPr/>
        </p:nvSpPr>
        <p:spPr>
          <a:xfrm>
            <a:off x="6675120" y="1783080"/>
            <a:ext cx="548640" cy="548640"/>
          </a:xfrm>
          <a:prstGeom prst="ellipse">
            <a:avLst/>
          </a:prstGeom>
          <a:solidFill>
            <a:schemeClr val="accent2"/>
          </a:solidFill>
          <a:ln w="12700">
            <a:solidFill>
              <a:schemeClr val="accent2"/>
            </a:solidFill>
            <a:prstDash val="solid"/>
          </a:ln>
        </p:spPr>
      </p:sp>
      <p:pic>
        <p:nvPicPr>
          <p:cNvPr id="18" name="FaShieldAlt" descr="preencoded.png">    </p:cNvPr>
          <p:cNvPicPr>
            <a:picLocks noChangeAspect="1"/>
          </p:cNvPicPr>
          <p:nvPr/>
        </p:nvPicPr>
        <p:blipFill>
          <a:blip r:embed="rId1"/>
          <a:stretch>
            <a:fillRect/>
          </a:stretch>
        </p:blipFill>
        <p:spPr>
          <a:xfrm>
            <a:off x="6817766" y="1925726"/>
            <a:ext cx="263347" cy="263347"/>
          </a:xfrm>
          <a:prstGeom prst="rect">
            <a:avLst/>
          </a:prstGeom>
        </p:spPr>
      </p:pic>
      <p:sp>
        <p:nvSpPr>
          <p:cNvPr id="19" name="Text 16"/>
          <p:cNvSpPr txBox="1"/>
          <p:nvPr/>
        </p:nvSpPr>
        <p:spPr>
          <a:xfrm>
            <a:off x="7406640" y="1737360"/>
            <a:ext cx="4206240" cy="914400"/>
          </a:xfrm>
          <a:prstGeom prst="rect">
            <a:avLst/>
          </a:prstGeom>
          <a:noFill/>
          <a:ln/>
        </p:spPr>
        <p:txBody>
          <a:bodyPr wrap="square" lIns="0" tIns="0" rIns="0" bIns="0" rtlCol="0" anchor="ctr"/>
          <a:lstStyle/>
          <a:p>
            <a:pPr indent="0" marL="0">
              <a:buNone/>
            </a:pPr>
            <a:r>
              <a:rPr lang="en-US" sz="1250" dirty="0">
                <a:solidFill>
                  <a:schemeClr val="tx1"/>
                </a:solidFill>
              </a:rPr>
              <a:t>The 2022 Centre – described by the Indian MoD as a one-of-its-kind cyber-related international cooperation project</a:t>
            </a:r>
            <a:endParaRPr lang="en-US" sz="1250" dirty="0"/>
          </a:p>
        </p:txBody>
      </p:sp>
      <p:sp>
        <p:nvSpPr>
          <p:cNvPr id="20" name="icon circle"/>
          <p:cNvSpPr/>
          <p:nvPr/>
        </p:nvSpPr>
        <p:spPr>
          <a:xfrm>
            <a:off x="6675120" y="2834640"/>
            <a:ext cx="548640" cy="548640"/>
          </a:xfrm>
          <a:prstGeom prst="ellipse">
            <a:avLst/>
          </a:prstGeom>
          <a:solidFill>
            <a:schemeClr val="accent2"/>
          </a:solidFill>
          <a:ln w="12700">
            <a:solidFill>
              <a:schemeClr val="accent2"/>
            </a:solidFill>
            <a:prstDash val="solid"/>
          </a:ln>
        </p:spPr>
      </p:sp>
      <p:pic>
        <p:nvPicPr>
          <p:cNvPr id="21" name="FaMedal" descr="preencoded.png">    </p:cNvPr>
          <p:cNvPicPr>
            <a:picLocks noChangeAspect="1"/>
          </p:cNvPicPr>
          <p:nvPr/>
        </p:nvPicPr>
        <p:blipFill>
          <a:blip r:embed="rId2"/>
          <a:stretch>
            <a:fillRect/>
          </a:stretch>
        </p:blipFill>
        <p:spPr>
          <a:xfrm>
            <a:off x="6817766" y="2977286"/>
            <a:ext cx="263347" cy="263347"/>
          </a:xfrm>
          <a:prstGeom prst="rect">
            <a:avLst/>
          </a:prstGeom>
        </p:spPr>
      </p:pic>
      <p:sp>
        <p:nvSpPr>
          <p:cNvPr id="22" name="Text 18"/>
          <p:cNvSpPr txBox="1"/>
          <p:nvPr/>
        </p:nvSpPr>
        <p:spPr>
          <a:xfrm>
            <a:off x="7406640" y="2788920"/>
            <a:ext cx="4206240" cy="914400"/>
          </a:xfrm>
          <a:prstGeom prst="rect">
            <a:avLst/>
          </a:prstGeom>
          <a:noFill/>
          <a:ln/>
        </p:spPr>
        <p:txBody>
          <a:bodyPr wrap="square" lIns="0" tIns="0" rIns="0" bIns="0" rtlCol="0" anchor="ctr"/>
          <a:lstStyle/>
          <a:p>
            <a:pPr indent="0" marL="0">
              <a:buNone/>
            </a:pPr>
            <a:r>
              <a:rPr lang="en-US" sz="1250" dirty="0">
                <a:solidFill>
                  <a:schemeClr val="tx1"/>
                </a:solidFill>
              </a:rPr>
              <a:t>Cyber security training built into Nomadic Elephant 2025 (Ulaanbaatar) and 2026 (Pithoragarh)</a:t>
            </a:r>
            <a:endParaRPr lang="en-US" sz="1250" dirty="0"/>
          </a:p>
        </p:txBody>
      </p:sp>
      <p:sp>
        <p:nvSpPr>
          <p:cNvPr id="23" name="icon circle"/>
          <p:cNvSpPr/>
          <p:nvPr/>
        </p:nvSpPr>
        <p:spPr>
          <a:xfrm>
            <a:off x="6675120" y="3886200"/>
            <a:ext cx="548640" cy="548640"/>
          </a:xfrm>
          <a:prstGeom prst="ellipse">
            <a:avLst/>
          </a:prstGeom>
          <a:solidFill>
            <a:schemeClr val="accent2"/>
          </a:solidFill>
          <a:ln w="12700">
            <a:solidFill>
              <a:schemeClr val="accent2"/>
            </a:solidFill>
            <a:prstDash val="solid"/>
          </a:ln>
        </p:spPr>
      </p:sp>
      <p:pic>
        <p:nvPicPr>
          <p:cNvPr id="24" name="FaUsers" descr="preencoded.png">    </p:cNvPr>
          <p:cNvPicPr>
            <a:picLocks noChangeAspect="1"/>
          </p:cNvPicPr>
          <p:nvPr/>
        </p:nvPicPr>
        <p:blipFill>
          <a:blip r:embed="rId3"/>
          <a:stretch>
            <a:fillRect/>
          </a:stretch>
        </p:blipFill>
        <p:spPr>
          <a:xfrm>
            <a:off x="6817766" y="4028846"/>
            <a:ext cx="263347" cy="263347"/>
          </a:xfrm>
          <a:prstGeom prst="rect">
            <a:avLst/>
          </a:prstGeom>
        </p:spPr>
      </p:pic>
      <p:sp>
        <p:nvSpPr>
          <p:cNvPr id="25" name="Text 20"/>
          <p:cNvSpPr txBox="1"/>
          <p:nvPr/>
        </p:nvSpPr>
        <p:spPr>
          <a:xfrm>
            <a:off x="7406640" y="3840480"/>
            <a:ext cx="4206240" cy="914400"/>
          </a:xfrm>
          <a:prstGeom prst="rect">
            <a:avLst/>
          </a:prstGeom>
          <a:noFill/>
          <a:ln/>
        </p:spPr>
        <p:txBody>
          <a:bodyPr wrap="square" lIns="0" tIns="0" rIns="0" bIns="0" rtlCol="0" anchor="ctr"/>
          <a:lstStyle/>
          <a:p>
            <a:pPr indent="0" marL="0">
              <a:buNone/>
            </a:pPr>
            <a:r>
              <a:rPr lang="en-US" sz="1250" dirty="0">
                <a:solidFill>
                  <a:schemeClr val="tx1"/>
                </a:solidFill>
              </a:rPr>
              <a:t>The Cyber Security Military Command of the Mongolian Armed Forces is the Centre's principal partner and customer</a:t>
            </a:r>
            <a:endParaRPr lang="en-US" sz="1250" dirty="0"/>
          </a:p>
        </p:txBody>
      </p:sp>
      <p:sp>
        <p:nvSpPr>
          <p:cNvPr id="26" name="icon circle"/>
          <p:cNvSpPr/>
          <p:nvPr/>
        </p:nvSpPr>
        <p:spPr>
          <a:xfrm>
            <a:off x="6675120" y="4937760"/>
            <a:ext cx="548640" cy="548640"/>
          </a:xfrm>
          <a:prstGeom prst="ellipse">
            <a:avLst/>
          </a:prstGeom>
          <a:solidFill>
            <a:schemeClr val="accent2"/>
          </a:solidFill>
          <a:ln w="12700">
            <a:solidFill>
              <a:schemeClr val="accent2"/>
            </a:solidFill>
            <a:prstDash val="solid"/>
          </a:ln>
        </p:spPr>
      </p:sp>
      <p:pic>
        <p:nvPicPr>
          <p:cNvPr id="27" name="FaLightbulb" descr="preencoded.png">    </p:cNvPr>
          <p:cNvPicPr>
            <a:picLocks noChangeAspect="1"/>
          </p:cNvPicPr>
          <p:nvPr/>
        </p:nvPicPr>
        <p:blipFill>
          <a:blip r:embed="rId4"/>
          <a:stretch>
            <a:fillRect/>
          </a:stretch>
        </p:blipFill>
        <p:spPr>
          <a:xfrm>
            <a:off x="6817766" y="5080406"/>
            <a:ext cx="263347" cy="263347"/>
          </a:xfrm>
          <a:prstGeom prst="rect">
            <a:avLst/>
          </a:prstGeom>
        </p:spPr>
      </p:pic>
      <p:sp>
        <p:nvSpPr>
          <p:cNvPr id="28" name="Text 22"/>
          <p:cNvSpPr txBox="1"/>
          <p:nvPr/>
        </p:nvSpPr>
        <p:spPr>
          <a:xfrm>
            <a:off x="7406640" y="4892040"/>
            <a:ext cx="4206240" cy="914400"/>
          </a:xfrm>
          <a:prstGeom prst="rect">
            <a:avLst/>
          </a:prstGeom>
          <a:noFill/>
          <a:ln/>
        </p:spPr>
        <p:txBody>
          <a:bodyPr wrap="square" lIns="0" tIns="0" rIns="0" bIns="0" rtlCol="0" anchor="ctr"/>
          <a:lstStyle/>
          <a:p>
            <a:pPr indent="0" marL="0">
              <a:buNone/>
            </a:pPr>
            <a:r>
              <a:rPr lang="en-US" sz="1250" dirty="0">
                <a:solidFill>
                  <a:schemeClr val="tx1"/>
                </a:solidFill>
              </a:rPr>
              <a:t>Both armed forces face the same threats – ransomware, espionage, attacks on critical infrastructure – and the same skills gap</a:t>
            </a:r>
            <a:endParaRPr lang="en-US" sz="12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02</a:t>
            </a:r>
            <a:endParaRPr lang="en-US" sz="6000" dirty="0"/>
          </a:p>
        </p:txBody>
      </p:sp>
      <p:sp>
        <p:nvSpPr>
          <p:cNvPr id="3" name="Text 0"/>
          <p:cNvSpPr/>
          <p:nvPr>
            <p:ph idx="100" type="title" hasCustomPrompt="1"/>
          </p:nvPr>
        </p:nvSpPr>
        <p:spPr>
          <a:xfrm>
            <a:off x="731520" y="2743200"/>
            <a:ext cx="10698480" cy="1097280"/>
          </a:xfrm>
          <a:prstGeom prst="rect">
            <a:avLst/>
          </a:prstGeom>
          <a:noFill/>
          <a:ln/>
        </p:spPr>
        <p:txBody>
          <a:bodyPr wrap="square" lIns="0" tIns="0" rIns="0" bIns="0" rtlCol="0" anchor="ctr"/>
          <a:lstStyle/>
          <a:p>
            <a:pPr indent="0" marL="0">
              <a:buNone/>
            </a:pPr>
            <a:r>
              <a:rPr lang="en-US" sz="4000" b="1" dirty="0">
                <a:solidFill>
                  <a:schemeClr val="bg1"/>
                </a:solidFill>
              </a:rPr>
              <a:t>Establishing the Centre</a:t>
            </a:r>
            <a:endParaRPr lang="en-US" sz="4000" dirty="0"/>
          </a:p>
        </p:txBody>
      </p:sp>
      <p:sp>
        <p:nvSpPr>
          <p:cNvPr id="4" name="Text 0"/>
          <p:cNvSpPr/>
          <p:nvPr>
            <p:ph idx="101" type="body" hasCustomPrompt="1"/>
          </p:nvPr>
        </p:nvSpPr>
        <p:spPr>
          <a:xfrm>
            <a:off x="731520" y="3886200"/>
            <a:ext cx="10698480" cy="731520"/>
          </a:xfrm>
          <a:prstGeom prst="rect">
            <a:avLst/>
          </a:prstGeom>
          <a:noFill/>
          <a:ln/>
        </p:spPr>
        <p:txBody>
          <a:bodyPr wrap="square" lIns="0" tIns="0" rIns="0" bIns="0" rtlCol="0" anchor="t"/>
          <a:lstStyle/>
          <a:p>
            <a:pPr indent="0" marL="0">
              <a:buNone/>
            </a:pPr>
            <a:r>
              <a:rPr lang="en-US" sz="1800" dirty="0">
                <a:solidFill>
                  <a:schemeClr val="accent6"/>
                </a:solidFill>
              </a:rPr>
              <a:t>From the 2015 Memorandum to a university department</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From the 2015 Memorandum to the 2022 inauguration</a:t>
            </a:r>
            <a:endParaRPr lang="en-US" sz="3000" dirty="0"/>
          </a:p>
        </p:txBody>
      </p:sp>
      <p:sp>
        <p:nvSpPr>
          <p:cNvPr id="3" name="date chip"/>
          <p:cNvSpPr/>
          <p:nvPr/>
        </p:nvSpPr>
        <p:spPr>
          <a:xfrm>
            <a:off x="548640" y="1426464"/>
            <a:ext cx="1234440" cy="310896"/>
          </a:xfrm>
          <a:prstGeom prst="roundRect">
            <a:avLst>
              <a:gd name="adj" fmla="val 50000"/>
            </a:avLst>
          </a:prstGeom>
          <a:solidFill>
            <a:schemeClr val="accent5"/>
          </a:solidFill>
          <a:ln w="12700">
            <a:solidFill>
              <a:schemeClr val="accent5"/>
            </a:solidFill>
            <a:prstDash val="solid"/>
          </a:ln>
        </p:spPr>
      </p:sp>
      <p:sp>
        <p:nvSpPr>
          <p:cNvPr id="4" name="Text 2"/>
          <p:cNvSpPr txBox="1"/>
          <p:nvPr/>
        </p:nvSpPr>
        <p:spPr>
          <a:xfrm>
            <a:off x="548640" y="1426464"/>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17 May 2015</a:t>
            </a:r>
            <a:endParaRPr lang="en-US" sz="1050" dirty="0"/>
          </a:p>
        </p:txBody>
      </p:sp>
      <p:sp>
        <p:nvSpPr>
          <p:cNvPr id="5" name="Text 3"/>
          <p:cNvSpPr txBox="1"/>
          <p:nvPr/>
        </p:nvSpPr>
        <p:spPr>
          <a:xfrm>
            <a:off x="1920240" y="1371600"/>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Intergovernmental Memorandum. </a:t>
            </a:r>
            <a:pPr indent="0" marL="0">
              <a:buNone/>
            </a:pPr>
            <a:r>
              <a:rPr lang="en-US" sz="1100" dirty="0">
                <a:solidFill>
                  <a:schemeClr val="tx1"/>
                </a:solidFill>
              </a:rPr>
              <a:t>Governments of Mongolia and India agree to establish a Cyber Security Training Centre at the Ministry of Defence of Mongolia</a:t>
            </a:r>
            <a:endParaRPr lang="en-US" sz="1100" dirty="0"/>
          </a:p>
        </p:txBody>
      </p:sp>
      <p:sp>
        <p:nvSpPr>
          <p:cNvPr id="6" name="date chip"/>
          <p:cNvSpPr/>
          <p:nvPr/>
        </p:nvSpPr>
        <p:spPr>
          <a:xfrm>
            <a:off x="548640" y="2048256"/>
            <a:ext cx="1234440" cy="310896"/>
          </a:xfrm>
          <a:prstGeom prst="roundRect">
            <a:avLst>
              <a:gd name="adj" fmla="val 50000"/>
            </a:avLst>
          </a:prstGeom>
          <a:solidFill>
            <a:schemeClr val="accent5"/>
          </a:solidFill>
          <a:ln w="12700">
            <a:solidFill>
              <a:schemeClr val="accent5"/>
            </a:solidFill>
            <a:prstDash val="solid"/>
          </a:ln>
        </p:spPr>
      </p:sp>
      <p:sp>
        <p:nvSpPr>
          <p:cNvPr id="7" name="Text 5"/>
          <p:cNvSpPr txBox="1"/>
          <p:nvPr/>
        </p:nvSpPr>
        <p:spPr>
          <a:xfrm>
            <a:off x="548640" y="2048256"/>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2021</a:t>
            </a:r>
            <a:endParaRPr lang="en-US" sz="1050" dirty="0"/>
          </a:p>
        </p:txBody>
      </p:sp>
      <p:sp>
        <p:nvSpPr>
          <p:cNvPr id="8" name="Text 6"/>
          <p:cNvSpPr txBox="1"/>
          <p:nvPr/>
        </p:nvSpPr>
        <p:spPr>
          <a:xfrm>
            <a:off x="1920240" y="1993392"/>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Site prepared, equipment shipped. </a:t>
            </a:r>
            <a:pPr indent="0" marL="0">
              <a:buNone/>
            </a:pPr>
            <a:r>
              <a:rPr lang="en-US" sz="1100" dirty="0">
                <a:solidFill>
                  <a:schemeClr val="tx1"/>
                </a:solidFill>
              </a:rPr>
              <a:t>First floor of the Military Institute building at NDU renovated; two containers dispatched from India (Jul–Nov 2021)</a:t>
            </a:r>
            <a:endParaRPr lang="en-US" sz="1100" dirty="0"/>
          </a:p>
        </p:txBody>
      </p:sp>
      <p:sp>
        <p:nvSpPr>
          <p:cNvPr id="9" name="date chip"/>
          <p:cNvSpPr/>
          <p:nvPr/>
        </p:nvSpPr>
        <p:spPr>
          <a:xfrm>
            <a:off x="548640" y="2670048"/>
            <a:ext cx="1234440" cy="310896"/>
          </a:xfrm>
          <a:prstGeom prst="roundRect">
            <a:avLst>
              <a:gd name="adj" fmla="val 50000"/>
            </a:avLst>
          </a:prstGeom>
          <a:solidFill>
            <a:schemeClr val="accent5"/>
          </a:solidFill>
          <a:ln w="12700">
            <a:solidFill>
              <a:schemeClr val="accent5"/>
            </a:solidFill>
            <a:prstDash val="solid"/>
          </a:ln>
        </p:spPr>
      </p:sp>
      <p:sp>
        <p:nvSpPr>
          <p:cNvPr id="10" name="Text 8"/>
          <p:cNvSpPr txBox="1"/>
          <p:nvPr/>
        </p:nvSpPr>
        <p:spPr>
          <a:xfrm>
            <a:off x="548640" y="2670048"/>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Feb 2022</a:t>
            </a:r>
            <a:endParaRPr lang="en-US" sz="1050" dirty="0"/>
          </a:p>
        </p:txBody>
      </p:sp>
      <p:sp>
        <p:nvSpPr>
          <p:cNvPr id="11" name="Text 9"/>
          <p:cNvSpPr txBox="1"/>
          <p:nvPr/>
        </p:nvSpPr>
        <p:spPr>
          <a:xfrm>
            <a:off x="1920240" y="2615184"/>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Delivery to NDU. </a:t>
            </a:r>
            <a:pPr indent="0" marL="0">
              <a:buNone/>
            </a:pPr>
            <a:r>
              <a:rPr lang="en-US" sz="1100" dirty="0">
                <a:solidFill>
                  <a:schemeClr val="tx1"/>
                </a:solidFill>
              </a:rPr>
              <a:t>93 types of equipment, software and furniture received in Ulaanbaatar</a:t>
            </a:r>
            <a:endParaRPr lang="en-US" sz="1100" dirty="0"/>
          </a:p>
        </p:txBody>
      </p:sp>
      <p:sp>
        <p:nvSpPr>
          <p:cNvPr id="12" name="date chip"/>
          <p:cNvSpPr/>
          <p:nvPr/>
        </p:nvSpPr>
        <p:spPr>
          <a:xfrm>
            <a:off x="548640" y="3291840"/>
            <a:ext cx="1234440" cy="310896"/>
          </a:xfrm>
          <a:prstGeom prst="roundRect">
            <a:avLst>
              <a:gd name="adj" fmla="val 50000"/>
            </a:avLst>
          </a:prstGeom>
          <a:solidFill>
            <a:schemeClr val="accent5"/>
          </a:solidFill>
          <a:ln w="12700">
            <a:solidFill>
              <a:schemeClr val="accent5"/>
            </a:solidFill>
            <a:prstDash val="solid"/>
          </a:ln>
        </p:spPr>
      </p:sp>
      <p:sp>
        <p:nvSpPr>
          <p:cNvPr id="13" name="Text 11"/>
          <p:cNvSpPr txBox="1"/>
          <p:nvPr/>
        </p:nvSpPr>
        <p:spPr>
          <a:xfrm>
            <a:off x="548640" y="3291840"/>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Mar–Jul 2022</a:t>
            </a:r>
            <a:endParaRPr lang="en-US" sz="1050" dirty="0"/>
          </a:p>
        </p:txBody>
      </p:sp>
      <p:sp>
        <p:nvSpPr>
          <p:cNvPr id="14" name="Text 12"/>
          <p:cNvSpPr txBox="1"/>
          <p:nvPr/>
        </p:nvSpPr>
        <p:spPr>
          <a:xfrm>
            <a:off x="1920240" y="3236976"/>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Installation and commissioning. </a:t>
            </a:r>
            <a:pPr indent="0" marL="0">
              <a:buNone/>
            </a:pPr>
            <a:r>
              <a:rPr lang="en-US" sz="1100" dirty="0">
                <a:solidFill>
                  <a:schemeClr val="tx1"/>
                </a:solidFill>
              </a:rPr>
              <a:t>C-DAC engineer Sandeep Kumar with the NDU team</a:t>
            </a:r>
            <a:endParaRPr lang="en-US" sz="1100" dirty="0"/>
          </a:p>
        </p:txBody>
      </p:sp>
      <p:sp>
        <p:nvSpPr>
          <p:cNvPr id="15" name="date chip"/>
          <p:cNvSpPr/>
          <p:nvPr/>
        </p:nvSpPr>
        <p:spPr>
          <a:xfrm>
            <a:off x="548640" y="3913632"/>
            <a:ext cx="1234440" cy="310896"/>
          </a:xfrm>
          <a:prstGeom prst="roundRect">
            <a:avLst>
              <a:gd name="adj" fmla="val 50000"/>
            </a:avLst>
          </a:prstGeom>
          <a:solidFill>
            <a:schemeClr val="accent1"/>
          </a:solidFill>
          <a:ln w="12700">
            <a:solidFill>
              <a:schemeClr val="accent1"/>
            </a:solidFill>
            <a:prstDash val="solid"/>
          </a:ln>
        </p:spPr>
      </p:sp>
      <p:sp>
        <p:nvSpPr>
          <p:cNvPr id="16" name="Text 14"/>
          <p:cNvSpPr txBox="1"/>
          <p:nvPr/>
        </p:nvSpPr>
        <p:spPr>
          <a:xfrm>
            <a:off x="548640" y="3913632"/>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6 Sep 2022</a:t>
            </a:r>
            <a:endParaRPr lang="en-US" sz="1050" dirty="0"/>
          </a:p>
        </p:txBody>
      </p:sp>
      <p:sp>
        <p:nvSpPr>
          <p:cNvPr id="17" name="Text 15"/>
          <p:cNvSpPr txBox="1"/>
          <p:nvPr/>
        </p:nvSpPr>
        <p:spPr>
          <a:xfrm>
            <a:off x="1920240" y="3858768"/>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Inauguration. </a:t>
            </a:r>
            <a:pPr indent="0" marL="0">
              <a:buNone/>
            </a:pPr>
            <a:r>
              <a:rPr lang="en-US" sz="1100" dirty="0">
                <a:solidFill>
                  <a:schemeClr val="tx1"/>
                </a:solidFill>
              </a:rPr>
              <a:t>Defence Minister G. Saikhanbayar and Raksha Mantri Shri Rajnath Singh open the Centre</a:t>
            </a:r>
            <a:endParaRPr lang="en-US" sz="1100" dirty="0"/>
          </a:p>
        </p:txBody>
      </p:sp>
      <p:sp>
        <p:nvSpPr>
          <p:cNvPr id="18" name="date chip"/>
          <p:cNvSpPr/>
          <p:nvPr/>
        </p:nvSpPr>
        <p:spPr>
          <a:xfrm>
            <a:off x="548640" y="4535424"/>
            <a:ext cx="1234440" cy="310896"/>
          </a:xfrm>
          <a:prstGeom prst="roundRect">
            <a:avLst>
              <a:gd name="adj" fmla="val 50000"/>
            </a:avLst>
          </a:prstGeom>
          <a:solidFill>
            <a:schemeClr val="accent2"/>
          </a:solidFill>
          <a:ln w="12700">
            <a:solidFill>
              <a:schemeClr val="accent2"/>
            </a:solidFill>
            <a:prstDash val="solid"/>
          </a:ln>
        </p:spPr>
      </p:sp>
      <p:sp>
        <p:nvSpPr>
          <p:cNvPr id="19" name="Text 17"/>
          <p:cNvSpPr txBox="1"/>
          <p:nvPr/>
        </p:nvSpPr>
        <p:spPr>
          <a:xfrm>
            <a:off x="548640" y="4535424"/>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Jan 2023</a:t>
            </a:r>
            <a:endParaRPr lang="en-US" sz="1050" dirty="0"/>
          </a:p>
        </p:txBody>
      </p:sp>
      <p:sp>
        <p:nvSpPr>
          <p:cNvPr id="20" name="Text 18"/>
          <p:cNvSpPr txBox="1"/>
          <p:nvPr/>
        </p:nvSpPr>
        <p:spPr>
          <a:xfrm>
            <a:off x="1920240" y="4480560"/>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Centre staffed. </a:t>
            </a:r>
            <a:pPr indent="0" marL="0">
              <a:buNone/>
            </a:pPr>
            <a:r>
              <a:rPr lang="en-US" sz="1100" dirty="0">
                <a:solidFill>
                  <a:schemeClr val="tx1"/>
                </a:solidFill>
              </a:rPr>
              <a:t>Head and three teachers appointed (five posts) under the NDU Training Department</a:t>
            </a:r>
            <a:endParaRPr lang="en-US" sz="1100" dirty="0"/>
          </a:p>
        </p:txBody>
      </p:sp>
      <p:sp>
        <p:nvSpPr>
          <p:cNvPr id="21" name="date chip"/>
          <p:cNvSpPr/>
          <p:nvPr/>
        </p:nvSpPr>
        <p:spPr>
          <a:xfrm>
            <a:off x="548640" y="5157216"/>
            <a:ext cx="1234440" cy="310896"/>
          </a:xfrm>
          <a:prstGeom prst="roundRect">
            <a:avLst>
              <a:gd name="adj" fmla="val 50000"/>
            </a:avLst>
          </a:prstGeom>
          <a:solidFill>
            <a:schemeClr val="accent2"/>
          </a:solidFill>
          <a:ln w="12700">
            <a:solidFill>
              <a:schemeClr val="accent2"/>
            </a:solidFill>
            <a:prstDash val="solid"/>
          </a:ln>
        </p:spPr>
      </p:sp>
      <p:sp>
        <p:nvSpPr>
          <p:cNvPr id="22" name="Text 20"/>
          <p:cNvSpPr txBox="1"/>
          <p:nvPr/>
        </p:nvSpPr>
        <p:spPr>
          <a:xfrm>
            <a:off x="548640" y="5157216"/>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Aug 2023</a:t>
            </a:r>
            <a:endParaRPr lang="en-US" sz="1050" dirty="0"/>
          </a:p>
        </p:txBody>
      </p:sp>
      <p:sp>
        <p:nvSpPr>
          <p:cNvPr id="23" name="Text 21"/>
          <p:cNvSpPr txBox="1"/>
          <p:nvPr/>
        </p:nvSpPr>
        <p:spPr>
          <a:xfrm>
            <a:off x="1920240" y="5102352"/>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First Indian training team. </a:t>
            </a:r>
            <a:pPr indent="0" marL="0">
              <a:buNone/>
            </a:pPr>
            <a:r>
              <a:rPr lang="en-US" sz="1100" dirty="0">
                <a:solidFill>
                  <a:schemeClr val="tx1"/>
                </a:solidFill>
              </a:rPr>
              <a:t>Mobile training teams of two instructors rotate every four months</a:t>
            </a:r>
            <a:endParaRPr lang="en-US" sz="1100" dirty="0"/>
          </a:p>
        </p:txBody>
      </p:sp>
      <p:sp>
        <p:nvSpPr>
          <p:cNvPr id="24" name="date chip"/>
          <p:cNvSpPr/>
          <p:nvPr/>
        </p:nvSpPr>
        <p:spPr>
          <a:xfrm>
            <a:off x="548640" y="5779008"/>
            <a:ext cx="1234440" cy="310896"/>
          </a:xfrm>
          <a:prstGeom prst="roundRect">
            <a:avLst>
              <a:gd name="adj" fmla="val 50000"/>
            </a:avLst>
          </a:prstGeom>
          <a:solidFill>
            <a:schemeClr val="accent2"/>
          </a:solidFill>
          <a:ln w="12700">
            <a:solidFill>
              <a:schemeClr val="accent2"/>
            </a:solidFill>
            <a:prstDash val="solid"/>
          </a:ln>
        </p:spPr>
      </p:sp>
      <p:sp>
        <p:nvSpPr>
          <p:cNvPr id="25" name="Text 23"/>
          <p:cNvSpPr txBox="1"/>
          <p:nvPr/>
        </p:nvSpPr>
        <p:spPr>
          <a:xfrm>
            <a:off x="548640" y="5779008"/>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Jul 2025</a:t>
            </a:r>
            <a:endParaRPr lang="en-US" sz="1050" dirty="0"/>
          </a:p>
        </p:txBody>
      </p:sp>
      <p:sp>
        <p:nvSpPr>
          <p:cNvPr id="26" name="Text 24"/>
          <p:cNvSpPr txBox="1"/>
          <p:nvPr/>
        </p:nvSpPr>
        <p:spPr>
          <a:xfrm>
            <a:off x="1920240" y="5724144"/>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University department. </a:t>
            </a:r>
            <a:pPr indent="0" marL="0">
              <a:buNone/>
            </a:pPr>
            <a:r>
              <a:rPr lang="en-US" sz="1100" dirty="0">
                <a:solidFill>
                  <a:schemeClr val="tx1"/>
                </a:solidFill>
              </a:rPr>
              <a:t>Centre becomes the Cyber Security Department of the Military Institute, NDU</a:t>
            </a:r>
            <a:endParaRPr lang="en-US" sz="1100" dirty="0"/>
          </a:p>
        </p:txBody>
      </p:sp>
      <p:pic>
        <p:nvPicPr>
          <p:cNvPr id="27" name="inauguration_ribbon.jpg" descr="/home/user/research-material/india-cyber-cooperation/images/inauguration_ribbon.jpg">    </p:cNvPr>
          <p:cNvPicPr>
            <a:picLocks noChangeAspect="1"/>
          </p:cNvPicPr>
          <p:nvPr/>
        </p:nvPicPr>
        <p:blipFill>
          <a:blip r:embed="rId1"/>
          <a:srcRect l="0" r="0" t="0" b="0"/>
          <a:stretch/>
        </p:blipFill>
        <p:spPr>
          <a:xfrm>
            <a:off x="7132320" y="1371600"/>
            <a:ext cx="4480560" cy="2331720"/>
          </a:xfrm>
          <a:prstGeom prst="rect">
            <a:avLst/>
          </a:prstGeom>
        </p:spPr>
      </p:pic>
      <p:sp>
        <p:nvSpPr>
          <p:cNvPr id="28" name="Text 25"/>
          <p:cNvSpPr txBox="1"/>
          <p:nvPr/>
        </p:nvSpPr>
        <p:spPr>
          <a:xfrm>
            <a:off x="7132320" y="3749040"/>
            <a:ext cx="4480560" cy="411480"/>
          </a:xfrm>
          <a:prstGeom prst="rect">
            <a:avLst/>
          </a:prstGeom>
          <a:noFill/>
          <a:ln/>
        </p:spPr>
        <p:txBody>
          <a:bodyPr wrap="square" lIns="0" tIns="0" rIns="0" bIns="0" rtlCol="0" anchor="t"/>
          <a:lstStyle/>
          <a:p>
            <a:pPr indent="0" marL="0">
              <a:buNone/>
            </a:pPr>
            <a:r>
              <a:rPr lang="en-US" sz="1050" dirty="0">
                <a:solidFill>
                  <a:schemeClr val="tx2"/>
                </a:solidFill>
              </a:rPr>
              <a:t>6 September 2022: Defence Minister G. Saikhanbayar and Raksha Mantri Shri Rajnath Singh cut the ribbon</a:t>
            </a:r>
            <a:endParaRPr lang="en-US" sz="1050" dirty="0"/>
          </a:p>
        </p:txBody>
      </p:sp>
      <p:pic>
        <p:nvPicPr>
          <p:cNvPr id="29" name="inauguration_guard.jpg" descr="/home/user/research-material/india-cyber-cooperation/images/inauguration_guard.jpg">    </p:cNvPr>
          <p:cNvPicPr>
            <a:picLocks noChangeAspect="1"/>
          </p:cNvPicPr>
          <p:nvPr/>
        </p:nvPicPr>
        <p:blipFill>
          <a:blip r:embed="rId2"/>
          <a:srcRect l="0" r="0" t="0" b="0"/>
          <a:stretch/>
        </p:blipFill>
        <p:spPr>
          <a:xfrm>
            <a:off x="7132320" y="4160520"/>
            <a:ext cx="4480560" cy="1920240"/>
          </a:xfrm>
          <a:prstGeom prst="rect">
            <a:avLst/>
          </a:prstGeom>
        </p:spPr>
      </p:pic>
      <p:sp>
        <p:nvSpPr>
          <p:cNvPr id="30" name="Text 26"/>
          <p:cNvSpPr txBox="1"/>
          <p:nvPr/>
        </p:nvSpPr>
        <p:spPr>
          <a:xfrm>
            <a:off x="7132320" y="6126480"/>
            <a:ext cx="4480560" cy="320040"/>
          </a:xfrm>
          <a:prstGeom prst="rect">
            <a:avLst/>
          </a:prstGeom>
          <a:noFill/>
          <a:ln/>
        </p:spPr>
        <p:txBody>
          <a:bodyPr wrap="square" lIns="0" tIns="0" rIns="0" bIns="0" rtlCol="0" anchor="t"/>
          <a:lstStyle/>
          <a:p>
            <a:pPr indent="0" marL="0">
              <a:buNone/>
            </a:pPr>
            <a:r>
              <a:rPr lang="en-US" sz="1050" dirty="0">
                <a:solidFill>
                  <a:schemeClr val="tx2"/>
                </a:solidFill>
              </a:rPr>
              <a:t>Guard of honour for the Indian Defence Minister at NDU</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India's contribution: a complete, equipped training centre</a:t>
            </a:r>
            <a:endParaRPr lang="en-US" sz="3000" dirty="0"/>
          </a:p>
        </p:txBody>
      </p:sp>
      <p:sp>
        <p:nvSpPr>
          <p:cNvPr id="3" name="card"/>
          <p:cNvSpPr/>
          <p:nvPr/>
        </p:nvSpPr>
        <p:spPr>
          <a:xfrm>
            <a:off x="548640" y="1371600"/>
            <a:ext cx="3291840" cy="1600200"/>
          </a:xfrm>
          <a:prstGeom prst="roundRect">
            <a:avLst>
              <a:gd name="adj" fmla="val 6857"/>
            </a:avLst>
          </a:prstGeom>
          <a:solidFill>
            <a:schemeClr val="bg2"/>
          </a:solidFill>
          <a:ln w="12700">
            <a:solidFill>
              <a:schemeClr val="bg2"/>
            </a:solidFill>
            <a:prstDash val="solid"/>
          </a:ln>
        </p:spPr>
      </p:sp>
      <p:sp>
        <p:nvSpPr>
          <p:cNvPr id="4" name="Text 2"/>
          <p:cNvSpPr txBox="1"/>
          <p:nvPr/>
        </p:nvSpPr>
        <p:spPr>
          <a:xfrm>
            <a:off x="731520" y="1463040"/>
            <a:ext cx="2926080" cy="8001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₮1.3 bn</a:t>
            </a:r>
            <a:endParaRPr lang="en-US" sz="4000" dirty="0"/>
          </a:p>
        </p:txBody>
      </p:sp>
      <p:sp>
        <p:nvSpPr>
          <p:cNvPr id="5" name="Text 3"/>
          <p:cNvSpPr txBox="1"/>
          <p:nvPr/>
        </p:nvSpPr>
        <p:spPr>
          <a:xfrm>
            <a:off x="731520" y="2299716"/>
            <a:ext cx="2926080" cy="640080"/>
          </a:xfrm>
          <a:prstGeom prst="rect">
            <a:avLst/>
          </a:prstGeom>
          <a:noFill/>
          <a:ln/>
        </p:spPr>
        <p:txBody>
          <a:bodyPr wrap="square" lIns="0" tIns="0" rIns="0" bIns="0" rtlCol="0" anchor="t"/>
          <a:lstStyle/>
          <a:p>
            <a:pPr indent="0" marL="0">
              <a:buNone/>
            </a:pPr>
            <a:r>
              <a:rPr lang="en-US" sz="1100" dirty="0">
                <a:solidFill>
                  <a:schemeClr val="tx2"/>
                </a:solidFill>
              </a:rPr>
              <a:t>value of Indian supplies (MNT 1,303 million)</a:t>
            </a:r>
            <a:endParaRPr lang="en-US" sz="1100" dirty="0"/>
          </a:p>
        </p:txBody>
      </p:sp>
      <p:sp>
        <p:nvSpPr>
          <p:cNvPr id="6" name="card"/>
          <p:cNvSpPr/>
          <p:nvPr/>
        </p:nvSpPr>
        <p:spPr>
          <a:xfrm>
            <a:off x="548640" y="3154680"/>
            <a:ext cx="3291840" cy="914400"/>
          </a:xfrm>
          <a:prstGeom prst="roundRect">
            <a:avLst>
              <a:gd name="adj" fmla="val 12000"/>
            </a:avLst>
          </a:prstGeom>
          <a:solidFill>
            <a:schemeClr val="bg1"/>
          </a:solidFill>
          <a:ln w="9525">
            <a:solidFill>
              <a:srgbClr val="DDE3EC"/>
            </a:solidFill>
            <a:prstDash val="solid"/>
          </a:ln>
        </p:spPr>
      </p:sp>
      <p:sp>
        <p:nvSpPr>
          <p:cNvPr id="7" name="Text 5"/>
          <p:cNvSpPr txBox="1"/>
          <p:nvPr/>
        </p:nvSpPr>
        <p:spPr>
          <a:xfrm>
            <a:off x="731520" y="3227832"/>
            <a:ext cx="292608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₮984.0 m</a:t>
            </a:r>
            <a:endParaRPr lang="en-US" sz="1800" dirty="0"/>
          </a:p>
        </p:txBody>
      </p:sp>
      <p:sp>
        <p:nvSpPr>
          <p:cNvPr id="8" name="Text 6"/>
          <p:cNvSpPr txBox="1"/>
          <p:nvPr/>
        </p:nvSpPr>
        <p:spPr>
          <a:xfrm>
            <a:off x="731520" y="3593592"/>
            <a:ext cx="2926080" cy="457200"/>
          </a:xfrm>
          <a:prstGeom prst="rect">
            <a:avLst/>
          </a:prstGeom>
          <a:noFill/>
          <a:ln/>
        </p:spPr>
        <p:txBody>
          <a:bodyPr wrap="square" lIns="0" tIns="0" rIns="0" bIns="0" rtlCol="0" anchor="t"/>
          <a:lstStyle/>
          <a:p>
            <a:pPr indent="0" marL="0">
              <a:buNone/>
            </a:pPr>
            <a:r>
              <a:rPr lang="en-US" sz="1050" dirty="0">
                <a:solidFill>
                  <a:schemeClr val="tx2"/>
                </a:solidFill>
              </a:rPr>
              <a:t>equipment, furniture and materials – 93 items in two containers</a:t>
            </a:r>
            <a:endParaRPr lang="en-US" sz="1050" dirty="0"/>
          </a:p>
        </p:txBody>
      </p:sp>
      <p:sp>
        <p:nvSpPr>
          <p:cNvPr id="9" name="card"/>
          <p:cNvSpPr/>
          <p:nvPr/>
        </p:nvSpPr>
        <p:spPr>
          <a:xfrm>
            <a:off x="548640" y="4178808"/>
            <a:ext cx="3291840" cy="914400"/>
          </a:xfrm>
          <a:prstGeom prst="roundRect">
            <a:avLst>
              <a:gd name="adj" fmla="val 12000"/>
            </a:avLst>
          </a:prstGeom>
          <a:solidFill>
            <a:schemeClr val="bg1"/>
          </a:solidFill>
          <a:ln w="9525">
            <a:solidFill>
              <a:srgbClr val="DDE3EC"/>
            </a:solidFill>
            <a:prstDash val="solid"/>
          </a:ln>
        </p:spPr>
      </p:sp>
      <p:sp>
        <p:nvSpPr>
          <p:cNvPr id="10" name="Text 8"/>
          <p:cNvSpPr txBox="1"/>
          <p:nvPr/>
        </p:nvSpPr>
        <p:spPr>
          <a:xfrm>
            <a:off x="731520" y="4251960"/>
            <a:ext cx="292608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₮68.9 m</a:t>
            </a:r>
            <a:endParaRPr lang="en-US" sz="1800" dirty="0"/>
          </a:p>
        </p:txBody>
      </p:sp>
      <p:sp>
        <p:nvSpPr>
          <p:cNvPr id="11" name="Text 9"/>
          <p:cNvSpPr txBox="1"/>
          <p:nvPr/>
        </p:nvSpPr>
        <p:spPr>
          <a:xfrm>
            <a:off x="731520" y="4617720"/>
            <a:ext cx="2926080" cy="457200"/>
          </a:xfrm>
          <a:prstGeom prst="rect">
            <a:avLst/>
          </a:prstGeom>
          <a:noFill/>
          <a:ln/>
        </p:spPr>
        <p:txBody>
          <a:bodyPr wrap="square" lIns="0" tIns="0" rIns="0" bIns="0" rtlCol="0" anchor="t"/>
          <a:lstStyle/>
          <a:p>
            <a:pPr indent="0" marL="0">
              <a:buNone/>
            </a:pPr>
            <a:r>
              <a:rPr lang="en-US" sz="1050" dirty="0">
                <a:solidFill>
                  <a:schemeClr val="tx2"/>
                </a:solidFill>
              </a:rPr>
              <a:t>cyber security software and tools – 5 product families</a:t>
            </a:r>
            <a:endParaRPr lang="en-US" sz="1050" dirty="0"/>
          </a:p>
        </p:txBody>
      </p:sp>
      <p:sp>
        <p:nvSpPr>
          <p:cNvPr id="12" name="card"/>
          <p:cNvSpPr/>
          <p:nvPr/>
        </p:nvSpPr>
        <p:spPr>
          <a:xfrm>
            <a:off x="548640" y="5202936"/>
            <a:ext cx="3291840" cy="914400"/>
          </a:xfrm>
          <a:prstGeom prst="roundRect">
            <a:avLst>
              <a:gd name="adj" fmla="val 12000"/>
            </a:avLst>
          </a:prstGeom>
          <a:solidFill>
            <a:schemeClr val="bg1"/>
          </a:solidFill>
          <a:ln w="9525">
            <a:solidFill>
              <a:srgbClr val="DDE3EC"/>
            </a:solidFill>
            <a:prstDash val="solid"/>
          </a:ln>
        </p:spPr>
      </p:sp>
      <p:sp>
        <p:nvSpPr>
          <p:cNvPr id="13" name="Text 11"/>
          <p:cNvSpPr txBox="1"/>
          <p:nvPr/>
        </p:nvSpPr>
        <p:spPr>
          <a:xfrm>
            <a:off x="731520" y="5276088"/>
            <a:ext cx="292608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₮250.4 m</a:t>
            </a:r>
            <a:endParaRPr lang="en-US" sz="1800" dirty="0"/>
          </a:p>
        </p:txBody>
      </p:sp>
      <p:sp>
        <p:nvSpPr>
          <p:cNvPr id="14" name="Text 12"/>
          <p:cNvSpPr txBox="1"/>
          <p:nvPr/>
        </p:nvSpPr>
        <p:spPr>
          <a:xfrm>
            <a:off x="731520" y="5641848"/>
            <a:ext cx="2926080" cy="457200"/>
          </a:xfrm>
          <a:prstGeom prst="rect">
            <a:avLst/>
          </a:prstGeom>
          <a:noFill/>
          <a:ln/>
        </p:spPr>
        <p:txBody>
          <a:bodyPr wrap="square" lIns="0" tIns="0" rIns="0" bIns="0" rtlCol="0" anchor="t"/>
          <a:lstStyle/>
          <a:p>
            <a:pPr indent="0" marL="0">
              <a:buNone/>
            </a:pPr>
            <a:r>
              <a:rPr lang="en-US" sz="1050" dirty="0">
                <a:solidFill>
                  <a:schemeClr val="tx2"/>
                </a:solidFill>
              </a:rPr>
              <a:t>C-DAC e-learning system and course content</a:t>
            </a:r>
            <a:endParaRPr lang="en-US" sz="1050" dirty="0"/>
          </a:p>
        </p:txBody>
      </p:sp>
      <p:sp>
        <p:nvSpPr>
          <p:cNvPr id="15" name="card"/>
          <p:cNvSpPr/>
          <p:nvPr/>
        </p:nvSpPr>
        <p:spPr>
          <a:xfrm>
            <a:off x="4114800" y="1371600"/>
            <a:ext cx="3657600" cy="1481328"/>
          </a:xfrm>
          <a:prstGeom prst="roundRect">
            <a:avLst>
              <a:gd name="adj" fmla="val 7407"/>
            </a:avLst>
          </a:prstGeom>
          <a:solidFill>
            <a:schemeClr val="bg2"/>
          </a:solidFill>
          <a:ln w="12700">
            <a:solidFill>
              <a:schemeClr val="bg2"/>
            </a:solidFill>
            <a:prstDash val="solid"/>
          </a:ln>
        </p:spPr>
      </p:sp>
      <p:sp>
        <p:nvSpPr>
          <p:cNvPr id="16" name="icon circle"/>
          <p:cNvSpPr/>
          <p:nvPr/>
        </p:nvSpPr>
        <p:spPr>
          <a:xfrm>
            <a:off x="4297680" y="1554480"/>
            <a:ext cx="502920" cy="502920"/>
          </a:xfrm>
          <a:prstGeom prst="ellipse">
            <a:avLst/>
          </a:prstGeom>
          <a:solidFill>
            <a:schemeClr val="accent2"/>
          </a:solidFill>
          <a:ln w="12700">
            <a:solidFill>
              <a:schemeClr val="accent2"/>
            </a:solidFill>
            <a:prstDash val="solid"/>
          </a:ln>
        </p:spPr>
      </p:sp>
      <p:pic>
        <p:nvPicPr>
          <p:cNvPr id="17" name="FaServer" descr="preencoded.png">    </p:cNvPr>
          <p:cNvPicPr>
            <a:picLocks noChangeAspect="1"/>
          </p:cNvPicPr>
          <p:nvPr/>
        </p:nvPicPr>
        <p:blipFill>
          <a:blip r:embed="rId1"/>
          <a:stretch>
            <a:fillRect/>
          </a:stretch>
        </p:blipFill>
        <p:spPr>
          <a:xfrm>
            <a:off x="4428439" y="1685239"/>
            <a:ext cx="241402" cy="241402"/>
          </a:xfrm>
          <a:prstGeom prst="rect">
            <a:avLst/>
          </a:prstGeom>
        </p:spPr>
      </p:pic>
      <p:sp>
        <p:nvSpPr>
          <p:cNvPr id="18" name="Text 15"/>
          <p:cNvSpPr txBox="1"/>
          <p:nvPr/>
        </p:nvSpPr>
        <p:spPr>
          <a:xfrm>
            <a:off x="4937760" y="1554480"/>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Compute and network</a:t>
            </a:r>
            <a:endParaRPr lang="en-US" sz="1300" dirty="0"/>
          </a:p>
        </p:txBody>
      </p:sp>
      <p:sp>
        <p:nvSpPr>
          <p:cNvPr id="19" name="Text 16"/>
          <p:cNvSpPr txBox="1"/>
          <p:nvPr/>
        </p:nvSpPr>
        <p:spPr>
          <a:xfrm>
            <a:off x="4297680" y="2121408"/>
            <a:ext cx="3291840" cy="713232"/>
          </a:xfrm>
          <a:prstGeom prst="rect">
            <a:avLst/>
          </a:prstGeom>
          <a:noFill/>
          <a:ln/>
        </p:spPr>
        <p:txBody>
          <a:bodyPr wrap="square" lIns="0" tIns="0" rIns="0" bIns="0" rtlCol="0" anchor="t"/>
          <a:lstStyle/>
          <a:p>
            <a:pPr indent="0" marL="0">
              <a:buNone/>
            </a:pPr>
            <a:r>
              <a:rPr lang="en-US" sz="1050" dirty="0">
                <a:solidFill>
                  <a:schemeClr val="tx2"/>
                </a:solidFill>
              </a:rPr>
              <a:t>7 Cisco UCS C240 servers, NetApp SAN, Cisco switches, WatchGuard M470 firewall and IPS, 37 HP EliteDesk workstations</a:t>
            </a:r>
            <a:endParaRPr lang="en-US" sz="1050" dirty="0"/>
          </a:p>
        </p:txBody>
      </p:sp>
      <p:sp>
        <p:nvSpPr>
          <p:cNvPr id="20" name="card"/>
          <p:cNvSpPr/>
          <p:nvPr/>
        </p:nvSpPr>
        <p:spPr>
          <a:xfrm>
            <a:off x="7909560" y="1371600"/>
            <a:ext cx="3657600" cy="1481328"/>
          </a:xfrm>
          <a:prstGeom prst="roundRect">
            <a:avLst>
              <a:gd name="adj" fmla="val 7407"/>
            </a:avLst>
          </a:prstGeom>
          <a:solidFill>
            <a:schemeClr val="bg2"/>
          </a:solidFill>
          <a:ln w="12700">
            <a:solidFill>
              <a:schemeClr val="bg2"/>
            </a:solidFill>
            <a:prstDash val="solid"/>
          </a:ln>
        </p:spPr>
      </p:sp>
      <p:sp>
        <p:nvSpPr>
          <p:cNvPr id="21" name="icon circle"/>
          <p:cNvSpPr/>
          <p:nvPr/>
        </p:nvSpPr>
        <p:spPr>
          <a:xfrm>
            <a:off x="8092440" y="1554480"/>
            <a:ext cx="502920" cy="502920"/>
          </a:xfrm>
          <a:prstGeom prst="ellipse">
            <a:avLst/>
          </a:prstGeom>
          <a:solidFill>
            <a:schemeClr val="accent2"/>
          </a:solidFill>
          <a:ln w="12700">
            <a:solidFill>
              <a:schemeClr val="accent2"/>
            </a:solidFill>
            <a:prstDash val="solid"/>
          </a:ln>
        </p:spPr>
      </p:sp>
      <p:pic>
        <p:nvPicPr>
          <p:cNvPr id="22" name="FaSearch" descr="preencoded.png">    </p:cNvPr>
          <p:cNvPicPr>
            <a:picLocks noChangeAspect="1"/>
          </p:cNvPicPr>
          <p:nvPr/>
        </p:nvPicPr>
        <p:blipFill>
          <a:blip r:embed="rId2"/>
          <a:stretch>
            <a:fillRect/>
          </a:stretch>
        </p:blipFill>
        <p:spPr>
          <a:xfrm>
            <a:off x="8223199" y="1685239"/>
            <a:ext cx="241402" cy="241402"/>
          </a:xfrm>
          <a:prstGeom prst="rect">
            <a:avLst/>
          </a:prstGeom>
        </p:spPr>
      </p:pic>
      <p:sp>
        <p:nvSpPr>
          <p:cNvPr id="23" name="Text 19"/>
          <p:cNvSpPr txBox="1"/>
          <p:nvPr/>
        </p:nvSpPr>
        <p:spPr>
          <a:xfrm>
            <a:off x="8732520" y="1554480"/>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Digital forensics</a:t>
            </a:r>
            <a:endParaRPr lang="en-US" sz="1300" dirty="0"/>
          </a:p>
        </p:txBody>
      </p:sp>
      <p:sp>
        <p:nvSpPr>
          <p:cNvPr id="24" name="Text 20"/>
          <p:cNvSpPr txBox="1"/>
          <p:nvPr/>
        </p:nvSpPr>
        <p:spPr>
          <a:xfrm>
            <a:off x="8092440" y="2121408"/>
            <a:ext cx="3291840" cy="713232"/>
          </a:xfrm>
          <a:prstGeom prst="rect">
            <a:avLst/>
          </a:prstGeom>
          <a:noFill/>
          <a:ln/>
        </p:spPr>
        <p:txBody>
          <a:bodyPr wrap="square" lIns="0" tIns="0" rIns="0" bIns="0" rtlCol="0" anchor="t"/>
          <a:lstStyle/>
          <a:p>
            <a:pPr indent="0" marL="0">
              <a:buNone/>
            </a:pPr>
            <a:r>
              <a:rPr lang="en-US" sz="1050" dirty="0">
                <a:solidFill>
                  <a:schemeClr val="tx2"/>
                </a:solidFill>
              </a:rPr>
              <a:t>Tableau duplicators and write-blockers, Cellebrite UFED, Oxygen Forensics, FTK, forensic workstations, Faraday bags</a:t>
            </a:r>
            <a:endParaRPr lang="en-US" sz="1050" dirty="0"/>
          </a:p>
        </p:txBody>
      </p:sp>
      <p:sp>
        <p:nvSpPr>
          <p:cNvPr id="25" name="card"/>
          <p:cNvSpPr/>
          <p:nvPr/>
        </p:nvSpPr>
        <p:spPr>
          <a:xfrm>
            <a:off x="4114800" y="2990088"/>
            <a:ext cx="3657600" cy="1481328"/>
          </a:xfrm>
          <a:prstGeom prst="roundRect">
            <a:avLst>
              <a:gd name="adj" fmla="val 7407"/>
            </a:avLst>
          </a:prstGeom>
          <a:solidFill>
            <a:schemeClr val="bg2"/>
          </a:solidFill>
          <a:ln w="12700">
            <a:solidFill>
              <a:schemeClr val="bg2"/>
            </a:solidFill>
            <a:prstDash val="solid"/>
          </a:ln>
        </p:spPr>
      </p:sp>
      <p:sp>
        <p:nvSpPr>
          <p:cNvPr id="26" name="icon circle"/>
          <p:cNvSpPr/>
          <p:nvPr/>
        </p:nvSpPr>
        <p:spPr>
          <a:xfrm>
            <a:off x="4297680" y="3172968"/>
            <a:ext cx="502920" cy="502920"/>
          </a:xfrm>
          <a:prstGeom prst="ellipse">
            <a:avLst/>
          </a:prstGeom>
          <a:solidFill>
            <a:schemeClr val="accent2"/>
          </a:solidFill>
          <a:ln w="12700">
            <a:solidFill>
              <a:schemeClr val="accent2"/>
            </a:solidFill>
            <a:prstDash val="solid"/>
          </a:ln>
        </p:spPr>
      </p:sp>
      <p:pic>
        <p:nvPicPr>
          <p:cNvPr id="27" name="FaUserSecret" descr="preencoded.png">    </p:cNvPr>
          <p:cNvPicPr>
            <a:picLocks noChangeAspect="1"/>
          </p:cNvPicPr>
          <p:nvPr/>
        </p:nvPicPr>
        <p:blipFill>
          <a:blip r:embed="rId3"/>
          <a:stretch>
            <a:fillRect/>
          </a:stretch>
        </p:blipFill>
        <p:spPr>
          <a:xfrm>
            <a:off x="4428439" y="3303727"/>
            <a:ext cx="241402" cy="241402"/>
          </a:xfrm>
          <a:prstGeom prst="rect">
            <a:avLst/>
          </a:prstGeom>
        </p:spPr>
      </p:pic>
      <p:sp>
        <p:nvSpPr>
          <p:cNvPr id="28" name="Text 23"/>
          <p:cNvSpPr txBox="1"/>
          <p:nvPr/>
        </p:nvSpPr>
        <p:spPr>
          <a:xfrm>
            <a:off x="4937760" y="3172968"/>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Malware analysis</a:t>
            </a:r>
            <a:endParaRPr lang="en-US" sz="1300" dirty="0"/>
          </a:p>
        </p:txBody>
      </p:sp>
      <p:sp>
        <p:nvSpPr>
          <p:cNvPr id="29" name="Text 24"/>
          <p:cNvSpPr txBox="1"/>
          <p:nvPr/>
        </p:nvSpPr>
        <p:spPr>
          <a:xfrm>
            <a:off x="4297680" y="3739896"/>
            <a:ext cx="3291840" cy="713232"/>
          </a:xfrm>
          <a:prstGeom prst="rect">
            <a:avLst/>
          </a:prstGeom>
          <a:noFill/>
          <a:ln/>
        </p:spPr>
        <p:txBody>
          <a:bodyPr wrap="square" lIns="0" tIns="0" rIns="0" bIns="0" rtlCol="0" anchor="t"/>
          <a:lstStyle/>
          <a:p>
            <a:pPr indent="0" marL="0">
              <a:buNone/>
            </a:pPr>
            <a:r>
              <a:rPr lang="en-US" sz="1050" dirty="0">
                <a:solidFill>
                  <a:schemeClr val="tx2"/>
                </a:solidFill>
              </a:rPr>
              <a:t>IDA Pro, Hex-Rays x86/x64 decompilers, Sandboxie</a:t>
            </a:r>
            <a:endParaRPr lang="en-US" sz="1050" dirty="0"/>
          </a:p>
        </p:txBody>
      </p:sp>
      <p:sp>
        <p:nvSpPr>
          <p:cNvPr id="30" name="card"/>
          <p:cNvSpPr/>
          <p:nvPr/>
        </p:nvSpPr>
        <p:spPr>
          <a:xfrm>
            <a:off x="7909560" y="2990088"/>
            <a:ext cx="3657600" cy="1481328"/>
          </a:xfrm>
          <a:prstGeom prst="roundRect">
            <a:avLst>
              <a:gd name="adj" fmla="val 7407"/>
            </a:avLst>
          </a:prstGeom>
          <a:solidFill>
            <a:schemeClr val="bg2"/>
          </a:solidFill>
          <a:ln w="12700">
            <a:solidFill>
              <a:schemeClr val="bg2"/>
            </a:solidFill>
            <a:prstDash val="solid"/>
          </a:ln>
        </p:spPr>
      </p:sp>
      <p:sp>
        <p:nvSpPr>
          <p:cNvPr id="31" name="icon circle"/>
          <p:cNvSpPr/>
          <p:nvPr/>
        </p:nvSpPr>
        <p:spPr>
          <a:xfrm>
            <a:off x="8092440" y="3172968"/>
            <a:ext cx="502920" cy="502920"/>
          </a:xfrm>
          <a:prstGeom prst="ellipse">
            <a:avLst/>
          </a:prstGeom>
          <a:solidFill>
            <a:schemeClr val="accent2"/>
          </a:solidFill>
          <a:ln w="12700">
            <a:solidFill>
              <a:schemeClr val="accent2"/>
            </a:solidFill>
            <a:prstDash val="solid"/>
          </a:ln>
        </p:spPr>
      </p:sp>
      <p:pic>
        <p:nvPicPr>
          <p:cNvPr id="32" name="FaShieldAlt" descr="preencoded.png">    </p:cNvPr>
          <p:cNvPicPr>
            <a:picLocks noChangeAspect="1"/>
          </p:cNvPicPr>
          <p:nvPr/>
        </p:nvPicPr>
        <p:blipFill>
          <a:blip r:embed="rId4"/>
          <a:stretch>
            <a:fillRect/>
          </a:stretch>
        </p:blipFill>
        <p:spPr>
          <a:xfrm>
            <a:off x="8223199" y="3303727"/>
            <a:ext cx="241402" cy="241402"/>
          </a:xfrm>
          <a:prstGeom prst="rect">
            <a:avLst/>
          </a:prstGeom>
        </p:spPr>
      </p:pic>
      <p:sp>
        <p:nvSpPr>
          <p:cNvPr id="33" name="Text 27"/>
          <p:cNvSpPr txBox="1"/>
          <p:nvPr/>
        </p:nvSpPr>
        <p:spPr>
          <a:xfrm>
            <a:off x="8732520" y="3172968"/>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Incident response and audit</a:t>
            </a:r>
            <a:endParaRPr lang="en-US" sz="1300" dirty="0"/>
          </a:p>
        </p:txBody>
      </p:sp>
      <p:sp>
        <p:nvSpPr>
          <p:cNvPr id="34" name="Text 28"/>
          <p:cNvSpPr txBox="1"/>
          <p:nvPr/>
        </p:nvSpPr>
        <p:spPr>
          <a:xfrm>
            <a:off x="8092440" y="3739896"/>
            <a:ext cx="3291840" cy="713232"/>
          </a:xfrm>
          <a:prstGeom prst="rect">
            <a:avLst/>
          </a:prstGeom>
          <a:noFill/>
          <a:ln/>
        </p:spPr>
        <p:txBody>
          <a:bodyPr wrap="square" lIns="0" tIns="0" rIns="0" bIns="0" rtlCol="0" anchor="t"/>
          <a:lstStyle/>
          <a:p>
            <a:pPr indent="0" marL="0">
              <a:buNone/>
            </a:pPr>
            <a:r>
              <a:rPr lang="en-US" sz="1050" dirty="0">
                <a:solidFill>
                  <a:schemeClr val="tx2"/>
                </a:solidFill>
              </a:rPr>
              <a:t>Belkasoft, F-Response, Splunk, Nessus, Burp Suite, Acunetix, Netsparker</a:t>
            </a:r>
            <a:endParaRPr lang="en-US" sz="1050" dirty="0"/>
          </a:p>
        </p:txBody>
      </p:sp>
      <p:sp>
        <p:nvSpPr>
          <p:cNvPr id="35" name="card"/>
          <p:cNvSpPr/>
          <p:nvPr/>
        </p:nvSpPr>
        <p:spPr>
          <a:xfrm>
            <a:off x="4114800" y="4608576"/>
            <a:ext cx="3657600" cy="1481328"/>
          </a:xfrm>
          <a:prstGeom prst="roundRect">
            <a:avLst>
              <a:gd name="adj" fmla="val 7407"/>
            </a:avLst>
          </a:prstGeom>
          <a:solidFill>
            <a:schemeClr val="bg2"/>
          </a:solidFill>
          <a:ln w="12700">
            <a:solidFill>
              <a:schemeClr val="bg2"/>
            </a:solidFill>
            <a:prstDash val="solid"/>
          </a:ln>
        </p:spPr>
      </p:sp>
      <p:sp>
        <p:nvSpPr>
          <p:cNvPr id="36" name="icon circle"/>
          <p:cNvSpPr/>
          <p:nvPr/>
        </p:nvSpPr>
        <p:spPr>
          <a:xfrm>
            <a:off x="4297680" y="4791456"/>
            <a:ext cx="502920" cy="502920"/>
          </a:xfrm>
          <a:prstGeom prst="ellipse">
            <a:avLst/>
          </a:prstGeom>
          <a:solidFill>
            <a:schemeClr val="accent2"/>
          </a:solidFill>
          <a:ln w="12700">
            <a:solidFill>
              <a:schemeClr val="accent2"/>
            </a:solidFill>
            <a:prstDash val="solid"/>
          </a:ln>
        </p:spPr>
      </p:sp>
      <p:pic>
        <p:nvPicPr>
          <p:cNvPr id="37" name="FaBookOpen" descr="preencoded.png">    </p:cNvPr>
          <p:cNvPicPr>
            <a:picLocks noChangeAspect="1"/>
          </p:cNvPicPr>
          <p:nvPr/>
        </p:nvPicPr>
        <p:blipFill>
          <a:blip r:embed="rId5"/>
          <a:stretch>
            <a:fillRect/>
          </a:stretch>
        </p:blipFill>
        <p:spPr>
          <a:xfrm>
            <a:off x="4428439" y="4922215"/>
            <a:ext cx="241402" cy="241402"/>
          </a:xfrm>
          <a:prstGeom prst="rect">
            <a:avLst/>
          </a:prstGeom>
        </p:spPr>
      </p:pic>
      <p:sp>
        <p:nvSpPr>
          <p:cNvPr id="38" name="Text 31"/>
          <p:cNvSpPr txBox="1"/>
          <p:nvPr/>
        </p:nvSpPr>
        <p:spPr>
          <a:xfrm>
            <a:off x="4937760" y="4791456"/>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E-learning</a:t>
            </a:r>
            <a:endParaRPr lang="en-US" sz="1300" dirty="0"/>
          </a:p>
        </p:txBody>
      </p:sp>
      <p:sp>
        <p:nvSpPr>
          <p:cNvPr id="39" name="Text 32"/>
          <p:cNvSpPr txBox="1"/>
          <p:nvPr/>
        </p:nvSpPr>
        <p:spPr>
          <a:xfrm>
            <a:off x="4297680" y="5358384"/>
            <a:ext cx="3291840" cy="713232"/>
          </a:xfrm>
          <a:prstGeom prst="rect">
            <a:avLst/>
          </a:prstGeom>
          <a:noFill/>
          <a:ln/>
        </p:spPr>
        <p:txBody>
          <a:bodyPr wrap="square" lIns="0" tIns="0" rIns="0" bIns="0" rtlCol="0" anchor="t"/>
          <a:lstStyle/>
          <a:p>
            <a:pPr indent="0" marL="0">
              <a:buNone/>
            </a:pPr>
            <a:r>
              <a:rPr lang="en-US" sz="1050" dirty="0">
                <a:solidFill>
                  <a:schemeClr val="tx2"/>
                </a:solidFill>
              </a:rPr>
              <a:t>C-DAC LMS with five courses: awareness, network security, cyber crime investigation, cyber forensics, mobile forensics</a:t>
            </a:r>
            <a:endParaRPr lang="en-US" sz="1050" dirty="0"/>
          </a:p>
        </p:txBody>
      </p:sp>
      <p:sp>
        <p:nvSpPr>
          <p:cNvPr id="40" name="card"/>
          <p:cNvSpPr/>
          <p:nvPr/>
        </p:nvSpPr>
        <p:spPr>
          <a:xfrm>
            <a:off x="7909560" y="4608576"/>
            <a:ext cx="3657600" cy="1481328"/>
          </a:xfrm>
          <a:prstGeom prst="roundRect">
            <a:avLst>
              <a:gd name="adj" fmla="val 7407"/>
            </a:avLst>
          </a:prstGeom>
          <a:solidFill>
            <a:schemeClr val="bg2"/>
          </a:solidFill>
          <a:ln w="12700">
            <a:solidFill>
              <a:schemeClr val="bg2"/>
            </a:solidFill>
            <a:prstDash val="solid"/>
          </a:ln>
        </p:spPr>
      </p:sp>
      <p:sp>
        <p:nvSpPr>
          <p:cNvPr id="41" name="icon circle"/>
          <p:cNvSpPr/>
          <p:nvPr/>
        </p:nvSpPr>
        <p:spPr>
          <a:xfrm>
            <a:off x="8092440" y="4791456"/>
            <a:ext cx="502920" cy="502920"/>
          </a:xfrm>
          <a:prstGeom prst="ellipse">
            <a:avLst/>
          </a:prstGeom>
          <a:solidFill>
            <a:schemeClr val="accent2"/>
          </a:solidFill>
          <a:ln w="12700">
            <a:solidFill>
              <a:schemeClr val="accent2"/>
            </a:solidFill>
            <a:prstDash val="solid"/>
          </a:ln>
        </p:spPr>
      </p:sp>
      <p:pic>
        <p:nvPicPr>
          <p:cNvPr id="42" name="FaMobileAlt" descr="preencoded.png">    </p:cNvPr>
          <p:cNvPicPr>
            <a:picLocks noChangeAspect="1"/>
          </p:cNvPicPr>
          <p:nvPr/>
        </p:nvPicPr>
        <p:blipFill>
          <a:blip r:embed="rId6"/>
          <a:stretch>
            <a:fillRect/>
          </a:stretch>
        </p:blipFill>
        <p:spPr>
          <a:xfrm>
            <a:off x="8223199" y="4922215"/>
            <a:ext cx="241402" cy="241402"/>
          </a:xfrm>
          <a:prstGeom prst="rect">
            <a:avLst/>
          </a:prstGeom>
        </p:spPr>
      </p:pic>
      <p:sp>
        <p:nvSpPr>
          <p:cNvPr id="43" name="Text 35"/>
          <p:cNvSpPr txBox="1"/>
          <p:nvPr/>
        </p:nvSpPr>
        <p:spPr>
          <a:xfrm>
            <a:off x="8732520" y="4791456"/>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Cyber forensic tool kits</a:t>
            </a:r>
            <a:endParaRPr lang="en-US" sz="1300" dirty="0"/>
          </a:p>
        </p:txBody>
      </p:sp>
      <p:sp>
        <p:nvSpPr>
          <p:cNvPr id="44" name="Text 36"/>
          <p:cNvSpPr txBox="1"/>
          <p:nvPr/>
        </p:nvSpPr>
        <p:spPr>
          <a:xfrm>
            <a:off x="8092440" y="5358384"/>
            <a:ext cx="3291840" cy="713232"/>
          </a:xfrm>
          <a:prstGeom prst="rect">
            <a:avLst/>
          </a:prstGeom>
          <a:noFill/>
          <a:ln/>
        </p:spPr>
        <p:txBody>
          <a:bodyPr wrap="square" lIns="0" tIns="0" rIns="0" bIns="0" rtlCol="0" anchor="t"/>
          <a:lstStyle/>
          <a:p>
            <a:pPr indent="0" marL="0">
              <a:buNone/>
            </a:pPr>
            <a:r>
              <a:rPr lang="en-US" sz="1050" dirty="0">
                <a:solidFill>
                  <a:schemeClr val="tx2"/>
                </a:solidFill>
              </a:rPr>
              <a:t>CyberCheck, MobileCheck, CDR analyser, SIMXtractor, network session analysers</a:t>
            </a:r>
            <a:endParaRPr lang="en-US" sz="1050" dirty="0"/>
          </a:p>
        </p:txBody>
      </p:sp>
      <p:sp>
        <p:nvSpPr>
          <p:cNvPr id="45" name="Text 37"/>
          <p:cNvSpPr txBox="1"/>
          <p:nvPr/>
        </p:nvSpPr>
        <p:spPr>
          <a:xfrm>
            <a:off x="4114800" y="6263640"/>
            <a:ext cx="7498080" cy="228600"/>
          </a:xfrm>
          <a:prstGeom prst="rect">
            <a:avLst/>
          </a:prstGeom>
          <a:noFill/>
          <a:ln/>
        </p:spPr>
        <p:txBody>
          <a:bodyPr wrap="square" lIns="0" tIns="0" rIns="0" bIns="0" rtlCol="0" anchor="t"/>
          <a:lstStyle/>
          <a:p>
            <a:pPr indent="0" marL="0">
              <a:buNone/>
            </a:pPr>
            <a:r>
              <a:rPr lang="en-US" sz="1050" i="1" dirty="0">
                <a:solidFill>
                  <a:schemeClr val="tx2"/>
                </a:solidFill>
              </a:rPr>
              <a:t>Mongolia provided the premises on the first floor of the Military Institute, their renovation, the Centre's staff and its day-to-day operation.</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The learning environment: three laboratories and a data centre</a:t>
            </a:r>
            <a:endParaRPr lang="en-US" sz="3000" dirty="0"/>
          </a:p>
        </p:txBody>
      </p:sp>
      <p:pic>
        <p:nvPicPr>
          <p:cNvPr id="3" name="lab_forensic.jpg" descr="/home/user/research-material/india-cyber-cooperation/images/lab_forensic.jpg">    </p:cNvPr>
          <p:cNvPicPr>
            <a:picLocks noChangeAspect="1"/>
          </p:cNvPicPr>
          <p:nvPr/>
        </p:nvPicPr>
        <p:blipFill>
          <a:blip r:embed="rId1"/>
          <a:srcRect l="0" r="0" t="0" b="0"/>
          <a:stretch/>
        </p:blipFill>
        <p:spPr>
          <a:xfrm>
            <a:off x="548640" y="1371600"/>
            <a:ext cx="2697480" cy="1691640"/>
          </a:xfrm>
          <a:prstGeom prst="rect">
            <a:avLst/>
          </a:prstGeom>
        </p:spPr>
      </p:pic>
      <p:sp>
        <p:nvSpPr>
          <p:cNvPr id="4" name="Text 1"/>
          <p:cNvSpPr txBox="1"/>
          <p:nvPr/>
        </p:nvSpPr>
        <p:spPr>
          <a:xfrm>
            <a:off x="548640" y="31089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Digital forensics laboratory</a:t>
            </a:r>
            <a:endParaRPr lang="en-US" sz="1200" dirty="0"/>
          </a:p>
        </p:txBody>
      </p:sp>
      <p:sp>
        <p:nvSpPr>
          <p:cNvPr id="5" name="Text 2"/>
          <p:cNvSpPr txBox="1"/>
          <p:nvPr/>
        </p:nvSpPr>
        <p:spPr>
          <a:xfrm>
            <a:off x="548640" y="3364992"/>
            <a:ext cx="2697480" cy="274320"/>
          </a:xfrm>
          <a:prstGeom prst="rect">
            <a:avLst/>
          </a:prstGeom>
          <a:noFill/>
          <a:ln/>
        </p:spPr>
        <p:txBody>
          <a:bodyPr wrap="square" lIns="0" tIns="0" rIns="0" bIns="0" rtlCol="0" anchor="t"/>
          <a:lstStyle/>
          <a:p>
            <a:pPr indent="0" marL="0">
              <a:buNone/>
            </a:pPr>
            <a:r>
              <a:rPr lang="en-US" sz="1050" dirty="0">
                <a:solidFill>
                  <a:schemeClr val="tx2"/>
                </a:solidFill>
              </a:rPr>
              <a:t>12 workstations</a:t>
            </a:r>
            <a:endParaRPr lang="en-US" sz="1050" dirty="0"/>
          </a:p>
        </p:txBody>
      </p:sp>
      <p:pic>
        <p:nvPicPr>
          <p:cNvPr id="6" name="lab_malware.jpg" descr="/home/user/research-material/india-cyber-cooperation/images/lab_malware.jpg">    </p:cNvPr>
          <p:cNvPicPr>
            <a:picLocks noChangeAspect="1"/>
          </p:cNvPicPr>
          <p:nvPr/>
        </p:nvPicPr>
        <p:blipFill>
          <a:blip r:embed="rId2"/>
          <a:srcRect l="0" r="0" t="0" b="0"/>
          <a:stretch/>
        </p:blipFill>
        <p:spPr>
          <a:xfrm>
            <a:off x="3337560" y="1371600"/>
            <a:ext cx="2697480" cy="1691640"/>
          </a:xfrm>
          <a:prstGeom prst="rect">
            <a:avLst/>
          </a:prstGeom>
        </p:spPr>
      </p:pic>
      <p:sp>
        <p:nvSpPr>
          <p:cNvPr id="7" name="Text 3"/>
          <p:cNvSpPr txBox="1"/>
          <p:nvPr/>
        </p:nvSpPr>
        <p:spPr>
          <a:xfrm>
            <a:off x="3337560" y="31089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Malware analysis laboratory</a:t>
            </a:r>
            <a:endParaRPr lang="en-US" sz="1200" dirty="0"/>
          </a:p>
        </p:txBody>
      </p:sp>
      <p:sp>
        <p:nvSpPr>
          <p:cNvPr id="8" name="Text 4"/>
          <p:cNvSpPr txBox="1"/>
          <p:nvPr/>
        </p:nvSpPr>
        <p:spPr>
          <a:xfrm>
            <a:off x="3337560" y="3364992"/>
            <a:ext cx="2697480" cy="274320"/>
          </a:xfrm>
          <a:prstGeom prst="rect">
            <a:avLst/>
          </a:prstGeom>
          <a:noFill/>
          <a:ln/>
        </p:spPr>
        <p:txBody>
          <a:bodyPr wrap="square" lIns="0" tIns="0" rIns="0" bIns="0" rtlCol="0" anchor="t"/>
          <a:lstStyle/>
          <a:p>
            <a:pPr indent="0" marL="0">
              <a:buNone/>
            </a:pPr>
            <a:r>
              <a:rPr lang="en-US" sz="1050" dirty="0">
                <a:solidFill>
                  <a:schemeClr val="tx2"/>
                </a:solidFill>
              </a:rPr>
              <a:t>14 workstations</a:t>
            </a:r>
            <a:endParaRPr lang="en-US" sz="1050" dirty="0"/>
          </a:p>
        </p:txBody>
      </p:sp>
      <p:pic>
        <p:nvPicPr>
          <p:cNvPr id="9" name="lab_incident.jpg" descr="/home/user/research-material/india-cyber-cooperation/images/lab_incident.jpg">    </p:cNvPr>
          <p:cNvPicPr>
            <a:picLocks noChangeAspect="1"/>
          </p:cNvPicPr>
          <p:nvPr/>
        </p:nvPicPr>
        <p:blipFill>
          <a:blip r:embed="rId3"/>
          <a:srcRect l="0" r="0" t="0" b="0"/>
          <a:stretch/>
        </p:blipFill>
        <p:spPr>
          <a:xfrm>
            <a:off x="6126480" y="1371600"/>
            <a:ext cx="2697480" cy="1691640"/>
          </a:xfrm>
          <a:prstGeom prst="rect">
            <a:avLst/>
          </a:prstGeom>
        </p:spPr>
      </p:pic>
      <p:sp>
        <p:nvSpPr>
          <p:cNvPr id="10" name="Text 5"/>
          <p:cNvSpPr txBox="1"/>
          <p:nvPr/>
        </p:nvSpPr>
        <p:spPr>
          <a:xfrm>
            <a:off x="6126480" y="31089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Incident and audit laboratory</a:t>
            </a:r>
            <a:endParaRPr lang="en-US" sz="1200" dirty="0"/>
          </a:p>
        </p:txBody>
      </p:sp>
      <p:sp>
        <p:nvSpPr>
          <p:cNvPr id="11" name="Text 6"/>
          <p:cNvSpPr txBox="1"/>
          <p:nvPr/>
        </p:nvSpPr>
        <p:spPr>
          <a:xfrm>
            <a:off x="6126480" y="3364992"/>
            <a:ext cx="2697480" cy="274320"/>
          </a:xfrm>
          <a:prstGeom prst="rect">
            <a:avLst/>
          </a:prstGeom>
          <a:noFill/>
          <a:ln/>
        </p:spPr>
        <p:txBody>
          <a:bodyPr wrap="square" lIns="0" tIns="0" rIns="0" bIns="0" rtlCol="0" anchor="t"/>
          <a:lstStyle/>
          <a:p>
            <a:pPr indent="0" marL="0">
              <a:buNone/>
            </a:pPr>
            <a:r>
              <a:rPr lang="en-US" sz="1050" dirty="0">
                <a:solidFill>
                  <a:schemeClr val="tx2"/>
                </a:solidFill>
              </a:rPr>
              <a:t>11 workstations</a:t>
            </a:r>
            <a:endParaRPr lang="en-US" sz="1050" dirty="0"/>
          </a:p>
        </p:txBody>
      </p:sp>
      <p:pic>
        <p:nvPicPr>
          <p:cNvPr id="12" name="lecture_hall.jpg" descr="/home/user/research-material/india-cyber-cooperation/images/lecture_hall.jpg">    </p:cNvPr>
          <p:cNvPicPr>
            <a:picLocks noChangeAspect="1"/>
          </p:cNvPicPr>
          <p:nvPr/>
        </p:nvPicPr>
        <p:blipFill>
          <a:blip r:embed="rId4"/>
          <a:srcRect l="0" r="0" t="0" b="0"/>
          <a:stretch/>
        </p:blipFill>
        <p:spPr>
          <a:xfrm>
            <a:off x="8915400" y="1371600"/>
            <a:ext cx="2697480" cy="1691640"/>
          </a:xfrm>
          <a:prstGeom prst="rect">
            <a:avLst/>
          </a:prstGeom>
        </p:spPr>
      </p:pic>
      <p:sp>
        <p:nvSpPr>
          <p:cNvPr id="13" name="Text 7"/>
          <p:cNvSpPr txBox="1"/>
          <p:nvPr/>
        </p:nvSpPr>
        <p:spPr>
          <a:xfrm>
            <a:off x="8915400" y="31089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Lecture hall</a:t>
            </a:r>
            <a:endParaRPr lang="en-US" sz="1200" dirty="0"/>
          </a:p>
        </p:txBody>
      </p:sp>
      <p:sp>
        <p:nvSpPr>
          <p:cNvPr id="14" name="Text 8"/>
          <p:cNvSpPr txBox="1"/>
          <p:nvPr/>
        </p:nvSpPr>
        <p:spPr>
          <a:xfrm>
            <a:off x="8915400" y="3364992"/>
            <a:ext cx="2697480" cy="274320"/>
          </a:xfrm>
          <a:prstGeom prst="rect">
            <a:avLst/>
          </a:prstGeom>
          <a:noFill/>
          <a:ln/>
        </p:spPr>
        <p:txBody>
          <a:bodyPr wrap="square" lIns="0" tIns="0" rIns="0" bIns="0" rtlCol="0" anchor="t"/>
          <a:lstStyle/>
          <a:p>
            <a:pPr indent="0" marL="0">
              <a:buNone/>
            </a:pPr>
            <a:r>
              <a:rPr lang="en-US" sz="1050" dirty="0">
                <a:solidFill>
                  <a:schemeClr val="tx2"/>
                </a:solidFill>
              </a:rPr>
              <a:t>34 seats, smart board, 2 displays</a:t>
            </a:r>
            <a:endParaRPr lang="en-US" sz="1050" dirty="0"/>
          </a:p>
        </p:txBody>
      </p:sp>
      <p:pic>
        <p:nvPicPr>
          <p:cNvPr id="15" name="library.jpg" descr="/home/user/research-material/india-cyber-cooperation/images/library.jpg">    </p:cNvPr>
          <p:cNvPicPr>
            <a:picLocks noChangeAspect="1"/>
          </p:cNvPicPr>
          <p:nvPr/>
        </p:nvPicPr>
        <p:blipFill>
          <a:blip r:embed="rId5"/>
          <a:srcRect l="0" r="0" t="0" b="0"/>
          <a:stretch/>
        </p:blipFill>
        <p:spPr>
          <a:xfrm>
            <a:off x="548640" y="3886200"/>
            <a:ext cx="2697480" cy="1691640"/>
          </a:xfrm>
          <a:prstGeom prst="rect">
            <a:avLst/>
          </a:prstGeom>
        </p:spPr>
      </p:pic>
      <p:sp>
        <p:nvSpPr>
          <p:cNvPr id="16" name="Text 9"/>
          <p:cNvSpPr txBox="1"/>
          <p:nvPr/>
        </p:nvSpPr>
        <p:spPr>
          <a:xfrm>
            <a:off x="548640" y="56235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Library</a:t>
            </a:r>
            <a:endParaRPr lang="en-US" sz="1200" dirty="0"/>
          </a:p>
        </p:txBody>
      </p:sp>
      <p:sp>
        <p:nvSpPr>
          <p:cNvPr id="17" name="Text 10"/>
          <p:cNvSpPr txBox="1"/>
          <p:nvPr/>
        </p:nvSpPr>
        <p:spPr>
          <a:xfrm>
            <a:off x="548640" y="5879592"/>
            <a:ext cx="2697480" cy="274320"/>
          </a:xfrm>
          <a:prstGeom prst="rect">
            <a:avLst/>
          </a:prstGeom>
          <a:noFill/>
          <a:ln/>
        </p:spPr>
        <p:txBody>
          <a:bodyPr wrap="square" lIns="0" tIns="0" rIns="0" bIns="0" rtlCol="0" anchor="t"/>
          <a:lstStyle/>
          <a:p>
            <a:pPr indent="0" marL="0">
              <a:buNone/>
            </a:pPr>
            <a:r>
              <a:rPr lang="en-US" sz="1050" dirty="0">
                <a:solidFill>
                  <a:schemeClr val="tx2"/>
                </a:solidFill>
              </a:rPr>
              <a:t>Textbooks and study desks</a:t>
            </a:r>
            <a:endParaRPr lang="en-US" sz="1050" dirty="0"/>
          </a:p>
        </p:txBody>
      </p:sp>
      <p:pic>
        <p:nvPicPr>
          <p:cNvPr id="18" name="staff_room.jpg" descr="/home/user/research-material/india-cyber-cooperation/images/staff_room.jpg">    </p:cNvPr>
          <p:cNvPicPr>
            <a:picLocks noChangeAspect="1"/>
          </p:cNvPicPr>
          <p:nvPr/>
        </p:nvPicPr>
        <p:blipFill>
          <a:blip r:embed="rId6"/>
          <a:srcRect l="0" r="0" t="0" b="0"/>
          <a:stretch/>
        </p:blipFill>
        <p:spPr>
          <a:xfrm>
            <a:off x="3337560" y="3886200"/>
            <a:ext cx="2697480" cy="1691640"/>
          </a:xfrm>
          <a:prstGeom prst="rect">
            <a:avLst/>
          </a:prstGeom>
        </p:spPr>
      </p:pic>
      <p:sp>
        <p:nvSpPr>
          <p:cNvPr id="19" name="Text 11"/>
          <p:cNvSpPr txBox="1"/>
          <p:nvPr/>
        </p:nvSpPr>
        <p:spPr>
          <a:xfrm>
            <a:off x="3337560" y="56235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Staff room</a:t>
            </a:r>
            <a:endParaRPr lang="en-US" sz="1200" dirty="0"/>
          </a:p>
        </p:txBody>
      </p:sp>
      <p:sp>
        <p:nvSpPr>
          <p:cNvPr id="20" name="Text 12"/>
          <p:cNvSpPr txBox="1"/>
          <p:nvPr/>
        </p:nvSpPr>
        <p:spPr>
          <a:xfrm>
            <a:off x="3337560" y="5879592"/>
            <a:ext cx="2697480" cy="274320"/>
          </a:xfrm>
          <a:prstGeom prst="rect">
            <a:avLst/>
          </a:prstGeom>
          <a:noFill/>
          <a:ln/>
        </p:spPr>
        <p:txBody>
          <a:bodyPr wrap="square" lIns="0" tIns="0" rIns="0" bIns="0" rtlCol="0" anchor="t"/>
          <a:lstStyle/>
          <a:p>
            <a:pPr indent="0" marL="0">
              <a:buNone/>
            </a:pPr>
            <a:r>
              <a:rPr lang="en-US" sz="1050" dirty="0">
                <a:solidFill>
                  <a:schemeClr val="tx2"/>
                </a:solidFill>
              </a:rPr>
              <a:t>8 instructor desks</a:t>
            </a:r>
            <a:endParaRPr lang="en-US" sz="1050" dirty="0"/>
          </a:p>
        </p:txBody>
      </p:sp>
      <p:pic>
        <p:nvPicPr>
          <p:cNvPr id="21" name="server_room.jpg" descr="/home/user/research-material/india-cyber-cooperation/images/server_room.jpg">    </p:cNvPr>
          <p:cNvPicPr>
            <a:picLocks noChangeAspect="1"/>
          </p:cNvPicPr>
          <p:nvPr/>
        </p:nvPicPr>
        <p:blipFill>
          <a:blip r:embed="rId7"/>
          <a:srcRect l="0" r="0" t="0" b="0"/>
          <a:stretch/>
        </p:blipFill>
        <p:spPr>
          <a:xfrm>
            <a:off x="6126480" y="3886200"/>
            <a:ext cx="2697480" cy="1691640"/>
          </a:xfrm>
          <a:prstGeom prst="rect">
            <a:avLst/>
          </a:prstGeom>
        </p:spPr>
      </p:pic>
      <p:sp>
        <p:nvSpPr>
          <p:cNvPr id="22" name="Text 13"/>
          <p:cNvSpPr txBox="1"/>
          <p:nvPr/>
        </p:nvSpPr>
        <p:spPr>
          <a:xfrm>
            <a:off x="6126480" y="56235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Data centre</a:t>
            </a:r>
            <a:endParaRPr lang="en-US" sz="1200" dirty="0"/>
          </a:p>
        </p:txBody>
      </p:sp>
      <p:sp>
        <p:nvSpPr>
          <p:cNvPr id="23" name="Text 14"/>
          <p:cNvSpPr txBox="1"/>
          <p:nvPr/>
        </p:nvSpPr>
        <p:spPr>
          <a:xfrm>
            <a:off x="6126480" y="5879592"/>
            <a:ext cx="2697480" cy="274320"/>
          </a:xfrm>
          <a:prstGeom prst="rect">
            <a:avLst/>
          </a:prstGeom>
          <a:noFill/>
          <a:ln/>
        </p:spPr>
        <p:txBody>
          <a:bodyPr wrap="square" lIns="0" tIns="0" rIns="0" bIns="0" rtlCol="0" anchor="t"/>
          <a:lstStyle/>
          <a:p>
            <a:pPr indent="0" marL="0">
              <a:buNone/>
            </a:pPr>
            <a:r>
              <a:rPr lang="en-US" sz="1050" dirty="0">
                <a:solidFill>
                  <a:schemeClr val="tx2"/>
                </a:solidFill>
              </a:rPr>
              <a:t>2 racks, servers, SAN, firewall</a:t>
            </a:r>
            <a:endParaRPr lang="en-US" sz="1050" dirty="0"/>
          </a:p>
        </p:txBody>
      </p:sp>
      <p:pic>
        <p:nvPicPr>
          <p:cNvPr id="24" name="head_office.jpg" descr="/home/user/research-material/india-cyber-cooperation/images/head_office.jpg">    </p:cNvPr>
          <p:cNvPicPr>
            <a:picLocks noChangeAspect="1"/>
          </p:cNvPicPr>
          <p:nvPr/>
        </p:nvPicPr>
        <p:blipFill>
          <a:blip r:embed="rId8"/>
          <a:srcRect l="0" r="0" t="0" b="0"/>
          <a:stretch/>
        </p:blipFill>
        <p:spPr>
          <a:xfrm>
            <a:off x="8915400" y="3886200"/>
            <a:ext cx="2697480" cy="1691640"/>
          </a:xfrm>
          <a:prstGeom prst="rect">
            <a:avLst/>
          </a:prstGeom>
        </p:spPr>
      </p:pic>
      <p:sp>
        <p:nvSpPr>
          <p:cNvPr id="25" name="Text 15"/>
          <p:cNvSpPr txBox="1"/>
          <p:nvPr/>
        </p:nvSpPr>
        <p:spPr>
          <a:xfrm>
            <a:off x="8915400" y="56235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Head of department</a:t>
            </a:r>
            <a:endParaRPr lang="en-US" sz="1200" dirty="0"/>
          </a:p>
        </p:txBody>
      </p:sp>
      <p:sp>
        <p:nvSpPr>
          <p:cNvPr id="26" name="Text 16"/>
          <p:cNvSpPr txBox="1"/>
          <p:nvPr/>
        </p:nvSpPr>
        <p:spPr>
          <a:xfrm>
            <a:off x="8915400" y="5879592"/>
            <a:ext cx="2697480" cy="274320"/>
          </a:xfrm>
          <a:prstGeom prst="rect">
            <a:avLst/>
          </a:prstGeom>
          <a:noFill/>
          <a:ln/>
        </p:spPr>
        <p:txBody>
          <a:bodyPr wrap="square" lIns="0" tIns="0" rIns="0" bIns="0" rtlCol="0" anchor="t"/>
          <a:lstStyle/>
          <a:p>
            <a:pPr indent="0" marL="0">
              <a:buNone/>
            </a:pPr>
            <a:r>
              <a:rPr lang="en-US" sz="1050" dirty="0">
                <a:solidFill>
                  <a:schemeClr val="tx2"/>
                </a:solidFill>
              </a:rPr>
              <a:t>Office and meeting table</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From a training centre to a university department</a:t>
            </a:r>
            <a:endParaRPr lang="en-US" sz="3000" dirty="0"/>
          </a:p>
        </p:txBody>
      </p:sp>
      <p:sp>
        <p:nvSpPr>
          <p:cNvPr id="3" name="card"/>
          <p:cNvSpPr/>
          <p:nvPr/>
        </p:nvSpPr>
        <p:spPr>
          <a:xfrm>
            <a:off x="548640" y="1371600"/>
            <a:ext cx="5760720" cy="4846320"/>
          </a:xfrm>
          <a:prstGeom prst="roundRect">
            <a:avLst>
              <a:gd name="adj" fmla="val 2264"/>
            </a:avLst>
          </a:prstGeom>
          <a:solidFill>
            <a:schemeClr val="bg2"/>
          </a:solidFill>
          <a:ln w="12700">
            <a:solidFill>
              <a:schemeClr val="bg2"/>
            </a:solidFill>
            <a:prstDash val="solid"/>
          </a:ln>
        </p:spPr>
      </p:sp>
      <p:sp>
        <p:nvSpPr>
          <p:cNvPr id="4" name="Text 2"/>
          <p:cNvSpPr txBox="1"/>
          <p:nvPr/>
        </p:nvSpPr>
        <p:spPr>
          <a:xfrm>
            <a:off x="822960" y="1508760"/>
            <a:ext cx="5303520"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Mongolian faculty</a:t>
            </a:r>
            <a:endParaRPr lang="en-US" sz="1600" dirty="0"/>
          </a:p>
        </p:txBody>
      </p:sp>
      <p:sp>
        <p:nvSpPr>
          <p:cNvPr id="5" name="Text 3"/>
          <p:cNvSpPr txBox="1"/>
          <p:nvPr/>
        </p:nvSpPr>
        <p:spPr>
          <a:xfrm>
            <a:off x="822960" y="1874520"/>
            <a:ext cx="5303520" cy="548640"/>
          </a:xfrm>
          <a:prstGeom prst="rect">
            <a:avLst/>
          </a:prstGeom>
          <a:noFill/>
          <a:ln/>
        </p:spPr>
        <p:txBody>
          <a:bodyPr wrap="square" lIns="0" tIns="0" rIns="0" bIns="0" rtlCol="0" anchor="t"/>
          <a:lstStyle/>
          <a:p>
            <a:pPr indent="0" marL="0">
              <a:buNone/>
            </a:pPr>
            <a:r>
              <a:rPr lang="en-US" sz="1050" dirty="0">
                <a:solidFill>
                  <a:schemeClr val="tx2"/>
                </a:solidFill>
              </a:rPr>
              <a:t>January 2023: Cyber Security Training Centre, five posts under the NDU Training Department · July 2025: Cyber Security Department of the Military Institute</a:t>
            </a:r>
            <a:endParaRPr lang="en-US" sz="1050" dirty="0"/>
          </a:p>
        </p:txBody>
      </p:sp>
      <p:sp>
        <p:nvSpPr>
          <p:cNvPr id="6" name="icon circle"/>
          <p:cNvSpPr/>
          <p:nvPr/>
        </p:nvSpPr>
        <p:spPr>
          <a:xfrm>
            <a:off x="822960" y="2514600"/>
            <a:ext cx="384048" cy="384048"/>
          </a:xfrm>
          <a:prstGeom prst="ellipse">
            <a:avLst/>
          </a:prstGeom>
          <a:solidFill>
            <a:schemeClr val="accent1"/>
          </a:solidFill>
          <a:ln w="12700">
            <a:solidFill>
              <a:schemeClr val="accent1"/>
            </a:solidFill>
            <a:prstDash val="solid"/>
          </a:ln>
        </p:spPr>
      </p:sp>
      <p:pic>
        <p:nvPicPr>
          <p:cNvPr id="7" name="FaUserTie" descr="preencoded.png">    </p:cNvPr>
          <p:cNvPicPr>
            <a:picLocks noChangeAspect="1"/>
          </p:cNvPicPr>
          <p:nvPr/>
        </p:nvPicPr>
        <p:blipFill>
          <a:blip r:embed="rId1"/>
          <a:stretch>
            <a:fillRect/>
          </a:stretch>
        </p:blipFill>
        <p:spPr>
          <a:xfrm>
            <a:off x="922812" y="2614452"/>
            <a:ext cx="184343" cy="184343"/>
          </a:xfrm>
          <a:prstGeom prst="rect">
            <a:avLst/>
          </a:prstGeom>
        </p:spPr>
      </p:pic>
      <p:sp>
        <p:nvSpPr>
          <p:cNvPr id="8" name="Text 5"/>
          <p:cNvSpPr txBox="1"/>
          <p:nvPr/>
        </p:nvSpPr>
        <p:spPr>
          <a:xfrm>
            <a:off x="1325880" y="2478024"/>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Captain S. Bilegt  </a:t>
            </a:r>
            <a:pPr indent="0" marL="0">
              <a:buNone/>
            </a:pPr>
            <a:r>
              <a:rPr lang="en-US" sz="1050" dirty="0">
                <a:solidFill>
                  <a:schemeClr val="tx2"/>
                </a:solidFill>
              </a:rPr>
              <a:t>Head of Department (since Jan 2023)</a:t>
            </a:r>
            <a:endParaRPr lang="en-US" sz="1250" dirty="0"/>
          </a:p>
        </p:txBody>
      </p:sp>
      <p:sp>
        <p:nvSpPr>
          <p:cNvPr id="9" name="icon circle"/>
          <p:cNvSpPr/>
          <p:nvPr/>
        </p:nvSpPr>
        <p:spPr>
          <a:xfrm>
            <a:off x="822960" y="3035808"/>
            <a:ext cx="384048" cy="384048"/>
          </a:xfrm>
          <a:prstGeom prst="ellipse">
            <a:avLst/>
          </a:prstGeom>
          <a:solidFill>
            <a:schemeClr val="accent2"/>
          </a:solidFill>
          <a:ln w="12700">
            <a:solidFill>
              <a:schemeClr val="accent2"/>
            </a:solidFill>
            <a:prstDash val="solid"/>
          </a:ln>
        </p:spPr>
      </p:sp>
      <p:pic>
        <p:nvPicPr>
          <p:cNvPr id="10" name="FaChalkboardTeacher" descr="preencoded.png">    </p:cNvPr>
          <p:cNvPicPr>
            <a:picLocks noChangeAspect="1"/>
          </p:cNvPicPr>
          <p:nvPr/>
        </p:nvPicPr>
        <p:blipFill>
          <a:blip r:embed="rId2"/>
          <a:stretch>
            <a:fillRect/>
          </a:stretch>
        </p:blipFill>
        <p:spPr>
          <a:xfrm>
            <a:off x="922812" y="3135660"/>
            <a:ext cx="184343" cy="184343"/>
          </a:xfrm>
          <a:prstGeom prst="rect">
            <a:avLst/>
          </a:prstGeom>
        </p:spPr>
      </p:pic>
      <p:sp>
        <p:nvSpPr>
          <p:cNvPr id="11" name="Text 7"/>
          <p:cNvSpPr txBox="1"/>
          <p:nvPr/>
        </p:nvSpPr>
        <p:spPr>
          <a:xfrm>
            <a:off x="1325880" y="2999232"/>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Lt Ch. Enkhbaatar  </a:t>
            </a:r>
            <a:pPr indent="0" marL="0">
              <a:buNone/>
            </a:pPr>
            <a:r>
              <a:rPr lang="en-US" sz="1050" dirty="0">
                <a:solidFill>
                  <a:schemeClr val="tx2"/>
                </a:solidFill>
              </a:rPr>
              <a:t>Senior teacher · trained in India 2024–25 · MSc 2026</a:t>
            </a:r>
            <a:endParaRPr lang="en-US" sz="1250" dirty="0"/>
          </a:p>
        </p:txBody>
      </p:sp>
      <p:sp>
        <p:nvSpPr>
          <p:cNvPr id="12" name="icon circle"/>
          <p:cNvSpPr/>
          <p:nvPr/>
        </p:nvSpPr>
        <p:spPr>
          <a:xfrm>
            <a:off x="822960" y="3557016"/>
            <a:ext cx="384048" cy="384048"/>
          </a:xfrm>
          <a:prstGeom prst="ellipse">
            <a:avLst/>
          </a:prstGeom>
          <a:solidFill>
            <a:schemeClr val="accent2"/>
          </a:solidFill>
          <a:ln w="12700">
            <a:solidFill>
              <a:schemeClr val="accent2"/>
            </a:solidFill>
            <a:prstDash val="solid"/>
          </a:ln>
        </p:spPr>
      </p:sp>
      <p:pic>
        <p:nvPicPr>
          <p:cNvPr id="13" name="FaChalkboardTeacher" descr="preencoded.png">    </p:cNvPr>
          <p:cNvPicPr>
            <a:picLocks noChangeAspect="1"/>
          </p:cNvPicPr>
          <p:nvPr/>
        </p:nvPicPr>
        <p:blipFill>
          <a:blip r:embed="rId3"/>
          <a:stretch>
            <a:fillRect/>
          </a:stretch>
        </p:blipFill>
        <p:spPr>
          <a:xfrm>
            <a:off x="922812" y="3656868"/>
            <a:ext cx="184343" cy="184343"/>
          </a:xfrm>
          <a:prstGeom prst="rect">
            <a:avLst/>
          </a:prstGeom>
        </p:spPr>
      </p:pic>
      <p:sp>
        <p:nvSpPr>
          <p:cNvPr id="14" name="Text 9"/>
          <p:cNvSpPr txBox="1"/>
          <p:nvPr/>
        </p:nvSpPr>
        <p:spPr>
          <a:xfrm>
            <a:off x="1325880" y="3520440"/>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Dr E. Munkhtsetseg  </a:t>
            </a:r>
            <a:pPr indent="0" marL="0">
              <a:buNone/>
            </a:pPr>
            <a:r>
              <a:rPr lang="en-US" sz="1050" dirty="0">
                <a:solidFill>
                  <a:schemeClr val="tx2"/>
                </a:solidFill>
              </a:rPr>
              <a:t>Senior teacher · PhD 2026</a:t>
            </a:r>
            <a:endParaRPr lang="en-US" sz="1250" dirty="0"/>
          </a:p>
        </p:txBody>
      </p:sp>
      <p:sp>
        <p:nvSpPr>
          <p:cNvPr id="15" name="icon circle"/>
          <p:cNvSpPr/>
          <p:nvPr/>
        </p:nvSpPr>
        <p:spPr>
          <a:xfrm>
            <a:off x="822960" y="4078224"/>
            <a:ext cx="384048" cy="384048"/>
          </a:xfrm>
          <a:prstGeom prst="ellipse">
            <a:avLst/>
          </a:prstGeom>
          <a:solidFill>
            <a:schemeClr val="accent2"/>
          </a:solidFill>
          <a:ln w="12700">
            <a:solidFill>
              <a:schemeClr val="accent2"/>
            </a:solidFill>
            <a:prstDash val="solid"/>
          </a:ln>
        </p:spPr>
      </p:sp>
      <p:pic>
        <p:nvPicPr>
          <p:cNvPr id="16" name="FaChalkboardTeacher" descr="preencoded.png">    </p:cNvPr>
          <p:cNvPicPr>
            <a:picLocks noChangeAspect="1"/>
          </p:cNvPicPr>
          <p:nvPr/>
        </p:nvPicPr>
        <p:blipFill>
          <a:blip r:embed="rId4"/>
          <a:stretch>
            <a:fillRect/>
          </a:stretch>
        </p:blipFill>
        <p:spPr>
          <a:xfrm>
            <a:off x="922812" y="4178076"/>
            <a:ext cx="184343" cy="184343"/>
          </a:xfrm>
          <a:prstGeom prst="rect">
            <a:avLst/>
          </a:prstGeom>
        </p:spPr>
      </p:pic>
      <p:sp>
        <p:nvSpPr>
          <p:cNvPr id="17" name="Text 11"/>
          <p:cNvSpPr txBox="1"/>
          <p:nvPr/>
        </p:nvSpPr>
        <p:spPr>
          <a:xfrm>
            <a:off x="1325880" y="4041648"/>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Lt D. Khulan  </a:t>
            </a:r>
            <a:pPr indent="0" marL="0">
              <a:buNone/>
            </a:pPr>
            <a:r>
              <a:rPr lang="en-US" sz="1050" dirty="0">
                <a:solidFill>
                  <a:schemeClr val="tx2"/>
                </a:solidFill>
              </a:rPr>
              <a:t>Teacher · MSc 2026</a:t>
            </a:r>
            <a:endParaRPr lang="en-US" sz="1250" dirty="0"/>
          </a:p>
        </p:txBody>
      </p:sp>
      <p:sp>
        <p:nvSpPr>
          <p:cNvPr id="18" name="icon circle"/>
          <p:cNvSpPr/>
          <p:nvPr/>
        </p:nvSpPr>
        <p:spPr>
          <a:xfrm>
            <a:off x="822960" y="4599432"/>
            <a:ext cx="384048" cy="384048"/>
          </a:xfrm>
          <a:prstGeom prst="ellipse">
            <a:avLst/>
          </a:prstGeom>
          <a:solidFill>
            <a:schemeClr val="accent2"/>
          </a:solidFill>
          <a:ln w="12700">
            <a:solidFill>
              <a:schemeClr val="accent2"/>
            </a:solidFill>
            <a:prstDash val="solid"/>
          </a:ln>
        </p:spPr>
      </p:sp>
      <p:pic>
        <p:nvPicPr>
          <p:cNvPr id="19" name="FaChalkboardTeacher" descr="preencoded.png">    </p:cNvPr>
          <p:cNvPicPr>
            <a:picLocks noChangeAspect="1"/>
          </p:cNvPicPr>
          <p:nvPr/>
        </p:nvPicPr>
        <p:blipFill>
          <a:blip r:embed="rId5"/>
          <a:stretch>
            <a:fillRect/>
          </a:stretch>
        </p:blipFill>
        <p:spPr>
          <a:xfrm>
            <a:off x="922812" y="4699284"/>
            <a:ext cx="184343" cy="184343"/>
          </a:xfrm>
          <a:prstGeom prst="rect">
            <a:avLst/>
          </a:prstGeom>
        </p:spPr>
      </p:pic>
      <p:sp>
        <p:nvSpPr>
          <p:cNvPr id="20" name="Text 13"/>
          <p:cNvSpPr txBox="1"/>
          <p:nvPr/>
        </p:nvSpPr>
        <p:spPr>
          <a:xfrm>
            <a:off x="1325880" y="4562856"/>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Ts. Ochir-Erdene  </a:t>
            </a:r>
            <a:pPr indent="0" marL="0">
              <a:buNone/>
            </a:pPr>
            <a:r>
              <a:rPr lang="en-US" sz="1050" dirty="0">
                <a:solidFill>
                  <a:schemeClr val="tx2"/>
                </a:solidFill>
              </a:rPr>
              <a:t>Teacher</a:t>
            </a:r>
            <a:endParaRPr lang="en-US" sz="1250" dirty="0"/>
          </a:p>
        </p:txBody>
      </p:sp>
      <p:sp>
        <p:nvSpPr>
          <p:cNvPr id="21" name="icon circle"/>
          <p:cNvSpPr/>
          <p:nvPr/>
        </p:nvSpPr>
        <p:spPr>
          <a:xfrm>
            <a:off x="822960" y="5120640"/>
            <a:ext cx="384048" cy="384048"/>
          </a:xfrm>
          <a:prstGeom prst="ellipse">
            <a:avLst/>
          </a:prstGeom>
          <a:solidFill>
            <a:schemeClr val="accent2"/>
          </a:solidFill>
          <a:ln w="12700">
            <a:solidFill>
              <a:schemeClr val="accent2"/>
            </a:solidFill>
            <a:prstDash val="solid"/>
          </a:ln>
        </p:spPr>
      </p:sp>
      <p:pic>
        <p:nvPicPr>
          <p:cNvPr id="22" name="FaChalkboardTeacher" descr="preencoded.png">    </p:cNvPr>
          <p:cNvPicPr>
            <a:picLocks noChangeAspect="1"/>
          </p:cNvPicPr>
          <p:nvPr/>
        </p:nvPicPr>
        <p:blipFill>
          <a:blip r:embed="rId6"/>
          <a:stretch>
            <a:fillRect/>
          </a:stretch>
        </p:blipFill>
        <p:spPr>
          <a:xfrm>
            <a:off x="922812" y="5220492"/>
            <a:ext cx="184343" cy="184343"/>
          </a:xfrm>
          <a:prstGeom prst="rect">
            <a:avLst/>
          </a:prstGeom>
        </p:spPr>
      </p:pic>
      <p:sp>
        <p:nvSpPr>
          <p:cNvPr id="23" name="Text 15"/>
          <p:cNvSpPr txBox="1"/>
          <p:nvPr/>
        </p:nvSpPr>
        <p:spPr>
          <a:xfrm>
            <a:off x="1325880" y="5084064"/>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G. Enkhtuul  </a:t>
            </a:r>
            <a:pPr indent="0" marL="0">
              <a:buNone/>
            </a:pPr>
            <a:r>
              <a:rPr lang="en-US" sz="1050" dirty="0">
                <a:solidFill>
                  <a:schemeClr val="tx2"/>
                </a:solidFill>
              </a:rPr>
              <a:t>Teacher</a:t>
            </a:r>
            <a:endParaRPr lang="en-US" sz="1250" dirty="0"/>
          </a:p>
        </p:txBody>
      </p:sp>
      <p:sp>
        <p:nvSpPr>
          <p:cNvPr id="24" name="icon circle"/>
          <p:cNvSpPr/>
          <p:nvPr/>
        </p:nvSpPr>
        <p:spPr>
          <a:xfrm>
            <a:off x="822960" y="5641848"/>
            <a:ext cx="384048" cy="384048"/>
          </a:xfrm>
          <a:prstGeom prst="ellipse">
            <a:avLst/>
          </a:prstGeom>
          <a:solidFill>
            <a:schemeClr val="accent2"/>
          </a:solidFill>
          <a:ln w="12700">
            <a:solidFill>
              <a:schemeClr val="accent2"/>
            </a:solidFill>
            <a:prstDash val="solid"/>
          </a:ln>
        </p:spPr>
      </p:sp>
      <p:pic>
        <p:nvPicPr>
          <p:cNvPr id="25" name="FaChalkboardTeacher" descr="preencoded.png">    </p:cNvPr>
          <p:cNvPicPr>
            <a:picLocks noChangeAspect="1"/>
          </p:cNvPicPr>
          <p:nvPr/>
        </p:nvPicPr>
        <p:blipFill>
          <a:blip r:embed="rId7"/>
          <a:stretch>
            <a:fillRect/>
          </a:stretch>
        </p:blipFill>
        <p:spPr>
          <a:xfrm>
            <a:off x="922812" y="5741700"/>
            <a:ext cx="184343" cy="184343"/>
          </a:xfrm>
          <a:prstGeom prst="rect">
            <a:avLst/>
          </a:prstGeom>
        </p:spPr>
      </p:pic>
      <p:sp>
        <p:nvSpPr>
          <p:cNvPr id="26" name="Text 17"/>
          <p:cNvSpPr txBox="1"/>
          <p:nvPr/>
        </p:nvSpPr>
        <p:spPr>
          <a:xfrm>
            <a:off x="1325880" y="5605272"/>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J. Munguntsetseg  </a:t>
            </a:r>
            <a:pPr indent="0" marL="0">
              <a:buNone/>
            </a:pPr>
            <a:r>
              <a:rPr lang="en-US" sz="1050" dirty="0">
                <a:solidFill>
                  <a:schemeClr val="tx2"/>
                </a:solidFill>
              </a:rPr>
              <a:t>Teacher</a:t>
            </a:r>
            <a:endParaRPr lang="en-US" sz="1250" dirty="0"/>
          </a:p>
        </p:txBody>
      </p:sp>
      <p:pic>
        <p:nvPicPr>
          <p:cNvPr id="27" name="group_hall2.jpg" descr="/home/user/research-material/india-cyber-cooperation/images/group_hall2.jpg">    </p:cNvPr>
          <p:cNvPicPr>
            <a:picLocks noChangeAspect="1"/>
          </p:cNvPicPr>
          <p:nvPr/>
        </p:nvPicPr>
        <p:blipFill>
          <a:blip r:embed="rId8"/>
          <a:srcRect l="0" r="0" t="0" b="0"/>
          <a:stretch/>
        </p:blipFill>
        <p:spPr>
          <a:xfrm>
            <a:off x="6583680" y="1371600"/>
            <a:ext cx="5029200" cy="2194560"/>
          </a:xfrm>
          <a:prstGeom prst="rect">
            <a:avLst/>
          </a:prstGeom>
        </p:spPr>
      </p:pic>
      <p:sp>
        <p:nvSpPr>
          <p:cNvPr id="28" name="Text 18"/>
          <p:cNvSpPr txBox="1"/>
          <p:nvPr/>
        </p:nvSpPr>
        <p:spPr>
          <a:xfrm>
            <a:off x="6583680" y="3611880"/>
            <a:ext cx="5029200" cy="274320"/>
          </a:xfrm>
          <a:prstGeom prst="rect">
            <a:avLst/>
          </a:prstGeom>
          <a:noFill/>
          <a:ln/>
        </p:spPr>
        <p:txBody>
          <a:bodyPr wrap="square" lIns="0" tIns="0" rIns="0" bIns="0" rtlCol="0" anchor="t"/>
          <a:lstStyle/>
          <a:p>
            <a:pPr indent="0" marL="0">
              <a:buNone/>
            </a:pPr>
            <a:r>
              <a:rPr lang="en-US" sz="1050" dirty="0">
                <a:solidFill>
                  <a:schemeClr val="tx2"/>
                </a:solidFill>
              </a:rPr>
              <a:t>Faculty, trainees and the Indian training team at the Military Institute</a:t>
            </a:r>
            <a:endParaRPr lang="en-US" sz="1050" dirty="0"/>
          </a:p>
        </p:txBody>
      </p:sp>
      <p:sp>
        <p:nvSpPr>
          <p:cNvPr id="29" name="card"/>
          <p:cNvSpPr/>
          <p:nvPr/>
        </p:nvSpPr>
        <p:spPr>
          <a:xfrm>
            <a:off x="6583680" y="3977640"/>
            <a:ext cx="2468880" cy="1097280"/>
          </a:xfrm>
          <a:prstGeom prst="roundRect">
            <a:avLst>
              <a:gd name="adj" fmla="val 10000"/>
            </a:avLst>
          </a:prstGeom>
          <a:solidFill>
            <a:schemeClr val="bg2"/>
          </a:solidFill>
          <a:ln w="12700">
            <a:solidFill>
              <a:schemeClr val="bg2"/>
            </a:solidFill>
            <a:prstDash val="solid"/>
          </a:ln>
        </p:spPr>
      </p:sp>
      <p:sp>
        <p:nvSpPr>
          <p:cNvPr id="30" name="Text 20"/>
          <p:cNvSpPr txBox="1"/>
          <p:nvPr/>
        </p:nvSpPr>
        <p:spPr>
          <a:xfrm>
            <a:off x="6766560" y="4069080"/>
            <a:ext cx="2103120" cy="54864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3</a:t>
            </a:r>
            <a:endParaRPr lang="en-US" sz="2400" dirty="0"/>
          </a:p>
        </p:txBody>
      </p:sp>
      <p:sp>
        <p:nvSpPr>
          <p:cNvPr id="31" name="Text 21"/>
          <p:cNvSpPr txBox="1"/>
          <p:nvPr/>
        </p:nvSpPr>
        <p:spPr>
          <a:xfrm>
            <a:off x="6766560" y="4614062"/>
            <a:ext cx="2103120" cy="438912"/>
          </a:xfrm>
          <a:prstGeom prst="rect">
            <a:avLst/>
          </a:prstGeom>
          <a:noFill/>
          <a:ln/>
        </p:spPr>
        <p:txBody>
          <a:bodyPr wrap="square" lIns="0" tIns="0" rIns="0" bIns="0" rtlCol="0" anchor="t"/>
          <a:lstStyle/>
          <a:p>
            <a:pPr indent="0" marL="0">
              <a:buNone/>
            </a:pPr>
            <a:r>
              <a:rPr lang="en-US" sz="1000" dirty="0">
                <a:solidFill>
                  <a:schemeClr val="tx2"/>
                </a:solidFill>
              </a:rPr>
              <a:t>bachelor programmes: cyber security, network engineering, software engineering (military)</a:t>
            </a:r>
            <a:endParaRPr lang="en-US" sz="1000" dirty="0"/>
          </a:p>
        </p:txBody>
      </p:sp>
      <p:sp>
        <p:nvSpPr>
          <p:cNvPr id="32" name="card"/>
          <p:cNvSpPr/>
          <p:nvPr/>
        </p:nvSpPr>
        <p:spPr>
          <a:xfrm>
            <a:off x="9144000" y="3977640"/>
            <a:ext cx="2468880" cy="1097280"/>
          </a:xfrm>
          <a:prstGeom prst="roundRect">
            <a:avLst>
              <a:gd name="adj" fmla="val 10000"/>
            </a:avLst>
          </a:prstGeom>
          <a:solidFill>
            <a:schemeClr val="bg2"/>
          </a:solidFill>
          <a:ln w="12700">
            <a:solidFill>
              <a:schemeClr val="bg2"/>
            </a:solidFill>
            <a:prstDash val="solid"/>
          </a:ln>
        </p:spPr>
      </p:sp>
      <p:sp>
        <p:nvSpPr>
          <p:cNvPr id="33" name="Text 23"/>
          <p:cNvSpPr txBox="1"/>
          <p:nvPr/>
        </p:nvSpPr>
        <p:spPr>
          <a:xfrm>
            <a:off x="9326880" y="4069080"/>
            <a:ext cx="2103120" cy="54864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162</a:t>
            </a:r>
            <a:endParaRPr lang="en-US" sz="2400" dirty="0"/>
          </a:p>
        </p:txBody>
      </p:sp>
      <p:sp>
        <p:nvSpPr>
          <p:cNvPr id="34" name="Text 24"/>
          <p:cNvSpPr txBox="1"/>
          <p:nvPr/>
        </p:nvSpPr>
        <p:spPr>
          <a:xfrm>
            <a:off x="9326880" y="4614062"/>
            <a:ext cx="2103120" cy="438912"/>
          </a:xfrm>
          <a:prstGeom prst="rect">
            <a:avLst/>
          </a:prstGeom>
          <a:noFill/>
          <a:ln/>
        </p:spPr>
        <p:txBody>
          <a:bodyPr wrap="square" lIns="0" tIns="0" rIns="0" bIns="0" rtlCol="0" anchor="t"/>
          <a:lstStyle/>
          <a:p>
            <a:pPr indent="0" marL="0">
              <a:buNone/>
            </a:pPr>
            <a:r>
              <a:rPr lang="en-US" sz="1000" dirty="0">
                <a:solidFill>
                  <a:schemeClr val="tx2"/>
                </a:solidFill>
              </a:rPr>
              <a:t>credits of bachelor teaching in the first half of 2026 (156 in all of 2025)</a:t>
            </a:r>
            <a:endParaRPr lang="en-US" sz="1000" dirty="0"/>
          </a:p>
        </p:txBody>
      </p:sp>
      <p:sp>
        <p:nvSpPr>
          <p:cNvPr id="35" name="card"/>
          <p:cNvSpPr/>
          <p:nvPr/>
        </p:nvSpPr>
        <p:spPr>
          <a:xfrm>
            <a:off x="6583680" y="5120640"/>
            <a:ext cx="2468880" cy="1097280"/>
          </a:xfrm>
          <a:prstGeom prst="roundRect">
            <a:avLst>
              <a:gd name="adj" fmla="val 10000"/>
            </a:avLst>
          </a:prstGeom>
          <a:solidFill>
            <a:schemeClr val="bg2"/>
          </a:solidFill>
          <a:ln w="12700">
            <a:solidFill>
              <a:schemeClr val="bg2"/>
            </a:solidFill>
            <a:prstDash val="solid"/>
          </a:ln>
        </p:spPr>
      </p:sp>
      <p:sp>
        <p:nvSpPr>
          <p:cNvPr id="36" name="Text 26"/>
          <p:cNvSpPr txBox="1"/>
          <p:nvPr/>
        </p:nvSpPr>
        <p:spPr>
          <a:xfrm>
            <a:off x="6766560" y="5212080"/>
            <a:ext cx="2103120" cy="54864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13</a:t>
            </a:r>
            <a:endParaRPr lang="en-US" sz="2400" dirty="0"/>
          </a:p>
        </p:txBody>
      </p:sp>
      <p:sp>
        <p:nvSpPr>
          <p:cNvPr id="37" name="Text 27"/>
          <p:cNvSpPr txBox="1"/>
          <p:nvPr/>
        </p:nvSpPr>
        <p:spPr>
          <a:xfrm>
            <a:off x="6766560" y="5757062"/>
            <a:ext cx="2103120" cy="438912"/>
          </a:xfrm>
          <a:prstGeom prst="rect">
            <a:avLst/>
          </a:prstGeom>
          <a:noFill/>
          <a:ln/>
        </p:spPr>
        <p:txBody>
          <a:bodyPr wrap="square" lIns="0" tIns="0" rIns="0" bIns="0" rtlCol="0" anchor="t"/>
          <a:lstStyle/>
          <a:p>
            <a:pPr indent="0" marL="0">
              <a:buNone/>
            </a:pPr>
            <a:r>
              <a:rPr lang="en-US" sz="1000" dirty="0">
                <a:solidFill>
                  <a:schemeClr val="tx2"/>
                </a:solidFill>
              </a:rPr>
              <a:t>specialised course units rewritten in 2026 to the national standard</a:t>
            </a:r>
            <a:endParaRPr lang="en-US" sz="1000" dirty="0"/>
          </a:p>
        </p:txBody>
      </p:sp>
      <p:sp>
        <p:nvSpPr>
          <p:cNvPr id="38" name="card"/>
          <p:cNvSpPr/>
          <p:nvPr/>
        </p:nvSpPr>
        <p:spPr>
          <a:xfrm>
            <a:off x="9144000" y="5120640"/>
            <a:ext cx="2468880" cy="1097280"/>
          </a:xfrm>
          <a:prstGeom prst="roundRect">
            <a:avLst>
              <a:gd name="adj" fmla="val 10000"/>
            </a:avLst>
          </a:prstGeom>
          <a:solidFill>
            <a:schemeClr val="bg2"/>
          </a:solidFill>
          <a:ln w="12700">
            <a:solidFill>
              <a:schemeClr val="bg2"/>
            </a:solidFill>
            <a:prstDash val="solid"/>
          </a:ln>
        </p:spPr>
      </p:sp>
      <p:sp>
        <p:nvSpPr>
          <p:cNvPr id="39" name="Text 29"/>
          <p:cNvSpPr txBox="1"/>
          <p:nvPr/>
        </p:nvSpPr>
        <p:spPr>
          <a:xfrm>
            <a:off x="9326880" y="5212080"/>
            <a:ext cx="2103120" cy="54864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1st</a:t>
            </a:r>
            <a:endParaRPr lang="en-US" sz="2400" dirty="0"/>
          </a:p>
        </p:txBody>
      </p:sp>
      <p:sp>
        <p:nvSpPr>
          <p:cNvPr id="40" name="Text 30"/>
          <p:cNvSpPr txBox="1"/>
          <p:nvPr/>
        </p:nvSpPr>
        <p:spPr>
          <a:xfrm>
            <a:off x="9326880" y="5757062"/>
            <a:ext cx="2103120" cy="438912"/>
          </a:xfrm>
          <a:prstGeom prst="rect">
            <a:avLst/>
          </a:prstGeom>
          <a:noFill/>
          <a:ln/>
        </p:spPr>
        <p:txBody>
          <a:bodyPr wrap="square" lIns="0" tIns="0" rIns="0" bIns="0" rtlCol="0" anchor="t"/>
          <a:lstStyle/>
          <a:p>
            <a:pPr indent="0" marL="0">
              <a:buNone/>
            </a:pPr>
            <a:r>
              <a:rPr lang="en-US" sz="1000" dirty="0">
                <a:solidFill>
                  <a:schemeClr val="tx2"/>
                </a:solidFill>
              </a:rPr>
              <a:t>graduation of the cyber security bachelor programme, 2026</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Indian engineers and training teams at the Centre, 2022–2026</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731520"/>
                <a:gridCol w="1554480"/>
                <a:gridCol w="3657600"/>
                <a:gridCol w="5120640"/>
              </a:tblGrid>
              <a:tr h="402336">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Team</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F6FD1"/>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Period</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F6FD1"/>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Members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F6FD1"/>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Courses and contribution</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F6FD1"/>
                    </a:solidFill>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C-DAC</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Mar 2022 – Apr 2023</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Sandeep Kumar; resident engineers Vikash Sharma, Taranjeet Singh</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Installation and commissioning (13 months); teacher training Sep–Oct 2022; laboratory tools course Apr 2023</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Sep – Dec 2023</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Gp Capt (Dr) M.K. Sharma, Sgt Vinod Kumar Sharma</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Instructor programme (4 modules); network security; malware analysis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Jan – Apr 2024</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Gp Capt Saurabh Malhotra, Sgt Durairaj A.</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Cyber security basic course (networking, network security, cyber security)</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May – Aug 2024</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Wg Cdr P.A. Siddapur, Hav Amal Raj</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Ethical hacking (10 weeks)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Sep – Dec 2024</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Wg Cdr Rakesh Kumar Siwal, Sgt Mohit Panchal</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SOC analyst; digital forensics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Jan – Apr 2025</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Lt Cdr Vikash, Sgt Rajendra Kumar Jat</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Network administration; cryptography and data security</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May – Aug 2025</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Lt Cdr Shubham Singh, Hav Ponnaganti Srinivasulu</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Vulnerability assessment and penetration testing; cyber security audit</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Sep – Dec 2025</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Wg Cdr Kishore Yadav, PO Harisankar P.P.</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Foundation of cyber security (10 weeks): OS, network security, programming, data security, red/blue team</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B3261E"/>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B3261E"/>
                          </a:solidFill>
                          <a:latin typeface="Calibri" pitchFamily="34" charset="0"/>
                          <a:ea typeface="Calibri" pitchFamily="34" charset="-122"/>
                          <a:cs typeface="Calibri" pitchFamily="34" charset="-120"/>
                        </a:rPr>
                        <a:t>Dec 2025 – Mar 2026</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i="1" dirty="0">
                          <a:solidFill>
                            <a:srgbClr val="B3261E"/>
                          </a:solidFill>
                          <a:latin typeface="Calibri" pitchFamily="34" charset="0"/>
                          <a:ea typeface="Calibri" pitchFamily="34" charset="-122"/>
                          <a:cs typeface="Calibri" pitchFamily="34" charset="-120"/>
                        </a:rPr>
                        <a:t>Names per department records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B3261E"/>
                          </a:solidFill>
                          <a:latin typeface="Calibri" pitchFamily="34" charset="0"/>
                          <a:ea typeface="Calibri" pitchFamily="34" charset="-122"/>
                          <a:cs typeface="Calibri" pitchFamily="34" charset="-120"/>
                        </a:rPr>
                        <a:t>Blue team: SOC analyst, malware analysis, digital forensics, audit</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B3261E"/>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B3261E"/>
                          </a:solidFill>
                          <a:latin typeface="Calibri" pitchFamily="34" charset="0"/>
                          <a:ea typeface="Calibri" pitchFamily="34" charset="-122"/>
                          <a:cs typeface="Calibri" pitchFamily="34" charset="-120"/>
                        </a:rPr>
                        <a:t>Mar – Jul 2026</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i="1" dirty="0">
                          <a:solidFill>
                            <a:srgbClr val="B3261E"/>
                          </a:solidFill>
                          <a:latin typeface="Calibri" pitchFamily="34" charset="0"/>
                          <a:ea typeface="Calibri" pitchFamily="34" charset="-122"/>
                          <a:cs typeface="Calibri" pitchFamily="34" charset="-120"/>
                        </a:rPr>
                        <a:t>Names per department records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B3261E"/>
                          </a:solidFill>
                          <a:latin typeface="Calibri" pitchFamily="34" charset="0"/>
                          <a:ea typeface="Calibri" pitchFamily="34" charset="-122"/>
                          <a:cs typeface="Calibri" pitchFamily="34" charset="-120"/>
                        </a:rPr>
                        <a:t>Advanced: VAPT, CERT operations, military cyber security operations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4" name="note badge"/>
          <p:cNvSpPr/>
          <p:nvPr/>
        </p:nvSpPr>
        <p:spPr>
          <a:xfrm>
            <a:off x="8321040" y="5943600"/>
            <a:ext cx="3291840" cy="274320"/>
          </a:xfrm>
          <a:prstGeom prst="roundRect">
            <a:avLst>
              <a:gd name="adj" fmla="val 50000"/>
            </a:avLst>
          </a:prstGeom>
          <a:solidFill>
            <a:schemeClr val="accent4"/>
          </a:solidFill>
          <a:ln w="12700">
            <a:solidFill>
              <a:schemeClr val="accent4"/>
            </a:solidFill>
            <a:prstDash val="solid"/>
          </a:ln>
        </p:spPr>
      </p:sp>
      <p:sp>
        <p:nvSpPr>
          <p:cNvPr id="5" name="Text 2"/>
          <p:cNvSpPr txBox="1"/>
          <p:nvPr/>
        </p:nvSpPr>
        <p:spPr>
          <a:xfrm>
            <a:off x="8321040" y="5943600"/>
            <a:ext cx="3291840" cy="274320"/>
          </a:xfrm>
          <a:prstGeom prst="rect">
            <a:avLst/>
          </a:prstGeom>
          <a:noFill/>
          <a:ln/>
        </p:spPr>
        <p:txBody>
          <a:bodyPr wrap="square" lIns="0" tIns="0" rIns="0" bIns="0" rtlCol="0" anchor="ctr"/>
          <a:lstStyle/>
          <a:p>
            <a:pPr algn="ctr" indent="0" marL="0">
              <a:buNone/>
            </a:pPr>
            <a:r>
              <a:rPr lang="en-US" sz="900" b="1" dirty="0">
                <a:solidFill>
                  <a:schemeClr val="bg1"/>
                </a:solidFill>
              </a:rPr>
              <a:t>RED ROWS – names to be completed from records</a:t>
            </a:r>
            <a:endParaRPr lang="en-US" sz="900" dirty="0"/>
          </a:p>
        </p:txBody>
      </p:sp>
      <p:sp>
        <p:nvSpPr>
          <p:cNvPr id="6" name="Text 3"/>
          <p:cNvSpPr txBox="1"/>
          <p:nvPr/>
        </p:nvSpPr>
        <p:spPr>
          <a:xfrm>
            <a:off x="548640" y="5943600"/>
            <a:ext cx="7498080" cy="365760"/>
          </a:xfrm>
          <a:prstGeom prst="rect">
            <a:avLst/>
          </a:prstGeom>
          <a:noFill/>
          <a:ln/>
        </p:spPr>
        <p:txBody>
          <a:bodyPr wrap="square" lIns="0" tIns="0" rIns="0" bIns="0" rtlCol="0" anchor="ctr"/>
          <a:lstStyle/>
          <a:p>
            <a:pPr indent="0" marL="0">
              <a:buNone/>
            </a:pPr>
            <a:r>
              <a:rPr lang="en-US" sz="1050" i="1" dirty="0">
                <a:solidFill>
                  <a:schemeClr val="tx2"/>
                </a:solidFill>
              </a:rPr>
              <a:t>Two-instructor mobile training teams from the Indian Air Force, Navy and Army rotate every four months under the jointly approved training plan.</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03</a:t>
            </a:r>
            <a:endParaRPr lang="en-US" sz="6000" dirty="0"/>
          </a:p>
        </p:txBody>
      </p:sp>
      <p:sp>
        <p:nvSpPr>
          <p:cNvPr id="3" name="Text 0"/>
          <p:cNvSpPr/>
          <p:nvPr>
            <p:ph idx="100" type="title" hasCustomPrompt="1"/>
          </p:nvPr>
        </p:nvSpPr>
        <p:spPr>
          <a:xfrm>
            <a:off x="731520" y="2743200"/>
            <a:ext cx="10698480" cy="1097280"/>
          </a:xfrm>
          <a:prstGeom prst="rect">
            <a:avLst/>
          </a:prstGeom>
          <a:noFill/>
          <a:ln/>
        </p:spPr>
        <p:txBody>
          <a:bodyPr wrap="square" lIns="0" tIns="0" rIns="0" bIns="0" rtlCol="0" anchor="ctr"/>
          <a:lstStyle/>
          <a:p>
            <a:pPr indent="0" marL="0">
              <a:buNone/>
            </a:pPr>
            <a:r>
              <a:rPr lang="en-US" sz="4000" b="1" dirty="0">
                <a:solidFill>
                  <a:schemeClr val="bg1"/>
                </a:solidFill>
              </a:rPr>
              <a:t>Results 2022–2026</a:t>
            </a:r>
            <a:endParaRPr lang="en-US" sz="4000" dirty="0"/>
          </a:p>
        </p:txBody>
      </p:sp>
      <p:sp>
        <p:nvSpPr>
          <p:cNvPr id="4" name="Text 0"/>
          <p:cNvSpPr/>
          <p:nvPr>
            <p:ph idx="101" type="body" hasCustomPrompt="1"/>
          </p:nvPr>
        </p:nvSpPr>
        <p:spPr>
          <a:xfrm>
            <a:off x="731520" y="3886200"/>
            <a:ext cx="10698480" cy="731520"/>
          </a:xfrm>
          <a:prstGeom prst="rect">
            <a:avLst/>
          </a:prstGeom>
          <a:noFill/>
          <a:ln/>
        </p:spPr>
        <p:txBody>
          <a:bodyPr wrap="square" lIns="0" tIns="0" rIns="0" bIns="0" rtlCol="0" anchor="t"/>
          <a:lstStyle/>
          <a:p>
            <a:pPr indent="0" marL="0">
              <a:buNone/>
            </a:pPr>
            <a:r>
              <a:rPr lang="en-US" sz="1800" dirty="0">
                <a:solidFill>
                  <a:schemeClr val="accent6"/>
                </a:solidFill>
              </a:rPr>
              <a:t>What the partnership has delivered in four years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More than 300 specialists trained with Indian teams since 2022</a:t>
            </a:r>
            <a:endParaRPr lang="en-US" sz="3000" dirty="0"/>
          </a:p>
        </p:txBody>
      </p:sp>
      <p:sp>
        <p:nvSpPr>
          <p:cNvPr id="3" name="card"/>
          <p:cNvSpPr/>
          <p:nvPr/>
        </p:nvSpPr>
        <p:spPr>
          <a:xfrm>
            <a:off x="548640" y="1371600"/>
            <a:ext cx="7223760" cy="4846320"/>
          </a:xfrm>
          <a:prstGeom prst="roundRect">
            <a:avLst>
              <a:gd name="adj" fmla="val 2264"/>
            </a:avLst>
          </a:prstGeom>
          <a:solidFill>
            <a:schemeClr val="bg1"/>
          </a:solidFill>
          <a:ln w="9525">
            <a:solidFill>
              <a:srgbClr val="DDE3EC"/>
            </a:solidFill>
            <a:prstDash val="solid"/>
          </a:ln>
        </p:spPr>
      </p:sp>
      <p:sp>
        <p:nvSpPr>
          <p:cNvPr id="4" name="Text 2"/>
          <p:cNvSpPr txBox="1"/>
          <p:nvPr/>
        </p:nvSpPr>
        <p:spPr>
          <a:xfrm>
            <a:off x="822960" y="1481328"/>
            <a:ext cx="6675120" cy="320040"/>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Trainees per course cohort, September 2022 – June 2025</a:t>
            </a:r>
            <a:endParaRPr lang="en-US" sz="1300" dirty="0"/>
          </a:p>
        </p:txBody>
      </p:sp>
      <p:graphicFrame>
        <p:nvGraphicFramePr>
          <p:cNvPr id="5" name="Chart 0" descr=""/>
          <p:cNvGraphicFramePr/>
          <p:nvPr/>
        </p:nvGraphicFramePr>
        <p:xfrm>
          <a:off x="640080" y="1828800"/>
          <a:ext cx="7040880" cy="4297680"/>
        </p:xfrm>
        <a:graphic xmlns:a="http://schemas.openxmlformats.org/drawingml/2006/main">
          <a:graphicData uri="http://schemas.openxmlformats.org/drawingml/2006/chart">
            <c:chart xmlns:c="http://schemas.openxmlformats.org/drawingml/2006/chart" r:id="rId1"/>
          </a:graphicData>
        </a:graphic>
      </p:graphicFrame>
      <p:sp>
        <p:nvSpPr>
          <p:cNvPr id="6" name="card"/>
          <p:cNvSpPr/>
          <p:nvPr/>
        </p:nvSpPr>
        <p:spPr>
          <a:xfrm>
            <a:off x="8046720" y="1371600"/>
            <a:ext cx="3566160" cy="1508760"/>
          </a:xfrm>
          <a:prstGeom prst="roundRect">
            <a:avLst>
              <a:gd name="adj" fmla="val 7273"/>
            </a:avLst>
          </a:prstGeom>
          <a:solidFill>
            <a:schemeClr val="bg2"/>
          </a:solidFill>
          <a:ln w="12700">
            <a:solidFill>
              <a:schemeClr val="bg2"/>
            </a:solidFill>
            <a:prstDash val="solid"/>
          </a:ln>
        </p:spPr>
      </p:sp>
      <p:sp>
        <p:nvSpPr>
          <p:cNvPr id="7" name="Text 4"/>
          <p:cNvSpPr txBox="1"/>
          <p:nvPr/>
        </p:nvSpPr>
        <p:spPr>
          <a:xfrm>
            <a:off x="8229600" y="1463040"/>
            <a:ext cx="3200400" cy="7543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300+</a:t>
            </a:r>
            <a:endParaRPr lang="en-US" sz="3400" dirty="0"/>
          </a:p>
        </p:txBody>
      </p:sp>
      <p:sp>
        <p:nvSpPr>
          <p:cNvPr id="8" name="Text 5"/>
          <p:cNvSpPr txBox="1"/>
          <p:nvPr/>
        </p:nvSpPr>
        <p:spPr>
          <a:xfrm>
            <a:off x="8229600" y="2246681"/>
            <a:ext cx="3200400" cy="603504"/>
          </a:xfrm>
          <a:prstGeom prst="rect">
            <a:avLst/>
          </a:prstGeom>
          <a:noFill/>
          <a:ln/>
        </p:spPr>
        <p:txBody>
          <a:bodyPr wrap="square" lIns="0" tIns="0" rIns="0" bIns="0" rtlCol="0" anchor="t"/>
          <a:lstStyle/>
          <a:p>
            <a:pPr indent="0" marL="0">
              <a:buNone/>
            </a:pPr>
            <a:r>
              <a:rPr lang="en-US" sz="1050" dirty="0">
                <a:solidFill>
                  <a:schemeClr val="tx2"/>
                </a:solidFill>
              </a:rPr>
              <a:t>specialists of military and law-enforcement agencies trained with Indian teams, 2022–2026 (NDU letter, Oct 2026)</a:t>
            </a:r>
            <a:endParaRPr lang="en-US" sz="1050" dirty="0"/>
          </a:p>
        </p:txBody>
      </p:sp>
      <p:sp>
        <p:nvSpPr>
          <p:cNvPr id="9" name="card"/>
          <p:cNvSpPr/>
          <p:nvPr/>
        </p:nvSpPr>
        <p:spPr>
          <a:xfrm>
            <a:off x="8046720" y="3017520"/>
            <a:ext cx="3566160" cy="1508760"/>
          </a:xfrm>
          <a:prstGeom prst="roundRect">
            <a:avLst>
              <a:gd name="adj" fmla="val 7273"/>
            </a:avLst>
          </a:prstGeom>
          <a:solidFill>
            <a:schemeClr val="bg2"/>
          </a:solidFill>
          <a:ln w="12700">
            <a:solidFill>
              <a:schemeClr val="bg2"/>
            </a:solidFill>
            <a:prstDash val="solid"/>
          </a:ln>
        </p:spPr>
      </p:sp>
      <p:sp>
        <p:nvSpPr>
          <p:cNvPr id="10" name="Text 7"/>
          <p:cNvSpPr txBox="1"/>
          <p:nvPr/>
        </p:nvSpPr>
        <p:spPr>
          <a:xfrm>
            <a:off x="8229600" y="3108960"/>
            <a:ext cx="3200400" cy="754380"/>
          </a:xfrm>
          <a:prstGeom prst="rect">
            <a:avLst/>
          </a:prstGeom>
          <a:noFill/>
          <a:ln/>
        </p:spPr>
        <p:txBody>
          <a:bodyPr wrap="square" lIns="0" tIns="0" rIns="0" bIns="0" rtlCol="0" anchor="ctr"/>
          <a:lstStyle/>
          <a:p>
            <a:pPr indent="0" marL="0">
              <a:buNone/>
            </a:pPr>
            <a:r>
              <a:rPr lang="en-US" sz="3400" b="1" dirty="0">
                <a:solidFill>
                  <a:schemeClr val="accent2"/>
                </a:solidFill>
                <a:latin typeface="Cambria" pitchFamily="34" charset="0"/>
                <a:ea typeface="Cambria" pitchFamily="34" charset="-122"/>
                <a:cs typeface="Cambria" pitchFamily="34" charset="-120"/>
              </a:rPr>
              <a:t>211</a:t>
            </a:r>
            <a:endParaRPr lang="en-US" sz="3400" dirty="0"/>
          </a:p>
        </p:txBody>
      </p:sp>
      <p:sp>
        <p:nvSpPr>
          <p:cNvPr id="11" name="Text 8"/>
          <p:cNvSpPr txBox="1"/>
          <p:nvPr/>
        </p:nvSpPr>
        <p:spPr>
          <a:xfrm>
            <a:off x="8229600" y="3892601"/>
            <a:ext cx="3200400" cy="603504"/>
          </a:xfrm>
          <a:prstGeom prst="rect">
            <a:avLst/>
          </a:prstGeom>
          <a:noFill/>
          <a:ln/>
        </p:spPr>
        <p:txBody>
          <a:bodyPr wrap="square" lIns="0" tIns="0" rIns="0" bIns="0" rtlCol="0" anchor="t"/>
          <a:lstStyle/>
          <a:p>
            <a:pPr indent="0" marL="0">
              <a:buNone/>
            </a:pPr>
            <a:r>
              <a:rPr lang="en-US" sz="1050" dirty="0">
                <a:solidFill>
                  <a:schemeClr val="tx2"/>
                </a:solidFill>
              </a:rPr>
              <a:t>trainees in the 13 cohorts charted here (Sep 2022 – Jun 2025); the 7th–9th team cycles add the balance</a:t>
            </a:r>
            <a:endParaRPr lang="en-US" sz="1050" dirty="0"/>
          </a:p>
        </p:txBody>
      </p:sp>
      <p:sp>
        <p:nvSpPr>
          <p:cNvPr id="12" name="card"/>
          <p:cNvSpPr/>
          <p:nvPr/>
        </p:nvSpPr>
        <p:spPr>
          <a:xfrm>
            <a:off x="8046720" y="4663440"/>
            <a:ext cx="3566160" cy="1508760"/>
          </a:xfrm>
          <a:prstGeom prst="roundRect">
            <a:avLst>
              <a:gd name="adj" fmla="val 7273"/>
            </a:avLst>
          </a:prstGeom>
          <a:solidFill>
            <a:schemeClr val="bg2"/>
          </a:solidFill>
          <a:ln w="12700">
            <a:solidFill>
              <a:schemeClr val="bg2"/>
            </a:solidFill>
            <a:prstDash val="solid"/>
          </a:ln>
        </p:spPr>
      </p:sp>
      <p:sp>
        <p:nvSpPr>
          <p:cNvPr id="13" name="Text 10"/>
          <p:cNvSpPr txBox="1"/>
          <p:nvPr/>
        </p:nvSpPr>
        <p:spPr>
          <a:xfrm>
            <a:off x="8229600" y="4754880"/>
            <a:ext cx="3200400" cy="754380"/>
          </a:xfrm>
          <a:prstGeom prst="rect">
            <a:avLst/>
          </a:prstGeom>
          <a:noFill/>
          <a:ln/>
        </p:spPr>
        <p:txBody>
          <a:bodyPr wrap="square" lIns="0" tIns="0" rIns="0" bIns="0" rtlCol="0" anchor="ctr"/>
          <a:lstStyle/>
          <a:p>
            <a:pPr indent="0" marL="0">
              <a:buNone/>
            </a:pPr>
            <a:r>
              <a:rPr lang="en-US" sz="3400" b="1" dirty="0">
                <a:solidFill>
                  <a:schemeClr val="accent2"/>
                </a:solidFill>
                <a:latin typeface="Cambria" pitchFamily="34" charset="0"/>
                <a:ea typeface="Cambria" pitchFamily="34" charset="-122"/>
                <a:cs typeface="Cambria" pitchFamily="34" charset="-120"/>
              </a:rPr>
              <a:t>20</a:t>
            </a:r>
            <a:endParaRPr lang="en-US" sz="3400" dirty="0"/>
          </a:p>
        </p:txBody>
      </p:sp>
      <p:sp>
        <p:nvSpPr>
          <p:cNvPr id="14" name="Text 11"/>
          <p:cNvSpPr txBox="1"/>
          <p:nvPr/>
        </p:nvSpPr>
        <p:spPr>
          <a:xfrm>
            <a:off x="8229600" y="5538521"/>
            <a:ext cx="3200400" cy="603504"/>
          </a:xfrm>
          <a:prstGeom prst="rect">
            <a:avLst/>
          </a:prstGeom>
          <a:noFill/>
          <a:ln/>
        </p:spPr>
        <p:txBody>
          <a:bodyPr wrap="square" lIns="0" tIns="0" rIns="0" bIns="0" rtlCol="0" anchor="t"/>
          <a:lstStyle/>
          <a:p>
            <a:pPr indent="0" marL="0">
              <a:buNone/>
            </a:pPr>
            <a:r>
              <a:rPr lang="en-US" sz="1050" dirty="0">
                <a:solidFill>
                  <a:schemeClr val="tx2"/>
                </a:solidFill>
              </a:rPr>
              <a:t>credits of specialised training delivered with the Indian team in the first half of 2026 alone</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A jointly approved curriculum: nine training phases, 2023–2026</a:t>
            </a:r>
            <a:endParaRPr lang="en-US" sz="3000" dirty="0"/>
          </a:p>
        </p:txBody>
      </p:sp>
      <p:sp>
        <p:nvSpPr>
          <p:cNvPr id="3" name="card"/>
          <p:cNvSpPr/>
          <p:nvPr/>
        </p:nvSpPr>
        <p:spPr>
          <a:xfrm>
            <a:off x="548640" y="1371600"/>
            <a:ext cx="3566160" cy="1463040"/>
          </a:xfrm>
          <a:prstGeom prst="roundRect">
            <a:avLst>
              <a:gd name="adj" fmla="val 7500"/>
            </a:avLst>
          </a:prstGeom>
          <a:solidFill>
            <a:schemeClr val="bg2"/>
          </a:solidFill>
          <a:ln w="12700">
            <a:solidFill>
              <a:schemeClr val="bg2"/>
            </a:solidFill>
            <a:prstDash val="solid"/>
          </a:ln>
        </p:spPr>
      </p:sp>
      <p:sp>
        <p:nvSpPr>
          <p:cNvPr id="4" name="phase"/>
          <p:cNvSpPr/>
          <p:nvPr/>
        </p:nvSpPr>
        <p:spPr>
          <a:xfrm>
            <a:off x="731520" y="1554480"/>
            <a:ext cx="502920" cy="502920"/>
          </a:xfrm>
          <a:prstGeom prst="ellipse">
            <a:avLst/>
          </a:prstGeom>
          <a:solidFill>
            <a:schemeClr val="accent2"/>
          </a:solidFill>
          <a:ln w="12700">
            <a:solidFill>
              <a:schemeClr val="accent2"/>
            </a:solidFill>
            <a:prstDash val="solid"/>
          </a:ln>
        </p:spPr>
      </p:sp>
      <p:sp>
        <p:nvSpPr>
          <p:cNvPr id="5" name="Text 3"/>
          <p:cNvSpPr txBox="1"/>
          <p:nvPr/>
        </p:nvSpPr>
        <p:spPr>
          <a:xfrm>
            <a:off x="731520" y="1554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554480"/>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Sep–Dec 2023</a:t>
            </a:r>
            <a:endParaRPr lang="en-US" sz="1300" dirty="0"/>
          </a:p>
        </p:txBody>
      </p:sp>
      <p:sp>
        <p:nvSpPr>
          <p:cNvPr id="7" name="Text 5"/>
          <p:cNvSpPr txBox="1"/>
          <p:nvPr/>
        </p:nvSpPr>
        <p:spPr>
          <a:xfrm>
            <a:off x="731520" y="2148840"/>
            <a:ext cx="3200400" cy="640080"/>
          </a:xfrm>
          <a:prstGeom prst="rect">
            <a:avLst/>
          </a:prstGeom>
          <a:noFill/>
          <a:ln/>
        </p:spPr>
        <p:txBody>
          <a:bodyPr wrap="square" lIns="0" tIns="0" rIns="0" bIns="0" rtlCol="0" anchor="t"/>
          <a:lstStyle/>
          <a:p>
            <a:pPr indent="0" marL="0">
              <a:buNone/>
            </a:pPr>
            <a:r>
              <a:rPr lang="en-US" sz="1050" dirty="0">
                <a:solidFill>
                  <a:schemeClr val="tx2"/>
                </a:solidFill>
              </a:rPr>
              <a:t>Instructor programme · Certificate course (network security, malware analysis)</a:t>
            </a:r>
            <a:endParaRPr lang="en-US" sz="1050" dirty="0"/>
          </a:p>
        </p:txBody>
      </p:sp>
      <p:sp>
        <p:nvSpPr>
          <p:cNvPr id="8" name="card"/>
          <p:cNvSpPr/>
          <p:nvPr/>
        </p:nvSpPr>
        <p:spPr>
          <a:xfrm>
            <a:off x="4297680" y="1371600"/>
            <a:ext cx="3566160" cy="1463040"/>
          </a:xfrm>
          <a:prstGeom prst="roundRect">
            <a:avLst>
              <a:gd name="adj" fmla="val 7500"/>
            </a:avLst>
          </a:prstGeom>
          <a:solidFill>
            <a:schemeClr val="bg2"/>
          </a:solidFill>
          <a:ln w="12700">
            <a:solidFill>
              <a:schemeClr val="bg2"/>
            </a:solidFill>
            <a:prstDash val="solid"/>
          </a:ln>
        </p:spPr>
      </p:sp>
      <p:sp>
        <p:nvSpPr>
          <p:cNvPr id="9" name="phase"/>
          <p:cNvSpPr/>
          <p:nvPr/>
        </p:nvSpPr>
        <p:spPr>
          <a:xfrm>
            <a:off x="4480560" y="1554480"/>
            <a:ext cx="502920" cy="502920"/>
          </a:xfrm>
          <a:prstGeom prst="ellipse">
            <a:avLst/>
          </a:prstGeom>
          <a:solidFill>
            <a:schemeClr val="accent2"/>
          </a:solidFill>
          <a:ln w="12700">
            <a:solidFill>
              <a:schemeClr val="accent2"/>
            </a:solidFill>
            <a:prstDash val="solid"/>
          </a:ln>
        </p:spPr>
      </p:sp>
      <p:sp>
        <p:nvSpPr>
          <p:cNvPr id="10" name="Text 8"/>
          <p:cNvSpPr txBox="1"/>
          <p:nvPr/>
        </p:nvSpPr>
        <p:spPr>
          <a:xfrm>
            <a:off x="4480560" y="1554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120640" y="1554480"/>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Jan–Apr 2024</a:t>
            </a:r>
            <a:endParaRPr lang="en-US" sz="1300" dirty="0"/>
          </a:p>
        </p:txBody>
      </p:sp>
      <p:sp>
        <p:nvSpPr>
          <p:cNvPr id="12" name="Text 10"/>
          <p:cNvSpPr txBox="1"/>
          <p:nvPr/>
        </p:nvSpPr>
        <p:spPr>
          <a:xfrm>
            <a:off x="4480560" y="2148840"/>
            <a:ext cx="3200400" cy="640080"/>
          </a:xfrm>
          <a:prstGeom prst="rect">
            <a:avLst/>
          </a:prstGeom>
          <a:noFill/>
          <a:ln/>
        </p:spPr>
        <p:txBody>
          <a:bodyPr wrap="square" lIns="0" tIns="0" rIns="0" bIns="0" rtlCol="0" anchor="t"/>
          <a:lstStyle/>
          <a:p>
            <a:pPr indent="0" marL="0">
              <a:buNone/>
            </a:pPr>
            <a:r>
              <a:rPr lang="en-US" sz="1050" dirty="0">
                <a:solidFill>
                  <a:schemeClr val="tx2"/>
                </a:solidFill>
              </a:rPr>
              <a:t>Basic and intermediate cyber security: networking, network security, cyber security</a:t>
            </a:r>
            <a:endParaRPr lang="en-US" sz="1050" dirty="0"/>
          </a:p>
        </p:txBody>
      </p:sp>
      <p:sp>
        <p:nvSpPr>
          <p:cNvPr id="13" name="card"/>
          <p:cNvSpPr/>
          <p:nvPr/>
        </p:nvSpPr>
        <p:spPr>
          <a:xfrm>
            <a:off x="8046720" y="1371600"/>
            <a:ext cx="3566160" cy="1463040"/>
          </a:xfrm>
          <a:prstGeom prst="roundRect">
            <a:avLst>
              <a:gd name="adj" fmla="val 7500"/>
            </a:avLst>
          </a:prstGeom>
          <a:solidFill>
            <a:schemeClr val="bg2"/>
          </a:solidFill>
          <a:ln w="12700">
            <a:solidFill>
              <a:schemeClr val="bg2"/>
            </a:solidFill>
            <a:prstDash val="solid"/>
          </a:ln>
        </p:spPr>
      </p:sp>
      <p:sp>
        <p:nvSpPr>
          <p:cNvPr id="14" name="phase"/>
          <p:cNvSpPr/>
          <p:nvPr/>
        </p:nvSpPr>
        <p:spPr>
          <a:xfrm>
            <a:off x="8229600" y="155448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8229600" y="1554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869680" y="1554480"/>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May–Aug 2024</a:t>
            </a:r>
            <a:endParaRPr lang="en-US" sz="1300" dirty="0"/>
          </a:p>
        </p:txBody>
      </p:sp>
      <p:sp>
        <p:nvSpPr>
          <p:cNvPr id="17" name="Text 15"/>
          <p:cNvSpPr txBox="1"/>
          <p:nvPr/>
        </p:nvSpPr>
        <p:spPr>
          <a:xfrm>
            <a:off x="8229600" y="2148840"/>
            <a:ext cx="3200400" cy="640080"/>
          </a:xfrm>
          <a:prstGeom prst="rect">
            <a:avLst/>
          </a:prstGeom>
          <a:noFill/>
          <a:ln/>
        </p:spPr>
        <p:txBody>
          <a:bodyPr wrap="square" lIns="0" tIns="0" rIns="0" bIns="0" rtlCol="0" anchor="t"/>
          <a:lstStyle/>
          <a:p>
            <a:pPr indent="0" marL="0">
              <a:buNone/>
            </a:pPr>
            <a:r>
              <a:rPr lang="en-US" sz="1050" dirty="0">
                <a:solidFill>
                  <a:schemeClr val="tx2"/>
                </a:solidFill>
              </a:rPr>
              <a:t>Certified Ethical Hacker (12 weeks) · Coding basics (4 weeks)</a:t>
            </a:r>
            <a:endParaRPr lang="en-US" sz="1050" dirty="0"/>
          </a:p>
        </p:txBody>
      </p:sp>
      <p:sp>
        <p:nvSpPr>
          <p:cNvPr id="18" name="card"/>
          <p:cNvSpPr/>
          <p:nvPr/>
        </p:nvSpPr>
        <p:spPr>
          <a:xfrm>
            <a:off x="548640" y="2944368"/>
            <a:ext cx="3566160" cy="1463040"/>
          </a:xfrm>
          <a:prstGeom prst="roundRect">
            <a:avLst>
              <a:gd name="adj" fmla="val 7500"/>
            </a:avLst>
          </a:prstGeom>
          <a:solidFill>
            <a:schemeClr val="bg2"/>
          </a:solidFill>
          <a:ln w="12700">
            <a:solidFill>
              <a:schemeClr val="bg2"/>
            </a:solidFill>
            <a:prstDash val="solid"/>
          </a:ln>
        </p:spPr>
      </p:sp>
      <p:sp>
        <p:nvSpPr>
          <p:cNvPr id="19" name="phase"/>
          <p:cNvSpPr/>
          <p:nvPr/>
        </p:nvSpPr>
        <p:spPr>
          <a:xfrm>
            <a:off x="731520" y="3127248"/>
            <a:ext cx="502920" cy="502920"/>
          </a:xfrm>
          <a:prstGeom prst="ellipse">
            <a:avLst/>
          </a:prstGeom>
          <a:solidFill>
            <a:schemeClr val="accent2"/>
          </a:solidFill>
          <a:ln w="12700">
            <a:solidFill>
              <a:schemeClr val="accent2"/>
            </a:solidFill>
            <a:prstDash val="solid"/>
          </a:ln>
        </p:spPr>
      </p:sp>
      <p:sp>
        <p:nvSpPr>
          <p:cNvPr id="20" name="Text 18"/>
          <p:cNvSpPr txBox="1"/>
          <p:nvPr/>
        </p:nvSpPr>
        <p:spPr>
          <a:xfrm>
            <a:off x="731520" y="312724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371600" y="3127248"/>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Sep–Dec 2024</a:t>
            </a:r>
            <a:endParaRPr lang="en-US" sz="1300" dirty="0"/>
          </a:p>
        </p:txBody>
      </p:sp>
      <p:sp>
        <p:nvSpPr>
          <p:cNvPr id="22" name="Text 20"/>
          <p:cNvSpPr txBox="1"/>
          <p:nvPr/>
        </p:nvSpPr>
        <p:spPr>
          <a:xfrm>
            <a:off x="731520" y="3721608"/>
            <a:ext cx="3200400" cy="640080"/>
          </a:xfrm>
          <a:prstGeom prst="rect">
            <a:avLst/>
          </a:prstGeom>
          <a:noFill/>
          <a:ln/>
        </p:spPr>
        <p:txBody>
          <a:bodyPr wrap="square" lIns="0" tIns="0" rIns="0" bIns="0" rtlCol="0" anchor="t"/>
          <a:lstStyle/>
          <a:p>
            <a:pPr indent="0" marL="0">
              <a:buNone/>
            </a:pPr>
            <a:r>
              <a:rPr lang="en-US" sz="1050" dirty="0">
                <a:solidFill>
                  <a:schemeClr val="tx2"/>
                </a:solidFill>
              </a:rPr>
              <a:t>Malware analysis (8 weeks) · Digital forensics (8 weeks)</a:t>
            </a:r>
            <a:endParaRPr lang="en-US" sz="1050" dirty="0"/>
          </a:p>
        </p:txBody>
      </p:sp>
      <p:sp>
        <p:nvSpPr>
          <p:cNvPr id="23" name="card"/>
          <p:cNvSpPr/>
          <p:nvPr/>
        </p:nvSpPr>
        <p:spPr>
          <a:xfrm>
            <a:off x="4297680" y="2944368"/>
            <a:ext cx="3566160" cy="1463040"/>
          </a:xfrm>
          <a:prstGeom prst="roundRect">
            <a:avLst>
              <a:gd name="adj" fmla="val 7500"/>
            </a:avLst>
          </a:prstGeom>
          <a:solidFill>
            <a:schemeClr val="bg2"/>
          </a:solidFill>
          <a:ln w="12700">
            <a:solidFill>
              <a:schemeClr val="bg2"/>
            </a:solidFill>
            <a:prstDash val="solid"/>
          </a:ln>
        </p:spPr>
      </p:sp>
      <p:sp>
        <p:nvSpPr>
          <p:cNvPr id="24" name="phase"/>
          <p:cNvSpPr/>
          <p:nvPr/>
        </p:nvSpPr>
        <p:spPr>
          <a:xfrm>
            <a:off x="4480560" y="3127248"/>
            <a:ext cx="502920" cy="502920"/>
          </a:xfrm>
          <a:prstGeom prst="ellipse">
            <a:avLst/>
          </a:prstGeom>
          <a:solidFill>
            <a:schemeClr val="accent2"/>
          </a:solidFill>
          <a:ln w="12700">
            <a:solidFill>
              <a:schemeClr val="accent2"/>
            </a:solidFill>
            <a:prstDash val="solid"/>
          </a:ln>
        </p:spPr>
      </p:sp>
      <p:sp>
        <p:nvSpPr>
          <p:cNvPr id="25" name="Text 23"/>
          <p:cNvSpPr txBox="1"/>
          <p:nvPr/>
        </p:nvSpPr>
        <p:spPr>
          <a:xfrm>
            <a:off x="4480560" y="312724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5120640" y="3127248"/>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Jan–Apr 2025</a:t>
            </a:r>
            <a:endParaRPr lang="en-US" sz="1300" dirty="0"/>
          </a:p>
        </p:txBody>
      </p:sp>
      <p:sp>
        <p:nvSpPr>
          <p:cNvPr id="27" name="Text 25"/>
          <p:cNvSpPr txBox="1"/>
          <p:nvPr/>
        </p:nvSpPr>
        <p:spPr>
          <a:xfrm>
            <a:off x="4480560" y="3721608"/>
            <a:ext cx="3200400" cy="640080"/>
          </a:xfrm>
          <a:prstGeom prst="rect">
            <a:avLst/>
          </a:prstGeom>
          <a:noFill/>
          <a:ln/>
        </p:spPr>
        <p:txBody>
          <a:bodyPr wrap="square" lIns="0" tIns="0" rIns="0" bIns="0" rtlCol="0" anchor="t"/>
          <a:lstStyle/>
          <a:p>
            <a:pPr indent="0" marL="0">
              <a:buNone/>
            </a:pPr>
            <a:r>
              <a:rPr lang="en-US" sz="1050" dirty="0">
                <a:solidFill>
                  <a:schemeClr val="tx2"/>
                </a:solidFill>
              </a:rPr>
              <a:t>Network administrator (8 weeks) · Data security · Cryptography</a:t>
            </a:r>
            <a:endParaRPr lang="en-US" sz="1050" dirty="0"/>
          </a:p>
        </p:txBody>
      </p:sp>
      <p:sp>
        <p:nvSpPr>
          <p:cNvPr id="28" name="card"/>
          <p:cNvSpPr/>
          <p:nvPr/>
        </p:nvSpPr>
        <p:spPr>
          <a:xfrm>
            <a:off x="8046720" y="2944368"/>
            <a:ext cx="3566160" cy="1463040"/>
          </a:xfrm>
          <a:prstGeom prst="roundRect">
            <a:avLst>
              <a:gd name="adj" fmla="val 7500"/>
            </a:avLst>
          </a:prstGeom>
          <a:solidFill>
            <a:schemeClr val="bg2"/>
          </a:solidFill>
          <a:ln w="12700">
            <a:solidFill>
              <a:schemeClr val="bg2"/>
            </a:solidFill>
            <a:prstDash val="solid"/>
          </a:ln>
        </p:spPr>
      </p:sp>
      <p:sp>
        <p:nvSpPr>
          <p:cNvPr id="29" name="phase"/>
          <p:cNvSpPr/>
          <p:nvPr/>
        </p:nvSpPr>
        <p:spPr>
          <a:xfrm>
            <a:off x="8229600" y="3127248"/>
            <a:ext cx="502920" cy="502920"/>
          </a:xfrm>
          <a:prstGeom prst="ellipse">
            <a:avLst/>
          </a:prstGeom>
          <a:solidFill>
            <a:schemeClr val="accent2"/>
          </a:solidFill>
          <a:ln w="12700">
            <a:solidFill>
              <a:schemeClr val="accent2"/>
            </a:solidFill>
            <a:prstDash val="solid"/>
          </a:ln>
        </p:spPr>
      </p:sp>
      <p:sp>
        <p:nvSpPr>
          <p:cNvPr id="30" name="Text 28"/>
          <p:cNvSpPr txBox="1"/>
          <p:nvPr/>
        </p:nvSpPr>
        <p:spPr>
          <a:xfrm>
            <a:off x="8229600" y="312724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1" name="Text 29"/>
          <p:cNvSpPr txBox="1"/>
          <p:nvPr/>
        </p:nvSpPr>
        <p:spPr>
          <a:xfrm>
            <a:off x="8869680" y="3127248"/>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May–Aug 2025</a:t>
            </a:r>
            <a:endParaRPr lang="en-US" sz="1300" dirty="0"/>
          </a:p>
        </p:txBody>
      </p:sp>
      <p:sp>
        <p:nvSpPr>
          <p:cNvPr id="32" name="Text 30"/>
          <p:cNvSpPr txBox="1"/>
          <p:nvPr/>
        </p:nvSpPr>
        <p:spPr>
          <a:xfrm>
            <a:off x="8229600" y="3721608"/>
            <a:ext cx="3200400" cy="640080"/>
          </a:xfrm>
          <a:prstGeom prst="rect">
            <a:avLst/>
          </a:prstGeom>
          <a:noFill/>
          <a:ln/>
        </p:spPr>
        <p:txBody>
          <a:bodyPr wrap="square" lIns="0" tIns="0" rIns="0" bIns="0" rtlCol="0" anchor="t"/>
          <a:lstStyle/>
          <a:p>
            <a:pPr indent="0" marL="0">
              <a:buNone/>
            </a:pPr>
            <a:r>
              <a:rPr lang="en-US" sz="1050" dirty="0">
                <a:solidFill>
                  <a:schemeClr val="tx2"/>
                </a:solidFill>
              </a:rPr>
              <a:t>Vulnerability assessment and penetration testing (12 weeks) · Cyber security audit</a:t>
            </a:r>
            <a:endParaRPr lang="en-US" sz="1050" dirty="0"/>
          </a:p>
        </p:txBody>
      </p:sp>
      <p:sp>
        <p:nvSpPr>
          <p:cNvPr id="33" name="card"/>
          <p:cNvSpPr/>
          <p:nvPr/>
        </p:nvSpPr>
        <p:spPr>
          <a:xfrm>
            <a:off x="548640" y="4517136"/>
            <a:ext cx="3566160" cy="1463040"/>
          </a:xfrm>
          <a:prstGeom prst="roundRect">
            <a:avLst>
              <a:gd name="adj" fmla="val 7500"/>
            </a:avLst>
          </a:prstGeom>
          <a:solidFill>
            <a:schemeClr val="bg2"/>
          </a:solidFill>
          <a:ln w="12700">
            <a:solidFill>
              <a:schemeClr val="bg2"/>
            </a:solidFill>
            <a:prstDash val="solid"/>
          </a:ln>
        </p:spPr>
      </p:sp>
      <p:sp>
        <p:nvSpPr>
          <p:cNvPr id="34" name="phase"/>
          <p:cNvSpPr/>
          <p:nvPr/>
        </p:nvSpPr>
        <p:spPr>
          <a:xfrm>
            <a:off x="731520" y="4700016"/>
            <a:ext cx="502920" cy="502920"/>
          </a:xfrm>
          <a:prstGeom prst="ellipse">
            <a:avLst/>
          </a:prstGeom>
          <a:solidFill>
            <a:schemeClr val="accent1"/>
          </a:solidFill>
          <a:ln w="12700">
            <a:solidFill>
              <a:schemeClr val="accent1"/>
            </a:solidFill>
            <a:prstDash val="solid"/>
          </a:ln>
        </p:spPr>
      </p:sp>
      <p:sp>
        <p:nvSpPr>
          <p:cNvPr id="35" name="Text 33"/>
          <p:cNvSpPr txBox="1"/>
          <p:nvPr/>
        </p:nvSpPr>
        <p:spPr>
          <a:xfrm>
            <a:off x="731520" y="4700016"/>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36" name="Text 34"/>
          <p:cNvSpPr txBox="1"/>
          <p:nvPr/>
        </p:nvSpPr>
        <p:spPr>
          <a:xfrm>
            <a:off x="1371600" y="4700016"/>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Sep–Dec 2025</a:t>
            </a:r>
            <a:endParaRPr lang="en-US" sz="1300" dirty="0"/>
          </a:p>
        </p:txBody>
      </p:sp>
      <p:sp>
        <p:nvSpPr>
          <p:cNvPr id="37" name="Text 35"/>
          <p:cNvSpPr txBox="1"/>
          <p:nvPr/>
        </p:nvSpPr>
        <p:spPr>
          <a:xfrm>
            <a:off x="731520" y="5294376"/>
            <a:ext cx="3200400" cy="640080"/>
          </a:xfrm>
          <a:prstGeom prst="rect">
            <a:avLst/>
          </a:prstGeom>
          <a:noFill/>
          <a:ln/>
        </p:spPr>
        <p:txBody>
          <a:bodyPr wrap="square" lIns="0" tIns="0" rIns="0" bIns="0" rtlCol="0" anchor="t"/>
          <a:lstStyle/>
          <a:p>
            <a:pPr indent="0" marL="0">
              <a:buNone/>
            </a:pPr>
            <a:r>
              <a:rPr lang="en-US" sz="1050" dirty="0">
                <a:solidFill>
                  <a:schemeClr val="tx2"/>
                </a:solidFill>
              </a:rPr>
              <a:t>Foundation: operating systems, network security, programming, data security and cryptography, red/blue team concepts</a:t>
            </a:r>
            <a:endParaRPr lang="en-US" sz="1050" dirty="0"/>
          </a:p>
        </p:txBody>
      </p:sp>
      <p:sp>
        <p:nvSpPr>
          <p:cNvPr id="38" name="card"/>
          <p:cNvSpPr/>
          <p:nvPr/>
        </p:nvSpPr>
        <p:spPr>
          <a:xfrm>
            <a:off x="4297680" y="4517136"/>
            <a:ext cx="3566160" cy="1463040"/>
          </a:xfrm>
          <a:prstGeom prst="roundRect">
            <a:avLst>
              <a:gd name="adj" fmla="val 7500"/>
            </a:avLst>
          </a:prstGeom>
          <a:solidFill>
            <a:schemeClr val="bg2"/>
          </a:solidFill>
          <a:ln w="12700">
            <a:solidFill>
              <a:schemeClr val="bg2"/>
            </a:solidFill>
            <a:prstDash val="solid"/>
          </a:ln>
        </p:spPr>
      </p:sp>
      <p:sp>
        <p:nvSpPr>
          <p:cNvPr id="39" name="phase"/>
          <p:cNvSpPr/>
          <p:nvPr/>
        </p:nvSpPr>
        <p:spPr>
          <a:xfrm>
            <a:off x="4480560" y="4700016"/>
            <a:ext cx="502920" cy="502920"/>
          </a:xfrm>
          <a:prstGeom prst="ellipse">
            <a:avLst/>
          </a:prstGeom>
          <a:solidFill>
            <a:schemeClr val="accent1"/>
          </a:solidFill>
          <a:ln w="12700">
            <a:solidFill>
              <a:schemeClr val="accent1"/>
            </a:solidFill>
            <a:prstDash val="solid"/>
          </a:ln>
        </p:spPr>
      </p:sp>
      <p:sp>
        <p:nvSpPr>
          <p:cNvPr id="40" name="Text 38"/>
          <p:cNvSpPr txBox="1"/>
          <p:nvPr/>
        </p:nvSpPr>
        <p:spPr>
          <a:xfrm>
            <a:off x="4480560" y="4700016"/>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sp>
        <p:nvSpPr>
          <p:cNvPr id="41" name="Text 39"/>
          <p:cNvSpPr txBox="1"/>
          <p:nvPr/>
        </p:nvSpPr>
        <p:spPr>
          <a:xfrm>
            <a:off x="5120640" y="4700016"/>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Dec 2025–Mar 2026</a:t>
            </a:r>
            <a:endParaRPr lang="en-US" sz="1300" dirty="0"/>
          </a:p>
        </p:txBody>
      </p:sp>
      <p:sp>
        <p:nvSpPr>
          <p:cNvPr id="42" name="Text 40"/>
          <p:cNvSpPr txBox="1"/>
          <p:nvPr/>
        </p:nvSpPr>
        <p:spPr>
          <a:xfrm>
            <a:off x="4480560" y="5294376"/>
            <a:ext cx="3200400" cy="640080"/>
          </a:xfrm>
          <a:prstGeom prst="rect">
            <a:avLst/>
          </a:prstGeom>
          <a:noFill/>
          <a:ln/>
        </p:spPr>
        <p:txBody>
          <a:bodyPr wrap="square" lIns="0" tIns="0" rIns="0" bIns="0" rtlCol="0" anchor="t"/>
          <a:lstStyle/>
          <a:p>
            <a:pPr indent="0" marL="0">
              <a:buNone/>
            </a:pPr>
            <a:r>
              <a:rPr lang="en-US" sz="1050" dirty="0">
                <a:solidFill>
                  <a:schemeClr val="tx2"/>
                </a:solidFill>
              </a:rPr>
              <a:t>Defensive (Blue Team): SOC analyst, malware analysis, digital forensics, cyber security audit</a:t>
            </a:r>
            <a:endParaRPr lang="en-US" sz="1050" dirty="0"/>
          </a:p>
        </p:txBody>
      </p:sp>
      <p:sp>
        <p:nvSpPr>
          <p:cNvPr id="43" name="card"/>
          <p:cNvSpPr/>
          <p:nvPr/>
        </p:nvSpPr>
        <p:spPr>
          <a:xfrm>
            <a:off x="8046720" y="4517136"/>
            <a:ext cx="3566160" cy="1463040"/>
          </a:xfrm>
          <a:prstGeom prst="roundRect">
            <a:avLst>
              <a:gd name="adj" fmla="val 7500"/>
            </a:avLst>
          </a:prstGeom>
          <a:solidFill>
            <a:schemeClr val="bg2"/>
          </a:solidFill>
          <a:ln w="12700">
            <a:solidFill>
              <a:schemeClr val="bg2"/>
            </a:solidFill>
            <a:prstDash val="solid"/>
          </a:ln>
        </p:spPr>
      </p:sp>
      <p:sp>
        <p:nvSpPr>
          <p:cNvPr id="44" name="phase"/>
          <p:cNvSpPr/>
          <p:nvPr/>
        </p:nvSpPr>
        <p:spPr>
          <a:xfrm>
            <a:off x="8229600" y="4700016"/>
            <a:ext cx="502920" cy="502920"/>
          </a:xfrm>
          <a:prstGeom prst="ellipse">
            <a:avLst/>
          </a:prstGeom>
          <a:solidFill>
            <a:schemeClr val="accent1"/>
          </a:solidFill>
          <a:ln w="12700">
            <a:solidFill>
              <a:schemeClr val="accent1"/>
            </a:solidFill>
            <a:prstDash val="solid"/>
          </a:ln>
        </p:spPr>
      </p:sp>
      <p:sp>
        <p:nvSpPr>
          <p:cNvPr id="45" name="Text 43"/>
          <p:cNvSpPr txBox="1"/>
          <p:nvPr/>
        </p:nvSpPr>
        <p:spPr>
          <a:xfrm>
            <a:off x="8229600" y="4700016"/>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9</a:t>
            </a:r>
            <a:endParaRPr lang="en-US" sz="1600" dirty="0"/>
          </a:p>
        </p:txBody>
      </p:sp>
      <p:sp>
        <p:nvSpPr>
          <p:cNvPr id="46" name="Text 44"/>
          <p:cNvSpPr txBox="1"/>
          <p:nvPr/>
        </p:nvSpPr>
        <p:spPr>
          <a:xfrm>
            <a:off x="8869680" y="4700016"/>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Mar–Jul 2026</a:t>
            </a:r>
            <a:endParaRPr lang="en-US" sz="1300" dirty="0"/>
          </a:p>
        </p:txBody>
      </p:sp>
      <p:sp>
        <p:nvSpPr>
          <p:cNvPr id="47" name="Text 45"/>
          <p:cNvSpPr txBox="1"/>
          <p:nvPr/>
        </p:nvSpPr>
        <p:spPr>
          <a:xfrm>
            <a:off x="8229600" y="5294376"/>
            <a:ext cx="3200400" cy="640080"/>
          </a:xfrm>
          <a:prstGeom prst="rect">
            <a:avLst/>
          </a:prstGeom>
          <a:noFill/>
          <a:ln/>
        </p:spPr>
        <p:txBody>
          <a:bodyPr wrap="square" lIns="0" tIns="0" rIns="0" bIns="0" rtlCol="0" anchor="t"/>
          <a:lstStyle/>
          <a:p>
            <a:pPr indent="0" marL="0">
              <a:buNone/>
            </a:pPr>
            <a:r>
              <a:rPr lang="en-US" sz="1050" dirty="0">
                <a:solidFill>
                  <a:schemeClr val="tx2"/>
                </a:solidFill>
              </a:rPr>
              <a:t>Advanced: VAPT (5 weeks), CERT operations (5 weeks), military cyber security operations (4 weeks)</a:t>
            </a:r>
            <a:endParaRPr lang="en-US" sz="1050" dirty="0"/>
          </a:p>
        </p:txBody>
      </p:sp>
      <p:sp>
        <p:nvSpPr>
          <p:cNvPr id="48" name="Text 46"/>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050" i="1" dirty="0">
                <a:solidFill>
                  <a:schemeClr val="tx2"/>
                </a:solidFill>
              </a:rPr>
              <a:t>Plan approved by the NDU Rector with the Indian training teams in 2024; phases 7–9 (orange) are the 2025–26 professional cycle. Course programmes exist in English and Mongolian.</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Who we train: the whole military and law-enforcement sector</a:t>
            </a:r>
            <a:endParaRPr lang="en-US" sz="3000" dirty="0"/>
          </a:p>
        </p:txBody>
      </p:sp>
      <p:sp>
        <p:nvSpPr>
          <p:cNvPr id="3" name="icon circle"/>
          <p:cNvSpPr/>
          <p:nvPr/>
        </p:nvSpPr>
        <p:spPr>
          <a:xfrm>
            <a:off x="548640" y="1463040"/>
            <a:ext cx="566928" cy="566928"/>
          </a:xfrm>
          <a:prstGeom prst="ellipse">
            <a:avLst/>
          </a:prstGeom>
          <a:solidFill>
            <a:schemeClr val="accent2"/>
          </a:solidFill>
          <a:ln w="12700">
            <a:solidFill>
              <a:schemeClr val="accent2"/>
            </a:solidFill>
            <a:prstDash val="solid"/>
          </a:ln>
        </p:spPr>
      </p:sp>
      <p:pic>
        <p:nvPicPr>
          <p:cNvPr id="4" name="FaShieldAlt" descr="preencoded.png">    </p:cNvPr>
          <p:cNvPicPr>
            <a:picLocks noChangeAspect="1"/>
          </p:cNvPicPr>
          <p:nvPr/>
        </p:nvPicPr>
        <p:blipFill>
          <a:blip r:embed="rId1"/>
          <a:stretch>
            <a:fillRect/>
          </a:stretch>
        </p:blipFill>
        <p:spPr>
          <a:xfrm>
            <a:off x="696041" y="1610441"/>
            <a:ext cx="272125" cy="272125"/>
          </a:xfrm>
          <a:prstGeom prst="rect">
            <a:avLst/>
          </a:prstGeom>
        </p:spPr>
      </p:pic>
      <p:sp>
        <p:nvSpPr>
          <p:cNvPr id="5" name="Text 2"/>
          <p:cNvSpPr txBox="1"/>
          <p:nvPr/>
        </p:nvSpPr>
        <p:spPr>
          <a:xfrm>
            <a:off x="1280160" y="1371600"/>
            <a:ext cx="5120640" cy="822960"/>
          </a:xfrm>
          <a:prstGeom prst="rect">
            <a:avLst/>
          </a:prstGeom>
          <a:noFill/>
          <a:ln/>
        </p:spPr>
        <p:txBody>
          <a:bodyPr wrap="square" lIns="0" tIns="0" rIns="0" bIns="0" rtlCol="0" anchor="ctr"/>
          <a:lstStyle/>
          <a:p>
            <a:pPr indent="0" marL="0">
              <a:buNone/>
            </a:pPr>
            <a:r>
              <a:rPr lang="en-US" sz="1250" dirty="0">
                <a:solidFill>
                  <a:schemeClr val="tx1"/>
                </a:solidFill>
              </a:rPr>
              <a:t>Cyber Security Military Command of the Armed Forces – principal partner; its officers formed the first cohorts (2023)</a:t>
            </a:r>
            <a:endParaRPr lang="en-US" sz="1250" dirty="0"/>
          </a:p>
        </p:txBody>
      </p:sp>
      <p:sp>
        <p:nvSpPr>
          <p:cNvPr id="6" name="icon circle"/>
          <p:cNvSpPr/>
          <p:nvPr/>
        </p:nvSpPr>
        <p:spPr>
          <a:xfrm>
            <a:off x="548640" y="2423160"/>
            <a:ext cx="566928" cy="566928"/>
          </a:xfrm>
          <a:prstGeom prst="ellipse">
            <a:avLst/>
          </a:prstGeom>
          <a:solidFill>
            <a:schemeClr val="accent2"/>
          </a:solidFill>
          <a:ln w="12700">
            <a:solidFill>
              <a:schemeClr val="accent2"/>
            </a:solidFill>
            <a:prstDash val="solid"/>
          </a:ln>
        </p:spPr>
      </p:sp>
      <p:pic>
        <p:nvPicPr>
          <p:cNvPr id="7" name="FaUsers" descr="preencoded.png">    </p:cNvPr>
          <p:cNvPicPr>
            <a:picLocks noChangeAspect="1"/>
          </p:cNvPicPr>
          <p:nvPr/>
        </p:nvPicPr>
        <p:blipFill>
          <a:blip r:embed="rId2"/>
          <a:stretch>
            <a:fillRect/>
          </a:stretch>
        </p:blipFill>
        <p:spPr>
          <a:xfrm>
            <a:off x="696041" y="2570561"/>
            <a:ext cx="272125" cy="272125"/>
          </a:xfrm>
          <a:prstGeom prst="rect">
            <a:avLst/>
          </a:prstGeom>
        </p:spPr>
      </p:pic>
      <p:sp>
        <p:nvSpPr>
          <p:cNvPr id="8" name="Text 4"/>
          <p:cNvSpPr txBox="1"/>
          <p:nvPr/>
        </p:nvSpPr>
        <p:spPr>
          <a:xfrm>
            <a:off x="1280160" y="2331720"/>
            <a:ext cx="5120640" cy="822960"/>
          </a:xfrm>
          <a:prstGeom prst="rect">
            <a:avLst/>
          </a:prstGeom>
          <a:noFill/>
          <a:ln/>
        </p:spPr>
        <p:txBody>
          <a:bodyPr wrap="square" lIns="0" tIns="0" rIns="0" bIns="0" rtlCol="0" anchor="ctr"/>
          <a:lstStyle/>
          <a:p>
            <a:pPr indent="0" marL="0">
              <a:buNone/>
            </a:pPr>
            <a:r>
              <a:rPr lang="en-US" sz="1250" dirty="0">
                <a:solidFill>
                  <a:schemeClr val="tx1"/>
                </a:solidFill>
              </a:rPr>
              <a:t>Armed Forces units and the General Staff – e.g. awareness training for units 016 and 011 (2025–2026)</a:t>
            </a:r>
            <a:endParaRPr lang="en-US" sz="1250" dirty="0"/>
          </a:p>
        </p:txBody>
      </p:sp>
      <p:sp>
        <p:nvSpPr>
          <p:cNvPr id="9" name="icon circle"/>
          <p:cNvSpPr/>
          <p:nvPr/>
        </p:nvSpPr>
        <p:spPr>
          <a:xfrm>
            <a:off x="548640" y="3383280"/>
            <a:ext cx="566928" cy="566928"/>
          </a:xfrm>
          <a:prstGeom prst="ellipse">
            <a:avLst/>
          </a:prstGeom>
          <a:solidFill>
            <a:schemeClr val="accent2"/>
          </a:solidFill>
          <a:ln w="12700">
            <a:solidFill>
              <a:schemeClr val="accent2"/>
            </a:solidFill>
            <a:prstDash val="solid"/>
          </a:ln>
        </p:spPr>
      </p:sp>
      <p:pic>
        <p:nvPicPr>
          <p:cNvPr id="10" name="FaUniversity" descr="preencoded.png">    </p:cNvPr>
          <p:cNvPicPr>
            <a:picLocks noChangeAspect="1"/>
          </p:cNvPicPr>
          <p:nvPr/>
        </p:nvPicPr>
        <p:blipFill>
          <a:blip r:embed="rId3"/>
          <a:stretch>
            <a:fillRect/>
          </a:stretch>
        </p:blipFill>
        <p:spPr>
          <a:xfrm>
            <a:off x="696041" y="3530681"/>
            <a:ext cx="272125" cy="272125"/>
          </a:xfrm>
          <a:prstGeom prst="rect">
            <a:avLst/>
          </a:prstGeom>
        </p:spPr>
      </p:pic>
      <p:sp>
        <p:nvSpPr>
          <p:cNvPr id="11" name="Text 6"/>
          <p:cNvSpPr txBox="1"/>
          <p:nvPr/>
        </p:nvSpPr>
        <p:spPr>
          <a:xfrm>
            <a:off x="1280160" y="3291840"/>
            <a:ext cx="5120640" cy="822960"/>
          </a:xfrm>
          <a:prstGeom prst="rect">
            <a:avLst/>
          </a:prstGeom>
          <a:noFill/>
          <a:ln/>
        </p:spPr>
        <p:txBody>
          <a:bodyPr wrap="square" lIns="0" tIns="0" rIns="0" bIns="0" rtlCol="0" anchor="ctr"/>
          <a:lstStyle/>
          <a:p>
            <a:pPr indent="0" marL="0">
              <a:buNone/>
            </a:pPr>
            <a:r>
              <a:rPr lang="en-US" sz="1250" dirty="0">
                <a:solidFill>
                  <a:schemeClr val="tx1"/>
                </a:solidFill>
              </a:rPr>
              <a:t>NDU faculty, cadets and students – instructor programme (2023) and 156–162 credits of bachelor teaching a year</a:t>
            </a:r>
            <a:endParaRPr lang="en-US" sz="1250" dirty="0"/>
          </a:p>
        </p:txBody>
      </p:sp>
      <p:sp>
        <p:nvSpPr>
          <p:cNvPr id="12" name="icon circle"/>
          <p:cNvSpPr/>
          <p:nvPr/>
        </p:nvSpPr>
        <p:spPr>
          <a:xfrm>
            <a:off x="548640" y="4343400"/>
            <a:ext cx="566928" cy="566928"/>
          </a:xfrm>
          <a:prstGeom prst="ellipse">
            <a:avLst/>
          </a:prstGeom>
          <a:solidFill>
            <a:schemeClr val="accent2"/>
          </a:solidFill>
          <a:ln w="12700">
            <a:solidFill>
              <a:schemeClr val="accent2"/>
            </a:solidFill>
            <a:prstDash val="solid"/>
          </a:ln>
        </p:spPr>
      </p:sp>
      <p:pic>
        <p:nvPicPr>
          <p:cNvPr id="13" name="FaGavel" descr="preencoded.png">    </p:cNvPr>
          <p:cNvPicPr>
            <a:picLocks noChangeAspect="1"/>
          </p:cNvPicPr>
          <p:nvPr/>
        </p:nvPicPr>
        <p:blipFill>
          <a:blip r:embed="rId4"/>
          <a:stretch>
            <a:fillRect/>
          </a:stretch>
        </p:blipFill>
        <p:spPr>
          <a:xfrm>
            <a:off x="696041" y="4490801"/>
            <a:ext cx="272125" cy="272125"/>
          </a:xfrm>
          <a:prstGeom prst="rect">
            <a:avLst/>
          </a:prstGeom>
        </p:spPr>
      </p:pic>
      <p:sp>
        <p:nvSpPr>
          <p:cNvPr id="14" name="Text 8"/>
          <p:cNvSpPr txBox="1"/>
          <p:nvPr/>
        </p:nvSpPr>
        <p:spPr>
          <a:xfrm>
            <a:off x="1280160" y="4251960"/>
            <a:ext cx="5120640" cy="822960"/>
          </a:xfrm>
          <a:prstGeom prst="rect">
            <a:avLst/>
          </a:prstGeom>
          <a:noFill/>
          <a:ln/>
        </p:spPr>
        <p:txBody>
          <a:bodyPr wrap="square" lIns="0" tIns="0" rIns="0" bIns="0" rtlCol="0" anchor="ctr"/>
          <a:lstStyle/>
          <a:p>
            <a:pPr indent="0" marL="0">
              <a:buNone/>
            </a:pPr>
            <a:r>
              <a:rPr lang="en-US" sz="1250" dirty="0">
                <a:solidFill>
                  <a:schemeClr val="tx1"/>
                </a:solidFill>
              </a:rPr>
              <a:t>Law-enforcement and security agencies – General Intelligence Agency, State Special Protection, Capital Emergency Department</a:t>
            </a:r>
            <a:endParaRPr lang="en-US" sz="1250" dirty="0"/>
          </a:p>
        </p:txBody>
      </p:sp>
      <p:sp>
        <p:nvSpPr>
          <p:cNvPr id="15" name="icon circle"/>
          <p:cNvSpPr/>
          <p:nvPr/>
        </p:nvSpPr>
        <p:spPr>
          <a:xfrm>
            <a:off x="548640" y="5303520"/>
            <a:ext cx="566928" cy="566928"/>
          </a:xfrm>
          <a:prstGeom prst="ellipse">
            <a:avLst/>
          </a:prstGeom>
          <a:solidFill>
            <a:schemeClr val="accent2"/>
          </a:solidFill>
          <a:ln w="12700">
            <a:solidFill>
              <a:schemeClr val="accent2"/>
            </a:solidFill>
            <a:prstDash val="solid"/>
          </a:ln>
        </p:spPr>
      </p:sp>
      <p:pic>
        <p:nvPicPr>
          <p:cNvPr id="16" name="FaBuilding" descr="preencoded.png">    </p:cNvPr>
          <p:cNvPicPr>
            <a:picLocks noChangeAspect="1"/>
          </p:cNvPicPr>
          <p:nvPr/>
        </p:nvPicPr>
        <p:blipFill>
          <a:blip r:embed="rId5"/>
          <a:stretch>
            <a:fillRect/>
          </a:stretch>
        </p:blipFill>
        <p:spPr>
          <a:xfrm>
            <a:off x="696041" y="5450921"/>
            <a:ext cx="272125" cy="272125"/>
          </a:xfrm>
          <a:prstGeom prst="rect">
            <a:avLst/>
          </a:prstGeom>
        </p:spPr>
      </p:pic>
      <p:sp>
        <p:nvSpPr>
          <p:cNvPr id="17" name="Text 10"/>
          <p:cNvSpPr txBox="1"/>
          <p:nvPr/>
        </p:nvSpPr>
        <p:spPr>
          <a:xfrm>
            <a:off x="1280160" y="5212080"/>
            <a:ext cx="5120640" cy="822960"/>
          </a:xfrm>
          <a:prstGeom prst="rect">
            <a:avLst/>
          </a:prstGeom>
          <a:noFill/>
          <a:ln/>
        </p:spPr>
        <p:txBody>
          <a:bodyPr wrap="square" lIns="0" tIns="0" rIns="0" bIns="0" rtlCol="0" anchor="ctr"/>
          <a:lstStyle/>
          <a:p>
            <a:pPr indent="0" marL="0">
              <a:buNone/>
            </a:pPr>
            <a:r>
              <a:rPr lang="en-US" sz="1250" dirty="0">
                <a:solidFill>
                  <a:schemeClr val="tx1"/>
                </a:solidFill>
              </a:rPr>
              <a:t>National programmes – executor of the National Security Council's cyber capacity programme (2025)</a:t>
            </a:r>
            <a:endParaRPr lang="en-US" sz="1250" dirty="0"/>
          </a:p>
        </p:txBody>
      </p:sp>
      <p:sp>
        <p:nvSpPr>
          <p:cNvPr id="18" name="card"/>
          <p:cNvSpPr/>
          <p:nvPr/>
        </p:nvSpPr>
        <p:spPr>
          <a:xfrm>
            <a:off x="6766560" y="1371600"/>
            <a:ext cx="2377440" cy="1463040"/>
          </a:xfrm>
          <a:prstGeom prst="roundRect">
            <a:avLst>
              <a:gd name="adj" fmla="val 7500"/>
            </a:avLst>
          </a:prstGeom>
          <a:solidFill>
            <a:schemeClr val="bg2"/>
          </a:solidFill>
          <a:ln w="12700">
            <a:solidFill>
              <a:schemeClr val="bg2"/>
            </a:solidFill>
            <a:prstDash val="solid"/>
          </a:ln>
        </p:spPr>
      </p:sp>
      <p:sp>
        <p:nvSpPr>
          <p:cNvPr id="19" name="Text 12"/>
          <p:cNvSpPr txBox="1"/>
          <p:nvPr/>
        </p:nvSpPr>
        <p:spPr>
          <a:xfrm>
            <a:off x="6949440" y="1463040"/>
            <a:ext cx="2011680" cy="73152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8</a:t>
            </a:r>
            <a:endParaRPr lang="en-US" sz="3000" dirty="0"/>
          </a:p>
        </p:txBody>
      </p:sp>
      <p:sp>
        <p:nvSpPr>
          <p:cNvPr id="20" name="Text 13"/>
          <p:cNvSpPr txBox="1"/>
          <p:nvPr/>
        </p:nvSpPr>
        <p:spPr>
          <a:xfrm>
            <a:off x="6949440" y="2220163"/>
            <a:ext cx="2011680" cy="585216"/>
          </a:xfrm>
          <a:prstGeom prst="rect">
            <a:avLst/>
          </a:prstGeom>
          <a:noFill/>
          <a:ln/>
        </p:spPr>
        <p:txBody>
          <a:bodyPr wrap="square" lIns="0" tIns="0" rIns="0" bIns="0" rtlCol="0" anchor="t"/>
          <a:lstStyle/>
          <a:p>
            <a:pPr indent="0" marL="0">
              <a:buNone/>
            </a:pPr>
            <a:r>
              <a:rPr lang="en-US" sz="1000" dirty="0">
                <a:solidFill>
                  <a:schemeClr val="tx2"/>
                </a:solidFill>
              </a:rPr>
              <a:t>training contracts with agencies and individuals for paid specialised courses (2025–2026)</a:t>
            </a:r>
            <a:endParaRPr lang="en-US" sz="1000" dirty="0"/>
          </a:p>
        </p:txBody>
      </p:sp>
      <p:sp>
        <p:nvSpPr>
          <p:cNvPr id="21" name="card"/>
          <p:cNvSpPr/>
          <p:nvPr/>
        </p:nvSpPr>
        <p:spPr>
          <a:xfrm>
            <a:off x="9235440" y="1371600"/>
            <a:ext cx="2377440" cy="1463040"/>
          </a:xfrm>
          <a:prstGeom prst="roundRect">
            <a:avLst>
              <a:gd name="adj" fmla="val 7500"/>
            </a:avLst>
          </a:prstGeom>
          <a:solidFill>
            <a:schemeClr val="bg2"/>
          </a:solidFill>
          <a:ln w="12700">
            <a:solidFill>
              <a:schemeClr val="bg2"/>
            </a:solidFill>
            <a:prstDash val="solid"/>
          </a:ln>
        </p:spPr>
      </p:sp>
      <p:sp>
        <p:nvSpPr>
          <p:cNvPr id="22" name="Text 15"/>
          <p:cNvSpPr txBox="1"/>
          <p:nvPr/>
        </p:nvSpPr>
        <p:spPr>
          <a:xfrm>
            <a:off x="9418320" y="1463040"/>
            <a:ext cx="2011680" cy="73152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22</a:t>
            </a:r>
            <a:endParaRPr lang="en-US" sz="3000" dirty="0"/>
          </a:p>
        </p:txBody>
      </p:sp>
      <p:sp>
        <p:nvSpPr>
          <p:cNvPr id="23" name="Text 16"/>
          <p:cNvSpPr txBox="1"/>
          <p:nvPr/>
        </p:nvSpPr>
        <p:spPr>
          <a:xfrm>
            <a:off x="9418320" y="2220163"/>
            <a:ext cx="2011680" cy="585216"/>
          </a:xfrm>
          <a:prstGeom prst="rect">
            <a:avLst/>
          </a:prstGeom>
          <a:noFill/>
          <a:ln/>
        </p:spPr>
        <p:txBody>
          <a:bodyPr wrap="square" lIns="0" tIns="0" rIns="0" bIns="0" rtlCol="0" anchor="t"/>
          <a:lstStyle/>
          <a:p>
            <a:pPr indent="0" marL="0">
              <a:buNone/>
            </a:pPr>
            <a:r>
              <a:rPr lang="en-US" sz="1000" dirty="0">
                <a:solidFill>
                  <a:schemeClr val="tx2"/>
                </a:solidFill>
              </a:rPr>
              <a:t>high-school pupils certified in the 2025 career-outreach programme</a:t>
            </a:r>
            <a:endParaRPr lang="en-US" sz="1000" dirty="0"/>
          </a:p>
        </p:txBody>
      </p:sp>
      <p:sp>
        <p:nvSpPr>
          <p:cNvPr id="24" name="card"/>
          <p:cNvSpPr/>
          <p:nvPr/>
        </p:nvSpPr>
        <p:spPr>
          <a:xfrm>
            <a:off x="6766560" y="2971800"/>
            <a:ext cx="2377440" cy="1463040"/>
          </a:xfrm>
          <a:prstGeom prst="roundRect">
            <a:avLst>
              <a:gd name="adj" fmla="val 7500"/>
            </a:avLst>
          </a:prstGeom>
          <a:solidFill>
            <a:schemeClr val="bg2"/>
          </a:solidFill>
          <a:ln w="12700">
            <a:solidFill>
              <a:schemeClr val="bg2"/>
            </a:solidFill>
            <a:prstDash val="solid"/>
          </a:ln>
        </p:spPr>
      </p:sp>
      <p:sp>
        <p:nvSpPr>
          <p:cNvPr id="25" name="Text 18"/>
          <p:cNvSpPr txBox="1"/>
          <p:nvPr/>
        </p:nvSpPr>
        <p:spPr>
          <a:xfrm>
            <a:off x="6949440" y="3063240"/>
            <a:ext cx="2011680" cy="73152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3</a:t>
            </a:r>
            <a:endParaRPr lang="en-US" sz="3000" dirty="0"/>
          </a:p>
        </p:txBody>
      </p:sp>
      <p:sp>
        <p:nvSpPr>
          <p:cNvPr id="26" name="Text 19"/>
          <p:cNvSpPr txBox="1"/>
          <p:nvPr/>
        </p:nvSpPr>
        <p:spPr>
          <a:xfrm>
            <a:off x="6949440" y="3820363"/>
            <a:ext cx="2011680" cy="585216"/>
          </a:xfrm>
          <a:prstGeom prst="rect">
            <a:avLst/>
          </a:prstGeom>
          <a:noFill/>
          <a:ln/>
        </p:spPr>
        <p:txBody>
          <a:bodyPr wrap="square" lIns="0" tIns="0" rIns="0" bIns="0" rtlCol="0" anchor="t"/>
          <a:lstStyle/>
          <a:p>
            <a:pPr indent="0" marL="0">
              <a:buNone/>
            </a:pPr>
            <a:r>
              <a:rPr lang="en-US" sz="1000" dirty="0">
                <a:solidFill>
                  <a:schemeClr val="tx2"/>
                </a:solidFill>
              </a:rPr>
              <a:t>bachelor programmes run by the Department: cyber security, network engineering, software engineering (military)</a:t>
            </a:r>
            <a:endParaRPr lang="en-US" sz="1000" dirty="0"/>
          </a:p>
        </p:txBody>
      </p:sp>
      <p:sp>
        <p:nvSpPr>
          <p:cNvPr id="27" name="card"/>
          <p:cNvSpPr/>
          <p:nvPr/>
        </p:nvSpPr>
        <p:spPr>
          <a:xfrm>
            <a:off x="9235440" y="2971800"/>
            <a:ext cx="2377440" cy="1463040"/>
          </a:xfrm>
          <a:prstGeom prst="roundRect">
            <a:avLst>
              <a:gd name="adj" fmla="val 7500"/>
            </a:avLst>
          </a:prstGeom>
          <a:solidFill>
            <a:schemeClr val="bg2"/>
          </a:solidFill>
          <a:ln w="12700">
            <a:solidFill>
              <a:schemeClr val="bg2"/>
            </a:solidFill>
            <a:prstDash val="solid"/>
          </a:ln>
        </p:spPr>
      </p:sp>
      <p:sp>
        <p:nvSpPr>
          <p:cNvPr id="28" name="Text 21"/>
          <p:cNvSpPr txBox="1"/>
          <p:nvPr/>
        </p:nvSpPr>
        <p:spPr>
          <a:xfrm>
            <a:off x="9418320" y="3063240"/>
            <a:ext cx="2011680" cy="73152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2026</a:t>
            </a:r>
            <a:endParaRPr lang="en-US" sz="3000" dirty="0"/>
          </a:p>
        </p:txBody>
      </p:sp>
      <p:sp>
        <p:nvSpPr>
          <p:cNvPr id="29" name="Text 22"/>
          <p:cNvSpPr txBox="1"/>
          <p:nvPr/>
        </p:nvSpPr>
        <p:spPr>
          <a:xfrm>
            <a:off x="9418320" y="3820363"/>
            <a:ext cx="2011680" cy="585216"/>
          </a:xfrm>
          <a:prstGeom prst="rect">
            <a:avLst/>
          </a:prstGeom>
          <a:noFill/>
          <a:ln/>
        </p:spPr>
        <p:txBody>
          <a:bodyPr wrap="square" lIns="0" tIns="0" rIns="0" bIns="0" rtlCol="0" anchor="t"/>
          <a:lstStyle/>
          <a:p>
            <a:pPr indent="0" marL="0">
              <a:buNone/>
            </a:pPr>
            <a:r>
              <a:rPr lang="en-US" sz="1000" dirty="0">
                <a:solidFill>
                  <a:schemeClr val="tx2"/>
                </a:solidFill>
              </a:rPr>
              <a:t>first graduation of the cyber security bachelor programme</a:t>
            </a:r>
            <a:endParaRPr lang="en-US" sz="1000" dirty="0"/>
          </a:p>
        </p:txBody>
      </p:sp>
      <p:pic>
        <p:nvPicPr>
          <p:cNvPr id="30" name="certificate_award.jpg" descr="/home/user/research-material/india-cyber-cooperation/images/certificate_award.jpg">    </p:cNvPr>
          <p:cNvPicPr>
            <a:picLocks noChangeAspect="1"/>
          </p:cNvPicPr>
          <p:nvPr/>
        </p:nvPicPr>
        <p:blipFill>
          <a:blip r:embed="rId6"/>
          <a:srcRect l="0" r="0" t="0" b="0"/>
          <a:stretch/>
        </p:blipFill>
        <p:spPr>
          <a:xfrm>
            <a:off x="6766560" y="4617720"/>
            <a:ext cx="4846320" cy="1600200"/>
          </a:xfrm>
          <a:prstGeom prst="rect">
            <a:avLst/>
          </a:prstGeom>
        </p:spPr>
      </p:pic>
      <p:sp>
        <p:nvSpPr>
          <p:cNvPr id="31" name="Text 23"/>
          <p:cNvSpPr txBox="1"/>
          <p:nvPr/>
        </p:nvSpPr>
        <p:spPr>
          <a:xfrm>
            <a:off x="6766560" y="6236208"/>
            <a:ext cx="4846320" cy="228600"/>
          </a:xfrm>
          <a:prstGeom prst="rect">
            <a:avLst/>
          </a:prstGeom>
          <a:noFill/>
          <a:ln/>
        </p:spPr>
        <p:txBody>
          <a:bodyPr wrap="square" lIns="0" tIns="0" rIns="0" bIns="0" rtlCol="0" anchor="t"/>
          <a:lstStyle/>
          <a:p>
            <a:pPr indent="0" marL="0">
              <a:buNone/>
            </a:pPr>
            <a:r>
              <a:rPr lang="en-US" sz="1000" dirty="0">
                <a:solidFill>
                  <a:schemeClr val="tx2"/>
                </a:solidFill>
              </a:rPr>
              <a:t>Certificates presented with the Indian training team</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Research, textbooks and innovation built on the Centre</a:t>
            </a:r>
            <a:endParaRPr lang="en-US" sz="3000" dirty="0"/>
          </a:p>
        </p:txBody>
      </p:sp>
      <p:pic>
        <p:nvPicPr>
          <p:cNvPr id="3" name="books.png" descr="/home/user/research-material/india-cyber-cooperation/images/books.png">    </p:cNvPr>
          <p:cNvPicPr>
            <a:picLocks noChangeAspect="1"/>
          </p:cNvPicPr>
          <p:nvPr/>
        </p:nvPicPr>
        <p:blipFill>
          <a:blip r:embed="rId1"/>
          <a:srcRect l="0" r="0" t="0" b="0"/>
          <a:stretch/>
        </p:blipFill>
        <p:spPr>
          <a:xfrm>
            <a:off x="548640" y="1371600"/>
            <a:ext cx="4937760" cy="2286000"/>
          </a:xfrm>
          <a:prstGeom prst="rect">
            <a:avLst/>
          </a:prstGeom>
        </p:spPr>
      </p:pic>
      <p:sp>
        <p:nvSpPr>
          <p:cNvPr id="4" name="Text 1"/>
          <p:cNvSpPr txBox="1"/>
          <p:nvPr/>
        </p:nvSpPr>
        <p:spPr>
          <a:xfrm>
            <a:off x="548640" y="3703320"/>
            <a:ext cx="4937760" cy="457200"/>
          </a:xfrm>
          <a:prstGeom prst="rect">
            <a:avLst/>
          </a:prstGeom>
          <a:noFill/>
          <a:ln/>
        </p:spPr>
        <p:txBody>
          <a:bodyPr wrap="square" lIns="0" tIns="0" rIns="0" bIns="0" rtlCol="0" anchor="t"/>
          <a:lstStyle/>
          <a:p>
            <a:pPr indent="0" marL="0">
              <a:buNone/>
            </a:pPr>
            <a:r>
              <a:rPr lang="en-US" sz="1050" dirty="0">
                <a:solidFill>
                  <a:schemeClr val="tx2"/>
                </a:solidFill>
              </a:rPr>
              <a:t>Eight English-language textbooks compiled by the Department (2025) and the BEKHI learning system</a:t>
            </a:r>
            <a:endParaRPr lang="en-US" sz="1050" dirty="0"/>
          </a:p>
        </p:txBody>
      </p:sp>
      <p:pic>
        <p:nvPicPr>
          <p:cNvPr id="5" name="lab_hires.jpg" descr="/home/user/research-material/india-cyber-cooperation/images/lab_hires.jpg">    </p:cNvPr>
          <p:cNvPicPr>
            <a:picLocks noChangeAspect="1"/>
          </p:cNvPicPr>
          <p:nvPr/>
        </p:nvPicPr>
        <p:blipFill>
          <a:blip r:embed="rId2"/>
          <a:srcRect l="0" r="0" t="0" b="0"/>
          <a:stretch/>
        </p:blipFill>
        <p:spPr>
          <a:xfrm>
            <a:off x="548640" y="4206240"/>
            <a:ext cx="4937760" cy="1965960"/>
          </a:xfrm>
          <a:prstGeom prst="rect">
            <a:avLst/>
          </a:prstGeom>
        </p:spPr>
      </p:pic>
      <p:sp>
        <p:nvSpPr>
          <p:cNvPr id="6" name="card"/>
          <p:cNvSpPr/>
          <p:nvPr/>
        </p:nvSpPr>
        <p:spPr>
          <a:xfrm>
            <a:off x="5760720" y="1371600"/>
            <a:ext cx="5852160" cy="1124712"/>
          </a:xfrm>
          <a:prstGeom prst="roundRect">
            <a:avLst>
              <a:gd name="adj" fmla="val 9756"/>
            </a:avLst>
          </a:prstGeom>
          <a:solidFill>
            <a:schemeClr val="bg2"/>
          </a:solidFill>
          <a:ln w="12700">
            <a:solidFill>
              <a:schemeClr val="bg2"/>
            </a:solidFill>
            <a:prstDash val="solid"/>
          </a:ln>
        </p:spPr>
      </p:sp>
      <p:sp>
        <p:nvSpPr>
          <p:cNvPr id="7" name="icon circle"/>
          <p:cNvSpPr/>
          <p:nvPr/>
        </p:nvSpPr>
        <p:spPr>
          <a:xfrm>
            <a:off x="5943600" y="1554480"/>
            <a:ext cx="502920" cy="502920"/>
          </a:xfrm>
          <a:prstGeom prst="ellipse">
            <a:avLst/>
          </a:prstGeom>
          <a:solidFill>
            <a:schemeClr val="accent1"/>
          </a:solidFill>
          <a:ln w="12700">
            <a:solidFill>
              <a:schemeClr val="accent1"/>
            </a:solidFill>
            <a:prstDash val="solid"/>
          </a:ln>
        </p:spPr>
      </p:sp>
      <p:pic>
        <p:nvPicPr>
          <p:cNvPr id="8" name="FaBookOpen" descr="preencoded.png">    </p:cNvPr>
          <p:cNvPicPr>
            <a:picLocks noChangeAspect="1"/>
          </p:cNvPicPr>
          <p:nvPr/>
        </p:nvPicPr>
        <p:blipFill>
          <a:blip r:embed="rId3"/>
          <a:stretch>
            <a:fillRect/>
          </a:stretch>
        </p:blipFill>
        <p:spPr>
          <a:xfrm>
            <a:off x="6074359" y="1685239"/>
            <a:ext cx="241402" cy="241402"/>
          </a:xfrm>
          <a:prstGeom prst="rect">
            <a:avLst/>
          </a:prstGeom>
        </p:spPr>
      </p:pic>
      <p:sp>
        <p:nvSpPr>
          <p:cNvPr id="9" name="Text 4"/>
          <p:cNvSpPr txBox="1"/>
          <p:nvPr/>
        </p:nvSpPr>
        <p:spPr>
          <a:xfrm>
            <a:off x="6583680" y="1481328"/>
            <a:ext cx="4937760" cy="320040"/>
          </a:xfrm>
          <a:prstGeom prst="rect">
            <a:avLst/>
          </a:prstGeom>
          <a:noFill/>
          <a:ln/>
        </p:spPr>
        <p:txBody>
          <a:bodyPr wrap="square" lIns="0" tIns="0" rIns="0" bIns="0" rtlCol="0" anchor="ctr"/>
          <a:lstStyle/>
          <a:p>
            <a:pPr indent="0" marL="0">
              <a:buNone/>
            </a:pPr>
            <a:r>
              <a:rPr lang="en-US" sz="1250" b="1" dirty="0">
                <a:solidFill>
                  <a:schemeClr val="tx1"/>
                </a:solidFill>
              </a:rPr>
              <a:t>8 English-language textbooks with ISBN (2025)</a:t>
            </a:r>
            <a:endParaRPr lang="en-US" sz="1250" dirty="0"/>
          </a:p>
        </p:txBody>
      </p:sp>
      <p:sp>
        <p:nvSpPr>
          <p:cNvPr id="10" name="Text 5"/>
          <p:cNvSpPr txBox="1"/>
          <p:nvPr/>
        </p:nvSpPr>
        <p:spPr>
          <a:xfrm>
            <a:off x="6583680" y="1801368"/>
            <a:ext cx="4937760" cy="658368"/>
          </a:xfrm>
          <a:prstGeom prst="rect">
            <a:avLst/>
          </a:prstGeom>
          <a:noFill/>
          <a:ln/>
        </p:spPr>
        <p:txBody>
          <a:bodyPr wrap="square" lIns="0" tIns="0" rIns="0" bIns="0" rtlCol="0" anchor="t"/>
          <a:lstStyle/>
          <a:p>
            <a:pPr indent="0" marL="0">
              <a:buNone/>
            </a:pPr>
            <a:r>
              <a:rPr lang="en-US" sz="1000" dirty="0">
                <a:solidFill>
                  <a:schemeClr val="tx2"/>
                </a:solidFill>
              </a:rPr>
              <a:t>Network security, malware analysis, digital forensics, SOC analyst, network administrator, data security and cryptography, web security, information systems audit – 20 copies each in the NDU library</a:t>
            </a:r>
            <a:endParaRPr lang="en-US" sz="1000" dirty="0"/>
          </a:p>
        </p:txBody>
      </p:sp>
      <p:sp>
        <p:nvSpPr>
          <p:cNvPr id="11" name="card"/>
          <p:cNvSpPr/>
          <p:nvPr/>
        </p:nvSpPr>
        <p:spPr>
          <a:xfrm>
            <a:off x="5760720" y="2587752"/>
            <a:ext cx="5852160" cy="1124712"/>
          </a:xfrm>
          <a:prstGeom prst="roundRect">
            <a:avLst>
              <a:gd name="adj" fmla="val 9756"/>
            </a:avLst>
          </a:prstGeom>
          <a:solidFill>
            <a:schemeClr val="bg2"/>
          </a:solidFill>
          <a:ln w="12700">
            <a:solidFill>
              <a:schemeClr val="bg2"/>
            </a:solidFill>
            <a:prstDash val="solid"/>
          </a:ln>
        </p:spPr>
      </p:sp>
      <p:sp>
        <p:nvSpPr>
          <p:cNvPr id="12" name="icon circle"/>
          <p:cNvSpPr/>
          <p:nvPr/>
        </p:nvSpPr>
        <p:spPr>
          <a:xfrm>
            <a:off x="5943600" y="2770632"/>
            <a:ext cx="502920" cy="502920"/>
          </a:xfrm>
          <a:prstGeom prst="ellipse">
            <a:avLst/>
          </a:prstGeom>
          <a:solidFill>
            <a:schemeClr val="accent2"/>
          </a:solidFill>
          <a:ln w="12700">
            <a:solidFill>
              <a:schemeClr val="accent2"/>
            </a:solidFill>
            <a:prstDash val="solid"/>
          </a:ln>
        </p:spPr>
      </p:sp>
      <p:pic>
        <p:nvPicPr>
          <p:cNvPr id="13" name="FaLightbulb" descr="preencoded.png">    </p:cNvPr>
          <p:cNvPicPr>
            <a:picLocks noChangeAspect="1"/>
          </p:cNvPicPr>
          <p:nvPr/>
        </p:nvPicPr>
        <p:blipFill>
          <a:blip r:embed="rId4"/>
          <a:stretch>
            <a:fillRect/>
          </a:stretch>
        </p:blipFill>
        <p:spPr>
          <a:xfrm>
            <a:off x="6074359" y="2901391"/>
            <a:ext cx="241402" cy="241402"/>
          </a:xfrm>
          <a:prstGeom prst="rect">
            <a:avLst/>
          </a:prstGeom>
        </p:spPr>
      </p:pic>
      <p:sp>
        <p:nvSpPr>
          <p:cNvPr id="14" name="Text 8"/>
          <p:cNvSpPr txBox="1"/>
          <p:nvPr/>
        </p:nvSpPr>
        <p:spPr>
          <a:xfrm>
            <a:off x="6583680" y="2697480"/>
            <a:ext cx="4937760" cy="320040"/>
          </a:xfrm>
          <a:prstGeom prst="rect">
            <a:avLst/>
          </a:prstGeom>
          <a:noFill/>
          <a:ln/>
        </p:spPr>
        <p:txBody>
          <a:bodyPr wrap="square" lIns="0" tIns="0" rIns="0" bIns="0" rtlCol="0" anchor="ctr"/>
          <a:lstStyle/>
          <a:p>
            <a:pPr indent="0" marL="0">
              <a:buNone/>
            </a:pPr>
            <a:r>
              <a:rPr lang="en-US" sz="1250" b="1" dirty="0">
                <a:solidFill>
                  <a:schemeClr val="tx1"/>
                </a:solidFill>
              </a:rPr>
              <a:t>BEKHI learning system</a:t>
            </a:r>
            <a:endParaRPr lang="en-US" sz="1250" dirty="0"/>
          </a:p>
        </p:txBody>
      </p:sp>
      <p:sp>
        <p:nvSpPr>
          <p:cNvPr id="15" name="Text 9"/>
          <p:cNvSpPr txBox="1"/>
          <p:nvPr/>
        </p:nvSpPr>
        <p:spPr>
          <a:xfrm>
            <a:off x="6583680" y="3017520"/>
            <a:ext cx="4937760" cy="658368"/>
          </a:xfrm>
          <a:prstGeom prst="rect">
            <a:avLst/>
          </a:prstGeom>
          <a:noFill/>
          <a:ln/>
        </p:spPr>
        <p:txBody>
          <a:bodyPr wrap="square" lIns="0" tIns="0" rIns="0" bIns="0" rtlCol="0" anchor="t"/>
          <a:lstStyle/>
          <a:p>
            <a:pPr indent="0" marL="0">
              <a:buNone/>
            </a:pPr>
            <a:r>
              <a:rPr lang="en-US" sz="1000" dirty="0">
                <a:solidFill>
                  <a:schemeClr val="tx2"/>
                </a:solidFill>
              </a:rPr>
              <a:t>Developed by the faculty; in use since 2025–26 with BigBlueButton, Articulate 360 and H5P. Best innovation, NDU Academic Conference 2025; 2nd place, Defence Minister's STI award 2025</a:t>
            </a:r>
            <a:endParaRPr lang="en-US" sz="1000" dirty="0"/>
          </a:p>
        </p:txBody>
      </p:sp>
      <p:sp>
        <p:nvSpPr>
          <p:cNvPr id="16" name="card"/>
          <p:cNvSpPr/>
          <p:nvPr/>
        </p:nvSpPr>
        <p:spPr>
          <a:xfrm>
            <a:off x="5760720" y="3803904"/>
            <a:ext cx="5852160" cy="1124712"/>
          </a:xfrm>
          <a:prstGeom prst="roundRect">
            <a:avLst>
              <a:gd name="adj" fmla="val 9756"/>
            </a:avLst>
          </a:prstGeom>
          <a:solidFill>
            <a:schemeClr val="bg2"/>
          </a:solidFill>
          <a:ln w="12700">
            <a:solidFill>
              <a:schemeClr val="bg2"/>
            </a:solidFill>
            <a:prstDash val="solid"/>
          </a:ln>
        </p:spPr>
      </p:sp>
      <p:sp>
        <p:nvSpPr>
          <p:cNvPr id="17" name="icon circle"/>
          <p:cNvSpPr/>
          <p:nvPr/>
        </p:nvSpPr>
        <p:spPr>
          <a:xfrm>
            <a:off x="5943600" y="3986784"/>
            <a:ext cx="502920" cy="502920"/>
          </a:xfrm>
          <a:prstGeom prst="ellipse">
            <a:avLst/>
          </a:prstGeom>
          <a:solidFill>
            <a:schemeClr val="accent1"/>
          </a:solidFill>
          <a:ln w="12700">
            <a:solidFill>
              <a:schemeClr val="accent1"/>
            </a:solidFill>
            <a:prstDash val="solid"/>
          </a:ln>
        </p:spPr>
      </p:sp>
      <p:pic>
        <p:nvPicPr>
          <p:cNvPr id="18" name="FaFlask" descr="preencoded.png">    </p:cNvPr>
          <p:cNvPicPr>
            <a:picLocks noChangeAspect="1"/>
          </p:cNvPicPr>
          <p:nvPr/>
        </p:nvPicPr>
        <p:blipFill>
          <a:blip r:embed="rId5"/>
          <a:stretch>
            <a:fillRect/>
          </a:stretch>
        </p:blipFill>
        <p:spPr>
          <a:xfrm>
            <a:off x="6074359" y="4117543"/>
            <a:ext cx="241402" cy="241402"/>
          </a:xfrm>
          <a:prstGeom prst="rect">
            <a:avLst/>
          </a:prstGeom>
        </p:spPr>
      </p:pic>
      <p:sp>
        <p:nvSpPr>
          <p:cNvPr id="19" name="Text 12"/>
          <p:cNvSpPr txBox="1"/>
          <p:nvPr/>
        </p:nvSpPr>
        <p:spPr>
          <a:xfrm>
            <a:off x="6583680" y="3913632"/>
            <a:ext cx="4937760" cy="320040"/>
          </a:xfrm>
          <a:prstGeom prst="rect">
            <a:avLst/>
          </a:prstGeom>
          <a:noFill/>
          <a:ln/>
        </p:spPr>
        <p:txBody>
          <a:bodyPr wrap="square" lIns="0" tIns="0" rIns="0" bIns="0" rtlCol="0" anchor="ctr"/>
          <a:lstStyle/>
          <a:p>
            <a:pPr indent="0" marL="0">
              <a:buNone/>
            </a:pPr>
            <a:r>
              <a:rPr lang="en-US" sz="1250" b="1" dirty="0">
                <a:solidFill>
                  <a:schemeClr val="tx1"/>
                </a:solidFill>
              </a:rPr>
              <a:t>Publications and conferences</a:t>
            </a:r>
            <a:endParaRPr lang="en-US" sz="1250" dirty="0"/>
          </a:p>
        </p:txBody>
      </p:sp>
      <p:sp>
        <p:nvSpPr>
          <p:cNvPr id="20" name="Text 13"/>
          <p:cNvSpPr txBox="1"/>
          <p:nvPr/>
        </p:nvSpPr>
        <p:spPr>
          <a:xfrm>
            <a:off x="6583680" y="4233672"/>
            <a:ext cx="4937760" cy="658368"/>
          </a:xfrm>
          <a:prstGeom prst="rect">
            <a:avLst/>
          </a:prstGeom>
          <a:noFill/>
          <a:ln/>
        </p:spPr>
        <p:txBody>
          <a:bodyPr wrap="square" lIns="0" tIns="0" rIns="0" bIns="0" rtlCol="0" anchor="t"/>
          <a:lstStyle/>
          <a:p>
            <a:pPr indent="0" marL="0">
              <a:buNone/>
            </a:pPr>
            <a:r>
              <a:rPr lang="en-US" sz="1000" dirty="0">
                <a:solidFill>
                  <a:schemeClr val="tx2"/>
                </a:solidFill>
              </a:rPr>
              <a:t>8 journal articles in 2025 (MN/EN/RU); sector conference 'Cyber security: current state, change and reform', 2–3 Feb 2026, with five universities and academies</a:t>
            </a:r>
            <a:endParaRPr lang="en-US" sz="1000" dirty="0"/>
          </a:p>
        </p:txBody>
      </p:sp>
      <p:sp>
        <p:nvSpPr>
          <p:cNvPr id="21" name="card"/>
          <p:cNvSpPr/>
          <p:nvPr/>
        </p:nvSpPr>
        <p:spPr>
          <a:xfrm>
            <a:off x="5760720" y="5020056"/>
            <a:ext cx="5852160" cy="1124712"/>
          </a:xfrm>
          <a:prstGeom prst="roundRect">
            <a:avLst>
              <a:gd name="adj" fmla="val 9756"/>
            </a:avLst>
          </a:prstGeom>
          <a:solidFill>
            <a:schemeClr val="bg2"/>
          </a:solidFill>
          <a:ln w="12700">
            <a:solidFill>
              <a:schemeClr val="bg2"/>
            </a:solidFill>
            <a:prstDash val="solid"/>
          </a:ln>
        </p:spPr>
      </p:sp>
      <p:sp>
        <p:nvSpPr>
          <p:cNvPr id="22" name="icon circle"/>
          <p:cNvSpPr/>
          <p:nvPr/>
        </p:nvSpPr>
        <p:spPr>
          <a:xfrm>
            <a:off x="5943600" y="5202936"/>
            <a:ext cx="502920" cy="502920"/>
          </a:xfrm>
          <a:prstGeom prst="ellipse">
            <a:avLst/>
          </a:prstGeom>
          <a:solidFill>
            <a:schemeClr val="accent2"/>
          </a:solidFill>
          <a:ln w="12700">
            <a:solidFill>
              <a:schemeClr val="accent2"/>
            </a:solidFill>
            <a:prstDash val="solid"/>
          </a:ln>
        </p:spPr>
      </p:sp>
      <p:pic>
        <p:nvPicPr>
          <p:cNvPr id="23" name="FaTrophy" descr="preencoded.png">    </p:cNvPr>
          <p:cNvPicPr>
            <a:picLocks noChangeAspect="1"/>
          </p:cNvPicPr>
          <p:nvPr/>
        </p:nvPicPr>
        <p:blipFill>
          <a:blip r:embed="rId6"/>
          <a:stretch>
            <a:fillRect/>
          </a:stretch>
        </p:blipFill>
        <p:spPr>
          <a:xfrm>
            <a:off x="6074359" y="5333695"/>
            <a:ext cx="241402" cy="241402"/>
          </a:xfrm>
          <a:prstGeom prst="rect">
            <a:avLst/>
          </a:prstGeom>
        </p:spPr>
      </p:pic>
      <p:sp>
        <p:nvSpPr>
          <p:cNvPr id="24" name="Text 16"/>
          <p:cNvSpPr txBox="1"/>
          <p:nvPr/>
        </p:nvSpPr>
        <p:spPr>
          <a:xfrm>
            <a:off x="6583680" y="5129784"/>
            <a:ext cx="4937760" cy="320040"/>
          </a:xfrm>
          <a:prstGeom prst="rect">
            <a:avLst/>
          </a:prstGeom>
          <a:noFill/>
          <a:ln/>
        </p:spPr>
        <p:txBody>
          <a:bodyPr wrap="square" lIns="0" tIns="0" rIns="0" bIns="0" rtlCol="0" anchor="ctr"/>
          <a:lstStyle/>
          <a:p>
            <a:pPr indent="0" marL="0">
              <a:buNone/>
            </a:pPr>
            <a:r>
              <a:rPr lang="en-US" sz="1250" b="1" dirty="0">
                <a:solidFill>
                  <a:schemeClr val="tx1"/>
                </a:solidFill>
              </a:rPr>
              <a:t>Competitions</a:t>
            </a:r>
            <a:endParaRPr lang="en-US" sz="1250" dirty="0"/>
          </a:p>
        </p:txBody>
      </p:sp>
      <p:sp>
        <p:nvSpPr>
          <p:cNvPr id="25" name="Text 17"/>
          <p:cNvSpPr txBox="1"/>
          <p:nvPr/>
        </p:nvSpPr>
        <p:spPr>
          <a:xfrm>
            <a:off x="6583680" y="5449824"/>
            <a:ext cx="4937760" cy="658368"/>
          </a:xfrm>
          <a:prstGeom prst="rect">
            <a:avLst/>
          </a:prstGeom>
          <a:noFill/>
          <a:ln/>
        </p:spPr>
        <p:txBody>
          <a:bodyPr wrap="square" lIns="0" tIns="0" rIns="0" bIns="0" rtlCol="0" anchor="t"/>
          <a:lstStyle/>
          <a:p>
            <a:pPr indent="0" marL="0">
              <a:buNone/>
            </a:pPr>
            <a:r>
              <a:rPr lang="en-US" sz="1000" dirty="0">
                <a:solidFill>
                  <a:schemeClr val="tx2"/>
                </a:solidFill>
              </a:rPr>
              <a:t>DefendX-2024 and DefendX-2026 skills competitions; 1st place at the 14th National Computer Network Olympiad 2026 (cadet B. Bat-Orgil)</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Faculty development and a widening partner network</a:t>
            </a:r>
            <a:endParaRPr lang="en-US" sz="3000" dirty="0"/>
          </a:p>
        </p:txBody>
      </p:sp>
      <p:sp>
        <p:nvSpPr>
          <p:cNvPr id="3" name="card"/>
          <p:cNvSpPr/>
          <p:nvPr/>
        </p:nvSpPr>
        <p:spPr>
          <a:xfrm>
            <a:off x="548640" y="1371600"/>
            <a:ext cx="5394960" cy="4846320"/>
          </a:xfrm>
          <a:prstGeom prst="roundRect">
            <a:avLst>
              <a:gd name="adj" fmla="val 2264"/>
            </a:avLst>
          </a:prstGeom>
          <a:solidFill>
            <a:schemeClr val="bg2"/>
          </a:solidFill>
          <a:ln w="12700">
            <a:solidFill>
              <a:schemeClr val="bg2"/>
            </a:solidFill>
            <a:prstDash val="solid"/>
          </a:ln>
        </p:spPr>
      </p:sp>
      <p:sp>
        <p:nvSpPr>
          <p:cNvPr id="4" name="icon circle"/>
          <p:cNvSpPr/>
          <p:nvPr/>
        </p:nvSpPr>
        <p:spPr>
          <a:xfrm>
            <a:off x="777240" y="1600200"/>
            <a:ext cx="594360" cy="594360"/>
          </a:xfrm>
          <a:prstGeom prst="ellipse">
            <a:avLst/>
          </a:prstGeom>
          <a:solidFill>
            <a:schemeClr val="accent1"/>
          </a:solidFill>
          <a:ln w="12700">
            <a:solidFill>
              <a:schemeClr val="accent1"/>
            </a:solidFill>
            <a:prstDash val="solid"/>
          </a:ln>
        </p:spPr>
      </p:sp>
      <p:pic>
        <p:nvPicPr>
          <p:cNvPr id="5" name="FaGraduationCap" descr="preencoded.png">    </p:cNvPr>
          <p:cNvPicPr>
            <a:picLocks noChangeAspect="1"/>
          </p:cNvPicPr>
          <p:nvPr/>
        </p:nvPicPr>
        <p:blipFill>
          <a:blip r:embed="rId1"/>
          <a:stretch>
            <a:fillRect/>
          </a:stretch>
        </p:blipFill>
        <p:spPr>
          <a:xfrm>
            <a:off x="931774" y="1754734"/>
            <a:ext cx="285293" cy="285293"/>
          </a:xfrm>
          <a:prstGeom prst="rect">
            <a:avLst/>
          </a:prstGeom>
        </p:spPr>
      </p:pic>
      <p:sp>
        <p:nvSpPr>
          <p:cNvPr id="6" name="Text 3"/>
          <p:cNvSpPr txBox="1"/>
          <p:nvPr/>
        </p:nvSpPr>
        <p:spPr>
          <a:xfrm>
            <a:off x="1508760" y="1600200"/>
            <a:ext cx="4114800" cy="594360"/>
          </a:xfrm>
          <a:prstGeom prst="rect">
            <a:avLst/>
          </a:prstGeom>
          <a:noFill/>
          <a:ln/>
        </p:spPr>
        <p:txBody>
          <a:bodyPr wrap="square" lIns="0" tIns="0" rIns="0" bIns="0" rtlCol="0" anchor="ctr"/>
          <a:lstStyle/>
          <a:p>
            <a:pPr indent="0" marL="0">
              <a:buNone/>
            </a:pPr>
            <a:r>
              <a:rPr lang="en-US" sz="1700" b="1" dirty="0">
                <a:solidFill>
                  <a:schemeClr val="tx1"/>
                </a:solidFill>
              </a:rPr>
              <a:t>Faculty development</a:t>
            </a:r>
            <a:endParaRPr lang="en-US" sz="1700" dirty="0"/>
          </a:p>
        </p:txBody>
      </p:sp>
      <p:sp>
        <p:nvSpPr>
          <p:cNvPr id="7" name="Text 4"/>
          <p:cNvSpPr txBox="1"/>
          <p:nvPr/>
        </p:nvSpPr>
        <p:spPr>
          <a:xfrm>
            <a:off x="822960" y="2377440"/>
            <a:ext cx="484632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Lt Ch. Enkhbaatar completed a cyber security professional course in India (2024–25)</a:t>
            </a:r>
            <a:endParaRPr lang="en-US" sz="1200" dirty="0"/>
          </a:p>
          <a:p>
            <a:pPr marL="177800" indent="-177800">
              <a:spcAft>
                <a:spcPts val="800"/>
              </a:spcAft>
              <a:buSzPct val="100000"/>
              <a:buChar char="•"/>
            </a:pPr>
            <a:r>
              <a:rPr lang="en-US" sz="1200" dirty="0">
                <a:solidFill>
                  <a:schemeClr val="tx1"/>
                </a:solidFill>
              </a:rPr>
              <a:t>One PhD and two master's degrees defended by the faculty (2026)</a:t>
            </a:r>
            <a:endParaRPr lang="en-US" sz="1200" dirty="0"/>
          </a:p>
          <a:p>
            <a:pPr marL="177800" indent="-177800">
              <a:spcAft>
                <a:spcPts val="800"/>
              </a:spcAft>
              <a:buSzPct val="100000"/>
              <a:buChar char="•"/>
            </a:pPr>
            <a:r>
              <a:rPr lang="en-US" sz="1200" dirty="0">
                <a:solidFill>
                  <a:schemeClr val="tx1"/>
                </a:solidFill>
              </a:rPr>
              <a:t>Short courses in Germany, Japan and the USA (2026); APNIC network security training</a:t>
            </a:r>
            <a:endParaRPr lang="en-US" sz="1200" dirty="0"/>
          </a:p>
          <a:p>
            <a:pPr marL="177800" indent="-177800">
              <a:spcAft>
                <a:spcPts val="800"/>
              </a:spcAft>
              <a:buSzPct val="100000"/>
              <a:buChar char="•"/>
            </a:pPr>
            <a:r>
              <a:rPr lang="en-US" sz="1200" dirty="0">
                <a:solidFill>
                  <a:schemeClr val="tx1"/>
                </a:solidFill>
              </a:rPr>
              <a:t>Pacific Endeavor 2023 (US INDOPACOM); ITACTIC incident-response command-post exercise and the Asia-Pacific cyber exercise (2025)</a:t>
            </a:r>
            <a:endParaRPr lang="en-US" sz="1200" dirty="0"/>
          </a:p>
        </p:txBody>
      </p:sp>
      <p:pic>
        <p:nvPicPr>
          <p:cNvPr id="8" name="group_outdoor_certs.jpg" descr="/home/user/research-material/india-cyber-cooperation/images/group_outdoor_certs.jpg">    </p:cNvPr>
          <p:cNvPicPr>
            <a:picLocks noChangeAspect="1"/>
          </p:cNvPicPr>
          <p:nvPr/>
        </p:nvPicPr>
        <p:blipFill>
          <a:blip r:embed="rId2"/>
          <a:srcRect l="0" r="0" t="0" b="0"/>
          <a:stretch/>
        </p:blipFill>
        <p:spPr>
          <a:xfrm>
            <a:off x="822960" y="4526280"/>
            <a:ext cx="4846320" cy="1508760"/>
          </a:xfrm>
          <a:prstGeom prst="rect">
            <a:avLst/>
          </a:prstGeom>
        </p:spPr>
      </p:pic>
      <p:sp>
        <p:nvSpPr>
          <p:cNvPr id="9" name="card"/>
          <p:cNvSpPr/>
          <p:nvPr/>
        </p:nvSpPr>
        <p:spPr>
          <a:xfrm>
            <a:off x="6217920" y="1371600"/>
            <a:ext cx="5394960" cy="4846320"/>
          </a:xfrm>
          <a:prstGeom prst="roundRect">
            <a:avLst>
              <a:gd name="adj" fmla="val 2264"/>
            </a:avLst>
          </a:prstGeom>
          <a:solidFill>
            <a:schemeClr val="bg2"/>
          </a:solidFill>
          <a:ln w="12700">
            <a:solidFill>
              <a:schemeClr val="bg2"/>
            </a:solidFill>
            <a:prstDash val="solid"/>
          </a:ln>
        </p:spPr>
      </p:sp>
      <p:sp>
        <p:nvSpPr>
          <p:cNvPr id="10" name="icon circle"/>
          <p:cNvSpPr/>
          <p:nvPr/>
        </p:nvSpPr>
        <p:spPr>
          <a:xfrm>
            <a:off x="6446520" y="1600200"/>
            <a:ext cx="594360" cy="594360"/>
          </a:xfrm>
          <a:prstGeom prst="ellipse">
            <a:avLst/>
          </a:prstGeom>
          <a:solidFill>
            <a:schemeClr val="accent3"/>
          </a:solidFill>
          <a:ln w="12700">
            <a:solidFill>
              <a:schemeClr val="accent3"/>
            </a:solidFill>
            <a:prstDash val="solid"/>
          </a:ln>
        </p:spPr>
      </p:sp>
      <p:pic>
        <p:nvPicPr>
          <p:cNvPr id="11" name="FaHandshake" descr="preencoded.png">    </p:cNvPr>
          <p:cNvPicPr>
            <a:picLocks noChangeAspect="1"/>
          </p:cNvPicPr>
          <p:nvPr/>
        </p:nvPicPr>
        <p:blipFill>
          <a:blip r:embed="rId3"/>
          <a:stretch>
            <a:fillRect/>
          </a:stretch>
        </p:blipFill>
        <p:spPr>
          <a:xfrm>
            <a:off x="6601054" y="1754734"/>
            <a:ext cx="285293" cy="285293"/>
          </a:xfrm>
          <a:prstGeom prst="rect">
            <a:avLst/>
          </a:prstGeom>
        </p:spPr>
      </p:pic>
      <p:sp>
        <p:nvSpPr>
          <p:cNvPr id="12" name="Text 7"/>
          <p:cNvSpPr txBox="1"/>
          <p:nvPr/>
        </p:nvSpPr>
        <p:spPr>
          <a:xfrm>
            <a:off x="7178040" y="1600200"/>
            <a:ext cx="4206240" cy="594360"/>
          </a:xfrm>
          <a:prstGeom prst="rect">
            <a:avLst/>
          </a:prstGeom>
          <a:noFill/>
          <a:ln/>
        </p:spPr>
        <p:txBody>
          <a:bodyPr wrap="square" lIns="0" tIns="0" rIns="0" bIns="0" rtlCol="0" anchor="ctr"/>
          <a:lstStyle/>
          <a:p>
            <a:pPr indent="0" marL="0">
              <a:buNone/>
            </a:pPr>
            <a:r>
              <a:rPr lang="en-US" sz="1700" b="1" dirty="0">
                <a:solidFill>
                  <a:schemeClr val="tx1"/>
                </a:solidFill>
              </a:rPr>
              <a:t>Partners beyond India</a:t>
            </a:r>
            <a:endParaRPr lang="en-US" sz="1700" dirty="0"/>
          </a:p>
        </p:txBody>
      </p:sp>
      <p:sp>
        <p:nvSpPr>
          <p:cNvPr id="13" name="Text 8"/>
          <p:cNvSpPr txBox="1"/>
          <p:nvPr/>
        </p:nvSpPr>
        <p:spPr>
          <a:xfrm>
            <a:off x="6492240" y="2377440"/>
            <a:ext cx="484632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Cyber Security Military Command – joint training with US INDOPACOM cyber specialists (2025), DefendX competitions</a:t>
            </a:r>
            <a:endParaRPr lang="en-US" sz="1200" dirty="0"/>
          </a:p>
          <a:p>
            <a:pPr marL="177800" indent="-177800">
              <a:spcAft>
                <a:spcPts val="800"/>
              </a:spcAft>
              <a:buSzPct val="100000"/>
              <a:buChar char="•"/>
            </a:pPr>
            <a:r>
              <a:rPr lang="en-US" sz="1200" dirty="0">
                <a:solidFill>
                  <a:schemeClr val="tx1"/>
                </a:solidFill>
              </a:rPr>
              <a:t>National Security Council working office – executor of the national cyber capacity programme (2025)</a:t>
            </a:r>
            <a:endParaRPr lang="en-US" sz="1200" dirty="0"/>
          </a:p>
          <a:p>
            <a:pPr marL="177800" indent="-177800">
              <a:spcAft>
                <a:spcPts val="800"/>
              </a:spcAft>
              <a:buSzPct val="100000"/>
              <a:buChar char="•"/>
            </a:pPr>
            <a:r>
              <a:rPr lang="en-US" sz="1200" dirty="0">
                <a:solidFill>
                  <a:schemeClr val="tx1"/>
                </a:solidFill>
              </a:rPr>
              <a:t>MNCERT/CC, MUST, NUM, Internal Affairs University, Network Engineers' Association</a:t>
            </a:r>
            <a:endParaRPr lang="en-US" sz="1200" dirty="0"/>
          </a:p>
          <a:p>
            <a:pPr marL="177800" indent="-177800">
              <a:spcAft>
                <a:spcPts val="800"/>
              </a:spcAft>
              <a:buSzPct val="100000"/>
              <a:buChar char="•"/>
            </a:pPr>
            <a:r>
              <a:rPr lang="en-US" sz="1200" dirty="0">
                <a:solidFill>
                  <a:schemeClr val="tx1"/>
                </a:solidFill>
              </a:rPr>
              <a:t>Industry – 'Cyber and Digital Defense' day with Ember Cyber Service (Jan 2026); cadet internships at the national CERT, ICN and Unitel</a:t>
            </a:r>
            <a:endParaRPr lang="en-US" sz="1200" dirty="0"/>
          </a:p>
        </p:txBody>
      </p:sp>
      <p:pic>
        <p:nvPicPr>
          <p:cNvPr id="14" name="roundtable.jpg" descr="/home/user/research-material/india-cyber-cooperation/images/roundtable.jpg">    </p:cNvPr>
          <p:cNvPicPr>
            <a:picLocks noChangeAspect="1"/>
          </p:cNvPicPr>
          <p:nvPr/>
        </p:nvPicPr>
        <p:blipFill>
          <a:blip r:embed="rId4"/>
          <a:srcRect l="0" r="0" t="0" b="0"/>
          <a:stretch/>
        </p:blipFill>
        <p:spPr>
          <a:xfrm>
            <a:off x="6492240" y="4526280"/>
            <a:ext cx="4846320" cy="1508760"/>
          </a:xfrm>
          <a:prstGeom prst="rect">
            <a:avLst/>
          </a:prstGeom>
        </p:spPr>
      </p:pic>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Continued Indian support: the 2025 upgrade and licence renewal</a:t>
            </a:r>
            <a:endParaRPr lang="en-US" sz="3000" dirty="0"/>
          </a:p>
        </p:txBody>
      </p:sp>
      <p:sp>
        <p:nvSpPr>
          <p:cNvPr id="3" name="card"/>
          <p:cNvSpPr/>
          <p:nvPr/>
        </p:nvSpPr>
        <p:spPr>
          <a:xfrm>
            <a:off x="548640" y="1371600"/>
            <a:ext cx="2834640" cy="1508760"/>
          </a:xfrm>
          <a:prstGeom prst="roundRect">
            <a:avLst>
              <a:gd name="adj" fmla="val 7273"/>
            </a:avLst>
          </a:prstGeom>
          <a:solidFill>
            <a:schemeClr val="bg2"/>
          </a:solidFill>
          <a:ln w="12700">
            <a:solidFill>
              <a:schemeClr val="bg2"/>
            </a:solidFill>
            <a:prstDash val="solid"/>
          </a:ln>
        </p:spPr>
      </p:sp>
      <p:sp>
        <p:nvSpPr>
          <p:cNvPr id="4" name="Text 2"/>
          <p:cNvSpPr txBox="1"/>
          <p:nvPr/>
        </p:nvSpPr>
        <p:spPr>
          <a:xfrm>
            <a:off x="731520" y="1463040"/>
            <a:ext cx="2468880" cy="7543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37</a:t>
            </a:r>
            <a:endParaRPr lang="en-US" sz="3400" dirty="0"/>
          </a:p>
        </p:txBody>
      </p:sp>
      <p:sp>
        <p:nvSpPr>
          <p:cNvPr id="5" name="Text 3"/>
          <p:cNvSpPr txBox="1"/>
          <p:nvPr/>
        </p:nvSpPr>
        <p:spPr>
          <a:xfrm>
            <a:off x="731520" y="2246681"/>
            <a:ext cx="2468880" cy="603504"/>
          </a:xfrm>
          <a:prstGeom prst="rect">
            <a:avLst/>
          </a:prstGeom>
          <a:noFill/>
          <a:ln/>
        </p:spPr>
        <p:txBody>
          <a:bodyPr wrap="square" lIns="0" tIns="0" rIns="0" bIns="0" rtlCol="0" anchor="t"/>
          <a:lstStyle/>
          <a:p>
            <a:pPr indent="0" marL="0">
              <a:buNone/>
            </a:pPr>
            <a:r>
              <a:rPr lang="en-US" sz="1050" dirty="0">
                <a:solidFill>
                  <a:schemeClr val="tx2"/>
                </a:solidFill>
              </a:rPr>
              <a:t>workstations upgraded: 16 GB RAM, 2 GB graphics card and 1 TB disk each – commissioned 6 Nov 2025</a:t>
            </a:r>
            <a:endParaRPr lang="en-US" sz="1050" dirty="0"/>
          </a:p>
        </p:txBody>
      </p:sp>
      <p:sp>
        <p:nvSpPr>
          <p:cNvPr id="6" name="card"/>
          <p:cNvSpPr/>
          <p:nvPr/>
        </p:nvSpPr>
        <p:spPr>
          <a:xfrm>
            <a:off x="548640" y="2999232"/>
            <a:ext cx="2834640" cy="1508760"/>
          </a:xfrm>
          <a:prstGeom prst="roundRect">
            <a:avLst>
              <a:gd name="adj" fmla="val 7273"/>
            </a:avLst>
          </a:prstGeom>
          <a:solidFill>
            <a:schemeClr val="bg2"/>
          </a:solidFill>
          <a:ln w="12700">
            <a:solidFill>
              <a:schemeClr val="bg2"/>
            </a:solidFill>
            <a:prstDash val="solid"/>
          </a:ln>
        </p:spPr>
      </p:sp>
      <p:sp>
        <p:nvSpPr>
          <p:cNvPr id="7" name="Text 5"/>
          <p:cNvSpPr txBox="1"/>
          <p:nvPr/>
        </p:nvSpPr>
        <p:spPr>
          <a:xfrm>
            <a:off x="731520" y="3090672"/>
            <a:ext cx="2468880" cy="7543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15</a:t>
            </a:r>
            <a:endParaRPr lang="en-US" sz="3400" dirty="0"/>
          </a:p>
        </p:txBody>
      </p:sp>
      <p:sp>
        <p:nvSpPr>
          <p:cNvPr id="8" name="Text 6"/>
          <p:cNvSpPr txBox="1"/>
          <p:nvPr/>
        </p:nvSpPr>
        <p:spPr>
          <a:xfrm>
            <a:off x="731520" y="3874313"/>
            <a:ext cx="2468880" cy="603504"/>
          </a:xfrm>
          <a:prstGeom prst="rect">
            <a:avLst/>
          </a:prstGeom>
          <a:noFill/>
          <a:ln/>
        </p:spPr>
        <p:txBody>
          <a:bodyPr wrap="square" lIns="0" tIns="0" rIns="0" bIns="0" rtlCol="0" anchor="t"/>
          <a:lstStyle/>
          <a:p>
            <a:pPr indent="0" marL="0">
              <a:buNone/>
            </a:pPr>
            <a:r>
              <a:rPr lang="en-US" sz="1050" dirty="0">
                <a:solidFill>
                  <a:schemeClr val="tx2"/>
                </a:solidFill>
              </a:rPr>
              <a:t>software products renewed or newly licensed, activated 30 Sep – 7 Nov 2025</a:t>
            </a:r>
            <a:endParaRPr lang="en-US" sz="1050" dirty="0"/>
          </a:p>
        </p:txBody>
      </p:sp>
      <p:sp>
        <p:nvSpPr>
          <p:cNvPr id="9" name="card"/>
          <p:cNvSpPr/>
          <p:nvPr/>
        </p:nvSpPr>
        <p:spPr>
          <a:xfrm>
            <a:off x="548640" y="4626864"/>
            <a:ext cx="2834640" cy="1508760"/>
          </a:xfrm>
          <a:prstGeom prst="roundRect">
            <a:avLst>
              <a:gd name="adj" fmla="val 7273"/>
            </a:avLst>
          </a:prstGeom>
          <a:solidFill>
            <a:schemeClr val="bg2"/>
          </a:solidFill>
          <a:ln w="12700">
            <a:solidFill>
              <a:schemeClr val="bg2"/>
            </a:solidFill>
            <a:prstDash val="solid"/>
          </a:ln>
        </p:spPr>
      </p:sp>
      <p:sp>
        <p:nvSpPr>
          <p:cNvPr id="10" name="Text 8"/>
          <p:cNvSpPr txBox="1"/>
          <p:nvPr/>
        </p:nvSpPr>
        <p:spPr>
          <a:xfrm>
            <a:off x="731520" y="4718304"/>
            <a:ext cx="2468880" cy="7543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2</a:t>
            </a:r>
            <a:endParaRPr lang="en-US" sz="3400" dirty="0"/>
          </a:p>
        </p:txBody>
      </p:sp>
      <p:sp>
        <p:nvSpPr>
          <p:cNvPr id="11" name="Text 9"/>
          <p:cNvSpPr txBox="1"/>
          <p:nvPr/>
        </p:nvSpPr>
        <p:spPr>
          <a:xfrm>
            <a:off x="731520" y="5501945"/>
            <a:ext cx="2468880" cy="603504"/>
          </a:xfrm>
          <a:prstGeom prst="rect">
            <a:avLst/>
          </a:prstGeom>
          <a:noFill/>
          <a:ln/>
        </p:spPr>
        <p:txBody>
          <a:bodyPr wrap="square" lIns="0" tIns="0" rIns="0" bIns="0" rtlCol="0" anchor="t"/>
          <a:lstStyle/>
          <a:p>
            <a:pPr indent="0" marL="0">
              <a:buNone/>
            </a:pPr>
            <a:r>
              <a:rPr lang="en-US" sz="1050" dirty="0">
                <a:solidFill>
                  <a:schemeClr val="tx2"/>
                </a:solidFill>
              </a:rPr>
              <a:t>shipments cleared through Mongolian customs, 7 Sep and 13 Oct 2025</a:t>
            </a:r>
            <a:endParaRPr lang="en-US" sz="1050" dirty="0"/>
          </a:p>
        </p:txBody>
      </p:sp>
      <p:sp>
        <p:nvSpPr>
          <p:cNvPr id="12" name="card"/>
          <p:cNvSpPr/>
          <p:nvPr/>
        </p:nvSpPr>
        <p:spPr>
          <a:xfrm>
            <a:off x="3611880" y="1371600"/>
            <a:ext cx="5760720" cy="4754880"/>
          </a:xfrm>
          <a:prstGeom prst="roundRect">
            <a:avLst>
              <a:gd name="adj" fmla="val 2308"/>
            </a:avLst>
          </a:prstGeom>
          <a:solidFill>
            <a:schemeClr val="bg2"/>
          </a:solidFill>
          <a:ln w="12700">
            <a:solidFill>
              <a:schemeClr val="bg2"/>
            </a:solidFill>
            <a:prstDash val="solid"/>
          </a:ln>
        </p:spPr>
      </p:sp>
      <p:sp>
        <p:nvSpPr>
          <p:cNvPr id="13" name="icon circle"/>
          <p:cNvSpPr/>
          <p:nvPr/>
        </p:nvSpPr>
        <p:spPr>
          <a:xfrm>
            <a:off x="3840480" y="1572768"/>
            <a:ext cx="548640" cy="548640"/>
          </a:xfrm>
          <a:prstGeom prst="ellipse">
            <a:avLst/>
          </a:prstGeom>
          <a:solidFill>
            <a:schemeClr val="accent2"/>
          </a:solidFill>
          <a:ln w="12700">
            <a:solidFill>
              <a:schemeClr val="accent2"/>
            </a:solidFill>
            <a:prstDash val="solid"/>
          </a:ln>
        </p:spPr>
      </p:sp>
      <p:pic>
        <p:nvPicPr>
          <p:cNvPr id="14" name="FaFileSignature" descr="preencoded.png">    </p:cNvPr>
          <p:cNvPicPr>
            <a:picLocks noChangeAspect="1"/>
          </p:cNvPicPr>
          <p:nvPr/>
        </p:nvPicPr>
        <p:blipFill>
          <a:blip r:embed="rId1"/>
          <a:stretch>
            <a:fillRect/>
          </a:stretch>
        </p:blipFill>
        <p:spPr>
          <a:xfrm>
            <a:off x="3983126" y="1715414"/>
            <a:ext cx="263347" cy="263347"/>
          </a:xfrm>
          <a:prstGeom prst="rect">
            <a:avLst/>
          </a:prstGeom>
        </p:spPr>
      </p:pic>
      <p:sp>
        <p:nvSpPr>
          <p:cNvPr id="15" name="Text 12"/>
          <p:cNvSpPr txBox="1"/>
          <p:nvPr/>
        </p:nvSpPr>
        <p:spPr>
          <a:xfrm>
            <a:off x="4526280" y="1554480"/>
            <a:ext cx="4663440" cy="594360"/>
          </a:xfrm>
          <a:prstGeom prst="rect">
            <a:avLst/>
          </a:prstGeom>
          <a:noFill/>
          <a:ln/>
        </p:spPr>
        <p:txBody>
          <a:bodyPr wrap="square" lIns="0" tIns="0" rIns="0" bIns="0" rtlCol="0" anchor="ctr"/>
          <a:lstStyle/>
          <a:p>
            <a:pPr indent="0" marL="0">
              <a:buNone/>
            </a:pPr>
            <a:r>
              <a:rPr lang="en-US" sz="1150" b="1" dirty="0">
                <a:solidFill>
                  <a:schemeClr val="tx1"/>
                </a:solidFill>
              </a:rPr>
              <a:t>Supply order IDS/DCyA/D/Mongolia/2025-26 of 10 June 2025 – Defence Cyber Agency and C-DAC</a:t>
            </a:r>
            <a:endParaRPr lang="en-US" sz="1150" dirty="0"/>
          </a:p>
        </p:txBody>
      </p:sp>
      <p:sp>
        <p:nvSpPr>
          <p:cNvPr id="16" name="Text 13"/>
          <p:cNvSpPr txBox="1"/>
          <p:nvPr/>
        </p:nvSpPr>
        <p:spPr>
          <a:xfrm>
            <a:off x="3840480" y="2331720"/>
            <a:ext cx="5303520" cy="320040"/>
          </a:xfrm>
          <a:prstGeom prst="rect">
            <a:avLst/>
          </a:prstGeom>
          <a:noFill/>
          <a:ln/>
        </p:spPr>
        <p:txBody>
          <a:bodyPr wrap="square" lIns="0" tIns="0" rIns="0" bIns="0" rtlCol="0" anchor="t"/>
          <a:lstStyle/>
          <a:p>
            <a:pPr indent="0" marL="0">
              <a:buNone/>
            </a:pPr>
            <a:r>
              <a:rPr lang="en-US" sz="1250" b="1" dirty="0">
                <a:solidFill>
                  <a:schemeClr val="accent2"/>
                </a:solidFill>
              </a:rPr>
              <a:t>Forensics</a:t>
            </a:r>
            <a:endParaRPr lang="en-US" sz="1250" dirty="0"/>
          </a:p>
        </p:txBody>
      </p:sp>
      <p:sp>
        <p:nvSpPr>
          <p:cNvPr id="17" name="Text 14"/>
          <p:cNvSpPr txBox="1"/>
          <p:nvPr/>
        </p:nvSpPr>
        <p:spPr>
          <a:xfrm>
            <a:off x="3840480" y="2651760"/>
            <a:ext cx="5303520" cy="868680"/>
          </a:xfrm>
          <a:prstGeom prst="rect">
            <a:avLst/>
          </a:prstGeom>
          <a:noFill/>
          <a:ln/>
        </p:spPr>
        <p:txBody>
          <a:bodyPr wrap="square" lIns="0" tIns="0" rIns="0" bIns="0" rtlCol="0" anchor="t"/>
          <a:lstStyle/>
          <a:p>
            <a:pPr indent="0" marL="0">
              <a:buNone/>
            </a:pPr>
            <a:r>
              <a:rPr lang="en-US" sz="1100" dirty="0">
                <a:solidFill>
                  <a:schemeClr val="tx2"/>
                </a:solidFill>
              </a:rPr>
              <a:t>Exterro FTK · Cellebrite Inseyets · Oxygen Detective · Belkasoft Evidence Center · F-Response Tactical · Stellar Data Recovery</a:t>
            </a:r>
            <a:endParaRPr lang="en-US" sz="1100" dirty="0"/>
          </a:p>
        </p:txBody>
      </p:sp>
      <p:sp>
        <p:nvSpPr>
          <p:cNvPr id="18" name="Text 15"/>
          <p:cNvSpPr txBox="1"/>
          <p:nvPr/>
        </p:nvSpPr>
        <p:spPr>
          <a:xfrm>
            <a:off x="3840480" y="3566160"/>
            <a:ext cx="5303520" cy="320040"/>
          </a:xfrm>
          <a:prstGeom prst="rect">
            <a:avLst/>
          </a:prstGeom>
          <a:noFill/>
          <a:ln/>
        </p:spPr>
        <p:txBody>
          <a:bodyPr wrap="square" lIns="0" tIns="0" rIns="0" bIns="0" rtlCol="0" anchor="t"/>
          <a:lstStyle/>
          <a:p>
            <a:pPr indent="0" marL="0">
              <a:buNone/>
            </a:pPr>
            <a:r>
              <a:rPr lang="en-US" sz="1250" b="1" dirty="0">
                <a:solidFill>
                  <a:schemeClr val="accent2"/>
                </a:solidFill>
              </a:rPr>
              <a:t>Malware and vulnerability</a:t>
            </a:r>
            <a:endParaRPr lang="en-US" sz="1250" dirty="0"/>
          </a:p>
        </p:txBody>
      </p:sp>
      <p:sp>
        <p:nvSpPr>
          <p:cNvPr id="19" name="Text 16"/>
          <p:cNvSpPr txBox="1"/>
          <p:nvPr/>
        </p:nvSpPr>
        <p:spPr>
          <a:xfrm>
            <a:off x="3840480" y="3886200"/>
            <a:ext cx="5303520" cy="868680"/>
          </a:xfrm>
          <a:prstGeom prst="rect">
            <a:avLst/>
          </a:prstGeom>
          <a:noFill/>
          <a:ln/>
        </p:spPr>
        <p:txBody>
          <a:bodyPr wrap="square" lIns="0" tIns="0" rIns="0" bIns="0" rtlCol="0" anchor="t"/>
          <a:lstStyle/>
          <a:p>
            <a:pPr indent="0" marL="0">
              <a:buNone/>
            </a:pPr>
            <a:r>
              <a:rPr lang="en-US" sz="1100" dirty="0">
                <a:solidFill>
                  <a:schemeClr val="tx2"/>
                </a:solidFill>
              </a:rPr>
              <a:t>IDA Pro · Nessus Pro (128 IPs) · Burp Suite ×5 · Acunetix · Invicti</a:t>
            </a:r>
            <a:endParaRPr lang="en-US" sz="1100" dirty="0"/>
          </a:p>
        </p:txBody>
      </p:sp>
      <p:sp>
        <p:nvSpPr>
          <p:cNvPr id="20" name="Text 17"/>
          <p:cNvSpPr txBox="1"/>
          <p:nvPr/>
        </p:nvSpPr>
        <p:spPr>
          <a:xfrm>
            <a:off x="3840480" y="4800600"/>
            <a:ext cx="5303520" cy="320040"/>
          </a:xfrm>
          <a:prstGeom prst="rect">
            <a:avLst/>
          </a:prstGeom>
          <a:noFill/>
          <a:ln/>
        </p:spPr>
        <p:txBody>
          <a:bodyPr wrap="square" lIns="0" tIns="0" rIns="0" bIns="0" rtlCol="0" anchor="t"/>
          <a:lstStyle/>
          <a:p>
            <a:pPr indent="0" marL="0">
              <a:buNone/>
            </a:pPr>
            <a:r>
              <a:rPr lang="en-US" sz="1250" b="1" dirty="0">
                <a:solidFill>
                  <a:schemeClr val="accent2"/>
                </a:solidFill>
              </a:rPr>
              <a:t>Platform</a:t>
            </a:r>
            <a:endParaRPr lang="en-US" sz="1250" dirty="0"/>
          </a:p>
        </p:txBody>
      </p:sp>
      <p:sp>
        <p:nvSpPr>
          <p:cNvPr id="21" name="Text 18"/>
          <p:cNvSpPr txBox="1"/>
          <p:nvPr/>
        </p:nvSpPr>
        <p:spPr>
          <a:xfrm>
            <a:off x="3840480" y="5120640"/>
            <a:ext cx="5303520" cy="868680"/>
          </a:xfrm>
          <a:prstGeom prst="rect">
            <a:avLst/>
          </a:prstGeom>
          <a:noFill/>
          <a:ln/>
        </p:spPr>
        <p:txBody>
          <a:bodyPr wrap="square" lIns="0" tIns="0" rIns="0" bIns="0" rtlCol="0" anchor="t"/>
          <a:lstStyle/>
          <a:p>
            <a:pPr indent="0" marL="0">
              <a:buNone/>
            </a:pPr>
            <a:r>
              <a:rPr lang="en-US" sz="1100" dirty="0">
                <a:solidFill>
                  <a:schemeClr val="tx2"/>
                </a:solidFill>
              </a:rPr>
              <a:t>VMware vSphere Foundation · VMware Workstation Pro ×10 · Red Hat Enterprise Linux ×5 · WatchGuard M470 subscription ×2</a:t>
            </a:r>
            <a:endParaRPr lang="en-US" sz="1100" dirty="0"/>
          </a:p>
        </p:txBody>
      </p:sp>
      <p:pic>
        <p:nvPicPr>
          <p:cNvPr id="22" name="server_room.jpg" descr="/home/user/research-material/india-cyber-cooperation/images/server_room.jpg">    </p:cNvPr>
          <p:cNvPicPr>
            <a:picLocks noChangeAspect="1"/>
          </p:cNvPicPr>
          <p:nvPr/>
        </p:nvPicPr>
        <p:blipFill>
          <a:blip r:embed="rId2"/>
          <a:srcRect l="0" r="0" t="0" b="0"/>
          <a:stretch/>
        </p:blipFill>
        <p:spPr>
          <a:xfrm>
            <a:off x="9601200" y="1371600"/>
            <a:ext cx="2011680" cy="2560320"/>
          </a:xfrm>
          <a:prstGeom prst="rect">
            <a:avLst/>
          </a:prstGeom>
        </p:spPr>
      </p:pic>
      <p:sp>
        <p:nvSpPr>
          <p:cNvPr id="23" name="Text 19"/>
          <p:cNvSpPr txBox="1"/>
          <p:nvPr/>
        </p:nvSpPr>
        <p:spPr>
          <a:xfrm>
            <a:off x="9601200" y="3977640"/>
            <a:ext cx="2011680" cy="274320"/>
          </a:xfrm>
          <a:prstGeom prst="rect">
            <a:avLst/>
          </a:prstGeom>
          <a:noFill/>
          <a:ln/>
        </p:spPr>
        <p:txBody>
          <a:bodyPr wrap="square" lIns="0" tIns="0" rIns="0" bIns="0" rtlCol="0" anchor="t"/>
          <a:lstStyle/>
          <a:p>
            <a:pPr indent="0" marL="0">
              <a:buNone/>
            </a:pPr>
            <a:r>
              <a:rPr lang="en-US" sz="1050" dirty="0">
                <a:solidFill>
                  <a:schemeClr val="tx2"/>
                </a:solidFill>
              </a:rPr>
              <a:t>Data centre racks</a:t>
            </a:r>
            <a:endParaRPr lang="en-US" sz="1050" dirty="0"/>
          </a:p>
        </p:txBody>
      </p:sp>
      <p:pic>
        <p:nvPicPr>
          <p:cNvPr id="24" name="lab_incident.jpg" descr="/home/user/research-material/india-cyber-cooperation/images/lab_incident.jpg">    </p:cNvPr>
          <p:cNvPicPr>
            <a:picLocks noChangeAspect="1"/>
          </p:cNvPicPr>
          <p:nvPr/>
        </p:nvPicPr>
        <p:blipFill>
          <a:blip r:embed="rId3"/>
          <a:srcRect l="0" r="0" t="0" b="0"/>
          <a:stretch/>
        </p:blipFill>
        <p:spPr>
          <a:xfrm>
            <a:off x="9601200" y="4251960"/>
            <a:ext cx="2011680" cy="1536192"/>
          </a:xfrm>
          <a:prstGeom prst="rect">
            <a:avLst/>
          </a:prstGeom>
        </p:spPr>
      </p:pic>
      <p:sp>
        <p:nvSpPr>
          <p:cNvPr id="25" name="Text 20"/>
          <p:cNvSpPr txBox="1"/>
          <p:nvPr/>
        </p:nvSpPr>
        <p:spPr>
          <a:xfrm>
            <a:off x="9601200" y="5833872"/>
            <a:ext cx="2011680" cy="274320"/>
          </a:xfrm>
          <a:prstGeom prst="rect">
            <a:avLst/>
          </a:prstGeom>
          <a:noFill/>
          <a:ln/>
        </p:spPr>
        <p:txBody>
          <a:bodyPr wrap="square" lIns="0" tIns="0" rIns="0" bIns="0" rtlCol="0" anchor="t"/>
          <a:lstStyle/>
          <a:p>
            <a:pPr indent="0" marL="0">
              <a:buNone/>
            </a:pPr>
            <a:r>
              <a:rPr lang="en-US" sz="1050" dirty="0">
                <a:solidFill>
                  <a:schemeClr val="tx2"/>
                </a:solidFill>
              </a:rPr>
              <a:t>Upgraded workstations</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Milestones of the cooperation, 2022–2026</a:t>
            </a:r>
            <a:endParaRPr lang="en-US" sz="3000" dirty="0"/>
          </a:p>
        </p:txBody>
      </p:sp>
      <p:sp>
        <p:nvSpPr>
          <p:cNvPr id="3" name="date chip"/>
          <p:cNvSpPr/>
          <p:nvPr/>
        </p:nvSpPr>
        <p:spPr>
          <a:xfrm>
            <a:off x="548640" y="1463040"/>
            <a:ext cx="1143000" cy="310896"/>
          </a:xfrm>
          <a:prstGeom prst="roundRect">
            <a:avLst>
              <a:gd name="adj" fmla="val 50000"/>
            </a:avLst>
          </a:prstGeom>
          <a:solidFill>
            <a:schemeClr val="accent1"/>
          </a:solidFill>
          <a:ln w="12700">
            <a:solidFill>
              <a:schemeClr val="accent1"/>
            </a:solidFill>
            <a:prstDash val="solid"/>
          </a:ln>
        </p:spPr>
      </p:sp>
      <p:sp>
        <p:nvSpPr>
          <p:cNvPr id="4" name="Text 2"/>
          <p:cNvSpPr txBox="1"/>
          <p:nvPr/>
        </p:nvSpPr>
        <p:spPr>
          <a:xfrm>
            <a:off x="548640" y="1463040"/>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Sep 2022</a:t>
            </a:r>
            <a:endParaRPr lang="en-US" sz="1050" dirty="0"/>
          </a:p>
        </p:txBody>
      </p:sp>
      <p:sp>
        <p:nvSpPr>
          <p:cNvPr id="5" name="Text 3"/>
          <p:cNvSpPr txBox="1"/>
          <p:nvPr/>
        </p:nvSpPr>
        <p:spPr>
          <a:xfrm>
            <a:off x="1874520" y="1371600"/>
            <a:ext cx="4206240" cy="329184"/>
          </a:xfrm>
          <a:prstGeom prst="rect">
            <a:avLst/>
          </a:prstGeom>
          <a:noFill/>
          <a:ln/>
        </p:spPr>
        <p:txBody>
          <a:bodyPr wrap="square" lIns="0" tIns="0" rIns="0" bIns="0" rtlCol="0" anchor="t"/>
          <a:lstStyle/>
          <a:p>
            <a:pPr indent="0" marL="0">
              <a:buNone/>
            </a:pPr>
            <a:r>
              <a:rPr lang="en-US" sz="1250" b="1" dirty="0">
                <a:solidFill>
                  <a:schemeClr val="tx1"/>
                </a:solidFill>
              </a:rPr>
              <a:t>Centre inaugurated</a:t>
            </a:r>
            <a:endParaRPr lang="en-US" sz="1250" dirty="0"/>
          </a:p>
        </p:txBody>
      </p:sp>
      <p:sp>
        <p:nvSpPr>
          <p:cNvPr id="6" name="Text 4"/>
          <p:cNvSpPr txBox="1"/>
          <p:nvPr/>
        </p:nvSpPr>
        <p:spPr>
          <a:xfrm>
            <a:off x="1874520" y="1700784"/>
            <a:ext cx="4206240" cy="411480"/>
          </a:xfrm>
          <a:prstGeom prst="rect">
            <a:avLst/>
          </a:prstGeom>
          <a:noFill/>
          <a:ln/>
        </p:spPr>
        <p:txBody>
          <a:bodyPr wrap="square" lIns="0" tIns="0" rIns="0" bIns="0" rtlCol="0" anchor="t"/>
          <a:lstStyle/>
          <a:p>
            <a:pPr indent="0" marL="0">
              <a:buNone/>
            </a:pPr>
            <a:r>
              <a:rPr lang="en-US" sz="1050" dirty="0">
                <a:solidFill>
                  <a:schemeClr val="tx2"/>
                </a:solidFill>
              </a:rPr>
              <a:t>Raksha Mantri's first visit to Mongolia</a:t>
            </a:r>
            <a:endParaRPr lang="en-US" sz="1050" dirty="0"/>
          </a:p>
        </p:txBody>
      </p:sp>
      <p:sp>
        <p:nvSpPr>
          <p:cNvPr id="7" name="date chip"/>
          <p:cNvSpPr/>
          <p:nvPr/>
        </p:nvSpPr>
        <p:spPr>
          <a:xfrm>
            <a:off x="548640" y="2249424"/>
            <a:ext cx="1143000" cy="310896"/>
          </a:xfrm>
          <a:prstGeom prst="roundRect">
            <a:avLst>
              <a:gd name="adj" fmla="val 50000"/>
            </a:avLst>
          </a:prstGeom>
          <a:solidFill>
            <a:schemeClr val="accent2"/>
          </a:solidFill>
          <a:ln w="12700">
            <a:solidFill>
              <a:schemeClr val="accent2"/>
            </a:solidFill>
            <a:prstDash val="solid"/>
          </a:ln>
        </p:spPr>
      </p:sp>
      <p:sp>
        <p:nvSpPr>
          <p:cNvPr id="8" name="Text 6"/>
          <p:cNvSpPr txBox="1"/>
          <p:nvPr/>
        </p:nvSpPr>
        <p:spPr>
          <a:xfrm>
            <a:off x="548640" y="2249424"/>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Jan 2023</a:t>
            </a:r>
            <a:endParaRPr lang="en-US" sz="1050" dirty="0"/>
          </a:p>
        </p:txBody>
      </p:sp>
      <p:sp>
        <p:nvSpPr>
          <p:cNvPr id="9" name="Text 7"/>
          <p:cNvSpPr txBox="1"/>
          <p:nvPr/>
        </p:nvSpPr>
        <p:spPr>
          <a:xfrm>
            <a:off x="1874520" y="2157984"/>
            <a:ext cx="4206240" cy="329184"/>
          </a:xfrm>
          <a:prstGeom prst="rect">
            <a:avLst/>
          </a:prstGeom>
          <a:noFill/>
          <a:ln/>
        </p:spPr>
        <p:txBody>
          <a:bodyPr wrap="square" lIns="0" tIns="0" rIns="0" bIns="0" rtlCol="0" anchor="t"/>
          <a:lstStyle/>
          <a:p>
            <a:pPr indent="0" marL="0">
              <a:buNone/>
            </a:pPr>
            <a:r>
              <a:rPr lang="en-US" sz="1250" b="1" dirty="0">
                <a:solidFill>
                  <a:schemeClr val="tx1"/>
                </a:solidFill>
              </a:rPr>
              <a:t>Centre staffed</a:t>
            </a:r>
            <a:endParaRPr lang="en-US" sz="1250" dirty="0"/>
          </a:p>
        </p:txBody>
      </p:sp>
      <p:sp>
        <p:nvSpPr>
          <p:cNvPr id="10" name="Text 8"/>
          <p:cNvSpPr txBox="1"/>
          <p:nvPr/>
        </p:nvSpPr>
        <p:spPr>
          <a:xfrm>
            <a:off x="1874520" y="2487168"/>
            <a:ext cx="4206240" cy="411480"/>
          </a:xfrm>
          <a:prstGeom prst="rect">
            <a:avLst/>
          </a:prstGeom>
          <a:noFill/>
          <a:ln/>
        </p:spPr>
        <p:txBody>
          <a:bodyPr wrap="square" lIns="0" tIns="0" rIns="0" bIns="0" rtlCol="0" anchor="t"/>
          <a:lstStyle/>
          <a:p>
            <a:pPr indent="0" marL="0">
              <a:buNone/>
            </a:pPr>
            <a:r>
              <a:rPr lang="en-US" sz="1050" dirty="0">
                <a:solidFill>
                  <a:schemeClr val="tx2"/>
                </a:solidFill>
              </a:rPr>
              <a:t>Head and three teachers appointed by the MoD</a:t>
            </a:r>
            <a:endParaRPr lang="en-US" sz="1050" dirty="0"/>
          </a:p>
        </p:txBody>
      </p:sp>
      <p:sp>
        <p:nvSpPr>
          <p:cNvPr id="11" name="date chip"/>
          <p:cNvSpPr/>
          <p:nvPr/>
        </p:nvSpPr>
        <p:spPr>
          <a:xfrm>
            <a:off x="548640" y="3035808"/>
            <a:ext cx="1143000" cy="310896"/>
          </a:xfrm>
          <a:prstGeom prst="roundRect">
            <a:avLst>
              <a:gd name="adj" fmla="val 50000"/>
            </a:avLst>
          </a:prstGeom>
          <a:solidFill>
            <a:schemeClr val="accent3"/>
          </a:solidFill>
          <a:ln w="12700">
            <a:solidFill>
              <a:schemeClr val="accent3"/>
            </a:solidFill>
            <a:prstDash val="solid"/>
          </a:ln>
        </p:spPr>
      </p:sp>
      <p:sp>
        <p:nvSpPr>
          <p:cNvPr id="12" name="Text 10"/>
          <p:cNvSpPr txBox="1"/>
          <p:nvPr/>
        </p:nvSpPr>
        <p:spPr>
          <a:xfrm>
            <a:off x="548640" y="3035808"/>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Feb 2023</a:t>
            </a:r>
            <a:endParaRPr lang="en-US" sz="1050" dirty="0"/>
          </a:p>
        </p:txBody>
      </p:sp>
      <p:sp>
        <p:nvSpPr>
          <p:cNvPr id="13" name="Text 11"/>
          <p:cNvSpPr txBox="1"/>
          <p:nvPr/>
        </p:nvSpPr>
        <p:spPr>
          <a:xfrm>
            <a:off x="1874520" y="2944368"/>
            <a:ext cx="4206240" cy="329184"/>
          </a:xfrm>
          <a:prstGeom prst="rect">
            <a:avLst/>
          </a:prstGeom>
          <a:noFill/>
          <a:ln/>
        </p:spPr>
        <p:txBody>
          <a:bodyPr wrap="square" lIns="0" tIns="0" rIns="0" bIns="0" rtlCol="0" anchor="t"/>
          <a:lstStyle/>
          <a:p>
            <a:pPr indent="0" marL="0">
              <a:buNone/>
            </a:pPr>
            <a:r>
              <a:rPr lang="en-US" sz="1250" b="1" dirty="0">
                <a:solidFill>
                  <a:schemeClr val="tx1"/>
                </a:solidFill>
              </a:rPr>
              <a:t>11th Joint Working Group</a:t>
            </a:r>
            <a:endParaRPr lang="en-US" sz="1250" dirty="0"/>
          </a:p>
        </p:txBody>
      </p:sp>
      <p:sp>
        <p:nvSpPr>
          <p:cNvPr id="14" name="Text 12"/>
          <p:cNvSpPr txBox="1"/>
          <p:nvPr/>
        </p:nvSpPr>
        <p:spPr>
          <a:xfrm>
            <a:off x="1874520" y="3273552"/>
            <a:ext cx="4206240" cy="411480"/>
          </a:xfrm>
          <a:prstGeom prst="rect">
            <a:avLst/>
          </a:prstGeom>
          <a:noFill/>
          <a:ln/>
        </p:spPr>
        <p:txBody>
          <a:bodyPr wrap="square" lIns="0" tIns="0" rIns="0" bIns="0" rtlCol="0" anchor="t"/>
          <a:lstStyle/>
          <a:p>
            <a:pPr indent="0" marL="0">
              <a:buNone/>
            </a:pPr>
            <a:r>
              <a:rPr lang="en-US" sz="1050" dirty="0">
                <a:solidFill>
                  <a:schemeClr val="tx2"/>
                </a:solidFill>
              </a:rPr>
              <a:t>New Delhi – first in-person JWG after the pandemic</a:t>
            </a:r>
            <a:endParaRPr lang="en-US" sz="1050" dirty="0"/>
          </a:p>
        </p:txBody>
      </p:sp>
      <p:sp>
        <p:nvSpPr>
          <p:cNvPr id="15" name="date chip"/>
          <p:cNvSpPr/>
          <p:nvPr/>
        </p:nvSpPr>
        <p:spPr>
          <a:xfrm>
            <a:off x="548640" y="3822192"/>
            <a:ext cx="1143000" cy="310896"/>
          </a:xfrm>
          <a:prstGeom prst="roundRect">
            <a:avLst>
              <a:gd name="adj" fmla="val 50000"/>
            </a:avLst>
          </a:prstGeom>
          <a:solidFill>
            <a:schemeClr val="accent1"/>
          </a:solidFill>
          <a:ln w="12700">
            <a:solidFill>
              <a:schemeClr val="accent1"/>
            </a:solidFill>
            <a:prstDash val="solid"/>
          </a:ln>
        </p:spPr>
      </p:sp>
      <p:sp>
        <p:nvSpPr>
          <p:cNvPr id="16" name="Text 14"/>
          <p:cNvSpPr txBox="1"/>
          <p:nvPr/>
        </p:nvSpPr>
        <p:spPr>
          <a:xfrm>
            <a:off x="548640" y="3822192"/>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Aug 2023</a:t>
            </a:r>
            <a:endParaRPr lang="en-US" sz="1050" dirty="0"/>
          </a:p>
        </p:txBody>
      </p:sp>
      <p:sp>
        <p:nvSpPr>
          <p:cNvPr id="17" name="Text 15"/>
          <p:cNvSpPr txBox="1"/>
          <p:nvPr/>
        </p:nvSpPr>
        <p:spPr>
          <a:xfrm>
            <a:off x="1874520" y="3730752"/>
            <a:ext cx="4206240" cy="329184"/>
          </a:xfrm>
          <a:prstGeom prst="rect">
            <a:avLst/>
          </a:prstGeom>
          <a:noFill/>
          <a:ln/>
        </p:spPr>
        <p:txBody>
          <a:bodyPr wrap="square" lIns="0" tIns="0" rIns="0" bIns="0" rtlCol="0" anchor="t"/>
          <a:lstStyle/>
          <a:p>
            <a:pPr indent="0" marL="0">
              <a:buNone/>
            </a:pPr>
            <a:r>
              <a:rPr lang="en-US" sz="1250" b="1" dirty="0">
                <a:solidFill>
                  <a:schemeClr val="tx1"/>
                </a:solidFill>
              </a:rPr>
              <a:t>First training team</a:t>
            </a:r>
            <a:endParaRPr lang="en-US" sz="1250" dirty="0"/>
          </a:p>
        </p:txBody>
      </p:sp>
      <p:sp>
        <p:nvSpPr>
          <p:cNvPr id="18" name="Text 16"/>
          <p:cNvSpPr txBox="1"/>
          <p:nvPr/>
        </p:nvSpPr>
        <p:spPr>
          <a:xfrm>
            <a:off x="1874520" y="4059936"/>
            <a:ext cx="4206240" cy="411480"/>
          </a:xfrm>
          <a:prstGeom prst="rect">
            <a:avLst/>
          </a:prstGeom>
          <a:noFill/>
          <a:ln/>
        </p:spPr>
        <p:txBody>
          <a:bodyPr wrap="square" lIns="0" tIns="0" rIns="0" bIns="0" rtlCol="0" anchor="t"/>
          <a:lstStyle/>
          <a:p>
            <a:pPr indent="0" marL="0">
              <a:buNone/>
            </a:pPr>
            <a:r>
              <a:rPr lang="en-US" sz="1050" dirty="0">
                <a:solidFill>
                  <a:schemeClr val="tx2"/>
                </a:solidFill>
              </a:rPr>
              <a:t>Indian mobile training teams begin four-month rotations</a:t>
            </a:r>
            <a:endParaRPr lang="en-US" sz="1050" dirty="0"/>
          </a:p>
        </p:txBody>
      </p:sp>
      <p:sp>
        <p:nvSpPr>
          <p:cNvPr id="19" name="date chip"/>
          <p:cNvSpPr/>
          <p:nvPr/>
        </p:nvSpPr>
        <p:spPr>
          <a:xfrm>
            <a:off x="548640" y="4608576"/>
            <a:ext cx="1143000" cy="310896"/>
          </a:xfrm>
          <a:prstGeom prst="roundRect">
            <a:avLst>
              <a:gd name="adj" fmla="val 50000"/>
            </a:avLst>
          </a:prstGeom>
          <a:solidFill>
            <a:schemeClr val="accent3"/>
          </a:solidFill>
          <a:ln w="12700">
            <a:solidFill>
              <a:schemeClr val="accent3"/>
            </a:solidFill>
            <a:prstDash val="solid"/>
          </a:ln>
        </p:spPr>
      </p:sp>
      <p:sp>
        <p:nvSpPr>
          <p:cNvPr id="20" name="Text 18"/>
          <p:cNvSpPr txBox="1"/>
          <p:nvPr/>
        </p:nvSpPr>
        <p:spPr>
          <a:xfrm>
            <a:off x="548640" y="4608576"/>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May 2024</a:t>
            </a:r>
            <a:endParaRPr lang="en-US" sz="1050" dirty="0"/>
          </a:p>
        </p:txBody>
      </p:sp>
      <p:sp>
        <p:nvSpPr>
          <p:cNvPr id="21" name="Text 19"/>
          <p:cNvSpPr txBox="1"/>
          <p:nvPr/>
        </p:nvSpPr>
        <p:spPr>
          <a:xfrm>
            <a:off x="1874520" y="4517136"/>
            <a:ext cx="4206240" cy="329184"/>
          </a:xfrm>
          <a:prstGeom prst="rect">
            <a:avLst/>
          </a:prstGeom>
          <a:noFill/>
          <a:ln/>
        </p:spPr>
        <p:txBody>
          <a:bodyPr wrap="square" lIns="0" tIns="0" rIns="0" bIns="0" rtlCol="0" anchor="t"/>
          <a:lstStyle/>
          <a:p>
            <a:pPr indent="0" marL="0">
              <a:buNone/>
            </a:pPr>
            <a:r>
              <a:rPr lang="en-US" sz="1250" b="1" dirty="0">
                <a:solidFill>
                  <a:schemeClr val="tx1"/>
                </a:solidFill>
              </a:rPr>
              <a:t>12th Joint Working Group</a:t>
            </a:r>
            <a:endParaRPr lang="en-US" sz="1250" dirty="0"/>
          </a:p>
        </p:txBody>
      </p:sp>
      <p:sp>
        <p:nvSpPr>
          <p:cNvPr id="22" name="Text 20"/>
          <p:cNvSpPr txBox="1"/>
          <p:nvPr/>
        </p:nvSpPr>
        <p:spPr>
          <a:xfrm>
            <a:off x="1874520" y="4846320"/>
            <a:ext cx="4206240" cy="411480"/>
          </a:xfrm>
          <a:prstGeom prst="rect">
            <a:avLst/>
          </a:prstGeom>
          <a:noFill/>
          <a:ln/>
        </p:spPr>
        <p:txBody>
          <a:bodyPr wrap="square" lIns="0" tIns="0" rIns="0" bIns="0" rtlCol="0" anchor="t"/>
          <a:lstStyle/>
          <a:p>
            <a:pPr indent="0" marL="0">
              <a:buNone/>
            </a:pPr>
            <a:r>
              <a:rPr lang="en-US" sz="1050" dirty="0">
                <a:solidFill>
                  <a:schemeClr val="tx2"/>
                </a:solidFill>
              </a:rPr>
              <a:t>Ulaanbaatar; 2024–2026 joint training plan approved</a:t>
            </a:r>
            <a:endParaRPr lang="en-US" sz="1050" dirty="0"/>
          </a:p>
        </p:txBody>
      </p:sp>
      <p:sp>
        <p:nvSpPr>
          <p:cNvPr id="23" name="date chip"/>
          <p:cNvSpPr/>
          <p:nvPr/>
        </p:nvSpPr>
        <p:spPr>
          <a:xfrm>
            <a:off x="548640" y="5394960"/>
            <a:ext cx="1143000" cy="310896"/>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548640" y="5394960"/>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2024</a:t>
            </a:r>
            <a:endParaRPr lang="en-US" sz="1050" dirty="0"/>
          </a:p>
        </p:txBody>
      </p:sp>
      <p:sp>
        <p:nvSpPr>
          <p:cNvPr id="25" name="Text 23"/>
          <p:cNvSpPr txBox="1"/>
          <p:nvPr/>
        </p:nvSpPr>
        <p:spPr>
          <a:xfrm>
            <a:off x="1874520" y="5303520"/>
            <a:ext cx="4206240" cy="329184"/>
          </a:xfrm>
          <a:prstGeom prst="rect">
            <a:avLst/>
          </a:prstGeom>
          <a:noFill/>
          <a:ln/>
        </p:spPr>
        <p:txBody>
          <a:bodyPr wrap="square" lIns="0" tIns="0" rIns="0" bIns="0" rtlCol="0" anchor="t"/>
          <a:lstStyle/>
          <a:p>
            <a:pPr indent="0" marL="0">
              <a:buNone/>
            </a:pPr>
            <a:r>
              <a:rPr lang="en-US" sz="1250" b="1" dirty="0">
                <a:solidFill>
                  <a:schemeClr val="tx1"/>
                </a:solidFill>
              </a:rPr>
              <a:t>Ambassador's visit</a:t>
            </a:r>
            <a:endParaRPr lang="en-US" sz="1250" dirty="0"/>
          </a:p>
        </p:txBody>
      </p:sp>
      <p:sp>
        <p:nvSpPr>
          <p:cNvPr id="26" name="Text 24"/>
          <p:cNvSpPr txBox="1"/>
          <p:nvPr/>
        </p:nvSpPr>
        <p:spPr>
          <a:xfrm>
            <a:off x="1874520" y="5632704"/>
            <a:ext cx="4206240" cy="411480"/>
          </a:xfrm>
          <a:prstGeom prst="rect">
            <a:avLst/>
          </a:prstGeom>
          <a:noFill/>
          <a:ln/>
        </p:spPr>
        <p:txBody>
          <a:bodyPr wrap="square" lIns="0" tIns="0" rIns="0" bIns="0" rtlCol="0" anchor="t"/>
          <a:lstStyle/>
          <a:p>
            <a:pPr indent="0" marL="0">
              <a:buNone/>
            </a:pPr>
            <a:r>
              <a:rPr lang="en-US" sz="1050" dirty="0">
                <a:solidFill>
                  <a:schemeClr val="tx2"/>
                </a:solidFill>
              </a:rPr>
              <a:t>Indian Ambassador reviews the Centre and upgrade needs</a:t>
            </a:r>
            <a:endParaRPr lang="en-US" sz="1050" dirty="0"/>
          </a:p>
        </p:txBody>
      </p:sp>
      <p:sp>
        <p:nvSpPr>
          <p:cNvPr id="27" name="date chip"/>
          <p:cNvSpPr/>
          <p:nvPr/>
        </p:nvSpPr>
        <p:spPr>
          <a:xfrm>
            <a:off x="6217920" y="1463040"/>
            <a:ext cx="1143000" cy="310896"/>
          </a:xfrm>
          <a:prstGeom prst="roundRect">
            <a:avLst>
              <a:gd name="adj" fmla="val 50000"/>
            </a:avLst>
          </a:prstGeom>
          <a:solidFill>
            <a:schemeClr val="accent3"/>
          </a:solidFill>
          <a:ln w="12700">
            <a:solidFill>
              <a:schemeClr val="accent3"/>
            </a:solidFill>
            <a:prstDash val="solid"/>
          </a:ln>
        </p:spPr>
      </p:sp>
      <p:sp>
        <p:nvSpPr>
          <p:cNvPr id="28" name="Text 26"/>
          <p:cNvSpPr txBox="1"/>
          <p:nvPr/>
        </p:nvSpPr>
        <p:spPr>
          <a:xfrm>
            <a:off x="6217920" y="1463040"/>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Feb 2025</a:t>
            </a:r>
            <a:endParaRPr lang="en-US" sz="1050" dirty="0"/>
          </a:p>
        </p:txBody>
      </p:sp>
      <p:sp>
        <p:nvSpPr>
          <p:cNvPr id="29" name="Text 27"/>
          <p:cNvSpPr txBox="1"/>
          <p:nvPr/>
        </p:nvSpPr>
        <p:spPr>
          <a:xfrm>
            <a:off x="7543800" y="1371600"/>
            <a:ext cx="4206240" cy="329184"/>
          </a:xfrm>
          <a:prstGeom prst="rect">
            <a:avLst/>
          </a:prstGeom>
          <a:noFill/>
          <a:ln/>
        </p:spPr>
        <p:txBody>
          <a:bodyPr wrap="square" lIns="0" tIns="0" rIns="0" bIns="0" rtlCol="0" anchor="t"/>
          <a:lstStyle/>
          <a:p>
            <a:pPr indent="0" marL="0">
              <a:buNone/>
            </a:pPr>
            <a:r>
              <a:rPr lang="en-US" sz="1250" b="1" dirty="0">
                <a:solidFill>
                  <a:schemeClr val="tx1"/>
                </a:solidFill>
              </a:rPr>
              <a:t>13th Joint Working Group</a:t>
            </a:r>
            <a:endParaRPr lang="en-US" sz="1250" dirty="0"/>
          </a:p>
        </p:txBody>
      </p:sp>
      <p:sp>
        <p:nvSpPr>
          <p:cNvPr id="30" name="Text 28"/>
          <p:cNvSpPr txBox="1"/>
          <p:nvPr/>
        </p:nvSpPr>
        <p:spPr>
          <a:xfrm>
            <a:off x="7543800" y="1700784"/>
            <a:ext cx="4206240" cy="411480"/>
          </a:xfrm>
          <a:prstGeom prst="rect">
            <a:avLst/>
          </a:prstGeom>
          <a:noFill/>
          <a:ln/>
        </p:spPr>
        <p:txBody>
          <a:bodyPr wrap="square" lIns="0" tIns="0" rIns="0" bIns="0" rtlCol="0" anchor="t"/>
          <a:lstStyle/>
          <a:p>
            <a:pPr indent="0" marL="0">
              <a:buNone/>
            </a:pPr>
            <a:r>
              <a:rPr lang="en-US" sz="1050" dirty="0">
                <a:solidFill>
                  <a:schemeClr val="tx2"/>
                </a:solidFill>
              </a:rPr>
              <a:t>New Delhi</a:t>
            </a:r>
            <a:endParaRPr lang="en-US" sz="1050" dirty="0"/>
          </a:p>
        </p:txBody>
      </p:sp>
      <p:sp>
        <p:nvSpPr>
          <p:cNvPr id="31" name="date chip"/>
          <p:cNvSpPr/>
          <p:nvPr/>
        </p:nvSpPr>
        <p:spPr>
          <a:xfrm>
            <a:off x="6217920" y="2249424"/>
            <a:ext cx="1143000" cy="310896"/>
          </a:xfrm>
          <a:prstGeom prst="roundRect">
            <a:avLst>
              <a:gd name="adj" fmla="val 50000"/>
            </a:avLst>
          </a:prstGeom>
          <a:solidFill>
            <a:schemeClr val="accent2"/>
          </a:solidFill>
          <a:ln w="12700">
            <a:solidFill>
              <a:schemeClr val="accent2"/>
            </a:solidFill>
            <a:prstDash val="solid"/>
          </a:ln>
        </p:spPr>
      </p:sp>
      <p:sp>
        <p:nvSpPr>
          <p:cNvPr id="32" name="Text 30"/>
          <p:cNvSpPr txBox="1"/>
          <p:nvPr/>
        </p:nvSpPr>
        <p:spPr>
          <a:xfrm>
            <a:off x="6217920" y="2249424"/>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Jul 2025</a:t>
            </a:r>
            <a:endParaRPr lang="en-US" sz="1050" dirty="0"/>
          </a:p>
        </p:txBody>
      </p:sp>
      <p:sp>
        <p:nvSpPr>
          <p:cNvPr id="33" name="Text 31"/>
          <p:cNvSpPr txBox="1"/>
          <p:nvPr/>
        </p:nvSpPr>
        <p:spPr>
          <a:xfrm>
            <a:off x="7543800" y="2157984"/>
            <a:ext cx="4206240" cy="329184"/>
          </a:xfrm>
          <a:prstGeom prst="rect">
            <a:avLst/>
          </a:prstGeom>
          <a:noFill/>
          <a:ln/>
        </p:spPr>
        <p:txBody>
          <a:bodyPr wrap="square" lIns="0" tIns="0" rIns="0" bIns="0" rtlCol="0" anchor="t"/>
          <a:lstStyle/>
          <a:p>
            <a:pPr indent="0" marL="0">
              <a:buNone/>
            </a:pPr>
            <a:r>
              <a:rPr lang="en-US" sz="1250" b="1" dirty="0">
                <a:solidFill>
                  <a:schemeClr val="tx1"/>
                </a:solidFill>
              </a:rPr>
              <a:t>University department</a:t>
            </a:r>
            <a:endParaRPr lang="en-US" sz="1250" dirty="0"/>
          </a:p>
        </p:txBody>
      </p:sp>
      <p:sp>
        <p:nvSpPr>
          <p:cNvPr id="34" name="Text 32"/>
          <p:cNvSpPr txBox="1"/>
          <p:nvPr/>
        </p:nvSpPr>
        <p:spPr>
          <a:xfrm>
            <a:off x="7543800" y="2487168"/>
            <a:ext cx="4206240" cy="411480"/>
          </a:xfrm>
          <a:prstGeom prst="rect">
            <a:avLst/>
          </a:prstGeom>
          <a:noFill/>
          <a:ln/>
        </p:spPr>
        <p:txBody>
          <a:bodyPr wrap="square" lIns="0" tIns="0" rIns="0" bIns="0" rtlCol="0" anchor="t"/>
          <a:lstStyle/>
          <a:p>
            <a:pPr indent="0" marL="0">
              <a:buNone/>
            </a:pPr>
            <a:r>
              <a:rPr lang="en-US" sz="1050" dirty="0">
                <a:solidFill>
                  <a:schemeClr val="tx2"/>
                </a:solidFill>
              </a:rPr>
              <a:t>Centre becomes the Cyber Security Department</a:t>
            </a:r>
            <a:endParaRPr lang="en-US" sz="1050" dirty="0"/>
          </a:p>
        </p:txBody>
      </p:sp>
      <p:sp>
        <p:nvSpPr>
          <p:cNvPr id="35" name="date chip"/>
          <p:cNvSpPr/>
          <p:nvPr/>
        </p:nvSpPr>
        <p:spPr>
          <a:xfrm>
            <a:off x="6217920" y="3035808"/>
            <a:ext cx="1143000" cy="310896"/>
          </a:xfrm>
          <a:prstGeom prst="roundRect">
            <a:avLst>
              <a:gd name="adj" fmla="val 50000"/>
            </a:avLst>
          </a:prstGeom>
          <a:solidFill>
            <a:schemeClr val="accent3"/>
          </a:solidFill>
          <a:ln w="12700">
            <a:solidFill>
              <a:schemeClr val="accent3"/>
            </a:solidFill>
            <a:prstDash val="solid"/>
          </a:ln>
        </p:spPr>
      </p:sp>
      <p:sp>
        <p:nvSpPr>
          <p:cNvPr id="36" name="Text 34"/>
          <p:cNvSpPr txBox="1"/>
          <p:nvPr/>
        </p:nvSpPr>
        <p:spPr>
          <a:xfrm>
            <a:off x="6217920" y="3035808"/>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Oct 2025</a:t>
            </a:r>
            <a:endParaRPr lang="en-US" sz="1050" dirty="0"/>
          </a:p>
        </p:txBody>
      </p:sp>
      <p:sp>
        <p:nvSpPr>
          <p:cNvPr id="37" name="Text 35"/>
          <p:cNvSpPr txBox="1"/>
          <p:nvPr/>
        </p:nvSpPr>
        <p:spPr>
          <a:xfrm>
            <a:off x="7543800" y="2944368"/>
            <a:ext cx="4206240" cy="329184"/>
          </a:xfrm>
          <a:prstGeom prst="rect">
            <a:avLst/>
          </a:prstGeom>
          <a:noFill/>
          <a:ln/>
        </p:spPr>
        <p:txBody>
          <a:bodyPr wrap="square" lIns="0" tIns="0" rIns="0" bIns="0" rtlCol="0" anchor="t"/>
          <a:lstStyle/>
          <a:p>
            <a:pPr indent="0" marL="0">
              <a:buNone/>
            </a:pPr>
            <a:r>
              <a:rPr lang="en-US" sz="1250" b="1" dirty="0">
                <a:solidFill>
                  <a:schemeClr val="tx1"/>
                </a:solidFill>
              </a:rPr>
              <a:t>State visit to India</a:t>
            </a:r>
            <a:endParaRPr lang="en-US" sz="1250" dirty="0"/>
          </a:p>
        </p:txBody>
      </p:sp>
      <p:sp>
        <p:nvSpPr>
          <p:cNvPr id="38" name="Text 36"/>
          <p:cNvSpPr txBox="1"/>
          <p:nvPr/>
        </p:nvSpPr>
        <p:spPr>
          <a:xfrm>
            <a:off x="7543800" y="3273552"/>
            <a:ext cx="4206240" cy="411480"/>
          </a:xfrm>
          <a:prstGeom prst="rect">
            <a:avLst/>
          </a:prstGeom>
          <a:noFill/>
          <a:ln/>
        </p:spPr>
        <p:txBody>
          <a:bodyPr wrap="square" lIns="0" tIns="0" rIns="0" bIns="0" rtlCol="0" anchor="t"/>
          <a:lstStyle/>
          <a:p>
            <a:pPr indent="0" marL="0">
              <a:buNone/>
            </a:pPr>
            <a:r>
              <a:rPr lang="en-US" sz="1050" dirty="0">
                <a:solidFill>
                  <a:schemeClr val="tx2"/>
                </a:solidFill>
              </a:rPr>
              <a:t>70 years of relations; Defence Wing in Ulaanbaatar announced</a:t>
            </a:r>
            <a:endParaRPr lang="en-US" sz="1050" dirty="0"/>
          </a:p>
        </p:txBody>
      </p:sp>
      <p:sp>
        <p:nvSpPr>
          <p:cNvPr id="39" name="date chip"/>
          <p:cNvSpPr/>
          <p:nvPr/>
        </p:nvSpPr>
        <p:spPr>
          <a:xfrm>
            <a:off x="6217920" y="3822192"/>
            <a:ext cx="1143000" cy="310896"/>
          </a:xfrm>
          <a:prstGeom prst="roundRect">
            <a:avLst>
              <a:gd name="adj" fmla="val 50000"/>
            </a:avLst>
          </a:prstGeom>
          <a:solidFill>
            <a:schemeClr val="accent1"/>
          </a:solidFill>
          <a:ln w="12700">
            <a:solidFill>
              <a:schemeClr val="accent1"/>
            </a:solidFill>
            <a:prstDash val="solid"/>
          </a:ln>
        </p:spPr>
      </p:sp>
      <p:sp>
        <p:nvSpPr>
          <p:cNvPr id="40" name="Text 38"/>
          <p:cNvSpPr txBox="1"/>
          <p:nvPr/>
        </p:nvSpPr>
        <p:spPr>
          <a:xfrm>
            <a:off x="6217920" y="3822192"/>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Nov 2025</a:t>
            </a:r>
            <a:endParaRPr lang="en-US" sz="1050" dirty="0"/>
          </a:p>
        </p:txBody>
      </p:sp>
      <p:sp>
        <p:nvSpPr>
          <p:cNvPr id="41" name="Text 39"/>
          <p:cNvSpPr txBox="1"/>
          <p:nvPr/>
        </p:nvSpPr>
        <p:spPr>
          <a:xfrm>
            <a:off x="7543800" y="3730752"/>
            <a:ext cx="4206240" cy="329184"/>
          </a:xfrm>
          <a:prstGeom prst="rect">
            <a:avLst/>
          </a:prstGeom>
          <a:noFill/>
          <a:ln/>
        </p:spPr>
        <p:txBody>
          <a:bodyPr wrap="square" lIns="0" tIns="0" rIns="0" bIns="0" rtlCol="0" anchor="t"/>
          <a:lstStyle/>
          <a:p>
            <a:pPr indent="0" marL="0">
              <a:buNone/>
            </a:pPr>
            <a:r>
              <a:rPr lang="en-US" sz="1250" b="1" dirty="0">
                <a:solidFill>
                  <a:schemeClr val="tx1"/>
                </a:solidFill>
              </a:rPr>
              <a:t>Upgrade commissioned</a:t>
            </a:r>
            <a:endParaRPr lang="en-US" sz="1250" dirty="0"/>
          </a:p>
        </p:txBody>
      </p:sp>
      <p:sp>
        <p:nvSpPr>
          <p:cNvPr id="42" name="Text 40"/>
          <p:cNvSpPr txBox="1"/>
          <p:nvPr/>
        </p:nvSpPr>
        <p:spPr>
          <a:xfrm>
            <a:off x="7543800" y="4059936"/>
            <a:ext cx="4206240" cy="411480"/>
          </a:xfrm>
          <a:prstGeom prst="rect">
            <a:avLst/>
          </a:prstGeom>
          <a:noFill/>
          <a:ln/>
        </p:spPr>
        <p:txBody>
          <a:bodyPr wrap="square" lIns="0" tIns="0" rIns="0" bIns="0" rtlCol="0" anchor="t"/>
          <a:lstStyle/>
          <a:p>
            <a:pPr indent="0" marL="0">
              <a:buNone/>
            </a:pPr>
            <a:r>
              <a:rPr lang="en-US" sz="1050" dirty="0">
                <a:solidFill>
                  <a:schemeClr val="tx2"/>
                </a:solidFill>
              </a:rPr>
              <a:t>Hardware and licence renewal; Defence Attaché visits the Department</a:t>
            </a:r>
            <a:endParaRPr lang="en-US" sz="1050" dirty="0"/>
          </a:p>
        </p:txBody>
      </p:sp>
      <p:sp>
        <p:nvSpPr>
          <p:cNvPr id="43" name="date chip"/>
          <p:cNvSpPr/>
          <p:nvPr/>
        </p:nvSpPr>
        <p:spPr>
          <a:xfrm>
            <a:off x="6217920" y="4608576"/>
            <a:ext cx="1143000" cy="310896"/>
          </a:xfrm>
          <a:prstGeom prst="roundRect">
            <a:avLst>
              <a:gd name="adj" fmla="val 50000"/>
            </a:avLst>
          </a:prstGeom>
          <a:solidFill>
            <a:schemeClr val="accent3"/>
          </a:solidFill>
          <a:ln w="12700">
            <a:solidFill>
              <a:schemeClr val="accent3"/>
            </a:solidFill>
            <a:prstDash val="solid"/>
          </a:ln>
        </p:spPr>
      </p:sp>
      <p:sp>
        <p:nvSpPr>
          <p:cNvPr id="44" name="Text 42"/>
          <p:cNvSpPr txBox="1"/>
          <p:nvPr/>
        </p:nvSpPr>
        <p:spPr>
          <a:xfrm>
            <a:off x="6217920" y="4608576"/>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Jul 2026</a:t>
            </a:r>
            <a:endParaRPr lang="en-US" sz="1050" dirty="0"/>
          </a:p>
        </p:txBody>
      </p:sp>
      <p:sp>
        <p:nvSpPr>
          <p:cNvPr id="45" name="Text 43"/>
          <p:cNvSpPr txBox="1"/>
          <p:nvPr/>
        </p:nvSpPr>
        <p:spPr>
          <a:xfrm>
            <a:off x="7543800" y="4517136"/>
            <a:ext cx="4206240" cy="329184"/>
          </a:xfrm>
          <a:prstGeom prst="rect">
            <a:avLst/>
          </a:prstGeom>
          <a:noFill/>
          <a:ln/>
        </p:spPr>
        <p:txBody>
          <a:bodyPr wrap="square" lIns="0" tIns="0" rIns="0" bIns="0" rtlCol="0" anchor="t"/>
          <a:lstStyle/>
          <a:p>
            <a:pPr indent="0" marL="0">
              <a:buNone/>
            </a:pPr>
            <a:r>
              <a:rPr lang="en-US" sz="1250" b="1" dirty="0">
                <a:solidFill>
                  <a:schemeClr val="tx1"/>
                </a:solidFill>
              </a:rPr>
              <a:t>Project phase completed</a:t>
            </a:r>
            <a:endParaRPr lang="en-US" sz="1250" dirty="0"/>
          </a:p>
        </p:txBody>
      </p:sp>
      <p:sp>
        <p:nvSpPr>
          <p:cNvPr id="46" name="Text 44"/>
          <p:cNvSpPr txBox="1"/>
          <p:nvPr/>
        </p:nvSpPr>
        <p:spPr>
          <a:xfrm>
            <a:off x="7543800" y="4846320"/>
            <a:ext cx="4206240" cy="411480"/>
          </a:xfrm>
          <a:prstGeom prst="rect">
            <a:avLst/>
          </a:prstGeom>
          <a:noFill/>
          <a:ln/>
        </p:spPr>
        <p:txBody>
          <a:bodyPr wrap="square" lIns="0" tIns="0" rIns="0" bIns="0" rtlCol="0" anchor="t"/>
          <a:lstStyle/>
          <a:p>
            <a:pPr indent="0" marL="0">
              <a:buNone/>
            </a:pPr>
            <a:r>
              <a:rPr lang="en-US" sz="1050" dirty="0">
                <a:solidFill>
                  <a:schemeClr val="tx2"/>
                </a:solidFill>
              </a:rPr>
              <a:t>Instructor deployment extended to 2029 under the MoU</a:t>
            </a:r>
            <a:endParaRPr lang="en-US" sz="1050" dirty="0"/>
          </a:p>
        </p:txBody>
      </p:sp>
      <p:sp>
        <p:nvSpPr>
          <p:cNvPr id="47" name="date chip"/>
          <p:cNvSpPr/>
          <p:nvPr/>
        </p:nvSpPr>
        <p:spPr>
          <a:xfrm>
            <a:off x="6217920" y="5394960"/>
            <a:ext cx="1143000" cy="310896"/>
          </a:xfrm>
          <a:prstGeom prst="roundRect">
            <a:avLst>
              <a:gd name="adj" fmla="val 50000"/>
            </a:avLst>
          </a:prstGeom>
          <a:solidFill>
            <a:schemeClr val="accent3"/>
          </a:solidFill>
          <a:ln w="12700">
            <a:solidFill>
              <a:schemeClr val="accent3"/>
            </a:solidFill>
            <a:prstDash val="solid"/>
          </a:ln>
        </p:spPr>
      </p:sp>
      <p:sp>
        <p:nvSpPr>
          <p:cNvPr id="48" name="Text 46"/>
          <p:cNvSpPr txBox="1"/>
          <p:nvPr/>
        </p:nvSpPr>
        <p:spPr>
          <a:xfrm>
            <a:off x="6217920" y="5394960"/>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2026</a:t>
            </a:r>
            <a:endParaRPr lang="en-US" sz="1050" dirty="0"/>
          </a:p>
        </p:txBody>
      </p:sp>
      <p:sp>
        <p:nvSpPr>
          <p:cNvPr id="49" name="Text 47"/>
          <p:cNvSpPr txBox="1"/>
          <p:nvPr/>
        </p:nvSpPr>
        <p:spPr>
          <a:xfrm>
            <a:off x="7543800" y="5303520"/>
            <a:ext cx="4206240" cy="329184"/>
          </a:xfrm>
          <a:prstGeom prst="rect">
            <a:avLst/>
          </a:prstGeom>
          <a:noFill/>
          <a:ln/>
        </p:spPr>
        <p:txBody>
          <a:bodyPr wrap="square" lIns="0" tIns="0" rIns="0" bIns="0" rtlCol="0" anchor="t"/>
          <a:lstStyle/>
          <a:p>
            <a:pPr indent="0" marL="0">
              <a:buNone/>
            </a:pPr>
            <a:r>
              <a:rPr lang="en-US" sz="1250" b="1" dirty="0">
                <a:solidFill>
                  <a:schemeClr val="tx1"/>
                </a:solidFill>
              </a:rPr>
              <a:t>14th Joint Working Group</a:t>
            </a:r>
            <a:endParaRPr lang="en-US" sz="1250" dirty="0"/>
          </a:p>
        </p:txBody>
      </p:sp>
      <p:sp>
        <p:nvSpPr>
          <p:cNvPr id="50" name="Text 48"/>
          <p:cNvSpPr txBox="1"/>
          <p:nvPr/>
        </p:nvSpPr>
        <p:spPr>
          <a:xfrm>
            <a:off x="7543800" y="5632704"/>
            <a:ext cx="4206240" cy="411480"/>
          </a:xfrm>
          <a:prstGeom prst="rect">
            <a:avLst/>
          </a:prstGeom>
          <a:noFill/>
          <a:ln/>
        </p:spPr>
        <p:txBody>
          <a:bodyPr wrap="square" lIns="0" tIns="0" rIns="0" bIns="0" rtlCol="0" anchor="t"/>
          <a:lstStyle/>
          <a:p>
            <a:pPr indent="0" marL="0">
              <a:buNone/>
            </a:pPr>
            <a:r>
              <a:rPr lang="en-US" sz="1050" dirty="0">
                <a:solidFill>
                  <a:schemeClr val="tx2"/>
                </a:solidFill>
              </a:rPr>
              <a:t>Ulaanbaatar – delegation visits the Department</a:t>
            </a:r>
            <a:endParaRPr lang="en-US" sz="1050" dirty="0"/>
          </a:p>
        </p:txBody>
      </p:sp>
      <p:sp>
        <p:nvSpPr>
          <p:cNvPr id="51" name="legend India-led"/>
          <p:cNvSpPr/>
          <p:nvPr/>
        </p:nvSpPr>
        <p:spPr>
          <a:xfrm>
            <a:off x="6400800" y="6190488"/>
            <a:ext cx="182880" cy="182880"/>
          </a:xfrm>
          <a:prstGeom prst="ellipse">
            <a:avLst/>
          </a:prstGeom>
          <a:solidFill>
            <a:schemeClr val="accent1"/>
          </a:solidFill>
          <a:ln w="12700">
            <a:solidFill>
              <a:schemeClr val="accent1"/>
            </a:solidFill>
            <a:prstDash val="solid"/>
          </a:ln>
        </p:spPr>
      </p:sp>
      <p:sp>
        <p:nvSpPr>
          <p:cNvPr id="52" name="Text 50"/>
          <p:cNvSpPr txBox="1"/>
          <p:nvPr/>
        </p:nvSpPr>
        <p:spPr>
          <a:xfrm>
            <a:off x="6675120" y="6144768"/>
            <a:ext cx="1188720" cy="274320"/>
          </a:xfrm>
          <a:prstGeom prst="rect">
            <a:avLst/>
          </a:prstGeom>
          <a:noFill/>
          <a:ln/>
        </p:spPr>
        <p:txBody>
          <a:bodyPr wrap="square" lIns="0" tIns="0" rIns="0" bIns="0" rtlCol="0" anchor="ctr"/>
          <a:lstStyle/>
          <a:p>
            <a:pPr indent="0" marL="0">
              <a:buNone/>
            </a:pPr>
            <a:r>
              <a:rPr lang="en-US" sz="1050" dirty="0">
                <a:solidFill>
                  <a:schemeClr val="tx2"/>
                </a:solidFill>
              </a:rPr>
              <a:t>India-led</a:t>
            </a:r>
            <a:endParaRPr lang="en-US" sz="1050" dirty="0"/>
          </a:p>
        </p:txBody>
      </p:sp>
      <p:sp>
        <p:nvSpPr>
          <p:cNvPr id="53" name="legend Joint"/>
          <p:cNvSpPr/>
          <p:nvPr/>
        </p:nvSpPr>
        <p:spPr>
          <a:xfrm>
            <a:off x="7955280" y="6190488"/>
            <a:ext cx="182880" cy="182880"/>
          </a:xfrm>
          <a:prstGeom prst="ellipse">
            <a:avLst/>
          </a:prstGeom>
          <a:solidFill>
            <a:schemeClr val="accent3"/>
          </a:solidFill>
          <a:ln w="12700">
            <a:solidFill>
              <a:schemeClr val="accent3"/>
            </a:solidFill>
            <a:prstDash val="solid"/>
          </a:ln>
        </p:spPr>
      </p:sp>
      <p:sp>
        <p:nvSpPr>
          <p:cNvPr id="54" name="Text 52"/>
          <p:cNvSpPr txBox="1"/>
          <p:nvPr/>
        </p:nvSpPr>
        <p:spPr>
          <a:xfrm>
            <a:off x="8229600" y="6144768"/>
            <a:ext cx="1188720" cy="274320"/>
          </a:xfrm>
          <a:prstGeom prst="rect">
            <a:avLst/>
          </a:prstGeom>
          <a:noFill/>
          <a:ln/>
        </p:spPr>
        <p:txBody>
          <a:bodyPr wrap="square" lIns="0" tIns="0" rIns="0" bIns="0" rtlCol="0" anchor="ctr"/>
          <a:lstStyle/>
          <a:p>
            <a:pPr indent="0" marL="0">
              <a:buNone/>
            </a:pPr>
            <a:r>
              <a:rPr lang="en-US" sz="1050" dirty="0">
                <a:solidFill>
                  <a:schemeClr val="tx2"/>
                </a:solidFill>
              </a:rPr>
              <a:t>Joint</a:t>
            </a:r>
            <a:endParaRPr lang="en-US" sz="1050" dirty="0"/>
          </a:p>
        </p:txBody>
      </p:sp>
      <p:sp>
        <p:nvSpPr>
          <p:cNvPr id="55" name="legend Mongolia-led"/>
          <p:cNvSpPr/>
          <p:nvPr/>
        </p:nvSpPr>
        <p:spPr>
          <a:xfrm>
            <a:off x="9509760" y="6190488"/>
            <a:ext cx="182880" cy="182880"/>
          </a:xfrm>
          <a:prstGeom prst="ellipse">
            <a:avLst/>
          </a:prstGeom>
          <a:solidFill>
            <a:schemeClr val="accent2"/>
          </a:solidFill>
          <a:ln w="12700">
            <a:solidFill>
              <a:schemeClr val="accent2"/>
            </a:solidFill>
            <a:prstDash val="solid"/>
          </a:ln>
        </p:spPr>
      </p:sp>
      <p:sp>
        <p:nvSpPr>
          <p:cNvPr id="56" name="Text 54"/>
          <p:cNvSpPr txBox="1"/>
          <p:nvPr/>
        </p:nvSpPr>
        <p:spPr>
          <a:xfrm>
            <a:off x="9784080" y="6144768"/>
            <a:ext cx="1188720" cy="274320"/>
          </a:xfrm>
          <a:prstGeom prst="rect">
            <a:avLst/>
          </a:prstGeom>
          <a:noFill/>
          <a:ln/>
        </p:spPr>
        <p:txBody>
          <a:bodyPr wrap="square" lIns="0" tIns="0" rIns="0" bIns="0" rtlCol="0" anchor="ctr"/>
          <a:lstStyle/>
          <a:p>
            <a:pPr indent="0" marL="0">
              <a:buNone/>
            </a:pPr>
            <a:r>
              <a:rPr lang="en-US" sz="1050" dirty="0">
                <a:solidFill>
                  <a:schemeClr val="tx2"/>
                </a:solidFill>
              </a:rPr>
              <a:t>Mongolia-led</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04</a:t>
            </a:r>
            <a:endParaRPr lang="en-US" sz="6000" dirty="0"/>
          </a:p>
        </p:txBody>
      </p:sp>
      <p:sp>
        <p:nvSpPr>
          <p:cNvPr id="3" name="Text 0"/>
          <p:cNvSpPr/>
          <p:nvPr>
            <p:ph idx="100" type="title" hasCustomPrompt="1"/>
          </p:nvPr>
        </p:nvSpPr>
        <p:spPr>
          <a:xfrm>
            <a:off x="731520" y="2743200"/>
            <a:ext cx="10698480" cy="1097280"/>
          </a:xfrm>
          <a:prstGeom prst="rect">
            <a:avLst/>
          </a:prstGeom>
          <a:noFill/>
          <a:ln/>
        </p:spPr>
        <p:txBody>
          <a:bodyPr wrap="square" lIns="0" tIns="0" rIns="0" bIns="0" rtlCol="0" anchor="ctr"/>
          <a:lstStyle/>
          <a:p>
            <a:pPr indent="0" marL="0">
              <a:buNone/>
            </a:pPr>
            <a:r>
              <a:rPr lang="en-US" sz="4000" b="1" dirty="0">
                <a:solidFill>
                  <a:schemeClr val="bg1"/>
                </a:solidFill>
              </a:rPr>
              <a:t>The road ahead</a:t>
            </a:r>
            <a:endParaRPr lang="en-US" sz="4000" dirty="0"/>
          </a:p>
        </p:txBody>
      </p:sp>
      <p:sp>
        <p:nvSpPr>
          <p:cNvPr id="4" name="Text 0"/>
          <p:cNvSpPr/>
          <p:nvPr>
            <p:ph idx="101" type="body" hasCustomPrompt="1"/>
          </p:nvPr>
        </p:nvSpPr>
        <p:spPr>
          <a:xfrm>
            <a:off x="731520" y="3886200"/>
            <a:ext cx="10698480" cy="731520"/>
          </a:xfrm>
          <a:prstGeom prst="rect">
            <a:avLst/>
          </a:prstGeom>
          <a:noFill/>
          <a:ln/>
        </p:spPr>
        <p:txBody>
          <a:bodyPr wrap="square" lIns="0" tIns="0" rIns="0" bIns="0" rtlCol="0" anchor="t"/>
          <a:lstStyle/>
          <a:p>
            <a:pPr indent="0" marL="0">
              <a:buNone/>
            </a:pPr>
            <a:r>
              <a:rPr lang="en-US" sz="1800" dirty="0">
                <a:solidFill>
                  <a:schemeClr val="accent6"/>
                </a:solidFill>
              </a:rPr>
              <a:t>Proposals for the next phase of cooperation, 2026–2030</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Four directions proposed by NDU on 9 October 2026</a:t>
            </a:r>
            <a:endParaRPr lang="en-US" sz="3000" dirty="0"/>
          </a:p>
        </p:txBody>
      </p:sp>
      <p:sp>
        <p:nvSpPr>
          <p:cNvPr id="3" name="card"/>
          <p:cNvSpPr/>
          <p:nvPr/>
        </p:nvSpPr>
        <p:spPr>
          <a:xfrm>
            <a:off x="548640" y="1371600"/>
            <a:ext cx="5394960" cy="2258568"/>
          </a:xfrm>
          <a:prstGeom prst="roundRect">
            <a:avLst>
              <a:gd name="adj" fmla="val 4858"/>
            </a:avLst>
          </a:prstGeom>
          <a:solidFill>
            <a:schemeClr val="bg2"/>
          </a:solidFill>
          <a:ln w="12700">
            <a:solidFill>
              <a:schemeClr val="bg2"/>
            </a:solidFill>
            <a:prstDash val="solid"/>
          </a:ln>
        </p:spPr>
      </p:sp>
      <p:sp>
        <p:nvSpPr>
          <p:cNvPr id="4" name="icon circle"/>
          <p:cNvSpPr/>
          <p:nvPr/>
        </p:nvSpPr>
        <p:spPr>
          <a:xfrm>
            <a:off x="777240" y="1600200"/>
            <a:ext cx="594360" cy="594360"/>
          </a:xfrm>
          <a:prstGeom prst="ellipse">
            <a:avLst/>
          </a:prstGeom>
          <a:solidFill>
            <a:schemeClr val="accent1"/>
          </a:solidFill>
          <a:ln w="12700">
            <a:solidFill>
              <a:schemeClr val="accent1"/>
            </a:solidFill>
            <a:prstDash val="solid"/>
          </a:ln>
        </p:spPr>
      </p:sp>
      <p:pic>
        <p:nvPicPr>
          <p:cNvPr id="5" name="FaGraduationCap" descr="preencoded.png">    </p:cNvPr>
          <p:cNvPicPr>
            <a:picLocks noChangeAspect="1"/>
          </p:cNvPicPr>
          <p:nvPr/>
        </p:nvPicPr>
        <p:blipFill>
          <a:blip r:embed="rId1"/>
          <a:stretch>
            <a:fillRect/>
          </a:stretch>
        </p:blipFill>
        <p:spPr>
          <a:xfrm>
            <a:off x="931774" y="1754734"/>
            <a:ext cx="285293" cy="285293"/>
          </a:xfrm>
          <a:prstGeom prst="rect">
            <a:avLst/>
          </a:prstGeom>
        </p:spPr>
      </p:pic>
      <p:sp>
        <p:nvSpPr>
          <p:cNvPr id="6" name="Text 3"/>
          <p:cNvSpPr txBox="1"/>
          <p:nvPr/>
        </p:nvSpPr>
        <p:spPr>
          <a:xfrm>
            <a:off x="1554480" y="1600200"/>
            <a:ext cx="4206240" cy="594360"/>
          </a:xfrm>
          <a:prstGeom prst="rect">
            <a:avLst/>
          </a:prstGeom>
          <a:noFill/>
          <a:ln/>
        </p:spPr>
        <p:txBody>
          <a:bodyPr wrap="square" lIns="0" tIns="0" rIns="0" bIns="0" rtlCol="0" anchor="ctr"/>
          <a:lstStyle/>
          <a:p>
            <a:pPr indent="0" marL="0">
              <a:buNone/>
            </a:pPr>
            <a:r>
              <a:rPr lang="en-US" sz="1600" b="1" dirty="0">
                <a:solidFill>
                  <a:schemeClr val="tx1"/>
                </a:solidFill>
              </a:rPr>
              <a:t>1 · Joint education</a:t>
            </a:r>
            <a:endParaRPr lang="en-US" sz="1600" dirty="0"/>
          </a:p>
        </p:txBody>
      </p:sp>
      <p:sp>
        <p:nvSpPr>
          <p:cNvPr id="7" name="Text 4"/>
          <p:cNvSpPr txBox="1"/>
          <p:nvPr/>
        </p:nvSpPr>
        <p:spPr>
          <a:xfrm>
            <a:off x="822960" y="2331720"/>
            <a:ext cx="4846320" cy="12344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Joint bachelor, master's and doctoral programmes in cyber security</a:t>
            </a:r>
            <a:endParaRPr lang="en-US" sz="1150" dirty="0"/>
          </a:p>
          <a:p>
            <a:pPr marL="177800" indent="-177800">
              <a:spcAft>
                <a:spcPts val="500"/>
              </a:spcAft>
              <a:buSzPct val="100000"/>
              <a:buChar char="•"/>
            </a:pPr>
            <a:r>
              <a:rPr lang="en-US" sz="1150" dirty="0">
                <a:solidFill>
                  <a:schemeClr val="tx1"/>
                </a:solidFill>
              </a:rPr>
              <a:t>Exchange of faculty, cadets and researchers</a:t>
            </a:r>
            <a:endParaRPr lang="en-US" sz="1150" dirty="0"/>
          </a:p>
          <a:p>
            <a:pPr marL="177800" indent="-177800">
              <a:spcAft>
                <a:spcPts val="500"/>
              </a:spcAft>
              <a:buSzPct val="100000"/>
              <a:buChar char="•"/>
            </a:pPr>
            <a:r>
              <a:rPr lang="en-US" sz="1150" dirty="0">
                <a:solidFill>
                  <a:schemeClr val="tx1"/>
                </a:solidFill>
              </a:rPr>
              <a:t>Double-degree programmes with Indian universities</a:t>
            </a:r>
            <a:endParaRPr lang="en-US" sz="1150" dirty="0"/>
          </a:p>
        </p:txBody>
      </p:sp>
      <p:sp>
        <p:nvSpPr>
          <p:cNvPr id="8" name="card"/>
          <p:cNvSpPr/>
          <p:nvPr/>
        </p:nvSpPr>
        <p:spPr>
          <a:xfrm>
            <a:off x="6217920" y="1371600"/>
            <a:ext cx="5394960" cy="2258568"/>
          </a:xfrm>
          <a:prstGeom prst="roundRect">
            <a:avLst>
              <a:gd name="adj" fmla="val 4858"/>
            </a:avLst>
          </a:prstGeom>
          <a:solidFill>
            <a:schemeClr val="bg2"/>
          </a:solidFill>
          <a:ln w="12700">
            <a:solidFill>
              <a:schemeClr val="bg2"/>
            </a:solidFill>
            <a:prstDash val="solid"/>
          </a:ln>
        </p:spPr>
      </p:sp>
      <p:sp>
        <p:nvSpPr>
          <p:cNvPr id="9" name="icon circle"/>
          <p:cNvSpPr/>
          <p:nvPr/>
        </p:nvSpPr>
        <p:spPr>
          <a:xfrm>
            <a:off x="6446520" y="1600200"/>
            <a:ext cx="594360" cy="594360"/>
          </a:xfrm>
          <a:prstGeom prst="ellipse">
            <a:avLst/>
          </a:prstGeom>
          <a:solidFill>
            <a:schemeClr val="accent2"/>
          </a:solidFill>
          <a:ln w="12700">
            <a:solidFill>
              <a:schemeClr val="accent2"/>
            </a:solidFill>
            <a:prstDash val="solid"/>
          </a:ln>
        </p:spPr>
      </p:sp>
      <p:pic>
        <p:nvPicPr>
          <p:cNvPr id="10" name="FaServer" descr="preencoded.png">    </p:cNvPr>
          <p:cNvPicPr>
            <a:picLocks noChangeAspect="1"/>
          </p:cNvPicPr>
          <p:nvPr/>
        </p:nvPicPr>
        <p:blipFill>
          <a:blip r:embed="rId2"/>
          <a:stretch>
            <a:fillRect/>
          </a:stretch>
        </p:blipFill>
        <p:spPr>
          <a:xfrm>
            <a:off x="6601054" y="1754734"/>
            <a:ext cx="285293" cy="285293"/>
          </a:xfrm>
          <a:prstGeom prst="rect">
            <a:avLst/>
          </a:prstGeom>
        </p:spPr>
      </p:pic>
      <p:sp>
        <p:nvSpPr>
          <p:cNvPr id="11" name="Text 7"/>
          <p:cNvSpPr txBox="1"/>
          <p:nvPr/>
        </p:nvSpPr>
        <p:spPr>
          <a:xfrm>
            <a:off x="7223760" y="1600200"/>
            <a:ext cx="4206240" cy="594360"/>
          </a:xfrm>
          <a:prstGeom prst="rect">
            <a:avLst/>
          </a:prstGeom>
          <a:noFill/>
          <a:ln/>
        </p:spPr>
        <p:txBody>
          <a:bodyPr wrap="square" lIns="0" tIns="0" rIns="0" bIns="0" rtlCol="0" anchor="ctr"/>
          <a:lstStyle/>
          <a:p>
            <a:pPr indent="0" marL="0">
              <a:buNone/>
            </a:pPr>
            <a:r>
              <a:rPr lang="en-US" sz="1600" b="1" dirty="0">
                <a:solidFill>
                  <a:schemeClr val="tx1"/>
                </a:solidFill>
              </a:rPr>
              <a:t>2 · Laboratories and research</a:t>
            </a:r>
            <a:endParaRPr lang="en-US" sz="1600" dirty="0"/>
          </a:p>
        </p:txBody>
      </p:sp>
      <p:sp>
        <p:nvSpPr>
          <p:cNvPr id="12" name="Text 8"/>
          <p:cNvSpPr txBox="1"/>
          <p:nvPr/>
        </p:nvSpPr>
        <p:spPr>
          <a:xfrm>
            <a:off x="6492240" y="2331720"/>
            <a:ext cx="4846320" cy="12344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Cyber Range and Security Operations Centre laboratory</a:t>
            </a:r>
            <a:endParaRPr lang="en-US" sz="1150" dirty="0"/>
          </a:p>
          <a:p>
            <a:pPr marL="177800" indent="-177800">
              <a:spcAft>
                <a:spcPts val="500"/>
              </a:spcAft>
              <a:buSzPct val="100000"/>
              <a:buChar char="•"/>
            </a:pPr>
            <a:r>
              <a:rPr lang="en-US" sz="1150" dirty="0">
                <a:solidFill>
                  <a:schemeClr val="tx1"/>
                </a:solidFill>
              </a:rPr>
              <a:t>Joint research centre: IoT, AI, big data, quantum cryptography</a:t>
            </a:r>
            <a:endParaRPr lang="en-US" sz="1150" dirty="0"/>
          </a:p>
          <a:p>
            <a:pPr marL="177800" indent="-177800">
              <a:spcAft>
                <a:spcPts val="500"/>
              </a:spcAft>
              <a:buSzPct val="100000"/>
              <a:buChar char="•"/>
            </a:pPr>
            <a:r>
              <a:rPr lang="en-US" sz="1150" dirty="0">
                <a:solidFill>
                  <a:schemeClr val="tx1"/>
                </a:solidFill>
              </a:rPr>
              <a:t>Cyber security laboratory for UAV and remotely operated systems</a:t>
            </a:r>
            <a:endParaRPr lang="en-US" sz="1150" dirty="0"/>
          </a:p>
        </p:txBody>
      </p:sp>
      <p:sp>
        <p:nvSpPr>
          <p:cNvPr id="13" name="card"/>
          <p:cNvSpPr/>
          <p:nvPr/>
        </p:nvSpPr>
        <p:spPr>
          <a:xfrm>
            <a:off x="548640" y="3767328"/>
            <a:ext cx="5394960" cy="2258568"/>
          </a:xfrm>
          <a:prstGeom prst="roundRect">
            <a:avLst>
              <a:gd name="adj" fmla="val 4858"/>
            </a:avLst>
          </a:prstGeom>
          <a:solidFill>
            <a:schemeClr val="bg2"/>
          </a:solidFill>
          <a:ln w="12700">
            <a:solidFill>
              <a:schemeClr val="bg2"/>
            </a:solidFill>
            <a:prstDash val="solid"/>
          </a:ln>
        </p:spPr>
      </p:sp>
      <p:sp>
        <p:nvSpPr>
          <p:cNvPr id="14" name="icon circle"/>
          <p:cNvSpPr/>
          <p:nvPr/>
        </p:nvSpPr>
        <p:spPr>
          <a:xfrm>
            <a:off x="777240" y="3995928"/>
            <a:ext cx="594360" cy="594360"/>
          </a:xfrm>
          <a:prstGeom prst="ellipse">
            <a:avLst/>
          </a:prstGeom>
          <a:solidFill>
            <a:schemeClr val="accent1"/>
          </a:solidFill>
          <a:ln w="12700">
            <a:solidFill>
              <a:schemeClr val="accent1"/>
            </a:solidFill>
            <a:prstDash val="solid"/>
          </a:ln>
        </p:spPr>
      </p:sp>
      <p:pic>
        <p:nvPicPr>
          <p:cNvPr id="15" name="FaChalkboardTeacher" descr="preencoded.png">    </p:cNvPr>
          <p:cNvPicPr>
            <a:picLocks noChangeAspect="1"/>
          </p:cNvPicPr>
          <p:nvPr/>
        </p:nvPicPr>
        <p:blipFill>
          <a:blip r:embed="rId3"/>
          <a:stretch>
            <a:fillRect/>
          </a:stretch>
        </p:blipFill>
        <p:spPr>
          <a:xfrm>
            <a:off x="931774" y="4150462"/>
            <a:ext cx="285293" cy="285293"/>
          </a:xfrm>
          <a:prstGeom prst="rect">
            <a:avLst/>
          </a:prstGeom>
        </p:spPr>
      </p:pic>
      <p:sp>
        <p:nvSpPr>
          <p:cNvPr id="16" name="Text 11"/>
          <p:cNvSpPr txBox="1"/>
          <p:nvPr/>
        </p:nvSpPr>
        <p:spPr>
          <a:xfrm>
            <a:off x="1554480" y="3995928"/>
            <a:ext cx="4206240" cy="594360"/>
          </a:xfrm>
          <a:prstGeom prst="rect">
            <a:avLst/>
          </a:prstGeom>
          <a:noFill/>
          <a:ln/>
        </p:spPr>
        <p:txBody>
          <a:bodyPr wrap="square" lIns="0" tIns="0" rIns="0" bIns="0" rtlCol="0" anchor="ctr"/>
          <a:lstStyle/>
          <a:p>
            <a:pPr indent="0" marL="0">
              <a:buNone/>
            </a:pPr>
            <a:r>
              <a:rPr lang="en-US" sz="1600" b="1" dirty="0">
                <a:solidFill>
                  <a:schemeClr val="tx1"/>
                </a:solidFill>
              </a:rPr>
              <a:t>3 · Faculty capacity</a:t>
            </a:r>
            <a:endParaRPr lang="en-US" sz="1600" dirty="0"/>
          </a:p>
        </p:txBody>
      </p:sp>
      <p:sp>
        <p:nvSpPr>
          <p:cNvPr id="17" name="Text 12"/>
          <p:cNvSpPr txBox="1"/>
          <p:nvPr/>
        </p:nvSpPr>
        <p:spPr>
          <a:xfrm>
            <a:off x="822960" y="4727448"/>
            <a:ext cx="4846320" cy="12344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Train Mongolian faculty and researchers at Indian defence universities and research institutions</a:t>
            </a:r>
            <a:endParaRPr lang="en-US" sz="1150" dirty="0"/>
          </a:p>
          <a:p>
            <a:pPr marL="177800" indent="-177800">
              <a:spcAft>
                <a:spcPts val="500"/>
              </a:spcAft>
              <a:buSzPct val="100000"/>
              <a:buChar char="•"/>
            </a:pPr>
            <a:r>
              <a:rPr lang="en-US" sz="1150" dirty="0">
                <a:solidFill>
                  <a:schemeClr val="tx1"/>
                </a:solidFill>
              </a:rPr>
              <a:t>Joint programme for cyber security instructors</a:t>
            </a:r>
            <a:endParaRPr lang="en-US" sz="1150" dirty="0"/>
          </a:p>
        </p:txBody>
      </p:sp>
      <p:sp>
        <p:nvSpPr>
          <p:cNvPr id="18" name="card"/>
          <p:cNvSpPr/>
          <p:nvPr/>
        </p:nvSpPr>
        <p:spPr>
          <a:xfrm>
            <a:off x="6217920" y="3767328"/>
            <a:ext cx="5394960" cy="2258568"/>
          </a:xfrm>
          <a:prstGeom prst="roundRect">
            <a:avLst>
              <a:gd name="adj" fmla="val 4858"/>
            </a:avLst>
          </a:prstGeom>
          <a:solidFill>
            <a:schemeClr val="bg2"/>
          </a:solidFill>
          <a:ln w="12700">
            <a:solidFill>
              <a:schemeClr val="bg2"/>
            </a:solidFill>
            <a:prstDash val="solid"/>
          </a:ln>
        </p:spPr>
      </p:sp>
      <p:sp>
        <p:nvSpPr>
          <p:cNvPr id="19" name="icon circle"/>
          <p:cNvSpPr/>
          <p:nvPr/>
        </p:nvSpPr>
        <p:spPr>
          <a:xfrm>
            <a:off x="6446520" y="3995928"/>
            <a:ext cx="594360" cy="594360"/>
          </a:xfrm>
          <a:prstGeom prst="ellipse">
            <a:avLst/>
          </a:prstGeom>
          <a:solidFill>
            <a:schemeClr val="accent2"/>
          </a:solidFill>
          <a:ln w="12700">
            <a:solidFill>
              <a:schemeClr val="accent2"/>
            </a:solidFill>
            <a:prstDash val="solid"/>
          </a:ln>
        </p:spPr>
      </p:sp>
      <p:pic>
        <p:nvPicPr>
          <p:cNvPr id="20" name="FaGlobeAsia" descr="preencoded.png">    </p:cNvPr>
          <p:cNvPicPr>
            <a:picLocks noChangeAspect="1"/>
          </p:cNvPicPr>
          <p:nvPr/>
        </p:nvPicPr>
        <p:blipFill>
          <a:blip r:embed="rId4"/>
          <a:stretch>
            <a:fillRect/>
          </a:stretch>
        </p:blipFill>
        <p:spPr>
          <a:xfrm>
            <a:off x="6601054" y="4150462"/>
            <a:ext cx="285293" cy="285293"/>
          </a:xfrm>
          <a:prstGeom prst="rect">
            <a:avLst/>
          </a:prstGeom>
        </p:spPr>
      </p:pic>
      <p:sp>
        <p:nvSpPr>
          <p:cNvPr id="21" name="Text 15"/>
          <p:cNvSpPr txBox="1"/>
          <p:nvPr/>
        </p:nvSpPr>
        <p:spPr>
          <a:xfrm>
            <a:off x="7223760" y="3995928"/>
            <a:ext cx="4206240" cy="594360"/>
          </a:xfrm>
          <a:prstGeom prst="rect">
            <a:avLst/>
          </a:prstGeom>
          <a:noFill/>
          <a:ln/>
        </p:spPr>
        <p:txBody>
          <a:bodyPr wrap="square" lIns="0" tIns="0" rIns="0" bIns="0" rtlCol="0" anchor="ctr"/>
          <a:lstStyle/>
          <a:p>
            <a:pPr indent="0" marL="0">
              <a:buNone/>
            </a:pPr>
            <a:r>
              <a:rPr lang="en-US" sz="1600" b="1" dirty="0">
                <a:solidFill>
                  <a:schemeClr val="tx1"/>
                </a:solidFill>
              </a:rPr>
              <a:t>4 · International cooperation</a:t>
            </a:r>
            <a:endParaRPr lang="en-US" sz="1600" dirty="0"/>
          </a:p>
        </p:txBody>
      </p:sp>
      <p:sp>
        <p:nvSpPr>
          <p:cNvPr id="22" name="Text 16"/>
          <p:cNvSpPr txBox="1"/>
          <p:nvPr/>
        </p:nvSpPr>
        <p:spPr>
          <a:xfrm>
            <a:off x="6492240" y="4727448"/>
            <a:ext cx="4846320" cy="12344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Joint participation in ITU Cyberdrill, FIRST and APCERT exercises</a:t>
            </a:r>
            <a:endParaRPr lang="en-US" sz="1150" dirty="0"/>
          </a:p>
          <a:p>
            <a:pPr marL="177800" indent="-177800">
              <a:spcAft>
                <a:spcPts val="500"/>
              </a:spcAft>
              <a:buSzPct val="100000"/>
              <a:buChar char="•"/>
            </a:pPr>
            <a:r>
              <a:rPr lang="en-US" sz="1150" dirty="0">
                <a:solidFill>
                  <a:schemeClr val="tx1"/>
                </a:solidFill>
              </a:rPr>
              <a:t>Biennial Mongolia–India Cyber Security Forum</a:t>
            </a:r>
            <a:endParaRPr lang="en-US" sz="1150" dirty="0"/>
          </a:p>
          <a:p>
            <a:pPr marL="177800" indent="-177800">
              <a:spcAft>
                <a:spcPts val="500"/>
              </a:spcAft>
              <a:buSzPct val="100000"/>
              <a:buChar char="•"/>
            </a:pPr>
            <a:r>
              <a:rPr lang="en-US" sz="1150" dirty="0">
                <a:solidFill>
                  <a:schemeClr val="tx1"/>
                </a:solidFill>
              </a:rPr>
              <a:t>Regular joint conferences, seminars, courses and exercises</a:t>
            </a:r>
            <a:endParaRPr lang="en-US" sz="1150" dirty="0"/>
          </a:p>
        </p:txBody>
      </p:sp>
      <p:sp>
        <p:nvSpPr>
          <p:cNvPr id="23" name="Text 17"/>
          <p:cNvSpPr txBox="1"/>
          <p:nvPr/>
        </p:nvSpPr>
        <p:spPr>
          <a:xfrm>
            <a:off x="548640" y="6172200"/>
            <a:ext cx="11064240" cy="256032"/>
          </a:xfrm>
          <a:prstGeom prst="rect">
            <a:avLst/>
          </a:prstGeom>
          <a:noFill/>
          <a:ln/>
        </p:spPr>
        <p:txBody>
          <a:bodyPr wrap="square" lIns="0" tIns="0" rIns="0" bIns="0" rtlCol="0" anchor="t"/>
          <a:lstStyle/>
          <a:p>
            <a:pPr indent="0" marL="0">
              <a:buNone/>
            </a:pPr>
            <a:r>
              <a:rPr lang="en-US" sz="1050" i="1" dirty="0">
                <a:solidFill>
                  <a:schemeClr val="tx2"/>
                </a:solidFill>
              </a:rPr>
              <a:t>Instructor deployment has already been extended to 2029 under the intergovernmental Memorandum; these directions build the next layer on it.</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Proposals for the 14th Joint Working Group</a:t>
            </a:r>
            <a:endParaRPr lang="en-US" sz="3000" dirty="0"/>
          </a:p>
        </p:txBody>
      </p:sp>
      <p:sp>
        <p:nvSpPr>
          <p:cNvPr id="3" name="Text 1"/>
          <p:cNvSpPr txBox="1"/>
          <p:nvPr/>
        </p:nvSpPr>
        <p:spPr>
          <a:xfrm>
            <a:off x="548640" y="1325880"/>
            <a:ext cx="10972800" cy="365760"/>
          </a:xfrm>
          <a:prstGeom prst="rect">
            <a:avLst/>
          </a:prstGeom>
          <a:noFill/>
          <a:ln/>
        </p:spPr>
        <p:txBody>
          <a:bodyPr wrap="square" lIns="0" tIns="0" rIns="0" bIns="0" rtlCol="0" anchor="t"/>
          <a:lstStyle/>
          <a:p>
            <a:pPr indent="0" marL="0">
              <a:buNone/>
            </a:pPr>
            <a:r>
              <a:rPr lang="en-US" sz="1400" i="1" dirty="0">
                <a:solidFill>
                  <a:schemeClr val="tx2"/>
                </a:solidFill>
              </a:rPr>
              <a:t>We respectfully request the Indian side to consider:</a:t>
            </a:r>
            <a:endParaRPr lang="en-US" sz="1400" dirty="0"/>
          </a:p>
        </p:txBody>
      </p:sp>
      <p:sp>
        <p:nvSpPr>
          <p:cNvPr id="4" name="card"/>
          <p:cNvSpPr/>
          <p:nvPr/>
        </p:nvSpPr>
        <p:spPr>
          <a:xfrm>
            <a:off x="548640" y="1828800"/>
            <a:ext cx="11064240" cy="914400"/>
          </a:xfrm>
          <a:prstGeom prst="roundRect">
            <a:avLst>
              <a:gd name="adj" fmla="val 12000"/>
            </a:avLst>
          </a:prstGeom>
          <a:solidFill>
            <a:schemeClr val="bg2"/>
          </a:solidFill>
          <a:ln w="12700">
            <a:solidFill>
              <a:schemeClr val="bg2"/>
            </a:solidFill>
            <a:prstDash val="solid"/>
          </a:ln>
        </p:spPr>
      </p:sp>
      <p:sp>
        <p:nvSpPr>
          <p:cNvPr id="5" name="number"/>
          <p:cNvSpPr/>
          <p:nvPr/>
        </p:nvSpPr>
        <p:spPr>
          <a:xfrm>
            <a:off x="731520" y="2057400"/>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31520" y="2057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1371600" y="1920240"/>
            <a:ext cx="10058400" cy="731520"/>
          </a:xfrm>
          <a:prstGeom prst="rect">
            <a:avLst/>
          </a:prstGeom>
          <a:noFill/>
          <a:ln/>
        </p:spPr>
        <p:txBody>
          <a:bodyPr wrap="square" lIns="0" tIns="0" rIns="0" bIns="0" rtlCol="0" anchor="ctr"/>
          <a:lstStyle/>
          <a:p>
            <a:pPr indent="0" marL="0">
              <a:buNone/>
            </a:pPr>
            <a:r>
              <a:rPr lang="en-US" sz="1300" b="1" dirty="0">
                <a:solidFill>
                  <a:schemeClr val="tx1"/>
                </a:solidFill>
              </a:rPr>
              <a:t>Include the expansion of the Cyber Security Training Centre project (Phase II) in the agenda and minutes of the 14th Joint Working Group </a:t>
            </a:r>
            <a:pPr indent="0" marL="0">
              <a:buNone/>
            </a:pPr>
            <a:endParaRPr lang="en-US" sz="1300" dirty="0"/>
          </a:p>
        </p:txBody>
      </p:sp>
      <p:sp>
        <p:nvSpPr>
          <p:cNvPr id="8" name="card"/>
          <p:cNvSpPr/>
          <p:nvPr/>
        </p:nvSpPr>
        <p:spPr>
          <a:xfrm>
            <a:off x="548640" y="2907792"/>
            <a:ext cx="11064240" cy="914400"/>
          </a:xfrm>
          <a:prstGeom prst="roundRect">
            <a:avLst>
              <a:gd name="adj" fmla="val 12000"/>
            </a:avLst>
          </a:prstGeom>
          <a:solidFill>
            <a:schemeClr val="bg2"/>
          </a:solidFill>
          <a:ln w="12700">
            <a:solidFill>
              <a:schemeClr val="bg2"/>
            </a:solidFill>
            <a:prstDash val="solid"/>
          </a:ln>
        </p:spPr>
      </p:sp>
      <p:sp>
        <p:nvSpPr>
          <p:cNvPr id="9" name="number"/>
          <p:cNvSpPr/>
          <p:nvPr/>
        </p:nvSpPr>
        <p:spPr>
          <a:xfrm>
            <a:off x="731520" y="3136392"/>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731520" y="313639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1371600" y="2999232"/>
            <a:ext cx="10058400" cy="731520"/>
          </a:xfrm>
          <a:prstGeom prst="rect">
            <a:avLst/>
          </a:prstGeom>
          <a:noFill/>
          <a:ln/>
        </p:spPr>
        <p:txBody>
          <a:bodyPr wrap="square" lIns="0" tIns="0" rIns="0" bIns="0" rtlCol="0" anchor="ctr"/>
          <a:lstStyle/>
          <a:p>
            <a:pPr indent="0" marL="0">
              <a:buNone/>
            </a:pPr>
            <a:r>
              <a:rPr lang="en-US" sz="1300" b="1" dirty="0">
                <a:solidFill>
                  <a:schemeClr val="tx1"/>
                </a:solidFill>
              </a:rPr>
              <a:t>Agree a Phase II laboratory project – Cyber Range and SOC laboratory </a:t>
            </a:r>
            <a:pPr indent="0" marL="0">
              <a:buNone/>
            </a:pPr>
            <a:r>
              <a:rPr lang="en-US" sz="1300" dirty="0">
                <a:solidFill>
                  <a:schemeClr val="tx1"/>
                </a:solidFill>
              </a:rPr>
              <a:t>with a C-DAC / Defence Cyber Agency technical assessment in 2027.</a:t>
            </a:r>
            <a:endParaRPr lang="en-US" sz="1300" dirty="0"/>
          </a:p>
        </p:txBody>
      </p:sp>
      <p:sp>
        <p:nvSpPr>
          <p:cNvPr id="12" name="card"/>
          <p:cNvSpPr/>
          <p:nvPr/>
        </p:nvSpPr>
        <p:spPr>
          <a:xfrm>
            <a:off x="548640" y="3986784"/>
            <a:ext cx="11064240" cy="914400"/>
          </a:xfrm>
          <a:prstGeom prst="roundRect">
            <a:avLst>
              <a:gd name="adj" fmla="val 12000"/>
            </a:avLst>
          </a:prstGeom>
          <a:solidFill>
            <a:schemeClr val="bg2"/>
          </a:solidFill>
          <a:ln w="12700">
            <a:solidFill>
              <a:schemeClr val="bg2"/>
            </a:solidFill>
            <a:prstDash val="solid"/>
          </a:ln>
        </p:spPr>
      </p:sp>
      <p:sp>
        <p:nvSpPr>
          <p:cNvPr id="13" name="number"/>
          <p:cNvSpPr/>
          <p:nvPr/>
        </p:nvSpPr>
        <p:spPr>
          <a:xfrm>
            <a:off x="731520" y="4215384"/>
            <a:ext cx="457200" cy="457200"/>
          </a:xfrm>
          <a:prstGeom prst="ellipse">
            <a:avLst/>
          </a:prstGeom>
          <a:solidFill>
            <a:schemeClr val="accent1"/>
          </a:solidFill>
          <a:ln w="12700">
            <a:solidFill>
              <a:schemeClr val="accent1"/>
            </a:solidFill>
            <a:prstDash val="solid"/>
          </a:ln>
        </p:spPr>
      </p:sp>
      <p:sp>
        <p:nvSpPr>
          <p:cNvPr id="14" name="Text 12"/>
          <p:cNvSpPr txBox="1"/>
          <p:nvPr/>
        </p:nvSpPr>
        <p:spPr>
          <a:xfrm>
            <a:off x="731520" y="421538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5" name="Text 13"/>
          <p:cNvSpPr txBox="1"/>
          <p:nvPr/>
        </p:nvSpPr>
        <p:spPr>
          <a:xfrm>
            <a:off x="1371600" y="4078224"/>
            <a:ext cx="10058400" cy="731520"/>
          </a:xfrm>
          <a:prstGeom prst="rect">
            <a:avLst/>
          </a:prstGeom>
          <a:noFill/>
          <a:ln/>
        </p:spPr>
        <p:txBody>
          <a:bodyPr wrap="square" lIns="0" tIns="0" rIns="0" bIns="0" rtlCol="0" anchor="ctr"/>
          <a:lstStyle/>
          <a:p>
            <a:pPr indent="0" marL="0">
              <a:buNone/>
            </a:pPr>
            <a:r>
              <a:rPr lang="en-US" sz="1300" b="1" dirty="0">
                <a:solidFill>
                  <a:schemeClr val="tx1"/>
                </a:solidFill>
              </a:rPr>
              <a:t>Open seats for Mongolian faculty at Indian defence universities and research institutions from 2027 </a:t>
            </a:r>
            <a:pPr indent="0" marL="0">
              <a:buNone/>
            </a:pPr>
            <a:r>
              <a:rPr lang="en-US" sz="1300" dirty="0">
                <a:solidFill>
                  <a:schemeClr val="tx1"/>
                </a:solidFill>
              </a:rPr>
              <a:t>and start the design of joint and double-degree programmes.</a:t>
            </a:r>
            <a:endParaRPr lang="en-US" sz="1300" dirty="0"/>
          </a:p>
        </p:txBody>
      </p:sp>
      <p:sp>
        <p:nvSpPr>
          <p:cNvPr id="16" name="card"/>
          <p:cNvSpPr/>
          <p:nvPr/>
        </p:nvSpPr>
        <p:spPr>
          <a:xfrm>
            <a:off x="548640" y="5065776"/>
            <a:ext cx="11064240" cy="914400"/>
          </a:xfrm>
          <a:prstGeom prst="roundRect">
            <a:avLst>
              <a:gd name="adj" fmla="val 12000"/>
            </a:avLst>
          </a:prstGeom>
          <a:solidFill>
            <a:schemeClr val="bg2"/>
          </a:solidFill>
          <a:ln w="12700">
            <a:solidFill>
              <a:schemeClr val="bg2"/>
            </a:solidFill>
            <a:prstDash val="solid"/>
          </a:ln>
        </p:spPr>
      </p:sp>
      <p:sp>
        <p:nvSpPr>
          <p:cNvPr id="17" name="number"/>
          <p:cNvSpPr/>
          <p:nvPr/>
        </p:nvSpPr>
        <p:spPr>
          <a:xfrm>
            <a:off x="731520" y="5294376"/>
            <a:ext cx="457200" cy="457200"/>
          </a:xfrm>
          <a:prstGeom prst="ellipse">
            <a:avLst/>
          </a:prstGeom>
          <a:solidFill>
            <a:schemeClr val="accent1"/>
          </a:solidFill>
          <a:ln w="12700">
            <a:solidFill>
              <a:schemeClr val="accent1"/>
            </a:solidFill>
            <a:prstDash val="solid"/>
          </a:ln>
        </p:spPr>
      </p:sp>
      <p:sp>
        <p:nvSpPr>
          <p:cNvPr id="18" name="Text 16"/>
          <p:cNvSpPr txBox="1"/>
          <p:nvPr/>
        </p:nvSpPr>
        <p:spPr>
          <a:xfrm>
            <a:off x="731520" y="5294376"/>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9" name="Text 17"/>
          <p:cNvSpPr txBox="1"/>
          <p:nvPr/>
        </p:nvSpPr>
        <p:spPr>
          <a:xfrm>
            <a:off x="1371600" y="5157216"/>
            <a:ext cx="10058400" cy="731520"/>
          </a:xfrm>
          <a:prstGeom prst="rect">
            <a:avLst/>
          </a:prstGeom>
          <a:noFill/>
          <a:ln/>
        </p:spPr>
        <p:txBody>
          <a:bodyPr wrap="square" lIns="0" tIns="0" rIns="0" bIns="0" rtlCol="0" anchor="ctr"/>
          <a:lstStyle/>
          <a:p>
            <a:pPr indent="0" marL="0">
              <a:buNone/>
            </a:pPr>
            <a:r>
              <a:rPr lang="en-US" sz="1300" b="1" dirty="0">
                <a:solidFill>
                  <a:schemeClr val="tx1"/>
                </a:solidFill>
              </a:rPr>
              <a:t>Hold the first Mongolia–India Cyber Security Forum in 2027 </a:t>
            </a:r>
            <a:pPr indent="0" marL="0">
              <a:buNone/>
            </a:pPr>
            <a:r>
              <a:rPr lang="en-US" sz="1300" dirty="0">
                <a:solidFill>
                  <a:schemeClr val="tx1"/>
                </a:solidFill>
              </a:rPr>
              <a:t>and take part together in ITU Cyberdrill, FIRST and APCERT exercises.</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188720"/>
          </a:xfrm>
          <a:prstGeom prst="rect">
            <a:avLst/>
          </a:prstGeom>
          <a:noFill/>
          <a:ln/>
        </p:spPr>
        <p:txBody>
          <a:bodyPr wrap="square" lIns="0" tIns="0" rIns="0" bIns="0" rtlCol="0" anchor="ctr"/>
          <a:lstStyle/>
          <a:p>
            <a:pPr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731520" y="3108960"/>
            <a:ext cx="6583680" cy="2194560"/>
          </a:xfrm>
          <a:prstGeom prst="rect">
            <a:avLst/>
          </a:prstGeom>
          <a:noFill/>
          <a:ln/>
        </p:spPr>
        <p:txBody>
          <a:bodyPr wrap="square" lIns="0" tIns="0" rIns="0" bIns="0" rtlCol="0" anchor="t"/>
          <a:lstStyle/>
          <a:p>
            <a:pPr indent="0" marL="0">
              <a:buNone/>
            </a:pPr>
            <a:r>
              <a:rPr lang="en-US" sz="1500" b="1" dirty="0">
                <a:solidFill>
                  <a:schemeClr val="accent6"/>
                </a:solidFill>
              </a:rPr>
              <a:t>Cyber Security Department, Military Institute, National Defence University of Mongolia</a:t>
            </a:r>
            <a:endParaRPr lang="en-US" sz="1500" dirty="0"/>
          </a:p>
          <a:p>
            <a:pPr indent="0" marL="0">
              <a:buNone/>
            </a:pPr>
            <a:r>
              <a:rPr lang="en-US" sz="1500" i="1" dirty="0">
                <a:solidFill>
                  <a:schemeClr val="accent6"/>
                </a:solidFill>
              </a:rPr>
              <a:t>Built with India. Run by Mongolia. Serving the whole sector.</a:t>
            </a:r>
            <a:endParaRPr lang="en-US" sz="1500" dirty="0"/>
          </a:p>
          <a:p>
            <a:pPr indent="0" marL="0">
              <a:buNone/>
            </a:pPr>
            <a:r>
              <a:rPr lang="en-US" sz="1500" dirty="0">
                <a:solidFill>
                  <a:schemeClr val="accent6"/>
                </a:solidFill>
              </a:rPr>
              <a:t>Head of Department: Captain S. Bilegt · www.mndu.gov.mn</a:t>
            </a:r>
            <a:endParaRPr lang="en-US" sz="1500" dirty="0"/>
          </a:p>
        </p:txBody>
      </p:sp>
      <p:pic>
        <p:nvPicPr>
          <p:cNvPr id="4" name="group photo" descr="/home/user/research-material/india-cyber-cooperation/images/group_trainees_indian.jpg">    </p:cNvPr>
          <p:cNvPicPr>
            <a:picLocks noChangeAspect="1"/>
          </p:cNvPicPr>
          <p:nvPr/>
        </p:nvPicPr>
        <p:blipFill>
          <a:blip r:embed="rId1"/>
          <a:srcRect l="0" r="0" t="0" b="0"/>
          <a:stretch/>
        </p:blipFill>
        <p:spPr>
          <a:xfrm>
            <a:off x="7589520" y="1463040"/>
            <a:ext cx="3931920" cy="2971800"/>
          </a:xfrm>
          <a:prstGeom prst="rect">
            <a:avLst/>
          </a:prstGeom>
        </p:spPr>
      </p:pic>
      <p:sp>
        <p:nvSpPr>
          <p:cNvPr id="5" name="Text 2"/>
          <p:cNvSpPr txBox="1"/>
          <p:nvPr/>
        </p:nvSpPr>
        <p:spPr>
          <a:xfrm>
            <a:off x="7589520" y="4480560"/>
            <a:ext cx="3931920" cy="274320"/>
          </a:xfrm>
          <a:prstGeom prst="rect">
            <a:avLst/>
          </a:prstGeom>
          <a:noFill/>
          <a:ln/>
        </p:spPr>
        <p:txBody>
          <a:bodyPr wrap="square" lIns="0" tIns="0" rIns="0" bIns="0" rtlCol="0" anchor="t"/>
          <a:lstStyle/>
          <a:p>
            <a:pPr indent="0" marL="0">
              <a:buNone/>
            </a:pPr>
            <a:r>
              <a:rPr lang="en-US" sz="1000" dirty="0">
                <a:solidFill>
                  <a:schemeClr val="accent5"/>
                </a:solidFill>
              </a:rPr>
              <a:t>Graduates with the Indian training team, NDU</a:t>
            </a:r>
            <a:endParaRPr lang="en-US" sz="1000" dirty="0"/>
          </a:p>
        </p:txBody>
      </p:sp>
      <p:sp>
        <p:nvSpPr>
          <p:cNvPr id="6" name="Text 3"/>
          <p:cNvSpPr txBox="1"/>
          <p:nvPr/>
        </p:nvSpPr>
        <p:spPr>
          <a:xfrm>
            <a:off x="731520" y="5852160"/>
            <a:ext cx="10058400" cy="365760"/>
          </a:xfrm>
          <a:prstGeom prst="rect">
            <a:avLst/>
          </a:prstGeom>
          <a:noFill/>
          <a:ln/>
        </p:spPr>
        <p:txBody>
          <a:bodyPr wrap="square" lIns="0" tIns="0" rIns="0" bIns="0" rtlCol="0" anchor="t"/>
          <a:lstStyle/>
          <a:p>
            <a:pPr indent="0" marL="0">
              <a:buNone/>
            </a:pPr>
            <a:r>
              <a:rPr lang="en-US" sz="1300" dirty="0">
                <a:solidFill>
                  <a:schemeClr val="accent5"/>
                </a:solidFill>
              </a:rPr>
              <a:t>Questions and discussion, followed by a tour of the laboratories</a:t>
            </a:r>
            <a:endParaRPr lang="en-US" sz="1300" dirty="0"/>
          </a:p>
        </p:txBody>
      </p:sp>
    </p:spTree>
  </p:cSld>
  <p:clrMapOvr>
    <a:masterClrMapping/>
  </p:clrMapOvr>
</p:sld>
</file>

<file path=ppt/theme/theme1.xml><?xml version="1.0" encoding="utf-8"?>
<a:theme xmlns:a="http://schemas.openxmlformats.org/drawingml/2006/main" name="India Mongolia Cyber">
  <a:themeElements>
    <a:clrScheme name="India Mongolia Cyber">
      <a:dk1>
        <a:srgbClr val="16213A"/>
      </a:dk1>
      <a:lt1>
        <a:srgbClr val="FFFFFF"/>
      </a:lt1>
      <a:dk2>
        <a:srgbClr val="5B6474"/>
      </a:dk2>
      <a:lt2>
        <a:srgbClr val="EEF2F7"/>
      </a:lt2>
      <a:accent1>
        <a:srgbClr val="D9772B"/>
      </a:accent1>
      <a:accent2>
        <a:srgbClr val="1F6FD1"/>
      </a:accent2>
      <a:accent3>
        <a:srgbClr val="1BA39C"/>
      </a:accent3>
      <a:accent4>
        <a:srgbClr val="B3261E"/>
      </a:accent4>
      <a:accent5>
        <a:srgbClr val="A3ACBA"/>
      </a:accent5>
      <a:accent6>
        <a:srgbClr val="D6E4F5"/>
      </a:accent6>
      <a:hlink>
        <a:srgbClr val="1F6FD1"/>
      </a:hlink>
      <a:folHlink>
        <a:srgbClr val="D9772B"/>
      </a:folHlink>
    </a:clrScheme>
    <a:fontScheme name="India Mongolia Cyb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India–Mongolia Cooperation in Cyber Security Education</dc:title>
  <dc:subject>PptxGenJS Presentation</dc:subject>
  <dc:creator>Cyber Security Department, NDU Mongolia</dc:creator>
  <cp:lastModifiedBy>Cyber Security Department, NDU Mongolia</cp:lastModifiedBy>
  <cp:revision>1</cp:revision>
  <dcterms:created xsi:type="dcterms:W3CDTF">2026-10-14T13:31:31Z</dcterms:created>
  <dcterms:modified xsi:type="dcterms:W3CDTF">2026-10-14T13:31:31Z</dcterms:modified>
</cp:coreProperties>
</file>